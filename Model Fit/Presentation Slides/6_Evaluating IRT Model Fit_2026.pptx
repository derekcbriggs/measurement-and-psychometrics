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7"/>
  </p:notesMasterIdLst>
  <p:sldIdLst>
    <p:sldId id="256" r:id="rId2"/>
    <p:sldId id="322" r:id="rId3"/>
    <p:sldId id="293" r:id="rId4"/>
    <p:sldId id="321" r:id="rId5"/>
    <p:sldId id="339" r:id="rId6"/>
    <p:sldId id="294" r:id="rId7"/>
    <p:sldId id="340" r:id="rId8"/>
    <p:sldId id="325" r:id="rId9"/>
    <p:sldId id="304" r:id="rId10"/>
    <p:sldId id="306" r:id="rId11"/>
    <p:sldId id="307" r:id="rId12"/>
    <p:sldId id="341" r:id="rId13"/>
    <p:sldId id="289" r:id="rId14"/>
    <p:sldId id="297" r:id="rId15"/>
    <p:sldId id="298" r:id="rId16"/>
    <p:sldId id="349" r:id="rId17"/>
    <p:sldId id="338" r:id="rId18"/>
    <p:sldId id="313" r:id="rId19"/>
    <p:sldId id="351" r:id="rId20"/>
    <p:sldId id="330" r:id="rId21"/>
    <p:sldId id="342" r:id="rId22"/>
    <p:sldId id="269" r:id="rId23"/>
    <p:sldId id="290" r:id="rId24"/>
    <p:sldId id="291" r:id="rId25"/>
    <p:sldId id="292" r:id="rId26"/>
    <p:sldId id="299" r:id="rId27"/>
    <p:sldId id="301" r:id="rId28"/>
    <p:sldId id="334" r:id="rId29"/>
    <p:sldId id="331" r:id="rId30"/>
    <p:sldId id="302" r:id="rId31"/>
    <p:sldId id="303" r:id="rId32"/>
    <p:sldId id="347" r:id="rId33"/>
    <p:sldId id="320" r:id="rId34"/>
    <p:sldId id="343" r:id="rId35"/>
    <p:sldId id="328" r:id="rId36"/>
    <p:sldId id="344" r:id="rId37"/>
    <p:sldId id="345" r:id="rId38"/>
    <p:sldId id="323" r:id="rId39"/>
    <p:sldId id="324" r:id="rId40"/>
    <p:sldId id="346" r:id="rId41"/>
    <p:sldId id="314" r:id="rId42"/>
    <p:sldId id="315" r:id="rId43"/>
    <p:sldId id="316" r:id="rId44"/>
    <p:sldId id="327" r:id="rId45"/>
    <p:sldId id="319"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74"/>
    <p:restoredTop sz="86331"/>
  </p:normalViewPr>
  <p:slideViewPr>
    <p:cSldViewPr snapToGrid="0" snapToObjects="1">
      <p:cViewPr varScale="1">
        <p:scale>
          <a:sx n="103" d="100"/>
          <a:sy n="103" d="100"/>
        </p:scale>
        <p:origin x="184" y="184"/>
      </p:cViewPr>
      <p:guideLst/>
    </p:cSldViewPr>
  </p:slideViewPr>
  <p:outlineViewPr>
    <p:cViewPr>
      <p:scale>
        <a:sx n="33" d="100"/>
        <a:sy n="33" d="100"/>
      </p:scale>
      <p:origin x="0" y="-74448"/>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3" d="100"/>
          <a:sy n="73" d="100"/>
        </p:scale>
        <p:origin x="356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D65ED8-B29B-6040-985D-AE13FFFFF8E6}" type="datetimeFigureOut">
              <a:rPr lang="en-US" smtClean="0"/>
              <a:t>2/22/26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0033D7-9ACC-194F-8EC0-B1F39EF16A4D}" type="slidenum">
              <a:rPr lang="en-US" smtClean="0"/>
              <a:t>‹#›</a:t>
            </a:fld>
            <a:endParaRPr lang="en-US"/>
          </a:p>
        </p:txBody>
      </p:sp>
    </p:spTree>
    <p:extLst>
      <p:ext uri="{BB962C8B-B14F-4D97-AF65-F5344CB8AC3E}">
        <p14:creationId xmlns:p14="http://schemas.microsoft.com/office/powerpoint/2010/main" val="1451231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0033D7-9ACC-194F-8EC0-B1F39EF16A4D}" type="slidenum">
              <a:rPr lang="en-US" smtClean="0"/>
              <a:t>1</a:t>
            </a:fld>
            <a:endParaRPr lang="en-US"/>
          </a:p>
        </p:txBody>
      </p:sp>
    </p:spTree>
    <p:extLst>
      <p:ext uri="{BB962C8B-B14F-4D97-AF65-F5344CB8AC3E}">
        <p14:creationId xmlns:p14="http://schemas.microsoft.com/office/powerpoint/2010/main" val="2475282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FBA36F42-D3FC-3641-B8DA-718C7B63B3CE}" type="slidenum">
              <a:rPr lang="en-US"/>
              <a:pPr/>
              <a:t>4</a:t>
            </a:fld>
            <a:endParaRPr lang="en-US" dirty="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908429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80DFE3CA-89B9-CC4A-BCCA-2EFE55BCC732}" type="slidenum">
              <a:rPr lang="en-US"/>
              <a:pPr>
                <a:defRPr/>
              </a:pPr>
              <a:t>9</a:t>
            </a:fld>
            <a:endParaRPr lang="en-US"/>
          </a:p>
        </p:txBody>
      </p:sp>
    </p:spTree>
    <p:extLst>
      <p:ext uri="{BB962C8B-B14F-4D97-AF65-F5344CB8AC3E}">
        <p14:creationId xmlns:p14="http://schemas.microsoft.com/office/powerpoint/2010/main" val="1229570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0C7E86-9019-6443-B50E-1505EB748651}" type="slidenum">
              <a:rPr lang="en-US"/>
              <a:pPr/>
              <a:t>13</a:t>
            </a:fld>
            <a:endParaRPr lang="en-US" dirty="0"/>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259767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0033D7-9ACC-194F-8EC0-B1F39EF16A4D}" type="slidenum">
              <a:rPr lang="en-US" smtClean="0"/>
              <a:t>15</a:t>
            </a:fld>
            <a:endParaRPr lang="en-US"/>
          </a:p>
        </p:txBody>
      </p:sp>
    </p:spTree>
    <p:extLst>
      <p:ext uri="{BB962C8B-B14F-4D97-AF65-F5344CB8AC3E}">
        <p14:creationId xmlns:p14="http://schemas.microsoft.com/office/powerpoint/2010/main" val="967306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0033D7-9ACC-194F-8EC0-B1F39EF16A4D}" type="slidenum">
              <a:rPr lang="en-US" smtClean="0"/>
              <a:t>20</a:t>
            </a:fld>
            <a:endParaRPr lang="en-US"/>
          </a:p>
        </p:txBody>
      </p:sp>
    </p:spTree>
    <p:extLst>
      <p:ext uri="{BB962C8B-B14F-4D97-AF65-F5344CB8AC3E}">
        <p14:creationId xmlns:p14="http://schemas.microsoft.com/office/powerpoint/2010/main" val="943983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0033D7-9ACC-194F-8EC0-B1F39EF16A4D}" type="slidenum">
              <a:rPr lang="en-US" smtClean="0"/>
              <a:t>26</a:t>
            </a:fld>
            <a:endParaRPr lang="en-US"/>
          </a:p>
        </p:txBody>
      </p:sp>
    </p:spTree>
    <p:extLst>
      <p:ext uri="{BB962C8B-B14F-4D97-AF65-F5344CB8AC3E}">
        <p14:creationId xmlns:p14="http://schemas.microsoft.com/office/powerpoint/2010/main" val="3282202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0033D7-9ACC-194F-8EC0-B1F39EF16A4D}" type="slidenum">
              <a:rPr lang="en-US" smtClean="0"/>
              <a:t>27</a:t>
            </a:fld>
            <a:endParaRPr lang="en-US"/>
          </a:p>
        </p:txBody>
      </p:sp>
    </p:spTree>
    <p:extLst>
      <p:ext uri="{BB962C8B-B14F-4D97-AF65-F5344CB8AC3E}">
        <p14:creationId xmlns:p14="http://schemas.microsoft.com/office/powerpoint/2010/main" val="2685937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0033D7-9ACC-194F-8EC0-B1F39EF16A4D}" type="slidenum">
              <a:rPr lang="en-US" smtClean="0"/>
              <a:t>29</a:t>
            </a:fld>
            <a:endParaRPr lang="en-US"/>
          </a:p>
        </p:txBody>
      </p:sp>
    </p:spTree>
    <p:extLst>
      <p:ext uri="{BB962C8B-B14F-4D97-AF65-F5344CB8AC3E}">
        <p14:creationId xmlns:p14="http://schemas.microsoft.com/office/powerpoint/2010/main" val="1790335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0033D7-9ACC-194F-8EC0-B1F39EF16A4D}" type="slidenum">
              <a:rPr lang="en-US" smtClean="0"/>
              <a:t>30</a:t>
            </a:fld>
            <a:endParaRPr lang="en-US"/>
          </a:p>
        </p:txBody>
      </p:sp>
    </p:spTree>
    <p:extLst>
      <p:ext uri="{BB962C8B-B14F-4D97-AF65-F5344CB8AC3E}">
        <p14:creationId xmlns:p14="http://schemas.microsoft.com/office/powerpoint/2010/main" val="27716647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0033D7-9ACC-194F-8EC0-B1F39EF16A4D}" type="slidenum">
              <a:rPr lang="en-US" smtClean="0"/>
              <a:t>31</a:t>
            </a:fld>
            <a:endParaRPr lang="en-US"/>
          </a:p>
        </p:txBody>
      </p:sp>
    </p:spTree>
    <p:extLst>
      <p:ext uri="{BB962C8B-B14F-4D97-AF65-F5344CB8AC3E}">
        <p14:creationId xmlns:p14="http://schemas.microsoft.com/office/powerpoint/2010/main" val="86740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125A287F-3EA8-1B4C-9300-D6059D39094B}" type="slidenum">
              <a:rPr lang="en-US"/>
              <a:pPr/>
              <a:t>38</a:t>
            </a:fld>
            <a:endParaRPr lang="en-US" dirty="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642449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60033D7-9ACC-194F-8EC0-B1F39EF16A4D}" type="slidenum">
              <a:rPr lang="en-US" smtClean="0"/>
              <a:t>39</a:t>
            </a:fld>
            <a:endParaRPr lang="en-US"/>
          </a:p>
        </p:txBody>
      </p:sp>
    </p:spTree>
    <p:extLst>
      <p:ext uri="{BB962C8B-B14F-4D97-AF65-F5344CB8AC3E}">
        <p14:creationId xmlns:p14="http://schemas.microsoft.com/office/powerpoint/2010/main" val="29582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CA4524C-EC1D-1743-9048-7156AE589B30}" type="datetime1">
              <a:rPr lang="en-US" smtClean="0"/>
              <a:t>2/22/26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24E0D7-F7AC-FE4A-AA37-CBD35715E861}" type="slidenum">
              <a:rPr lang="en-US" smtClean="0"/>
              <a:t>‹#›</a:t>
            </a:fld>
            <a:endParaRPr lang="en-US"/>
          </a:p>
        </p:txBody>
      </p:sp>
    </p:spTree>
    <p:extLst>
      <p:ext uri="{BB962C8B-B14F-4D97-AF65-F5344CB8AC3E}">
        <p14:creationId xmlns:p14="http://schemas.microsoft.com/office/powerpoint/2010/main" val="1207374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0A6B17-D0B7-444E-AC7E-BD9C56562601}" type="datetime1">
              <a:rPr lang="en-US" smtClean="0"/>
              <a:t>2/22/26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24E0D7-F7AC-FE4A-AA37-CBD35715E861}" type="slidenum">
              <a:rPr lang="en-US" smtClean="0"/>
              <a:t>‹#›</a:t>
            </a:fld>
            <a:endParaRPr lang="en-US"/>
          </a:p>
        </p:txBody>
      </p:sp>
    </p:spTree>
    <p:extLst>
      <p:ext uri="{BB962C8B-B14F-4D97-AF65-F5344CB8AC3E}">
        <p14:creationId xmlns:p14="http://schemas.microsoft.com/office/powerpoint/2010/main" val="775467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6D4C4F-F691-4040-AB6D-9759E8A3D948}" type="datetime1">
              <a:rPr lang="en-US" smtClean="0"/>
              <a:t>2/22/26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24E0D7-F7AC-FE4A-AA37-CBD35715E861}" type="slidenum">
              <a:rPr lang="en-US" smtClean="0"/>
              <a:t>‹#›</a:t>
            </a:fld>
            <a:endParaRPr lang="en-US"/>
          </a:p>
        </p:txBody>
      </p:sp>
    </p:spTree>
    <p:extLst>
      <p:ext uri="{BB962C8B-B14F-4D97-AF65-F5344CB8AC3E}">
        <p14:creationId xmlns:p14="http://schemas.microsoft.com/office/powerpoint/2010/main" val="211985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B9BFCAF-49D2-7448-AA5B-84625617D3AB}" type="datetime1">
              <a:rPr lang="en-US" smtClean="0"/>
              <a:t>2/22/26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24E0D7-F7AC-FE4A-AA37-CBD35715E861}" type="slidenum">
              <a:rPr lang="en-US" smtClean="0"/>
              <a:t>‹#›</a:t>
            </a:fld>
            <a:endParaRPr lang="en-US"/>
          </a:p>
        </p:txBody>
      </p:sp>
    </p:spTree>
    <p:extLst>
      <p:ext uri="{BB962C8B-B14F-4D97-AF65-F5344CB8AC3E}">
        <p14:creationId xmlns:p14="http://schemas.microsoft.com/office/powerpoint/2010/main" val="162827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175B03D-5DB4-C246-963A-5C73AEB61423}" type="datetime1">
              <a:rPr lang="en-US" smtClean="0"/>
              <a:t>2/22/26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24E0D7-F7AC-FE4A-AA37-CBD35715E861}" type="slidenum">
              <a:rPr lang="en-US" smtClean="0"/>
              <a:t>‹#›</a:t>
            </a:fld>
            <a:endParaRPr lang="en-US"/>
          </a:p>
        </p:txBody>
      </p:sp>
    </p:spTree>
    <p:extLst>
      <p:ext uri="{BB962C8B-B14F-4D97-AF65-F5344CB8AC3E}">
        <p14:creationId xmlns:p14="http://schemas.microsoft.com/office/powerpoint/2010/main" val="743458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3CD074-332D-114B-9F57-8DD749527836}" type="datetime1">
              <a:rPr lang="en-US" smtClean="0"/>
              <a:t>2/22/26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24E0D7-F7AC-FE4A-AA37-CBD35715E861}" type="slidenum">
              <a:rPr lang="en-US" smtClean="0"/>
              <a:t>‹#›</a:t>
            </a:fld>
            <a:endParaRPr lang="en-US"/>
          </a:p>
        </p:txBody>
      </p:sp>
    </p:spTree>
    <p:extLst>
      <p:ext uri="{BB962C8B-B14F-4D97-AF65-F5344CB8AC3E}">
        <p14:creationId xmlns:p14="http://schemas.microsoft.com/office/powerpoint/2010/main" val="1240193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6A0DD2-777C-8047-A6C3-2FFEEE5F2C0F}" type="datetime1">
              <a:rPr lang="en-US" smtClean="0"/>
              <a:t>2/22/26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24E0D7-F7AC-FE4A-AA37-CBD35715E861}" type="slidenum">
              <a:rPr lang="en-US" smtClean="0"/>
              <a:t>‹#›</a:t>
            </a:fld>
            <a:endParaRPr lang="en-US"/>
          </a:p>
        </p:txBody>
      </p:sp>
    </p:spTree>
    <p:extLst>
      <p:ext uri="{BB962C8B-B14F-4D97-AF65-F5344CB8AC3E}">
        <p14:creationId xmlns:p14="http://schemas.microsoft.com/office/powerpoint/2010/main" val="450095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BD26B-7F1F-E244-A4C1-0B9B8917374C}" type="datetime1">
              <a:rPr lang="en-US" smtClean="0"/>
              <a:t>2/22/26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24E0D7-F7AC-FE4A-AA37-CBD35715E861}" type="slidenum">
              <a:rPr lang="en-US" smtClean="0"/>
              <a:t>‹#›</a:t>
            </a:fld>
            <a:endParaRPr lang="en-US"/>
          </a:p>
        </p:txBody>
      </p:sp>
    </p:spTree>
    <p:extLst>
      <p:ext uri="{BB962C8B-B14F-4D97-AF65-F5344CB8AC3E}">
        <p14:creationId xmlns:p14="http://schemas.microsoft.com/office/powerpoint/2010/main" val="1311109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4792F97-7BFB-8D48-9D5D-C6BD634649FB}" type="datetime1">
              <a:rPr lang="en-US" smtClean="0"/>
              <a:t>2/22/26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24E0D7-F7AC-FE4A-AA37-CBD35715E861}" type="slidenum">
              <a:rPr lang="en-US" smtClean="0"/>
              <a:t>‹#›</a:t>
            </a:fld>
            <a:endParaRPr lang="en-US"/>
          </a:p>
        </p:txBody>
      </p:sp>
    </p:spTree>
    <p:extLst>
      <p:ext uri="{BB962C8B-B14F-4D97-AF65-F5344CB8AC3E}">
        <p14:creationId xmlns:p14="http://schemas.microsoft.com/office/powerpoint/2010/main" val="479866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283A96-F7B8-6C4B-9F6C-418815DEFBA0}" type="datetime1">
              <a:rPr lang="en-US" smtClean="0"/>
              <a:t>2/22/26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24E0D7-F7AC-FE4A-AA37-CBD35715E861}" type="slidenum">
              <a:rPr lang="en-US" smtClean="0"/>
              <a:t>‹#›</a:t>
            </a:fld>
            <a:endParaRPr lang="en-US"/>
          </a:p>
        </p:txBody>
      </p:sp>
    </p:spTree>
    <p:extLst>
      <p:ext uri="{BB962C8B-B14F-4D97-AF65-F5344CB8AC3E}">
        <p14:creationId xmlns:p14="http://schemas.microsoft.com/office/powerpoint/2010/main" val="1309876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322FE7-5AAB-2F46-B254-31FEEAFE2219}" type="datetime1">
              <a:rPr lang="en-US" smtClean="0"/>
              <a:t>2/22/26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24E0D7-F7AC-FE4A-AA37-CBD35715E861}" type="slidenum">
              <a:rPr lang="en-US" smtClean="0"/>
              <a:t>‹#›</a:t>
            </a:fld>
            <a:endParaRPr lang="en-US"/>
          </a:p>
        </p:txBody>
      </p:sp>
    </p:spTree>
    <p:extLst>
      <p:ext uri="{BB962C8B-B14F-4D97-AF65-F5344CB8AC3E}">
        <p14:creationId xmlns:p14="http://schemas.microsoft.com/office/powerpoint/2010/main" val="1244680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CD64D5-61A6-D84D-8D24-01E3824C6922}" type="datetime1">
              <a:rPr lang="en-US" smtClean="0"/>
              <a:t>2/22/26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24E0D7-F7AC-FE4A-AA37-CBD35715E861}" type="slidenum">
              <a:rPr lang="en-US" smtClean="0"/>
              <a:t>‹#›</a:t>
            </a:fld>
            <a:endParaRPr lang="en-US"/>
          </a:p>
        </p:txBody>
      </p:sp>
    </p:spTree>
    <p:extLst>
      <p:ext uri="{BB962C8B-B14F-4D97-AF65-F5344CB8AC3E}">
        <p14:creationId xmlns:p14="http://schemas.microsoft.com/office/powerpoint/2010/main" val="1595830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tiff"/><Relationship Id="rId4" Type="http://schemas.openxmlformats.org/officeDocument/2006/relationships/image" Target="../media/image13.tiff"/></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Evaluating the Fit of IRT Models: Diagnostics</a:t>
            </a:r>
          </a:p>
        </p:txBody>
      </p:sp>
      <p:sp>
        <p:nvSpPr>
          <p:cNvPr id="3" name="Subtitle 2"/>
          <p:cNvSpPr>
            <a:spLocks noGrp="1"/>
          </p:cNvSpPr>
          <p:nvPr>
            <p:ph type="subTitle" idx="1"/>
          </p:nvPr>
        </p:nvSpPr>
        <p:spPr/>
        <p:txBody>
          <a:bodyPr/>
          <a:lstStyle/>
          <a:p>
            <a:r>
              <a:rPr lang="en-US" dirty="0"/>
              <a:t>Derek Briggs</a:t>
            </a:r>
          </a:p>
          <a:p>
            <a:r>
              <a:rPr lang="en-US" dirty="0"/>
              <a:t>EDUC 8720</a:t>
            </a:r>
          </a:p>
          <a:p>
            <a:endParaRPr lang="en-US" dirty="0"/>
          </a:p>
        </p:txBody>
      </p:sp>
    </p:spTree>
    <p:extLst>
      <p:ext uri="{BB962C8B-B14F-4D97-AF65-F5344CB8AC3E}">
        <p14:creationId xmlns:p14="http://schemas.microsoft.com/office/powerpoint/2010/main" val="703142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My Acronym for Fit Diagnostics: </a:t>
            </a:r>
            <a:br>
              <a:rPr lang="en-US" b="1" dirty="0"/>
            </a:br>
            <a:r>
              <a:rPr lang="en-US" b="1" dirty="0"/>
              <a:t>DDMIPLiP (“DeeDeeMipLip”)</a:t>
            </a:r>
            <a:endParaRPr lang="en-US" dirty="0"/>
          </a:p>
        </p:txBody>
      </p:sp>
      <p:sp>
        <p:nvSpPr>
          <p:cNvPr id="5" name="Content Placeholder 4"/>
          <p:cNvSpPr>
            <a:spLocks noGrp="1"/>
          </p:cNvSpPr>
          <p:nvPr>
            <p:ph idx="1"/>
          </p:nvPr>
        </p:nvSpPr>
        <p:spPr/>
        <p:txBody>
          <a:bodyPr/>
          <a:lstStyle/>
          <a:p>
            <a:pPr marL="0" indent="0">
              <a:buNone/>
            </a:pPr>
            <a:r>
              <a:rPr lang="en-US" b="1" dirty="0"/>
              <a:t>Remember</a:t>
            </a:r>
          </a:p>
          <a:p>
            <a:r>
              <a:rPr lang="en-US" b="1" dirty="0"/>
              <a:t>D</a:t>
            </a:r>
            <a:r>
              <a:rPr lang="en-US" dirty="0"/>
              <a:t>escriptives</a:t>
            </a:r>
          </a:p>
          <a:p>
            <a:r>
              <a:rPr lang="en-US" b="1" dirty="0"/>
              <a:t>D</a:t>
            </a:r>
            <a:r>
              <a:rPr lang="en-US" dirty="0"/>
              <a:t>imensionality</a:t>
            </a:r>
          </a:p>
          <a:p>
            <a:r>
              <a:rPr lang="en-US" b="1" dirty="0"/>
              <a:t>M</a:t>
            </a:r>
            <a:r>
              <a:rPr lang="en-US" dirty="0"/>
              <a:t>odel Comparisons and Global Fit</a:t>
            </a:r>
          </a:p>
          <a:p>
            <a:r>
              <a:rPr lang="en-US" b="1" dirty="0"/>
              <a:t>I</a:t>
            </a:r>
            <a:r>
              <a:rPr lang="en-US" dirty="0"/>
              <a:t>tem fit</a:t>
            </a:r>
          </a:p>
          <a:p>
            <a:r>
              <a:rPr lang="en-US" b="1" dirty="0"/>
              <a:t>P</a:t>
            </a:r>
            <a:r>
              <a:rPr lang="en-US" dirty="0"/>
              <a:t>erson fit</a:t>
            </a:r>
          </a:p>
          <a:p>
            <a:r>
              <a:rPr lang="en-US" b="1" dirty="0"/>
              <a:t>L</a:t>
            </a:r>
            <a:r>
              <a:rPr lang="en-US" dirty="0"/>
              <a:t>ocal </a:t>
            </a:r>
            <a:r>
              <a:rPr lang="en-US" b="1" dirty="0"/>
              <a:t>i</a:t>
            </a:r>
            <a:r>
              <a:rPr lang="en-US" dirty="0"/>
              <a:t>ndependence</a:t>
            </a:r>
          </a:p>
          <a:p>
            <a:r>
              <a:rPr lang="en-US" b="1" dirty="0"/>
              <a:t>P</a:t>
            </a:r>
            <a:r>
              <a:rPr lang="en-US" dirty="0"/>
              <a:t>arameter Invariance</a:t>
            </a:r>
          </a:p>
        </p:txBody>
      </p:sp>
      <p:sp>
        <p:nvSpPr>
          <p:cNvPr id="6" name="Slide Number Placeholder 5"/>
          <p:cNvSpPr>
            <a:spLocks noGrp="1"/>
          </p:cNvSpPr>
          <p:nvPr>
            <p:ph type="sldNum" sz="quarter" idx="12"/>
          </p:nvPr>
        </p:nvSpPr>
        <p:spPr/>
        <p:txBody>
          <a:bodyPr/>
          <a:lstStyle/>
          <a:p>
            <a:fld id="{C324E0D7-F7AC-FE4A-AA37-CBD35715E861}" type="slidenum">
              <a:rPr lang="en-US" smtClean="0"/>
              <a:t>2</a:t>
            </a:fld>
            <a:endParaRPr lang="en-US"/>
          </a:p>
        </p:txBody>
      </p:sp>
    </p:spTree>
    <p:extLst>
      <p:ext uri="{BB962C8B-B14F-4D97-AF65-F5344CB8AC3E}">
        <p14:creationId xmlns:p14="http://schemas.microsoft.com/office/powerpoint/2010/main" val="1947042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1850" y="1709738"/>
            <a:ext cx="10515600" cy="1601873"/>
          </a:xfrm>
        </p:spPr>
        <p:txBody>
          <a:bodyPr>
            <a:normAutofit/>
          </a:bodyPr>
          <a:lstStyle/>
          <a:p>
            <a:pPr algn="ctr"/>
            <a:r>
              <a:rPr lang="en-US" sz="4000" b="1" dirty="0"/>
              <a:t>Context: CDE Math Data Set</a:t>
            </a:r>
          </a:p>
        </p:txBody>
      </p:sp>
      <p:sp>
        <p:nvSpPr>
          <p:cNvPr id="5" name="Text Placeholder 4"/>
          <p:cNvSpPr>
            <a:spLocks noGrp="1"/>
          </p:cNvSpPr>
          <p:nvPr>
            <p:ph type="body" idx="1"/>
          </p:nvPr>
        </p:nvSpPr>
        <p:spPr/>
        <p:txBody>
          <a:bodyPr/>
          <a:lstStyle/>
          <a:p>
            <a:endParaRPr lang="en-US"/>
          </a:p>
        </p:txBody>
      </p:sp>
      <p:sp>
        <p:nvSpPr>
          <p:cNvPr id="6" name="Slide Number Placeholder 5"/>
          <p:cNvSpPr>
            <a:spLocks noGrp="1"/>
          </p:cNvSpPr>
          <p:nvPr>
            <p:ph type="sldNum" sz="quarter" idx="12"/>
          </p:nvPr>
        </p:nvSpPr>
        <p:spPr/>
        <p:txBody>
          <a:bodyPr/>
          <a:lstStyle/>
          <a:p>
            <a:fld id="{C324E0D7-F7AC-FE4A-AA37-CBD35715E861}" type="slidenum">
              <a:rPr lang="en-US" smtClean="0"/>
              <a:t>3</a:t>
            </a:fld>
            <a:endParaRPr lang="en-US"/>
          </a:p>
        </p:txBody>
      </p:sp>
    </p:spTree>
    <p:extLst>
      <p:ext uri="{BB962C8B-B14F-4D97-AF65-F5344CB8AC3E}">
        <p14:creationId xmlns:p14="http://schemas.microsoft.com/office/powerpoint/2010/main" val="416863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Picture 2"/>
          <p:cNvPicPr>
            <a:picLocks noChangeAspect="1" noChangeArrowheads="1"/>
          </p:cNvPicPr>
          <p:nvPr/>
        </p:nvPicPr>
        <p:blipFill>
          <a:blip r:embed="rId3"/>
          <a:srcRect/>
          <a:stretch>
            <a:fillRect/>
          </a:stretch>
        </p:blipFill>
        <p:spPr bwMode="auto">
          <a:xfrm>
            <a:off x="1981200" y="228600"/>
            <a:ext cx="6324600" cy="6007100"/>
          </a:xfrm>
          <a:prstGeom prst="rect">
            <a:avLst/>
          </a:prstGeom>
          <a:noFill/>
          <a:ln w="9525">
            <a:noFill/>
            <a:miter lim="800000"/>
            <a:headEnd/>
            <a:tailEnd/>
          </a:ln>
        </p:spPr>
      </p:pic>
      <p:sp>
        <p:nvSpPr>
          <p:cNvPr id="21508" name="Text Box 3"/>
          <p:cNvSpPr txBox="1">
            <a:spLocks noChangeArrowheads="1"/>
          </p:cNvSpPr>
          <p:nvPr/>
        </p:nvSpPr>
        <p:spPr bwMode="auto">
          <a:xfrm>
            <a:off x="8610600" y="2133600"/>
            <a:ext cx="1828800" cy="2123658"/>
          </a:xfrm>
          <a:prstGeom prst="rect">
            <a:avLst/>
          </a:prstGeom>
          <a:noFill/>
          <a:ln w="9525">
            <a:solidFill>
              <a:schemeClr val="tx1"/>
            </a:solidFill>
            <a:miter lim="800000"/>
            <a:headEnd/>
            <a:tailEnd/>
          </a:ln>
        </p:spPr>
        <p:txBody>
          <a:bodyPr>
            <a:prstTxWarp prst="textNoShape">
              <a:avLst/>
            </a:prstTxWarp>
            <a:spAutoFit/>
          </a:bodyPr>
          <a:lstStyle/>
          <a:p>
            <a:pPr>
              <a:buFontTx/>
              <a:buChar char="•"/>
            </a:pPr>
            <a:r>
              <a:rPr lang="en-US" sz="1200" dirty="0"/>
              <a:t>Data from a standardized math test administered by the California Department of Education (CDE).</a:t>
            </a:r>
          </a:p>
          <a:p>
            <a:pPr>
              <a:buFontTx/>
              <a:buChar char="•"/>
            </a:pPr>
            <a:r>
              <a:rPr lang="en-US" sz="1200" dirty="0"/>
              <a:t>31 MC items.</a:t>
            </a:r>
          </a:p>
          <a:p>
            <a:pPr>
              <a:buFontTx/>
              <a:buChar char="•"/>
            </a:pPr>
            <a:r>
              <a:rPr lang="en-US" sz="1200" dirty="0"/>
              <a:t>Calibration Sample of 1,500 students.</a:t>
            </a:r>
          </a:p>
          <a:p>
            <a:pPr>
              <a:buFontTx/>
              <a:buChar char="•"/>
            </a:pPr>
            <a:r>
              <a:rPr lang="en-US" sz="1200" dirty="0"/>
              <a:t>Cross-validation sample of 500 students.</a:t>
            </a:r>
          </a:p>
          <a:p>
            <a:pPr>
              <a:buFontTx/>
              <a:buChar char="•"/>
            </a:pPr>
            <a:r>
              <a:rPr lang="en-US" sz="1200" dirty="0"/>
              <a:t>Observed Scores: MEAN = 17.8, SD = 6</a:t>
            </a:r>
          </a:p>
        </p:txBody>
      </p:sp>
      <p:sp>
        <p:nvSpPr>
          <p:cNvPr id="2" name="Slide Number Placeholder 1"/>
          <p:cNvSpPr>
            <a:spLocks noGrp="1"/>
          </p:cNvSpPr>
          <p:nvPr>
            <p:ph type="sldNum" sz="quarter" idx="12"/>
          </p:nvPr>
        </p:nvSpPr>
        <p:spPr/>
        <p:txBody>
          <a:bodyPr/>
          <a:lstStyle/>
          <a:p>
            <a:fld id="{C324E0D7-F7AC-FE4A-AA37-CBD35715E861}" type="slidenum">
              <a:rPr lang="en-US" smtClean="0"/>
              <a:t>4</a:t>
            </a:fld>
            <a:endParaRPr lang="en-US"/>
          </a:p>
        </p:txBody>
      </p:sp>
    </p:spTree>
    <p:extLst>
      <p:ext uri="{BB962C8B-B14F-4D97-AF65-F5344CB8AC3E}">
        <p14:creationId xmlns:p14="http://schemas.microsoft.com/office/powerpoint/2010/main" val="1890389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C73A03-6A54-6A0F-7953-B5E6E5EF57CA}"/>
              </a:ext>
            </a:extLst>
          </p:cNvPr>
          <p:cNvSpPr>
            <a:spLocks noGrp="1"/>
          </p:cNvSpPr>
          <p:nvPr>
            <p:ph type="sldNum" sz="quarter" idx="12"/>
          </p:nvPr>
        </p:nvSpPr>
        <p:spPr/>
        <p:txBody>
          <a:bodyPr/>
          <a:lstStyle/>
          <a:p>
            <a:fld id="{C324E0D7-F7AC-FE4A-AA37-CBD35715E861}" type="slidenum">
              <a:rPr lang="en-US" smtClean="0"/>
              <a:t>5</a:t>
            </a:fld>
            <a:endParaRPr lang="en-US"/>
          </a:p>
        </p:txBody>
      </p:sp>
      <p:sp>
        <p:nvSpPr>
          <p:cNvPr id="5" name="TextBox 4">
            <a:extLst>
              <a:ext uri="{FF2B5EF4-FFF2-40B4-BE49-F238E27FC236}">
                <a16:creationId xmlns:a16="http://schemas.microsoft.com/office/drawing/2014/main" id="{A97EDB58-D4D2-1B64-53F4-1F800C43EA56}"/>
              </a:ext>
            </a:extLst>
          </p:cNvPr>
          <p:cNvSpPr txBox="1"/>
          <p:nvPr/>
        </p:nvSpPr>
        <p:spPr>
          <a:xfrm>
            <a:off x="3398108" y="2782669"/>
            <a:ext cx="4806778" cy="646331"/>
          </a:xfrm>
          <a:prstGeom prst="rect">
            <a:avLst/>
          </a:prstGeom>
          <a:noFill/>
        </p:spPr>
        <p:txBody>
          <a:bodyPr wrap="square" rtlCol="0">
            <a:spAutoFit/>
          </a:bodyPr>
          <a:lstStyle/>
          <a:p>
            <a:pPr algn="ctr"/>
            <a:r>
              <a:rPr lang="en-US" sz="3600" b="1"/>
              <a:t>Descriptives</a:t>
            </a:r>
          </a:p>
        </p:txBody>
      </p:sp>
    </p:spTree>
    <p:extLst>
      <p:ext uri="{BB962C8B-B14F-4D97-AF65-F5344CB8AC3E}">
        <p14:creationId xmlns:p14="http://schemas.microsoft.com/office/powerpoint/2010/main" val="720698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ea typeface="Calibri" charset="0"/>
                <a:cs typeface="Calibri" charset="0"/>
              </a:rPr>
              <a:t>D</a:t>
            </a:r>
            <a:r>
              <a:rPr lang="en-US" dirty="0" err="1">
                <a:ea typeface="Calibri" charset="0"/>
                <a:cs typeface="Calibri" charset="0"/>
              </a:rPr>
              <a:t>escriptives</a:t>
            </a:r>
            <a:endParaRPr lang="en-US" dirty="0">
              <a:ea typeface="Calibri" charset="0"/>
              <a:cs typeface="Calibri" charset="0"/>
            </a:endParaRPr>
          </a:p>
        </p:txBody>
      </p:sp>
      <p:sp>
        <p:nvSpPr>
          <p:cNvPr id="3" name="Content Placeholder 2"/>
          <p:cNvSpPr>
            <a:spLocks noGrp="1"/>
          </p:cNvSpPr>
          <p:nvPr>
            <p:ph idx="1"/>
          </p:nvPr>
        </p:nvSpPr>
        <p:spPr/>
        <p:txBody>
          <a:bodyPr>
            <a:normAutofit/>
          </a:bodyPr>
          <a:lstStyle/>
          <a:p>
            <a:pPr marL="0" indent="0">
              <a:buNone/>
            </a:pPr>
            <a:endParaRPr lang="en-US" sz="2000" dirty="0">
              <a:latin typeface="Courier New" charset="0"/>
              <a:ea typeface="Courier New" charset="0"/>
              <a:cs typeface="Courier New" charset="0"/>
            </a:endParaRPr>
          </a:p>
          <a:p>
            <a:pPr marL="0" indent="0">
              <a:buNone/>
            </a:pPr>
            <a:r>
              <a:rPr lang="en-US" sz="3200" dirty="0">
                <a:latin typeface="Courier New" charset="0"/>
                <a:ea typeface="Courier New" charset="0"/>
                <a:cs typeface="Courier New" charset="0"/>
              </a:rPr>
              <a:t>tot &lt;- apply(d,1,sum)</a:t>
            </a:r>
          </a:p>
          <a:p>
            <a:pPr marL="0" indent="0">
              <a:buNone/>
            </a:pPr>
            <a:r>
              <a:rPr lang="en-US" sz="3200" dirty="0">
                <a:latin typeface="Courier New" charset="0"/>
                <a:ea typeface="Courier New" charset="0"/>
                <a:cs typeface="Courier New" charset="0"/>
              </a:rPr>
              <a:t>table(tot)  # will need to watch for perfect/0 scores</a:t>
            </a:r>
          </a:p>
          <a:p>
            <a:pPr marL="0" indent="0">
              <a:buNone/>
            </a:pPr>
            <a:r>
              <a:rPr lang="en-US" sz="3200" dirty="0">
                <a:latin typeface="Courier New" charset="0"/>
                <a:ea typeface="Courier New" charset="0"/>
                <a:cs typeface="Courier New" charset="0"/>
              </a:rPr>
              <a:t>hist(tot, breaks=seq(-0.5,31.5,1), las=1, col="grey")</a:t>
            </a:r>
          </a:p>
          <a:p>
            <a:pPr marL="0" indent="0">
              <a:buNone/>
            </a:pPr>
            <a:r>
              <a:rPr lang="en-US" sz="3200" dirty="0">
                <a:latin typeface="Courier New" charset="0"/>
                <a:ea typeface="Courier New" charset="0"/>
                <a:cs typeface="Courier New" charset="0"/>
              </a:rPr>
              <a:t>itemstats(d)</a:t>
            </a:r>
          </a:p>
        </p:txBody>
      </p:sp>
      <p:sp>
        <p:nvSpPr>
          <p:cNvPr id="5" name="Slide Number Placeholder 4"/>
          <p:cNvSpPr>
            <a:spLocks noGrp="1"/>
          </p:cNvSpPr>
          <p:nvPr>
            <p:ph type="sldNum" sz="quarter" idx="12"/>
          </p:nvPr>
        </p:nvSpPr>
        <p:spPr/>
        <p:txBody>
          <a:bodyPr/>
          <a:lstStyle/>
          <a:p>
            <a:fld id="{C324E0D7-F7AC-FE4A-AA37-CBD35715E861}" type="slidenum">
              <a:rPr lang="en-US" smtClean="0"/>
              <a:t>6</a:t>
            </a:fld>
            <a:endParaRPr lang="en-US"/>
          </a:p>
        </p:txBody>
      </p:sp>
    </p:spTree>
    <p:extLst>
      <p:ext uri="{BB962C8B-B14F-4D97-AF65-F5344CB8AC3E}">
        <p14:creationId xmlns:p14="http://schemas.microsoft.com/office/powerpoint/2010/main" val="1133339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C73A03-6A54-6A0F-7953-B5E6E5EF57CA}"/>
              </a:ext>
            </a:extLst>
          </p:cNvPr>
          <p:cNvSpPr>
            <a:spLocks noGrp="1"/>
          </p:cNvSpPr>
          <p:nvPr>
            <p:ph type="sldNum" sz="quarter" idx="12"/>
          </p:nvPr>
        </p:nvSpPr>
        <p:spPr/>
        <p:txBody>
          <a:bodyPr/>
          <a:lstStyle/>
          <a:p>
            <a:fld id="{C324E0D7-F7AC-FE4A-AA37-CBD35715E861}" type="slidenum">
              <a:rPr lang="en-US" smtClean="0"/>
              <a:t>7</a:t>
            </a:fld>
            <a:endParaRPr lang="en-US"/>
          </a:p>
        </p:txBody>
      </p:sp>
      <p:sp>
        <p:nvSpPr>
          <p:cNvPr id="5" name="TextBox 4">
            <a:extLst>
              <a:ext uri="{FF2B5EF4-FFF2-40B4-BE49-F238E27FC236}">
                <a16:creationId xmlns:a16="http://schemas.microsoft.com/office/drawing/2014/main" id="{A97EDB58-D4D2-1B64-53F4-1F800C43EA56}"/>
              </a:ext>
            </a:extLst>
          </p:cNvPr>
          <p:cNvSpPr txBox="1"/>
          <p:nvPr/>
        </p:nvSpPr>
        <p:spPr>
          <a:xfrm>
            <a:off x="3398108" y="2782669"/>
            <a:ext cx="4806778" cy="646331"/>
          </a:xfrm>
          <a:prstGeom prst="rect">
            <a:avLst/>
          </a:prstGeom>
          <a:noFill/>
        </p:spPr>
        <p:txBody>
          <a:bodyPr wrap="square" rtlCol="0">
            <a:spAutoFit/>
          </a:bodyPr>
          <a:lstStyle/>
          <a:p>
            <a:pPr algn="ctr"/>
            <a:r>
              <a:rPr lang="en-US" sz="3600" b="1"/>
              <a:t>Dimensionality</a:t>
            </a:r>
          </a:p>
        </p:txBody>
      </p:sp>
    </p:spTree>
    <p:extLst>
      <p:ext uri="{BB962C8B-B14F-4D97-AF65-F5344CB8AC3E}">
        <p14:creationId xmlns:p14="http://schemas.microsoft.com/office/powerpoint/2010/main" val="2196112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
            </a:r>
            <a:r>
              <a:rPr lang="en-US" dirty="0"/>
              <a:t>imensionality: Parallel Analysis</a:t>
            </a:r>
          </a:p>
        </p:txBody>
      </p:sp>
      <p:sp>
        <p:nvSpPr>
          <p:cNvPr id="3" name="Content Placeholder 2"/>
          <p:cNvSpPr>
            <a:spLocks noGrp="1"/>
          </p:cNvSpPr>
          <p:nvPr>
            <p:ph idx="1"/>
          </p:nvPr>
        </p:nvSpPr>
        <p:spPr/>
        <p:txBody>
          <a:bodyPr>
            <a:normAutofit fontScale="92500" lnSpcReduction="10000"/>
          </a:bodyPr>
          <a:lstStyle/>
          <a:p>
            <a:r>
              <a:rPr lang="en-US" dirty="0"/>
              <a:t>Basic idea for data set with K items and N persons:</a:t>
            </a:r>
          </a:p>
          <a:p>
            <a:pPr marL="971550" lvl="1" indent="-514350">
              <a:buFont typeface="+mj-lt"/>
              <a:buAutoNum type="arabicPeriod"/>
            </a:pPr>
            <a:r>
              <a:rPr lang="en-US" dirty="0"/>
              <a:t>Generate random, uncorrelated data for K variables across N persons (i.e., data with no common factors).</a:t>
            </a:r>
          </a:p>
          <a:p>
            <a:pPr marL="971550" lvl="1" indent="-514350">
              <a:buFont typeface="+mj-lt"/>
              <a:buAutoNum type="arabicPeriod"/>
            </a:pPr>
            <a:r>
              <a:rPr lang="en-US" dirty="0"/>
              <a:t>Calculate the eigenvalues of the correlation matrix.</a:t>
            </a:r>
          </a:p>
          <a:p>
            <a:pPr marL="971550" lvl="1" indent="-514350">
              <a:buFont typeface="+mj-lt"/>
              <a:buAutoNum type="arabicPeriod"/>
            </a:pPr>
            <a:r>
              <a:rPr lang="en-US" dirty="0"/>
              <a:t>Repeat 1-2 many times.</a:t>
            </a:r>
          </a:p>
          <a:p>
            <a:pPr marL="971550" lvl="1" indent="-514350">
              <a:buFont typeface="+mj-lt"/>
              <a:buAutoNum type="arabicPeriod"/>
            </a:pPr>
            <a:r>
              <a:rPr lang="en-US" dirty="0"/>
              <a:t>Look at the average value of the largest eigenvalue, average of second largest, etc.</a:t>
            </a:r>
          </a:p>
          <a:p>
            <a:pPr marL="971550" lvl="1" indent="-514350">
              <a:buFont typeface="+mj-lt"/>
              <a:buAutoNum type="arabicPeriod"/>
            </a:pPr>
            <a:r>
              <a:rPr lang="en-US" dirty="0"/>
              <a:t>Compare averages in (4) to eigenvalues in your data.</a:t>
            </a:r>
          </a:p>
          <a:p>
            <a:r>
              <a:rPr lang="en-US" dirty="0"/>
              <a:t>Keep # of factors for which observed eigenvalues are greater than those in (5).</a:t>
            </a:r>
          </a:p>
          <a:p>
            <a:r>
              <a:rPr lang="en-US" dirty="0"/>
              <a:t>Could use 95</a:t>
            </a:r>
            <a:r>
              <a:rPr lang="en-US" baseline="30000" dirty="0"/>
              <a:t>th</a:t>
            </a:r>
            <a:r>
              <a:rPr lang="en-US" dirty="0"/>
              <a:t> percentile instead of mean in (4).</a:t>
            </a:r>
          </a:p>
          <a:p>
            <a:r>
              <a:rPr lang="en-US" dirty="0"/>
              <a:t>Debate about whether to use Pearson correlations, </a:t>
            </a:r>
            <a:r>
              <a:rPr lang="en-US" dirty="0" err="1"/>
              <a:t>tetrachoric</a:t>
            </a:r>
            <a:r>
              <a:rPr lang="en-US" dirty="0"/>
              <a:t>, PCA vs factor analysis.</a:t>
            </a:r>
          </a:p>
        </p:txBody>
      </p:sp>
      <p:sp>
        <p:nvSpPr>
          <p:cNvPr id="4" name="Slide Number Placeholder 3"/>
          <p:cNvSpPr>
            <a:spLocks noGrp="1"/>
          </p:cNvSpPr>
          <p:nvPr>
            <p:ph type="sldNum" sz="quarter" idx="12"/>
          </p:nvPr>
        </p:nvSpPr>
        <p:spPr/>
        <p:txBody>
          <a:bodyPr/>
          <a:lstStyle/>
          <a:p>
            <a:fld id="{C324E0D7-F7AC-FE4A-AA37-CBD35715E861}" type="slidenum">
              <a:rPr lang="en-US" smtClean="0"/>
              <a:t>8</a:t>
            </a:fld>
            <a:endParaRPr lang="en-US"/>
          </a:p>
        </p:txBody>
      </p:sp>
    </p:spTree>
    <p:extLst>
      <p:ext uri="{BB962C8B-B14F-4D97-AF65-F5344CB8AC3E}">
        <p14:creationId xmlns:p14="http://schemas.microsoft.com/office/powerpoint/2010/main" val="1970138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sz="4000" b="1" dirty="0">
                <a:ea typeface="ＭＳ Ｐゴシック" charset="0"/>
                <a:cs typeface="Calibri"/>
              </a:rPr>
              <a:t>D</a:t>
            </a:r>
            <a:r>
              <a:rPr lang="en-US" sz="4000" dirty="0">
                <a:ea typeface="ＭＳ Ｐゴシック" charset="0"/>
                <a:cs typeface="Calibri"/>
              </a:rPr>
              <a:t>imensionality: Parallel Analysis Scree Plot</a:t>
            </a:r>
          </a:p>
        </p:txBody>
      </p:sp>
      <p:sp>
        <p:nvSpPr>
          <p:cNvPr id="4" name="Slide Number Placeholder 3"/>
          <p:cNvSpPr>
            <a:spLocks noGrp="1"/>
          </p:cNvSpPr>
          <p:nvPr>
            <p:ph type="sldNum" sz="quarter" idx="12"/>
          </p:nvPr>
        </p:nvSpPr>
        <p:spPr/>
        <p:txBody>
          <a:bodyPr/>
          <a:lstStyle/>
          <a:p>
            <a:fld id="{C324E0D7-F7AC-FE4A-AA37-CBD35715E861}" type="slidenum">
              <a:rPr lang="en-US" smtClean="0"/>
              <a:t>9</a:t>
            </a:fld>
            <a:endParaRPr lang="en-US"/>
          </a:p>
        </p:txBody>
      </p:sp>
      <p:pic>
        <p:nvPicPr>
          <p:cNvPr id="2" name="Picture 1">
            <a:extLst>
              <a:ext uri="{FF2B5EF4-FFF2-40B4-BE49-F238E27FC236}">
                <a16:creationId xmlns:a16="http://schemas.microsoft.com/office/drawing/2014/main" id="{A6820E56-B772-171D-2A90-76A6EF7DDB84}"/>
              </a:ext>
            </a:extLst>
          </p:cNvPr>
          <p:cNvPicPr>
            <a:picLocks noChangeAspect="1"/>
          </p:cNvPicPr>
          <p:nvPr/>
        </p:nvPicPr>
        <p:blipFill>
          <a:blip r:embed="rId3"/>
          <a:stretch>
            <a:fillRect/>
          </a:stretch>
        </p:blipFill>
        <p:spPr>
          <a:xfrm>
            <a:off x="677562" y="1583238"/>
            <a:ext cx="7772400" cy="4909637"/>
          </a:xfrm>
          <a:prstGeom prst="rect">
            <a:avLst/>
          </a:prstGeom>
        </p:spPr>
      </p:pic>
      <p:sp>
        <p:nvSpPr>
          <p:cNvPr id="3" name="TextBox 2">
            <a:extLst>
              <a:ext uri="{FF2B5EF4-FFF2-40B4-BE49-F238E27FC236}">
                <a16:creationId xmlns:a16="http://schemas.microsoft.com/office/drawing/2014/main" id="{14E35489-3C11-5578-0250-7B8135C88B93}"/>
              </a:ext>
            </a:extLst>
          </p:cNvPr>
          <p:cNvSpPr txBox="1"/>
          <p:nvPr/>
        </p:nvSpPr>
        <p:spPr>
          <a:xfrm>
            <a:off x="8449962" y="3369001"/>
            <a:ext cx="3581400" cy="1292662"/>
          </a:xfrm>
          <a:prstGeom prst="rect">
            <a:avLst/>
          </a:prstGeom>
          <a:noFill/>
        </p:spPr>
        <p:txBody>
          <a:bodyPr wrap="square" rtlCol="0">
            <a:spAutoFit/>
          </a:bodyPr>
          <a:lstStyle/>
          <a:p>
            <a:r>
              <a:rPr lang="en-US" sz="1200">
                <a:latin typeface="Courier New" panose="02070309020205020404" pitchFamily="49" charset="0"/>
                <a:cs typeface="Courier New" panose="02070309020205020404" pitchFamily="49" charset="0"/>
              </a:rPr>
              <a:t>pa&lt;-fa.parallel(cde,fm="pa", fa="both",main = "Parallel Analysis Scree Plots",           n.iter=50,SMC=TRUE,ylabel="Eigenvalues of Factors",show.legend=TRUE)</a:t>
            </a:r>
          </a:p>
          <a:p>
            <a:endParaRPr lang="en-US"/>
          </a:p>
        </p:txBody>
      </p:sp>
      <p:sp>
        <p:nvSpPr>
          <p:cNvPr id="6" name="TextBox 5">
            <a:extLst>
              <a:ext uri="{FF2B5EF4-FFF2-40B4-BE49-F238E27FC236}">
                <a16:creationId xmlns:a16="http://schemas.microsoft.com/office/drawing/2014/main" id="{D1E7B5C7-F344-B7BB-3E80-E6DDCAB6907A}"/>
              </a:ext>
            </a:extLst>
          </p:cNvPr>
          <p:cNvSpPr txBox="1"/>
          <p:nvPr/>
        </p:nvSpPr>
        <p:spPr>
          <a:xfrm>
            <a:off x="8449962" y="4880919"/>
            <a:ext cx="3128319" cy="923330"/>
          </a:xfrm>
          <a:prstGeom prst="rect">
            <a:avLst/>
          </a:prstGeom>
          <a:noFill/>
        </p:spPr>
        <p:txBody>
          <a:bodyPr wrap="square" rtlCol="0">
            <a:spAutoFit/>
          </a:bodyPr>
          <a:lstStyle/>
          <a:p>
            <a:r>
              <a:rPr lang="en-US"/>
              <a:t>We see some evidence of a “statistically significant” second dimension.</a:t>
            </a:r>
          </a:p>
        </p:txBody>
      </p:sp>
    </p:spTree>
    <p:extLst>
      <p:ext uri="{BB962C8B-B14F-4D97-AF65-F5344CB8AC3E}">
        <p14:creationId xmlns:p14="http://schemas.microsoft.com/office/powerpoint/2010/main" val="1486701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cs typeface="Calibri"/>
              </a:rPr>
              <a:t>Criteria for Unidimensionality in IRT Models for Large-Scale Assessment?</a:t>
            </a:r>
          </a:p>
        </p:txBody>
      </p:sp>
      <p:sp>
        <p:nvSpPr>
          <p:cNvPr id="3" name="Content Placeholder 2"/>
          <p:cNvSpPr>
            <a:spLocks noGrp="1"/>
          </p:cNvSpPr>
          <p:nvPr>
            <p:ph idx="1"/>
          </p:nvPr>
        </p:nvSpPr>
        <p:spPr/>
        <p:txBody>
          <a:bodyPr/>
          <a:lstStyle/>
          <a:p>
            <a:pPr marL="0" indent="0">
              <a:buNone/>
            </a:pPr>
            <a:r>
              <a:rPr lang="en-US" sz="2400">
                <a:latin typeface="Calibri"/>
                <a:cs typeface="Calibri"/>
              </a:rPr>
              <a:t>Lord (1980) stated that if the ratio of the first to the second eigenvalue is large and the second eigenvalue is close to other eigenvalues, the test is unidimensional. Divgi (1980) expanded Lord’s idea and created an index by considering the pattern of the first three factor components (eigenvalues). The Divgi Index examines the ratio of the difference of the first and second eigenvalues over the difference of the second and third eigenvalues. A large ratio indicates a greater difference between the first and second eigenvalues, thus, creating a unidimensional tendency. A cut value of 3 is chosen for the index so that values greater than 3 are considered unidimensional. </a:t>
            </a:r>
          </a:p>
          <a:p>
            <a:pPr marL="0" indent="0">
              <a:buNone/>
            </a:pPr>
            <a:r>
              <a:rPr lang="en-US" sz="2400">
                <a:latin typeface="Calibri"/>
                <a:cs typeface="Calibri"/>
              </a:rPr>
              <a:t>--From the large-scale assessment technical report of state of Illinois, 2008</a:t>
            </a:r>
          </a:p>
        </p:txBody>
      </p:sp>
      <p:sp>
        <p:nvSpPr>
          <p:cNvPr id="5" name="Slide Number Placeholder 4"/>
          <p:cNvSpPr>
            <a:spLocks noGrp="1"/>
          </p:cNvSpPr>
          <p:nvPr>
            <p:ph type="sldNum" sz="quarter" idx="12"/>
          </p:nvPr>
        </p:nvSpPr>
        <p:spPr/>
        <p:txBody>
          <a:bodyPr/>
          <a:lstStyle/>
          <a:p>
            <a:fld id="{C324E0D7-F7AC-FE4A-AA37-CBD35715E861}" type="slidenum">
              <a:rPr lang="en-US" smtClean="0"/>
              <a:t>10</a:t>
            </a:fld>
            <a:endParaRPr lang="en-US"/>
          </a:p>
        </p:txBody>
      </p:sp>
    </p:spTree>
    <p:extLst>
      <p:ext uri="{BB962C8B-B14F-4D97-AF65-F5344CB8AC3E}">
        <p14:creationId xmlns:p14="http://schemas.microsoft.com/office/powerpoint/2010/main" val="3473766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cs typeface="Calibri"/>
              </a:rPr>
              <a:t>Upshot of this Criterion…</a:t>
            </a:r>
          </a:p>
        </p:txBody>
      </p:sp>
      <p:sp>
        <p:nvSpPr>
          <p:cNvPr id="3" name="Content Placeholder 2"/>
          <p:cNvSpPr>
            <a:spLocks noGrp="1"/>
          </p:cNvSpPr>
          <p:nvPr>
            <p:ph idx="1"/>
          </p:nvPr>
        </p:nvSpPr>
        <p:spPr/>
        <p:txBody>
          <a:bodyPr/>
          <a:lstStyle/>
          <a:p>
            <a:r>
              <a:rPr lang="en-US" sz="2400">
                <a:latin typeface="Calibri"/>
                <a:cs typeface="Calibri"/>
              </a:rPr>
              <a:t>Pretty much all educational tests typically look ”essentially” unidimensional </a:t>
            </a:r>
          </a:p>
          <a:p>
            <a:r>
              <a:rPr lang="en-US" sz="2400">
                <a:latin typeface="Calibri"/>
                <a:cs typeface="Calibri"/>
              </a:rPr>
              <a:t>Even if we combine math and reading items together! Table below shows results when I did this using Colorado’s state test data</a:t>
            </a:r>
          </a:p>
        </p:txBody>
      </p:sp>
      <p:pic>
        <p:nvPicPr>
          <p:cNvPr id="6" name="Picture 5"/>
          <p:cNvPicPr>
            <a:picLocks noChangeAspect="1"/>
          </p:cNvPicPr>
          <p:nvPr/>
        </p:nvPicPr>
        <p:blipFill>
          <a:blip r:embed="rId2"/>
          <a:stretch>
            <a:fillRect/>
          </a:stretch>
        </p:blipFill>
        <p:spPr>
          <a:xfrm>
            <a:off x="2466975" y="2967873"/>
            <a:ext cx="7818081" cy="3451225"/>
          </a:xfrm>
          <a:prstGeom prst="rect">
            <a:avLst/>
          </a:prstGeom>
        </p:spPr>
      </p:pic>
      <p:cxnSp>
        <p:nvCxnSpPr>
          <p:cNvPr id="8" name="Straight Arrow Connector 7"/>
          <p:cNvCxnSpPr/>
          <p:nvPr/>
        </p:nvCxnSpPr>
        <p:spPr>
          <a:xfrm flipH="1">
            <a:off x="8518360" y="4156103"/>
            <a:ext cx="720891" cy="272716"/>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239251" y="3990393"/>
            <a:ext cx="1045805" cy="646331"/>
          </a:xfrm>
          <a:prstGeom prst="rect">
            <a:avLst/>
          </a:prstGeom>
          <a:noFill/>
        </p:spPr>
        <p:txBody>
          <a:bodyPr wrap="square" rtlCol="0">
            <a:spAutoFit/>
          </a:bodyPr>
          <a:lstStyle/>
          <a:p>
            <a:r>
              <a:rPr lang="en-US"/>
              <a:t>Divgi</a:t>
            </a:r>
            <a:r>
              <a:rPr lang="en-US" dirty="0"/>
              <a:t> Ratio</a:t>
            </a:r>
          </a:p>
        </p:txBody>
      </p:sp>
      <p:sp>
        <p:nvSpPr>
          <p:cNvPr id="5" name="Slide Number Placeholder 4"/>
          <p:cNvSpPr>
            <a:spLocks noGrp="1"/>
          </p:cNvSpPr>
          <p:nvPr>
            <p:ph type="sldNum" sz="quarter" idx="12"/>
          </p:nvPr>
        </p:nvSpPr>
        <p:spPr/>
        <p:txBody>
          <a:bodyPr/>
          <a:lstStyle/>
          <a:p>
            <a:fld id="{C324E0D7-F7AC-FE4A-AA37-CBD35715E861}" type="slidenum">
              <a:rPr lang="en-US" smtClean="0"/>
              <a:t>11</a:t>
            </a:fld>
            <a:endParaRPr lang="en-US"/>
          </a:p>
        </p:txBody>
      </p:sp>
      <p:sp>
        <p:nvSpPr>
          <p:cNvPr id="7" name="TextBox 6">
            <a:extLst>
              <a:ext uri="{FF2B5EF4-FFF2-40B4-BE49-F238E27FC236}">
                <a16:creationId xmlns:a16="http://schemas.microsoft.com/office/drawing/2014/main" id="{EED4AF05-5DB7-CCAD-7B88-BCDE6B459FEF}"/>
              </a:ext>
            </a:extLst>
          </p:cNvPr>
          <p:cNvSpPr txBox="1"/>
          <p:nvPr/>
        </p:nvSpPr>
        <p:spPr>
          <a:xfrm>
            <a:off x="617838" y="6176963"/>
            <a:ext cx="9489989" cy="369332"/>
          </a:xfrm>
          <a:prstGeom prst="rect">
            <a:avLst/>
          </a:prstGeom>
          <a:noFill/>
        </p:spPr>
        <p:txBody>
          <a:bodyPr wrap="square" rtlCol="0">
            <a:spAutoFit/>
          </a:bodyPr>
          <a:lstStyle/>
          <a:p>
            <a:r>
              <a:rPr lang="en-US"/>
              <a:t>So be careful. There is difference between statistical dimensionality and theoretical dimensionality. </a:t>
            </a:r>
          </a:p>
        </p:txBody>
      </p:sp>
    </p:spTree>
    <p:extLst>
      <p:ext uri="{BB962C8B-B14F-4D97-AF65-F5344CB8AC3E}">
        <p14:creationId xmlns:p14="http://schemas.microsoft.com/office/powerpoint/2010/main" val="3680973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C73A03-6A54-6A0F-7953-B5E6E5EF57CA}"/>
              </a:ext>
            </a:extLst>
          </p:cNvPr>
          <p:cNvSpPr>
            <a:spLocks noGrp="1"/>
          </p:cNvSpPr>
          <p:nvPr>
            <p:ph type="sldNum" sz="quarter" idx="12"/>
          </p:nvPr>
        </p:nvSpPr>
        <p:spPr/>
        <p:txBody>
          <a:bodyPr/>
          <a:lstStyle/>
          <a:p>
            <a:fld id="{C324E0D7-F7AC-FE4A-AA37-CBD35715E861}" type="slidenum">
              <a:rPr lang="en-US" smtClean="0"/>
              <a:t>12</a:t>
            </a:fld>
            <a:endParaRPr lang="en-US"/>
          </a:p>
        </p:txBody>
      </p:sp>
      <p:sp>
        <p:nvSpPr>
          <p:cNvPr id="5" name="TextBox 4">
            <a:extLst>
              <a:ext uri="{FF2B5EF4-FFF2-40B4-BE49-F238E27FC236}">
                <a16:creationId xmlns:a16="http://schemas.microsoft.com/office/drawing/2014/main" id="{A97EDB58-D4D2-1B64-53F4-1F800C43EA56}"/>
              </a:ext>
            </a:extLst>
          </p:cNvPr>
          <p:cNvSpPr txBox="1"/>
          <p:nvPr/>
        </p:nvSpPr>
        <p:spPr>
          <a:xfrm>
            <a:off x="3398108" y="2782669"/>
            <a:ext cx="4806778" cy="1200329"/>
          </a:xfrm>
          <a:prstGeom prst="rect">
            <a:avLst/>
          </a:prstGeom>
          <a:noFill/>
        </p:spPr>
        <p:txBody>
          <a:bodyPr wrap="square" rtlCol="0">
            <a:spAutoFit/>
          </a:bodyPr>
          <a:lstStyle/>
          <a:p>
            <a:pPr algn="ctr"/>
            <a:r>
              <a:rPr lang="en-US" sz="3600" b="1"/>
              <a:t>Model Comparisons and Global Fit</a:t>
            </a:r>
          </a:p>
        </p:txBody>
      </p:sp>
    </p:spTree>
    <p:extLst>
      <p:ext uri="{BB962C8B-B14F-4D97-AF65-F5344CB8AC3E}">
        <p14:creationId xmlns:p14="http://schemas.microsoft.com/office/powerpoint/2010/main" val="3464852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sz="4000" b="1" dirty="0">
                <a:cs typeface="Calibri"/>
              </a:rPr>
              <a:t>M</a:t>
            </a:r>
            <a:r>
              <a:rPr lang="en-US" sz="4000" dirty="0">
                <a:cs typeface="Calibri"/>
              </a:rPr>
              <a:t>odel Fit Comparisons</a:t>
            </a:r>
          </a:p>
        </p:txBody>
      </p:sp>
      <mc:AlternateContent xmlns:mc="http://schemas.openxmlformats.org/markup-compatibility/2006">
        <mc:Choice xmlns:a14="http://schemas.microsoft.com/office/drawing/2010/main" Requires="a14">
          <p:sp>
            <p:nvSpPr>
              <p:cNvPr id="4" name="Content Placeholder 3"/>
              <p:cNvSpPr>
                <a:spLocks noGrp="1"/>
              </p:cNvSpPr>
              <p:nvPr>
                <p:ph idx="1"/>
              </p:nvPr>
            </p:nvSpPr>
            <p:spPr/>
            <p:txBody>
              <a:bodyPr/>
              <a:lstStyle/>
              <a:p>
                <a:r>
                  <a:rPr lang="en-US" dirty="0">
                    <a:latin typeface="Calibri" charset="0"/>
                    <a:ea typeface="Calibri" charset="0"/>
                    <a:cs typeface="Calibri" charset="0"/>
                  </a:rPr>
                  <a:t>G</a:t>
                </a:r>
                <a:r>
                  <a:rPr lang="en-US" baseline="30000" dirty="0">
                    <a:latin typeface="Calibri" charset="0"/>
                    <a:ea typeface="Calibri" charset="0"/>
                    <a:cs typeface="Calibri" charset="0"/>
                  </a:rPr>
                  <a:t>2</a:t>
                </a:r>
                <a:r>
                  <a:rPr lang="en-US" dirty="0">
                    <a:latin typeface="Calibri" charset="0"/>
                    <a:ea typeface="Calibri" charset="0"/>
                    <a:cs typeface="Calibri" charset="0"/>
                  </a:rPr>
                  <a:t> = Deviance = -2*Log-Likelihood Function at Maximum for each Model.</a:t>
                </a:r>
              </a:p>
              <a:p>
                <a:r>
                  <a:rPr lang="en-US" dirty="0">
                    <a:latin typeface="Calibri" charset="0"/>
                    <a:ea typeface="Calibri" charset="0"/>
                    <a:cs typeface="Calibri" charset="0"/>
                  </a:rPr>
                  <a:t>Lower deviance is better. </a:t>
                </a:r>
              </a:p>
              <a:p>
                <a14:m>
                  <m:oMath xmlns:m="http://schemas.openxmlformats.org/officeDocument/2006/math">
                    <m:sSub>
                      <m:sSubPr>
                        <m:ctrlPr>
                          <a:rPr lang="en-US" b="0" i="1" smtClean="0">
                            <a:latin typeface="Cambria Math" panose="02040503050406030204" pitchFamily="18" charset="0"/>
                            <a:ea typeface="Calibri" charset="0"/>
                            <a:cs typeface="Calibri" charset="0"/>
                          </a:rPr>
                        </m:ctrlPr>
                      </m:sSubPr>
                      <m:e>
                        <m:r>
                          <a:rPr lang="en-US" b="0" i="1" smtClean="0">
                            <a:latin typeface="Cambria Math" charset="0"/>
                            <a:ea typeface="Calibri" charset="0"/>
                            <a:cs typeface="Calibri" charset="0"/>
                          </a:rPr>
                          <m:t>𝐻</m:t>
                        </m:r>
                      </m:e>
                      <m:sub>
                        <m:r>
                          <a:rPr lang="en-US" b="0" i="1" smtClean="0">
                            <a:latin typeface="Cambria Math" charset="0"/>
                            <a:ea typeface="Calibri" charset="0"/>
                            <a:cs typeface="Calibri" charset="0"/>
                          </a:rPr>
                          <m:t>0</m:t>
                        </m:r>
                      </m:sub>
                    </m:sSub>
                    <m:r>
                      <a:rPr lang="en-US" b="0" i="1" smtClean="0">
                        <a:latin typeface="Cambria Math" charset="0"/>
                        <a:ea typeface="Calibri" charset="0"/>
                        <a:cs typeface="Calibri" charset="0"/>
                      </a:rPr>
                      <m:t>=</m:t>
                    </m:r>
                  </m:oMath>
                </a14:m>
                <a:r>
                  <a:rPr lang="en-US" dirty="0">
                    <a:latin typeface="Calibri" charset="0"/>
                    <a:ea typeface="Calibri" charset="0"/>
                    <a:cs typeface="Calibri" charset="0"/>
                  </a:rPr>
                  <a:t> ICC with restrictions imposed (simpler model)</a:t>
                </a:r>
              </a:p>
              <a:p>
                <a:r>
                  <a:rPr lang="en-US" dirty="0">
                    <a:latin typeface="Calibri" charset="0"/>
                    <a:ea typeface="Calibri" charset="0"/>
                    <a:cs typeface="Calibri" charset="0"/>
                  </a:rPr>
                  <a:t>The difference in deviance for nested models has a Chi-Square distribution with degrees of freedom equal to the </a:t>
                </a:r>
                <a:r>
                  <a:rPr lang="en-US" b="1" i="1" u="sng" dirty="0">
                    <a:latin typeface="Calibri" charset="0"/>
                    <a:ea typeface="Calibri" charset="0"/>
                    <a:cs typeface="Calibri" charset="0"/>
                  </a:rPr>
                  <a:t>difference</a:t>
                </a:r>
                <a:r>
                  <a:rPr lang="en-US" dirty="0">
                    <a:latin typeface="Calibri" charset="0"/>
                    <a:ea typeface="Calibri" charset="0"/>
                    <a:cs typeface="Calibri" charset="0"/>
                  </a:rPr>
                  <a:t> in number of parameters being estimated.</a:t>
                </a:r>
              </a:p>
              <a:p>
                <a:pPr lvl="1"/>
                <a:r>
                  <a:rPr lang="en-US" dirty="0">
                    <a:latin typeface="Calibri" charset="0"/>
                    <a:ea typeface="Calibri" charset="0"/>
                    <a:cs typeface="Calibri" charset="0"/>
                  </a:rPr>
                  <a:t>EX: For 1PL vs. 2PL with 23 items, there are 23 extra parameters in the 2PL model (assuming discrimination fixed to 1 in 1PL).</a:t>
                </a:r>
              </a:p>
            </p:txBody>
          </p:sp>
        </mc:Choice>
        <mc:Fallback>
          <p:sp>
            <p:nvSpPr>
              <p:cNvPr id="4" name="Content Placeholder 3"/>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C324E0D7-F7AC-FE4A-AA37-CBD35715E861}" type="slidenum">
              <a:rPr lang="en-US" smtClean="0"/>
              <a:t>13</a:t>
            </a:fld>
            <a:endParaRPr lang="en-US"/>
          </a:p>
        </p:txBody>
      </p:sp>
    </p:spTree>
    <p:extLst>
      <p:ext uri="{BB962C8B-B14F-4D97-AF65-F5344CB8AC3E}">
        <p14:creationId xmlns:p14="http://schemas.microsoft.com/office/powerpoint/2010/main" val="815430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Calibri" charset="0"/>
                <a:cs typeface="Calibri" charset="0"/>
              </a:rPr>
              <a:t>Comparing fit of 1PL, 2PL, 3PL</a:t>
            </a:r>
          </a:p>
        </p:txBody>
      </p:sp>
      <p:sp>
        <p:nvSpPr>
          <p:cNvPr id="3" name="Content Placeholder 2"/>
          <p:cNvSpPr>
            <a:spLocks noGrp="1"/>
          </p:cNvSpPr>
          <p:nvPr>
            <p:ph idx="1"/>
          </p:nvPr>
        </p:nvSpPr>
        <p:spPr>
          <a:xfrm>
            <a:off x="838200" y="1568451"/>
            <a:ext cx="10851292" cy="4525963"/>
          </a:xfrm>
        </p:spPr>
        <p:txBody>
          <a:bodyPr>
            <a:normAutofit/>
          </a:bodyPr>
          <a:lstStyle/>
          <a:p>
            <a:pPr marL="0" indent="0">
              <a:buNone/>
            </a:pPr>
            <a:r>
              <a:rPr lang="en-US" dirty="0">
                <a:latin typeface="Courier New" charset="0"/>
                <a:ea typeface="Courier New" charset="0"/>
                <a:cs typeface="Courier New" charset="0"/>
              </a:rPr>
              <a:t># fit 1, 2, 3pl models</a:t>
            </a:r>
          </a:p>
          <a:p>
            <a:pPr marL="0" indent="0">
              <a:buNone/>
            </a:pPr>
            <a:r>
              <a:rPr lang="en-US" sz="2400" dirty="0">
                <a:latin typeface="Courier New" charset="0"/>
                <a:ea typeface="Courier New" charset="0"/>
                <a:cs typeface="Courier New" charset="0"/>
              </a:rPr>
              <a:t>mod1 &lt;- </a:t>
            </a:r>
            <a:r>
              <a:rPr lang="en-US" sz="2400" dirty="0" err="1">
                <a:latin typeface="Courier New" charset="0"/>
                <a:ea typeface="Courier New" charset="0"/>
                <a:cs typeface="Courier New" charset="0"/>
              </a:rPr>
              <a:t>mirt</a:t>
            </a:r>
            <a:r>
              <a:rPr lang="en-US" sz="2400" dirty="0">
                <a:latin typeface="Courier New" charset="0"/>
                <a:ea typeface="Courier New" charset="0"/>
                <a:cs typeface="Courier New" charset="0"/>
              </a:rPr>
              <a:t>(d, 1, </a:t>
            </a:r>
            <a:r>
              <a:rPr lang="en-US" sz="2400" dirty="0" err="1">
                <a:latin typeface="Courier New" charset="0"/>
                <a:ea typeface="Courier New" charset="0"/>
                <a:cs typeface="Courier New" charset="0"/>
              </a:rPr>
              <a:t>itemtype</a:t>
            </a:r>
            <a:r>
              <a:rPr lang="en-US" sz="2400" dirty="0">
                <a:latin typeface="Courier New" charset="0"/>
                <a:ea typeface="Courier New" charset="0"/>
                <a:cs typeface="Courier New" charset="0"/>
              </a:rPr>
              <a:t> = "</a:t>
            </a:r>
            <a:r>
              <a:rPr lang="en-US" sz="2400" dirty="0" err="1">
                <a:latin typeface="Courier New" charset="0"/>
                <a:ea typeface="Courier New" charset="0"/>
                <a:cs typeface="Courier New" charset="0"/>
              </a:rPr>
              <a:t>Rasch</a:t>
            </a:r>
            <a:r>
              <a:rPr lang="en-US" sz="2400" dirty="0">
                <a:latin typeface="Courier New" charset="0"/>
                <a:ea typeface="Courier New" charset="0"/>
                <a:cs typeface="Courier New" charset="0"/>
              </a:rPr>
              <a:t>”, SE = TRUE)</a:t>
            </a:r>
          </a:p>
          <a:p>
            <a:pPr marL="0" indent="0">
              <a:buNone/>
            </a:pPr>
            <a:r>
              <a:rPr lang="en-US" sz="2400" dirty="0">
                <a:latin typeface="Courier New" charset="0"/>
                <a:ea typeface="Courier New" charset="0"/>
                <a:cs typeface="Courier New" charset="0"/>
              </a:rPr>
              <a:t>mod2 &lt;- </a:t>
            </a:r>
            <a:r>
              <a:rPr lang="en-US" sz="2400" dirty="0" err="1">
                <a:latin typeface="Courier New" charset="0"/>
                <a:ea typeface="Courier New" charset="0"/>
                <a:cs typeface="Courier New" charset="0"/>
              </a:rPr>
              <a:t>mirt</a:t>
            </a:r>
            <a:r>
              <a:rPr lang="en-US" sz="2400" dirty="0">
                <a:latin typeface="Courier New" charset="0"/>
                <a:ea typeface="Courier New" charset="0"/>
                <a:cs typeface="Courier New" charset="0"/>
              </a:rPr>
              <a:t>(d, 1, </a:t>
            </a:r>
            <a:r>
              <a:rPr lang="en-US" sz="2400" dirty="0" err="1">
                <a:latin typeface="Courier New" charset="0"/>
                <a:ea typeface="Courier New" charset="0"/>
                <a:cs typeface="Courier New" charset="0"/>
              </a:rPr>
              <a:t>itemtype</a:t>
            </a:r>
            <a:r>
              <a:rPr lang="en-US" sz="2400" dirty="0">
                <a:latin typeface="Courier New" charset="0"/>
                <a:ea typeface="Courier New" charset="0"/>
                <a:cs typeface="Courier New" charset="0"/>
              </a:rPr>
              <a:t> = "2PL”, SE = TRUE)</a:t>
            </a:r>
          </a:p>
          <a:p>
            <a:pPr marL="0" indent="0">
              <a:buNone/>
            </a:pPr>
            <a:r>
              <a:rPr lang="en-US" sz="2400" dirty="0">
                <a:latin typeface="Courier New" charset="0"/>
                <a:ea typeface="Courier New" charset="0"/>
                <a:cs typeface="Courier New" charset="0"/>
              </a:rPr>
              <a:t>mod3 &lt;- </a:t>
            </a:r>
            <a:r>
              <a:rPr lang="en-US" sz="2400" dirty="0" err="1">
                <a:latin typeface="Courier New" charset="0"/>
                <a:ea typeface="Courier New" charset="0"/>
                <a:cs typeface="Courier New" charset="0"/>
              </a:rPr>
              <a:t>mirt</a:t>
            </a:r>
            <a:r>
              <a:rPr lang="en-US" sz="2400" dirty="0">
                <a:latin typeface="Courier New" charset="0"/>
                <a:ea typeface="Courier New" charset="0"/>
                <a:cs typeface="Courier New" charset="0"/>
              </a:rPr>
              <a:t>(d, 1, </a:t>
            </a:r>
            <a:r>
              <a:rPr lang="en-US" sz="2400" dirty="0" err="1">
                <a:latin typeface="Courier New" charset="0"/>
                <a:ea typeface="Courier New" charset="0"/>
                <a:cs typeface="Courier New" charset="0"/>
              </a:rPr>
              <a:t>itemtype</a:t>
            </a:r>
            <a:r>
              <a:rPr lang="en-US" sz="2400" dirty="0">
                <a:latin typeface="Courier New" charset="0"/>
                <a:ea typeface="Courier New" charset="0"/>
                <a:cs typeface="Courier New" charset="0"/>
              </a:rPr>
              <a:t>= "3PL", SE = TRUE)</a:t>
            </a:r>
          </a:p>
          <a:p>
            <a:pPr marL="0" indent="0">
              <a:buNone/>
            </a:pPr>
            <a:r>
              <a:rPr lang="en-US" sz="2400" dirty="0">
                <a:latin typeface="Courier New" charset="0"/>
                <a:ea typeface="Courier New" charset="0"/>
                <a:cs typeface="Courier New" charset="0"/>
              </a:rPr>
              <a:t># Compare overall fit of 1PL to 2PL</a:t>
            </a:r>
          </a:p>
          <a:p>
            <a:pPr marL="0" indent="0">
              <a:buNone/>
            </a:pPr>
            <a:r>
              <a:rPr lang="en-US" sz="2400" dirty="0">
                <a:latin typeface="Courier New" charset="0"/>
                <a:ea typeface="Courier New" charset="0"/>
                <a:cs typeface="Courier New" charset="0"/>
              </a:rPr>
              <a:t>anova(mod1,mod2)</a:t>
            </a:r>
          </a:p>
          <a:p>
            <a:pPr marL="0" indent="0">
              <a:buNone/>
            </a:pPr>
            <a:r>
              <a:rPr lang="en-US" sz="2400" dirty="0">
                <a:latin typeface="Courier New" charset="0"/>
                <a:ea typeface="Courier New" charset="0"/>
                <a:cs typeface="Courier New" charset="0"/>
              </a:rPr>
              <a:t># Compare overall fit of 2PL to 3PL</a:t>
            </a:r>
          </a:p>
          <a:p>
            <a:pPr marL="0" indent="0">
              <a:buNone/>
            </a:pPr>
            <a:r>
              <a:rPr lang="en-US" sz="2400" dirty="0">
                <a:latin typeface="Courier New" charset="0"/>
                <a:ea typeface="Courier New" charset="0"/>
                <a:cs typeface="Courier New" charset="0"/>
              </a:rPr>
              <a:t>anova(mod2,mod3)</a:t>
            </a:r>
          </a:p>
          <a:p>
            <a:pPr marL="0" indent="0">
              <a:buNone/>
            </a:pPr>
            <a:endParaRPr lang="en-US" dirty="0">
              <a:latin typeface="Calibri" charset="0"/>
              <a:ea typeface="Calibri" charset="0"/>
              <a:cs typeface="Calibri" charset="0"/>
            </a:endParaRPr>
          </a:p>
          <a:p>
            <a:pPr marL="0" indent="0">
              <a:buNone/>
            </a:pPr>
            <a:endParaRPr lang="en-US" dirty="0">
              <a:latin typeface="Courier New" charset="0"/>
              <a:ea typeface="Courier New" charset="0"/>
              <a:cs typeface="Courier New" charset="0"/>
            </a:endParaRPr>
          </a:p>
        </p:txBody>
      </p:sp>
      <p:sp>
        <p:nvSpPr>
          <p:cNvPr id="5" name="Slide Number Placeholder 4"/>
          <p:cNvSpPr>
            <a:spLocks noGrp="1"/>
          </p:cNvSpPr>
          <p:nvPr>
            <p:ph type="sldNum" sz="quarter" idx="12"/>
          </p:nvPr>
        </p:nvSpPr>
        <p:spPr/>
        <p:txBody>
          <a:bodyPr/>
          <a:lstStyle/>
          <a:p>
            <a:fld id="{C324E0D7-F7AC-FE4A-AA37-CBD35715E861}" type="slidenum">
              <a:rPr lang="en-US" smtClean="0"/>
              <a:t>14</a:t>
            </a:fld>
            <a:endParaRPr lang="en-US"/>
          </a:p>
        </p:txBody>
      </p:sp>
    </p:spTree>
    <p:extLst>
      <p:ext uri="{BB962C8B-B14F-4D97-AF65-F5344CB8AC3E}">
        <p14:creationId xmlns:p14="http://schemas.microsoft.com/office/powerpoint/2010/main" val="852383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Calibri" charset="0"/>
                <a:cs typeface="Calibri" charset="0"/>
              </a:rPr>
              <a:t>Global Tests of Fit: Results</a:t>
            </a:r>
          </a:p>
        </p:txBody>
      </p:sp>
      <p:sp>
        <p:nvSpPr>
          <p:cNvPr id="7" name="TextBox 6"/>
          <p:cNvSpPr txBox="1"/>
          <p:nvPr/>
        </p:nvSpPr>
        <p:spPr>
          <a:xfrm>
            <a:off x="838200" y="5892581"/>
            <a:ext cx="7431505" cy="646331"/>
          </a:xfrm>
          <a:prstGeom prst="rect">
            <a:avLst/>
          </a:prstGeom>
          <a:noFill/>
        </p:spPr>
        <p:txBody>
          <a:bodyPr wrap="square" rtlCol="0">
            <a:spAutoFit/>
          </a:bodyPr>
          <a:lstStyle/>
          <a:p>
            <a:r>
              <a:rPr lang="en-US" dirty="0"/>
              <a:t>Not too surprising, will often be the case that 3PL fits better globally than 2PL and 2PL fits better than 1PL.</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833" y="1690688"/>
            <a:ext cx="6045200" cy="3619500"/>
          </a:xfrm>
          <a:prstGeom prst="rect">
            <a:avLst/>
          </a:prstGeom>
        </p:spPr>
      </p:pic>
      <p:sp>
        <p:nvSpPr>
          <p:cNvPr id="9" name="TextBox 8"/>
          <p:cNvSpPr txBox="1"/>
          <p:nvPr/>
        </p:nvSpPr>
        <p:spPr>
          <a:xfrm>
            <a:off x="7863627" y="2690336"/>
            <a:ext cx="3490173" cy="1477328"/>
          </a:xfrm>
          <a:prstGeom prst="rect">
            <a:avLst/>
          </a:prstGeom>
          <a:noFill/>
        </p:spPr>
        <p:txBody>
          <a:bodyPr wrap="square" rtlCol="0">
            <a:spAutoFit/>
          </a:bodyPr>
          <a:lstStyle/>
          <a:p>
            <a:r>
              <a:rPr lang="en-US" dirty="0"/>
              <a:t>Also reports AIC and BIC values. These can only be interpreted as relative fit. Similar models fit to same data with </a:t>
            </a:r>
            <a:r>
              <a:rPr lang="en-US" b="1" u="sng" dirty="0"/>
              <a:t>lower</a:t>
            </a:r>
            <a:r>
              <a:rPr lang="en-US" dirty="0"/>
              <a:t> values fit better.</a:t>
            </a:r>
          </a:p>
        </p:txBody>
      </p:sp>
      <p:sp>
        <p:nvSpPr>
          <p:cNvPr id="10" name="Oval 9"/>
          <p:cNvSpPr/>
          <p:nvPr/>
        </p:nvSpPr>
        <p:spPr>
          <a:xfrm>
            <a:off x="4954029" y="3048684"/>
            <a:ext cx="1602932" cy="495300"/>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4954029" y="4814888"/>
            <a:ext cx="1602932" cy="495300"/>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C324E0D7-F7AC-FE4A-AA37-CBD35715E861}" type="slidenum">
              <a:rPr lang="en-US" smtClean="0"/>
              <a:t>15</a:t>
            </a:fld>
            <a:endParaRPr lang="en-US"/>
          </a:p>
        </p:txBody>
      </p:sp>
    </p:spTree>
    <p:extLst>
      <p:ext uri="{BB962C8B-B14F-4D97-AF65-F5344CB8AC3E}">
        <p14:creationId xmlns:p14="http://schemas.microsoft.com/office/powerpoint/2010/main" val="145756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278987-DBD4-F3F0-C621-9A5939542477}"/>
              </a:ext>
            </a:extLst>
          </p:cNvPr>
          <p:cNvSpPr>
            <a:spLocks noGrp="1"/>
          </p:cNvSpPr>
          <p:nvPr>
            <p:ph type="sldNum" sz="quarter" idx="12"/>
          </p:nvPr>
        </p:nvSpPr>
        <p:spPr/>
        <p:txBody>
          <a:bodyPr/>
          <a:lstStyle/>
          <a:p>
            <a:fld id="{C324E0D7-F7AC-FE4A-AA37-CBD35715E861}" type="slidenum">
              <a:rPr lang="en-US" smtClean="0"/>
              <a:t>16</a:t>
            </a:fld>
            <a:endParaRPr lang="en-US"/>
          </a:p>
        </p:txBody>
      </p:sp>
      <p:sp>
        <p:nvSpPr>
          <p:cNvPr id="5" name="TextBox 4">
            <a:extLst>
              <a:ext uri="{FF2B5EF4-FFF2-40B4-BE49-F238E27FC236}">
                <a16:creationId xmlns:a16="http://schemas.microsoft.com/office/drawing/2014/main" id="{E860E3AE-7D32-5DF8-C301-CEF9AC726F61}"/>
              </a:ext>
            </a:extLst>
          </p:cNvPr>
          <p:cNvSpPr txBox="1"/>
          <p:nvPr/>
        </p:nvSpPr>
        <p:spPr>
          <a:xfrm>
            <a:off x="2434281" y="2594918"/>
            <a:ext cx="6907427" cy="1077218"/>
          </a:xfrm>
          <a:prstGeom prst="rect">
            <a:avLst/>
          </a:prstGeom>
          <a:noFill/>
        </p:spPr>
        <p:txBody>
          <a:bodyPr wrap="square" rtlCol="0">
            <a:spAutoFit/>
          </a:bodyPr>
          <a:lstStyle/>
          <a:p>
            <a:r>
              <a:rPr lang="en-US" sz="3200"/>
              <a:t>An aside for Students who have taken structural equation modeling…</a:t>
            </a:r>
          </a:p>
        </p:txBody>
      </p:sp>
    </p:spTree>
    <p:extLst>
      <p:ext uri="{BB962C8B-B14F-4D97-AF65-F5344CB8AC3E}">
        <p14:creationId xmlns:p14="http://schemas.microsoft.com/office/powerpoint/2010/main" val="2908130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70F4E-70F7-A1D9-1AE7-5011AF687E12}"/>
              </a:ext>
            </a:extLst>
          </p:cNvPr>
          <p:cNvSpPr>
            <a:spLocks noGrp="1"/>
          </p:cNvSpPr>
          <p:nvPr>
            <p:ph type="title"/>
          </p:nvPr>
        </p:nvSpPr>
        <p:spPr/>
        <p:txBody>
          <a:bodyPr>
            <a:normAutofit fontScale="90000"/>
          </a:bodyPr>
          <a:lstStyle/>
          <a:p>
            <a:r>
              <a:rPr lang="en-US" b="1"/>
              <a:t>mirt can also produce SEM Fit Statistics (results from applying the “M2” fcn)</a:t>
            </a:r>
            <a:br>
              <a:rPr lang="en-US" b="1"/>
            </a:br>
            <a:endParaRPr lang="en-US" b="1"/>
          </a:p>
        </p:txBody>
      </p:sp>
      <p:sp>
        <p:nvSpPr>
          <p:cNvPr id="4" name="Slide Number Placeholder 3">
            <a:extLst>
              <a:ext uri="{FF2B5EF4-FFF2-40B4-BE49-F238E27FC236}">
                <a16:creationId xmlns:a16="http://schemas.microsoft.com/office/drawing/2014/main" id="{84CBAC74-1146-F21A-78AE-8A119DBF2BDC}"/>
              </a:ext>
            </a:extLst>
          </p:cNvPr>
          <p:cNvSpPr>
            <a:spLocks noGrp="1"/>
          </p:cNvSpPr>
          <p:nvPr>
            <p:ph type="sldNum" sz="quarter" idx="12"/>
          </p:nvPr>
        </p:nvSpPr>
        <p:spPr/>
        <p:txBody>
          <a:bodyPr/>
          <a:lstStyle/>
          <a:p>
            <a:fld id="{C324E0D7-F7AC-FE4A-AA37-CBD35715E861}" type="slidenum">
              <a:rPr lang="en-US" smtClean="0"/>
              <a:t>17</a:t>
            </a:fld>
            <a:endParaRPr lang="en-US"/>
          </a:p>
        </p:txBody>
      </p:sp>
      <p:graphicFrame>
        <p:nvGraphicFramePr>
          <p:cNvPr id="5" name="Table 4">
            <a:extLst>
              <a:ext uri="{FF2B5EF4-FFF2-40B4-BE49-F238E27FC236}">
                <a16:creationId xmlns:a16="http://schemas.microsoft.com/office/drawing/2014/main" id="{9BBB1E75-EDDB-531F-626A-0354D272AABA}"/>
              </a:ext>
            </a:extLst>
          </p:cNvPr>
          <p:cNvGraphicFramePr>
            <a:graphicFrameLocks noGrp="1"/>
          </p:cNvGraphicFramePr>
          <p:nvPr>
            <p:extLst>
              <p:ext uri="{D42A27DB-BD31-4B8C-83A1-F6EECF244321}">
                <p14:modId xmlns:p14="http://schemas.microsoft.com/office/powerpoint/2010/main" val="1995404843"/>
              </p:ext>
            </p:extLst>
          </p:nvPr>
        </p:nvGraphicFramePr>
        <p:xfrm>
          <a:off x="1134761" y="1643555"/>
          <a:ext cx="8847439" cy="2372496"/>
        </p:xfrm>
        <a:graphic>
          <a:graphicData uri="http://schemas.openxmlformats.org/drawingml/2006/table">
            <a:tbl>
              <a:tblPr>
                <a:tableStyleId>{2D5ABB26-0587-4C30-8999-92F81FD0307C}</a:tableStyleId>
              </a:tblPr>
              <a:tblGrid>
                <a:gridCol w="877757">
                  <a:extLst>
                    <a:ext uri="{9D8B030D-6E8A-4147-A177-3AD203B41FA5}">
                      <a16:colId xmlns:a16="http://schemas.microsoft.com/office/drawing/2014/main" val="3045078836"/>
                    </a:ext>
                  </a:extLst>
                </a:gridCol>
                <a:gridCol w="825354">
                  <a:extLst>
                    <a:ext uri="{9D8B030D-6E8A-4147-A177-3AD203B41FA5}">
                      <a16:colId xmlns:a16="http://schemas.microsoft.com/office/drawing/2014/main" val="1801537490"/>
                    </a:ext>
                  </a:extLst>
                </a:gridCol>
                <a:gridCol w="743526">
                  <a:extLst>
                    <a:ext uri="{9D8B030D-6E8A-4147-A177-3AD203B41FA5}">
                      <a16:colId xmlns:a16="http://schemas.microsoft.com/office/drawing/2014/main" val="3292307102"/>
                    </a:ext>
                  </a:extLst>
                </a:gridCol>
                <a:gridCol w="907182">
                  <a:extLst>
                    <a:ext uri="{9D8B030D-6E8A-4147-A177-3AD203B41FA5}">
                      <a16:colId xmlns:a16="http://schemas.microsoft.com/office/drawing/2014/main" val="736575755"/>
                    </a:ext>
                  </a:extLst>
                </a:gridCol>
                <a:gridCol w="960728">
                  <a:extLst>
                    <a:ext uri="{9D8B030D-6E8A-4147-A177-3AD203B41FA5}">
                      <a16:colId xmlns:a16="http://schemas.microsoft.com/office/drawing/2014/main" val="1562903226"/>
                    </a:ext>
                  </a:extLst>
                </a:gridCol>
                <a:gridCol w="960728">
                  <a:extLst>
                    <a:ext uri="{9D8B030D-6E8A-4147-A177-3AD203B41FA5}">
                      <a16:colId xmlns:a16="http://schemas.microsoft.com/office/drawing/2014/main" val="2719114818"/>
                    </a:ext>
                  </a:extLst>
                </a:gridCol>
                <a:gridCol w="960728">
                  <a:extLst>
                    <a:ext uri="{9D8B030D-6E8A-4147-A177-3AD203B41FA5}">
                      <a16:colId xmlns:a16="http://schemas.microsoft.com/office/drawing/2014/main" val="4027499820"/>
                    </a:ext>
                  </a:extLst>
                </a:gridCol>
                <a:gridCol w="960728">
                  <a:extLst>
                    <a:ext uri="{9D8B030D-6E8A-4147-A177-3AD203B41FA5}">
                      <a16:colId xmlns:a16="http://schemas.microsoft.com/office/drawing/2014/main" val="55606014"/>
                    </a:ext>
                  </a:extLst>
                </a:gridCol>
                <a:gridCol w="825354">
                  <a:extLst>
                    <a:ext uri="{9D8B030D-6E8A-4147-A177-3AD203B41FA5}">
                      <a16:colId xmlns:a16="http://schemas.microsoft.com/office/drawing/2014/main" val="748464139"/>
                    </a:ext>
                  </a:extLst>
                </a:gridCol>
                <a:gridCol w="825354">
                  <a:extLst>
                    <a:ext uri="{9D8B030D-6E8A-4147-A177-3AD203B41FA5}">
                      <a16:colId xmlns:a16="http://schemas.microsoft.com/office/drawing/2014/main" val="2747776957"/>
                    </a:ext>
                  </a:extLst>
                </a:gridCol>
              </a:tblGrid>
              <a:tr h="593124">
                <a:tc>
                  <a:txBody>
                    <a:bodyPr/>
                    <a:lstStyle/>
                    <a:p>
                      <a:pPr algn="l" fontAlgn="b"/>
                      <a:r>
                        <a:rPr lang="en-US" sz="1600" b="1" u="none" strike="noStrike">
                          <a:solidFill>
                            <a:srgbClr val="000000"/>
                          </a:solidFill>
                          <a:effectLst/>
                        </a:rPr>
                        <a:t>Model</a:t>
                      </a:r>
                      <a:endParaRPr lang="en-US" sz="1600" b="1"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a:solidFill>
                            <a:srgbClr val="000000"/>
                          </a:solidFill>
                          <a:effectLst/>
                        </a:rPr>
                        <a:t>M2</a:t>
                      </a:r>
                      <a:endParaRPr lang="en-US" sz="1600" b="1"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a:solidFill>
                            <a:srgbClr val="000000"/>
                          </a:solidFill>
                          <a:effectLst/>
                        </a:rPr>
                        <a:t>df</a:t>
                      </a:r>
                      <a:endParaRPr lang="en-US" sz="1600" b="1"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a:solidFill>
                            <a:srgbClr val="000000"/>
                          </a:solidFill>
                          <a:effectLst/>
                        </a:rPr>
                        <a:t>p</a:t>
                      </a:r>
                      <a:endParaRPr lang="en-US" sz="1600" b="1"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a:solidFill>
                            <a:srgbClr val="000000"/>
                          </a:solidFill>
                          <a:effectLst/>
                        </a:rPr>
                        <a:t>RMSEA</a:t>
                      </a:r>
                      <a:endParaRPr lang="en-US" sz="1600" b="1"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a:solidFill>
                            <a:srgbClr val="000000"/>
                          </a:solidFill>
                          <a:effectLst/>
                        </a:rPr>
                        <a:t>RMSEA_5</a:t>
                      </a:r>
                      <a:endParaRPr lang="en-US" sz="1600" b="1"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a:solidFill>
                            <a:srgbClr val="000000"/>
                          </a:solidFill>
                          <a:effectLst/>
                        </a:rPr>
                        <a:t>RMSEA_95</a:t>
                      </a:r>
                      <a:endParaRPr lang="en-US" sz="1600" b="1"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a:solidFill>
                            <a:srgbClr val="000000"/>
                          </a:solidFill>
                          <a:effectLst/>
                        </a:rPr>
                        <a:t>SRMSR</a:t>
                      </a:r>
                      <a:endParaRPr lang="en-US" sz="1600" b="1"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a:solidFill>
                            <a:srgbClr val="000000"/>
                          </a:solidFill>
                          <a:effectLst/>
                        </a:rPr>
                        <a:t>TLI</a:t>
                      </a:r>
                      <a:endParaRPr lang="en-US" sz="1600" b="1"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a:solidFill>
                            <a:srgbClr val="000000"/>
                          </a:solidFill>
                          <a:effectLst/>
                        </a:rPr>
                        <a:t>CFI</a:t>
                      </a:r>
                      <a:endParaRPr lang="en-US" sz="1600" b="1"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2353985"/>
                  </a:ext>
                </a:extLst>
              </a:tr>
              <a:tr h="593124">
                <a:tc>
                  <a:txBody>
                    <a:bodyPr/>
                    <a:lstStyle/>
                    <a:p>
                      <a:pPr algn="l" fontAlgn="b"/>
                      <a:r>
                        <a:rPr lang="en-US" sz="1600" b="0" u="none" strike="noStrike">
                          <a:solidFill>
                            <a:srgbClr val="000000"/>
                          </a:solidFill>
                          <a:effectLst/>
                        </a:rPr>
                        <a:t>1PL</a:t>
                      </a:r>
                      <a:endParaRPr lang="en-US" sz="16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600" b="0" u="none" strike="noStrike">
                          <a:solidFill>
                            <a:srgbClr val="000000"/>
                          </a:solidFill>
                          <a:effectLst/>
                        </a:rPr>
                        <a:t>1113.1</a:t>
                      </a:r>
                      <a:endParaRPr lang="en-US" sz="16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600" b="0" u="none" strike="noStrike">
                          <a:solidFill>
                            <a:srgbClr val="000000"/>
                          </a:solidFill>
                          <a:effectLst/>
                        </a:rPr>
                        <a:t>434</a:t>
                      </a:r>
                      <a:endParaRPr lang="en-US" sz="16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600" b="0" u="none" strike="noStrike">
                          <a:solidFill>
                            <a:srgbClr val="000000"/>
                          </a:solidFill>
                          <a:effectLst/>
                        </a:rPr>
                        <a:t>0</a:t>
                      </a:r>
                      <a:endParaRPr lang="en-US" sz="16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600" b="0" u="none" strike="noStrike">
                          <a:solidFill>
                            <a:srgbClr val="000000"/>
                          </a:solidFill>
                          <a:effectLst/>
                        </a:rPr>
                        <a:t>0.032</a:t>
                      </a:r>
                      <a:endParaRPr lang="en-US" sz="16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600" b="0" u="none" strike="noStrike">
                          <a:solidFill>
                            <a:srgbClr val="000000"/>
                          </a:solidFill>
                          <a:effectLst/>
                        </a:rPr>
                        <a:t>0.030</a:t>
                      </a:r>
                      <a:endParaRPr lang="en-US" sz="16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600" b="0" u="none" strike="noStrike">
                          <a:solidFill>
                            <a:srgbClr val="000000"/>
                          </a:solidFill>
                          <a:effectLst/>
                        </a:rPr>
                        <a:t>0.035</a:t>
                      </a:r>
                      <a:endParaRPr lang="en-US" sz="16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600" b="0" u="none" strike="noStrike">
                          <a:solidFill>
                            <a:srgbClr val="000000"/>
                          </a:solidFill>
                          <a:effectLst/>
                        </a:rPr>
                        <a:t>0.055</a:t>
                      </a:r>
                      <a:endParaRPr lang="en-US" sz="16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600" b="0" u="none" strike="noStrike">
                          <a:solidFill>
                            <a:srgbClr val="000000"/>
                          </a:solidFill>
                          <a:effectLst/>
                        </a:rPr>
                        <a:t>0.961</a:t>
                      </a:r>
                      <a:endParaRPr lang="en-US" sz="16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tc>
                  <a:txBody>
                    <a:bodyPr/>
                    <a:lstStyle/>
                    <a:p>
                      <a:pPr algn="ctr" fontAlgn="b"/>
                      <a:r>
                        <a:rPr lang="en-US" sz="1600" b="0" u="none" strike="noStrike">
                          <a:solidFill>
                            <a:srgbClr val="000000"/>
                          </a:solidFill>
                          <a:effectLst/>
                        </a:rPr>
                        <a:t>0.961</a:t>
                      </a:r>
                      <a:endParaRPr lang="en-US" sz="1600" b="0" i="0" u="none" strike="noStrike">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722720483"/>
                  </a:ext>
                </a:extLst>
              </a:tr>
              <a:tr h="593124">
                <a:tc>
                  <a:txBody>
                    <a:bodyPr/>
                    <a:lstStyle/>
                    <a:p>
                      <a:pPr algn="l" fontAlgn="b"/>
                      <a:r>
                        <a:rPr lang="en-US" sz="1600" b="0" u="none" strike="noStrike">
                          <a:solidFill>
                            <a:srgbClr val="000000"/>
                          </a:solidFill>
                          <a:effectLst/>
                        </a:rPr>
                        <a:t>2PL</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b="0" u="none" strike="noStrike">
                          <a:solidFill>
                            <a:srgbClr val="000000"/>
                          </a:solidFill>
                          <a:effectLst/>
                        </a:rPr>
                        <a:t>708.1</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b="0" u="none" strike="noStrike">
                          <a:solidFill>
                            <a:srgbClr val="000000"/>
                          </a:solidFill>
                          <a:effectLst/>
                        </a:rPr>
                        <a:t>405</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b="0" u="none" strike="noStrike">
                          <a:solidFill>
                            <a:srgbClr val="000000"/>
                          </a:solidFill>
                          <a:effectLst/>
                        </a:rPr>
                        <a:t>0</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b="0" u="none" strike="noStrike">
                          <a:solidFill>
                            <a:srgbClr val="000000"/>
                          </a:solidFill>
                          <a:effectLst/>
                        </a:rPr>
                        <a:t>0.022</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b="0" u="none" strike="noStrike">
                          <a:solidFill>
                            <a:srgbClr val="000000"/>
                          </a:solidFill>
                          <a:effectLst/>
                        </a:rPr>
                        <a:t>0.020</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b="0" u="none" strike="noStrike">
                          <a:solidFill>
                            <a:srgbClr val="000000"/>
                          </a:solidFill>
                          <a:effectLst/>
                        </a:rPr>
                        <a:t>0.025</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b="0" u="none" strike="noStrike">
                          <a:solidFill>
                            <a:srgbClr val="000000"/>
                          </a:solidFill>
                          <a:effectLst/>
                        </a:rPr>
                        <a:t>0.029</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b="0" u="none" strike="noStrike">
                          <a:solidFill>
                            <a:srgbClr val="000000"/>
                          </a:solidFill>
                          <a:effectLst/>
                        </a:rPr>
                        <a:t>0.981</a:t>
                      </a:r>
                      <a:endParaRPr lang="en-US"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600" b="0" u="none" strike="noStrike">
                          <a:solidFill>
                            <a:srgbClr val="000000"/>
                          </a:solidFill>
                          <a:effectLst/>
                        </a:rPr>
                        <a:t>0.983</a:t>
                      </a:r>
                      <a:endParaRPr lang="en-US"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06428071"/>
                  </a:ext>
                </a:extLst>
              </a:tr>
              <a:tr h="593124">
                <a:tc>
                  <a:txBody>
                    <a:bodyPr/>
                    <a:lstStyle/>
                    <a:p>
                      <a:pPr algn="l" fontAlgn="b"/>
                      <a:r>
                        <a:rPr lang="en-US" sz="1600" b="0" u="none" strike="noStrike">
                          <a:solidFill>
                            <a:srgbClr val="000000"/>
                          </a:solidFill>
                          <a:effectLst/>
                        </a:rPr>
                        <a:t>3PL</a:t>
                      </a:r>
                      <a:endParaRPr lang="en-US" sz="16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r>
                        <a:rPr lang="en-US" sz="1600" b="0" u="none" strike="noStrike">
                          <a:solidFill>
                            <a:srgbClr val="000000"/>
                          </a:solidFill>
                          <a:effectLst/>
                        </a:rPr>
                        <a:t>575.2</a:t>
                      </a:r>
                      <a:endParaRPr lang="en-US" sz="16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r>
                        <a:rPr lang="en-US" sz="1600" b="0" u="none" strike="noStrike">
                          <a:solidFill>
                            <a:srgbClr val="000000"/>
                          </a:solidFill>
                          <a:effectLst/>
                        </a:rPr>
                        <a:t>375</a:t>
                      </a:r>
                      <a:endParaRPr lang="en-US" sz="16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r>
                        <a:rPr lang="en-US" sz="1600" b="0" u="none" strike="noStrike">
                          <a:solidFill>
                            <a:srgbClr val="000000"/>
                          </a:solidFill>
                          <a:effectLst/>
                        </a:rPr>
                        <a:t>0</a:t>
                      </a:r>
                      <a:endParaRPr lang="en-US" sz="16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r>
                        <a:rPr lang="en-US" sz="1600" b="0" u="none" strike="noStrike">
                          <a:solidFill>
                            <a:srgbClr val="000000"/>
                          </a:solidFill>
                          <a:effectLst/>
                        </a:rPr>
                        <a:t>0.019</a:t>
                      </a:r>
                      <a:endParaRPr lang="en-US" sz="16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r>
                        <a:rPr lang="en-US" sz="1600" b="0" u="none" strike="noStrike">
                          <a:solidFill>
                            <a:srgbClr val="000000"/>
                          </a:solidFill>
                          <a:effectLst/>
                        </a:rPr>
                        <a:t>0.016</a:t>
                      </a:r>
                      <a:endParaRPr lang="en-US" sz="16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r>
                        <a:rPr lang="en-US" sz="1600" b="0" u="none" strike="noStrike">
                          <a:solidFill>
                            <a:srgbClr val="000000"/>
                          </a:solidFill>
                          <a:effectLst/>
                        </a:rPr>
                        <a:t>0.022</a:t>
                      </a:r>
                      <a:endParaRPr lang="en-US" sz="16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r>
                        <a:rPr lang="en-US" sz="1600" b="0" u="none" strike="noStrike">
                          <a:solidFill>
                            <a:srgbClr val="000000"/>
                          </a:solidFill>
                          <a:effectLst/>
                        </a:rPr>
                        <a:t>0.026</a:t>
                      </a:r>
                      <a:endParaRPr lang="en-US" sz="16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r>
                        <a:rPr lang="en-US" sz="1600" b="0" u="none" strike="noStrike">
                          <a:solidFill>
                            <a:srgbClr val="000000"/>
                          </a:solidFill>
                          <a:effectLst/>
                        </a:rPr>
                        <a:t>0.987</a:t>
                      </a:r>
                      <a:endParaRPr lang="en-US" sz="16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tc>
                  <a:txBody>
                    <a:bodyPr/>
                    <a:lstStyle/>
                    <a:p>
                      <a:pPr algn="ctr" fontAlgn="b"/>
                      <a:r>
                        <a:rPr lang="en-US" sz="1600" b="0" u="none" strike="noStrike">
                          <a:solidFill>
                            <a:srgbClr val="000000"/>
                          </a:solidFill>
                          <a:effectLst/>
                        </a:rPr>
                        <a:t>0.989</a:t>
                      </a:r>
                      <a:endParaRPr lang="en-US" sz="1600" b="0" i="0" u="none" strike="noStrike">
                        <a:solidFill>
                          <a:srgbClr val="000000"/>
                        </a:solidFill>
                        <a:effectLst/>
                        <a:latin typeface="Aptos Narrow" panose="020B0004020202020204" pitchFamily="34" charset="0"/>
                      </a:endParaRPr>
                    </a:p>
                  </a:txBody>
                  <a:tcPr marL="9525" marR="9525" marT="9525"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42995"/>
                  </a:ext>
                </a:extLst>
              </a:tr>
            </a:tbl>
          </a:graphicData>
        </a:graphic>
      </p:graphicFrame>
      <p:sp>
        <p:nvSpPr>
          <p:cNvPr id="6" name="TextBox 5">
            <a:extLst>
              <a:ext uri="{FF2B5EF4-FFF2-40B4-BE49-F238E27FC236}">
                <a16:creationId xmlns:a16="http://schemas.microsoft.com/office/drawing/2014/main" id="{DCC08CA8-29CA-7817-629A-5140B030AB43}"/>
              </a:ext>
            </a:extLst>
          </p:cNvPr>
          <p:cNvSpPr txBox="1"/>
          <p:nvPr/>
        </p:nvSpPr>
        <p:spPr>
          <a:xfrm>
            <a:off x="988541" y="5063688"/>
            <a:ext cx="8071022" cy="646331"/>
          </a:xfrm>
          <a:prstGeom prst="rect">
            <a:avLst/>
          </a:prstGeom>
          <a:noFill/>
          <a:ln>
            <a:solidFill>
              <a:schemeClr val="accent1"/>
            </a:solidFill>
          </a:ln>
        </p:spPr>
        <p:txBody>
          <a:bodyPr wrap="square" rtlCol="0">
            <a:spAutoFit/>
          </a:bodyPr>
          <a:lstStyle/>
          <a:p>
            <a:r>
              <a:rPr lang="en-US" b="0" i="0">
                <a:solidFill>
                  <a:srgbClr val="000000"/>
                </a:solidFill>
                <a:effectLst/>
                <a:latin typeface="SF Pro Text"/>
              </a:rPr>
              <a:t>M2: Maydeu-Olivares, A. &amp; Joe, H. (2006). Limited information goodness-of-fit testing in multidimensional contingency tables. </a:t>
            </a:r>
            <a:r>
              <a:rPr lang="en-US" b="0" i="1">
                <a:solidFill>
                  <a:srgbClr val="000000"/>
                </a:solidFill>
                <a:effectLst/>
                <a:latin typeface="SF Pro Text"/>
              </a:rPr>
              <a:t>Psychometrika, 71</a:t>
            </a:r>
            <a:r>
              <a:rPr lang="en-US" b="0" i="0">
                <a:solidFill>
                  <a:srgbClr val="000000"/>
                </a:solidFill>
                <a:effectLst/>
                <a:latin typeface="SF Pro Text"/>
              </a:rPr>
              <a:t>, 713-732.</a:t>
            </a:r>
            <a:endParaRPr lang="en-US"/>
          </a:p>
        </p:txBody>
      </p:sp>
      <p:sp>
        <p:nvSpPr>
          <p:cNvPr id="7" name="TextBox 6">
            <a:extLst>
              <a:ext uri="{FF2B5EF4-FFF2-40B4-BE49-F238E27FC236}">
                <a16:creationId xmlns:a16="http://schemas.microsoft.com/office/drawing/2014/main" id="{D973AE63-5536-7152-89F0-4F2C6CCEC9EA}"/>
              </a:ext>
            </a:extLst>
          </p:cNvPr>
          <p:cNvSpPr txBox="1"/>
          <p:nvPr/>
        </p:nvSpPr>
        <p:spPr>
          <a:xfrm>
            <a:off x="988541" y="4216704"/>
            <a:ext cx="8019535" cy="646331"/>
          </a:xfrm>
          <a:prstGeom prst="rect">
            <a:avLst/>
          </a:prstGeom>
          <a:noFill/>
        </p:spPr>
        <p:txBody>
          <a:bodyPr wrap="square" rtlCol="0">
            <a:spAutoFit/>
          </a:bodyPr>
          <a:lstStyle/>
          <a:p>
            <a:r>
              <a:rPr lang="en-US"/>
              <a:t>Note: All three models seem ok with respect to approximate fit stats like RMSEA, SRMSR, TLI, CFI</a:t>
            </a:r>
          </a:p>
        </p:txBody>
      </p:sp>
    </p:spTree>
    <p:extLst>
      <p:ext uri="{BB962C8B-B14F-4D97-AF65-F5344CB8AC3E}">
        <p14:creationId xmlns:p14="http://schemas.microsoft.com/office/powerpoint/2010/main" val="488135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3CDF328-7276-F040-84FD-8D2638E2F796}"/>
              </a:ext>
            </a:extLst>
          </p:cNvPr>
          <p:cNvSpPr>
            <a:spLocks noGrp="1"/>
          </p:cNvSpPr>
          <p:nvPr>
            <p:ph type="title"/>
          </p:nvPr>
        </p:nvSpPr>
        <p:spPr>
          <a:xfrm>
            <a:off x="838200" y="365125"/>
            <a:ext cx="10515600" cy="827067"/>
          </a:xfrm>
        </p:spPr>
        <p:txBody>
          <a:bodyPr/>
          <a:lstStyle/>
          <a:p>
            <a:r>
              <a:rPr lang="en-US" b="1"/>
              <a:t>SEM Fit Statistic Crib Sheet</a:t>
            </a:r>
          </a:p>
        </p:txBody>
      </p:sp>
      <mc:AlternateContent xmlns:mc="http://schemas.openxmlformats.org/markup-compatibility/2006" xmlns:a14="http://schemas.microsoft.com/office/drawing/2010/main">
        <mc:Choice Requires="a14">
          <p:graphicFrame>
            <p:nvGraphicFramePr>
              <p:cNvPr id="7" name="Table 7">
                <a:extLst>
                  <a:ext uri="{FF2B5EF4-FFF2-40B4-BE49-F238E27FC236}">
                    <a16:creationId xmlns:a16="http://schemas.microsoft.com/office/drawing/2014/main" id="{CD93E25D-3880-C34A-8BAF-2671A4D1B982}"/>
                  </a:ext>
                </a:extLst>
              </p:cNvPr>
              <p:cNvGraphicFramePr>
                <a:graphicFrameLocks noGrp="1"/>
              </p:cNvGraphicFramePr>
              <p:nvPr>
                <p:ph idx="1"/>
              </p:nvPr>
            </p:nvGraphicFramePr>
            <p:xfrm>
              <a:off x="641430" y="1188720"/>
              <a:ext cx="10515600" cy="5669280"/>
            </p:xfrm>
            <a:graphic>
              <a:graphicData uri="http://schemas.openxmlformats.org/drawingml/2006/table">
                <a:tbl>
                  <a:tblPr firstRow="1" bandRow="1">
                    <a:tableStyleId>{5C22544A-7EE6-4342-B048-85BDC9FD1C3A}</a:tableStyleId>
                  </a:tblPr>
                  <a:tblGrid>
                    <a:gridCol w="1418863">
                      <a:extLst>
                        <a:ext uri="{9D8B030D-6E8A-4147-A177-3AD203B41FA5}">
                          <a16:colId xmlns:a16="http://schemas.microsoft.com/office/drawing/2014/main" val="879869203"/>
                        </a:ext>
                      </a:extLst>
                    </a:gridCol>
                    <a:gridCol w="3727048">
                      <a:extLst>
                        <a:ext uri="{9D8B030D-6E8A-4147-A177-3AD203B41FA5}">
                          <a16:colId xmlns:a16="http://schemas.microsoft.com/office/drawing/2014/main" val="3297097245"/>
                        </a:ext>
                      </a:extLst>
                    </a:gridCol>
                    <a:gridCol w="1273216">
                      <a:extLst>
                        <a:ext uri="{9D8B030D-6E8A-4147-A177-3AD203B41FA5}">
                          <a16:colId xmlns:a16="http://schemas.microsoft.com/office/drawing/2014/main" val="1099326431"/>
                        </a:ext>
                      </a:extLst>
                    </a:gridCol>
                    <a:gridCol w="4096473">
                      <a:extLst>
                        <a:ext uri="{9D8B030D-6E8A-4147-A177-3AD203B41FA5}">
                          <a16:colId xmlns:a16="http://schemas.microsoft.com/office/drawing/2014/main" val="1216164909"/>
                        </a:ext>
                      </a:extLst>
                    </a:gridCol>
                  </a:tblGrid>
                  <a:tr h="370840">
                    <a:tc>
                      <a:txBody>
                        <a:bodyPr/>
                        <a:lstStyle/>
                        <a:p>
                          <a:r>
                            <a:rPr lang="en-US"/>
                            <a:t>Name</a:t>
                          </a:r>
                        </a:p>
                      </a:txBody>
                      <a:tcPr/>
                    </a:tc>
                    <a:tc>
                      <a:txBody>
                        <a:bodyPr/>
                        <a:lstStyle/>
                        <a:p>
                          <a:r>
                            <a:rPr lang="en-US"/>
                            <a:t>Purpose</a:t>
                          </a:r>
                        </a:p>
                      </a:txBody>
                      <a:tcPr/>
                    </a:tc>
                    <a:tc>
                      <a:txBody>
                        <a:bodyPr/>
                        <a:lstStyle/>
                        <a:p>
                          <a:r>
                            <a:rPr lang="en-US"/>
                            <a:t>Rule of Thumb</a:t>
                          </a:r>
                        </a:p>
                      </a:txBody>
                      <a:tcPr/>
                    </a:tc>
                    <a:tc>
                      <a:txBody>
                        <a:bodyPr/>
                        <a:lstStyle/>
                        <a:p>
                          <a:r>
                            <a:rPr lang="en-US"/>
                            <a:t>Interpretation if Rule of Thumb Satisfied</a:t>
                          </a:r>
                        </a:p>
                      </a:txBody>
                      <a:tcPr/>
                    </a:tc>
                    <a:extLst>
                      <a:ext uri="{0D108BD9-81ED-4DB2-BD59-A6C34878D82A}">
                        <a16:rowId xmlns:a16="http://schemas.microsoft.com/office/drawing/2014/main" val="4244483863"/>
                      </a:ext>
                    </a:extLst>
                  </a:tr>
                  <a:tr h="370840">
                    <a:tc>
                      <a:txBody>
                        <a:bodyPr/>
                        <a:lstStyle/>
                        <a:p>
                          <a:pPr/>
                          <a14:m>
                            <m:oMathPara xmlns:m="http://schemas.openxmlformats.org/officeDocument/2006/math">
                              <m:oMathParaPr>
                                <m:jc m:val="left"/>
                              </m:oMathParaPr>
                              <m:oMath xmlns:m="http://schemas.openxmlformats.org/officeDocument/2006/math">
                                <m:sSubSup>
                                  <m:sSubSupPr>
                                    <m:ctrlPr>
                                      <a:rPr lang="en-US" b="0"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𝜒</m:t>
                                    </m:r>
                                  </m:e>
                                  <m:sub>
                                    <m:r>
                                      <a:rPr lang="en-US" b="0" i="1">
                                        <a:latin typeface="Cambria Math" panose="02040503050406030204" pitchFamily="18" charset="0"/>
                                        <a:ea typeface="Cambria Math" panose="02040503050406030204" pitchFamily="18" charset="0"/>
                                      </a:rPr>
                                      <m:t>𝑀</m:t>
                                    </m:r>
                                  </m:sub>
                                  <m:sup>
                                    <m:r>
                                      <a:rPr lang="en-US" b="0" i="1">
                                        <a:latin typeface="Cambria Math" panose="02040503050406030204" pitchFamily="18" charset="0"/>
                                        <a:ea typeface="Cambria Math" panose="02040503050406030204" pitchFamily="18" charset="0"/>
                                      </a:rPr>
                                      <m:t>2</m:t>
                                    </m:r>
                                  </m:sup>
                                </m:sSubSup>
                                <m:r>
                                  <a:rPr lang="en-US" b="0" i="1">
                                    <a:latin typeface="Cambria Math" panose="02040503050406030204" pitchFamily="18" charset="0"/>
                                    <a:ea typeface="Cambria Math" panose="02040503050406030204" pitchFamily="18" charset="0"/>
                                  </a:rPr>
                                  <m:t>(</m:t>
                                </m:r>
                                <m:r>
                                  <a:rPr lang="en-US" b="0" i="1">
                                    <a:latin typeface="Cambria Math" panose="02040503050406030204" pitchFamily="18" charset="0"/>
                                    <a:ea typeface="Cambria Math" panose="02040503050406030204" pitchFamily="18" charset="0"/>
                                  </a:rPr>
                                  <m:t>𝑑</m:t>
                                </m:r>
                                <m:sSub>
                                  <m:sSubPr>
                                    <m:ctrlPr>
                                      <a:rPr lang="en-US" b="0" i="1">
                                        <a:latin typeface="Cambria Math" panose="02040503050406030204" pitchFamily="18" charset="0"/>
                                        <a:ea typeface="Cambria Math" panose="02040503050406030204" pitchFamily="18" charset="0"/>
                                      </a:rPr>
                                    </m:ctrlPr>
                                  </m:sSubPr>
                                  <m:e>
                                    <m:r>
                                      <a:rPr lang="en-US" b="0" i="1">
                                        <a:latin typeface="Cambria Math" panose="02040503050406030204" pitchFamily="18" charset="0"/>
                                        <a:ea typeface="Cambria Math" panose="02040503050406030204" pitchFamily="18" charset="0"/>
                                      </a:rPr>
                                      <m:t>𝑓</m:t>
                                    </m:r>
                                  </m:e>
                                  <m:sub>
                                    <m:r>
                                      <a:rPr lang="en-US" b="0" i="1">
                                        <a:latin typeface="Cambria Math" panose="02040503050406030204" pitchFamily="18" charset="0"/>
                                        <a:ea typeface="Cambria Math" panose="02040503050406030204" pitchFamily="18" charset="0"/>
                                      </a:rPr>
                                      <m:t>𝑀</m:t>
                                    </m:r>
                                  </m:sub>
                                </m:sSub>
                                <m:r>
                                  <a:rPr lang="en-US" b="0" i="1">
                                    <a:latin typeface="Cambria Math" panose="02040503050406030204" pitchFamily="18" charset="0"/>
                                    <a:ea typeface="Cambria Math" panose="02040503050406030204" pitchFamily="18" charset="0"/>
                                  </a:rPr>
                                  <m:t>)</m:t>
                                </m:r>
                              </m:oMath>
                            </m:oMathPara>
                          </a14:m>
                          <a:endParaRPr lang="en-US"/>
                        </a:p>
                      </a:txBody>
                      <a:tcPr/>
                    </a:tc>
                    <a:tc>
                      <a:txBody>
                        <a:bodyPr/>
                        <a:lstStyle/>
                        <a:p>
                          <a:r>
                            <a:rPr lang="en-US" sz="1400"/>
                            <a:t>Test null hypothesis: the difference between the observed covariance matrix and model-based covariance based on specified factors and loadings can be explained by chance</a:t>
                          </a:r>
                        </a:p>
                      </a:txBody>
                      <a:tcPr/>
                    </a:tc>
                    <a:tc>
                      <a:txBody>
                        <a:bodyPr/>
                        <a:lstStyle/>
                        <a:p>
                          <a:r>
                            <a:rPr lang="en-US" sz="1400"/>
                            <a:t>p &gt; .05</a:t>
                          </a:r>
                        </a:p>
                      </a:txBody>
                      <a:tcPr/>
                    </a:tc>
                    <a:tc>
                      <a:txBody>
                        <a:bodyPr/>
                        <a:lstStyle/>
                        <a:p>
                          <a:r>
                            <a:rPr lang="en-US" sz="1400"/>
                            <a:t>We can’t reject the null hypothesis, so any observed differences (residuals) cannot be explained by chance due to choice of sampling of respondents for study.</a:t>
                          </a:r>
                        </a:p>
                        <a:p>
                          <a:r>
                            <a:rPr lang="en-US" sz="1400">
                              <a:sym typeface="Wingdings" pitchFamily="2" charset="2"/>
                            </a:rPr>
                            <a:t> S</a:t>
                          </a:r>
                          <a:r>
                            <a:rPr lang="en-US" sz="1400"/>
                            <a:t>upports fit of the model</a:t>
                          </a:r>
                        </a:p>
                      </a:txBody>
                      <a:tcPr/>
                    </a:tc>
                    <a:extLst>
                      <a:ext uri="{0D108BD9-81ED-4DB2-BD59-A6C34878D82A}">
                        <a16:rowId xmlns:a16="http://schemas.microsoft.com/office/drawing/2014/main" val="1208345056"/>
                      </a:ext>
                    </a:extLst>
                  </a:tr>
                  <a:tr h="370840">
                    <a:tc>
                      <a:txBody>
                        <a:bodyPr/>
                        <a:lstStyle/>
                        <a:p>
                          <a:pPr/>
                          <a14:m>
                            <m:oMathPara xmlns:m="http://schemas.openxmlformats.org/officeDocument/2006/math">
                              <m:oMathParaPr>
                                <m:jc m:val="left"/>
                              </m:oMathParaPr>
                              <m:oMath xmlns:m="http://schemas.openxmlformats.org/officeDocument/2006/math">
                                <m:sSubSup>
                                  <m:sSubSupPr>
                                    <m:ctrlPr>
                                      <a:rPr lang="en-US" b="0"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𝜒</m:t>
                                    </m:r>
                                  </m:e>
                                  <m:sub>
                                    <m:r>
                                      <a:rPr lang="en-US" b="0" i="1">
                                        <a:latin typeface="Cambria Math" panose="02040503050406030204" pitchFamily="18" charset="0"/>
                                        <a:ea typeface="Cambria Math" panose="02040503050406030204" pitchFamily="18" charset="0"/>
                                      </a:rPr>
                                      <m:t>𝐷</m:t>
                                    </m:r>
                                  </m:sub>
                                  <m:sup>
                                    <m:r>
                                      <a:rPr lang="en-US" b="0" i="1">
                                        <a:latin typeface="Cambria Math" panose="02040503050406030204" pitchFamily="18" charset="0"/>
                                        <a:ea typeface="Cambria Math" panose="02040503050406030204" pitchFamily="18" charset="0"/>
                                      </a:rPr>
                                      <m:t>2</m:t>
                                    </m:r>
                                  </m:sup>
                                </m:sSubSup>
                                <m:r>
                                  <a:rPr lang="en-US" b="0" i="1">
                                    <a:latin typeface="Cambria Math" panose="02040503050406030204" pitchFamily="18" charset="0"/>
                                    <a:ea typeface="Cambria Math" panose="02040503050406030204" pitchFamily="18" charset="0"/>
                                  </a:rPr>
                                  <m:t>(</m:t>
                                </m:r>
                                <m:r>
                                  <a:rPr lang="en-US" b="0" i="1">
                                    <a:latin typeface="Cambria Math" panose="02040503050406030204" pitchFamily="18" charset="0"/>
                                    <a:ea typeface="Cambria Math" panose="02040503050406030204" pitchFamily="18" charset="0"/>
                                  </a:rPr>
                                  <m:t>𝑑</m:t>
                                </m:r>
                                <m:sSub>
                                  <m:sSubPr>
                                    <m:ctrlPr>
                                      <a:rPr lang="en-US" b="0" i="1">
                                        <a:latin typeface="Cambria Math" panose="02040503050406030204" pitchFamily="18" charset="0"/>
                                        <a:ea typeface="Cambria Math" panose="02040503050406030204" pitchFamily="18" charset="0"/>
                                      </a:rPr>
                                    </m:ctrlPr>
                                  </m:sSubPr>
                                  <m:e>
                                    <m:r>
                                      <a:rPr lang="en-US" b="0" i="1">
                                        <a:latin typeface="Cambria Math" panose="02040503050406030204" pitchFamily="18" charset="0"/>
                                        <a:ea typeface="Cambria Math" panose="02040503050406030204" pitchFamily="18" charset="0"/>
                                      </a:rPr>
                                      <m:t>𝑓</m:t>
                                    </m:r>
                                  </m:e>
                                  <m:sub>
                                    <m:r>
                                      <a:rPr lang="en-US" b="0" i="1">
                                        <a:latin typeface="Cambria Math" panose="02040503050406030204" pitchFamily="18" charset="0"/>
                                        <a:ea typeface="Cambria Math" panose="02040503050406030204" pitchFamily="18" charset="0"/>
                                      </a:rPr>
                                      <m:t>𝐷</m:t>
                                    </m:r>
                                  </m:sub>
                                </m:sSub>
                                <m:r>
                                  <a:rPr lang="en-US" b="0" i="1">
                                    <a:latin typeface="Cambria Math" panose="02040503050406030204" pitchFamily="18" charset="0"/>
                                    <a:ea typeface="Cambria Math" panose="02040503050406030204" pitchFamily="18" charset="0"/>
                                  </a:rPr>
                                  <m:t>)</m:t>
                                </m:r>
                              </m:oMath>
                            </m:oMathPara>
                          </a14:m>
                          <a:endParaRPr lang="en-US"/>
                        </a:p>
                      </a:txBody>
                      <a:tcPr/>
                    </a:tc>
                    <a:tc>
                      <a:txBody>
                        <a:bodyPr/>
                        <a:lstStyle/>
                        <a:p>
                          <a:r>
                            <a:rPr lang="en-US" sz="1400"/>
                            <a:t>Compare two nested model “f” and “r” that differ in their </a:t>
                          </a:r>
                          <a14:m>
                            <m:oMath xmlns:m="http://schemas.openxmlformats.org/officeDocument/2006/math">
                              <m:r>
                                <a:rPr lang="en-US" sz="1400" b="0" i="1">
                                  <a:latin typeface="Cambria Math" panose="02040503050406030204" pitchFamily="18" charset="0"/>
                                </a:rPr>
                                <m:t>𝑑</m:t>
                              </m:r>
                              <m:sSub>
                                <m:sSubPr>
                                  <m:ctrlPr>
                                    <a:rPr lang="en-US" sz="1400" b="0" i="1">
                                      <a:latin typeface="Cambria Math" panose="02040503050406030204" pitchFamily="18" charset="0"/>
                                    </a:rPr>
                                  </m:ctrlPr>
                                </m:sSubPr>
                                <m:e>
                                  <m:r>
                                    <a:rPr lang="en-US" sz="1400" b="0" i="1">
                                      <a:latin typeface="Cambria Math" panose="02040503050406030204" pitchFamily="18" charset="0"/>
                                    </a:rPr>
                                    <m:t>𝑓</m:t>
                                  </m:r>
                                </m:e>
                                <m:sub>
                                  <m:r>
                                    <a:rPr lang="en-US" sz="1400" b="0" i="1">
                                      <a:latin typeface="Cambria Math" panose="02040503050406030204" pitchFamily="18" charset="0"/>
                                    </a:rPr>
                                    <m:t>𝑀</m:t>
                                  </m:r>
                                </m:sub>
                              </m:sSub>
                            </m:oMath>
                          </a14:m>
                          <a:r>
                            <a:rPr lang="en-US" sz="1400"/>
                            <a:t>. Must</a:t>
                          </a:r>
                          <a:r>
                            <a:rPr lang="en-US" sz="1400" baseline="0"/>
                            <a:t> be possible to go from “full” model to “restricted” model by imposing equality constraints. Null: difference can be explained by chance.</a:t>
                          </a:r>
                          <a:endParaRPr lang="en-US" sz="1400"/>
                        </a:p>
                      </a:txBody>
                      <a:tcPr/>
                    </a:tc>
                    <a:tc>
                      <a:txBody>
                        <a:bodyPr/>
                        <a:lstStyle/>
                        <a:p>
                          <a:r>
                            <a:rPr lang="en-US" sz="1400"/>
                            <a:t>p &lt;  .05</a:t>
                          </a:r>
                        </a:p>
                      </a:txBody>
                      <a:tcPr/>
                    </a:tc>
                    <a:tc>
                      <a:txBody>
                        <a:bodyPr/>
                        <a:lstStyle/>
                        <a:p>
                          <a:r>
                            <a:rPr lang="en-US" sz="1400"/>
                            <a:t>Reject the null—the full model (with additional parameters) explained additional covariance between indicators that can’t be explained by sampling error.</a:t>
                          </a:r>
                        </a:p>
                        <a:p>
                          <a:r>
                            <a:rPr lang="en-US" sz="1400">
                              <a:sym typeface="Wingdings" pitchFamily="2" charset="2"/>
                            </a:rPr>
                            <a:t> Supports fit of full model vs restricted model</a:t>
                          </a:r>
                          <a:endParaRPr lang="en-US" sz="1400"/>
                        </a:p>
                      </a:txBody>
                      <a:tcPr/>
                    </a:tc>
                    <a:extLst>
                      <a:ext uri="{0D108BD9-81ED-4DB2-BD59-A6C34878D82A}">
                        <a16:rowId xmlns:a16="http://schemas.microsoft.com/office/drawing/2014/main" val="376925142"/>
                      </a:ext>
                    </a:extLst>
                  </a:tr>
                  <a:tr h="370840">
                    <a:tc>
                      <a:txBody>
                        <a:bodyPr/>
                        <a:lstStyle/>
                        <a:p>
                          <a:r>
                            <a:rPr lang="en-US"/>
                            <a:t>RMSEA</a:t>
                          </a:r>
                        </a:p>
                      </a:txBody>
                      <a:tcPr/>
                    </a:tc>
                    <a:tc>
                      <a:txBody>
                        <a:bodyPr/>
                        <a:lstStyle/>
                        <a:p>
                          <a:r>
                            <a:rPr lang="en-US" sz="1400"/>
                            <a:t>“Root Mean Square Error of Approximation”</a:t>
                          </a:r>
                        </a:p>
                        <a:p>
                          <a:r>
                            <a:rPr lang="en-US" sz="1400"/>
                            <a:t>Test of approximate fit that privileges parsimony.</a:t>
                          </a:r>
                        </a:p>
                      </a:txBody>
                      <a:tcPr/>
                    </a:tc>
                    <a:tc>
                      <a:txBody>
                        <a:bodyPr/>
                        <a:lstStyle/>
                        <a:p>
                          <a:r>
                            <a:rPr lang="en-US" sz="1400"/>
                            <a:t>RMSEA &lt; .05</a:t>
                          </a:r>
                        </a:p>
                      </a:txBody>
                      <a:tcPr/>
                    </a:tc>
                    <a:tc>
                      <a:txBody>
                        <a:bodyPr/>
                        <a:lstStyle/>
                        <a:p>
                          <a:r>
                            <a:rPr lang="en-US" sz="1400"/>
                            <a:t>Suggests that the model may provide a parsimonious fit to the data</a:t>
                          </a:r>
                        </a:p>
                      </a:txBody>
                      <a:tcPr/>
                    </a:tc>
                    <a:extLst>
                      <a:ext uri="{0D108BD9-81ED-4DB2-BD59-A6C34878D82A}">
                        <a16:rowId xmlns:a16="http://schemas.microsoft.com/office/drawing/2014/main" val="3153314134"/>
                      </a:ext>
                    </a:extLst>
                  </a:tr>
                  <a:tr h="370840">
                    <a:tc>
                      <a:txBody>
                        <a:bodyPr/>
                        <a:lstStyle/>
                        <a:p>
                          <a:r>
                            <a:rPr lang="en-US"/>
                            <a:t>CFI</a:t>
                          </a:r>
                        </a:p>
                      </a:txBody>
                      <a:tcPr/>
                    </a:tc>
                    <a:tc>
                      <a:txBody>
                        <a:bodyPr/>
                        <a:lstStyle/>
                        <a:p>
                          <a:r>
                            <a:rPr lang="en-US" sz="1400"/>
                            <a:t>“Comparative Fit Index” Compare model being specified to a baseline model (default is a model in which all indicator variables are independent)</a:t>
                          </a:r>
                        </a:p>
                      </a:txBody>
                      <a:tcPr/>
                    </a:tc>
                    <a:tc>
                      <a:txBody>
                        <a:bodyPr/>
                        <a:lstStyle/>
                        <a:p>
                          <a:r>
                            <a:rPr lang="en-US" sz="1400"/>
                            <a:t>CFI &gt;= .95</a:t>
                          </a:r>
                        </a:p>
                      </a:txBody>
                      <a:tcPr/>
                    </a:tc>
                    <a:tc>
                      <a:txBody>
                        <a:bodyPr/>
                        <a:lstStyle/>
                        <a:p>
                          <a:r>
                            <a:rPr lang="en-US" sz="1400"/>
                            <a:t>The incremental fit of the model is a sufficient improvement over a null model. </a:t>
                          </a:r>
                        </a:p>
                      </a:txBody>
                      <a:tcPr/>
                    </a:tc>
                    <a:extLst>
                      <a:ext uri="{0D108BD9-81ED-4DB2-BD59-A6C34878D82A}">
                        <a16:rowId xmlns:a16="http://schemas.microsoft.com/office/drawing/2014/main" val="2996612622"/>
                      </a:ext>
                    </a:extLst>
                  </a:tr>
                  <a:tr h="370840">
                    <a:tc>
                      <a:txBody>
                        <a:bodyPr/>
                        <a:lstStyle/>
                        <a:p>
                          <a:r>
                            <a:rPr lang="en-US"/>
                            <a:t>SRMSR</a:t>
                          </a:r>
                        </a:p>
                      </a:txBody>
                      <a:tcPr/>
                    </a:tc>
                    <a:tc>
                      <a:txBody>
                        <a:bodyPr/>
                        <a:lstStyle/>
                        <a:p>
                          <a:r>
                            <a:rPr lang="en-US" sz="1400"/>
                            <a:t>“Standardized Root Mean Square of Residual” Compare average difference between observed and predicted covariance matrix in correlation metric.</a:t>
                          </a:r>
                        </a:p>
                      </a:txBody>
                      <a:tcPr/>
                    </a:tc>
                    <a:tc>
                      <a:txBody>
                        <a:bodyPr/>
                        <a:lstStyle/>
                        <a:p>
                          <a:r>
                            <a:rPr lang="en-US" sz="1400"/>
                            <a:t>SRMSR &lt; .08</a:t>
                          </a:r>
                        </a:p>
                      </a:txBody>
                      <a:tcPr/>
                    </a:tc>
                    <a:tc>
                      <a:txBody>
                        <a:bodyPr/>
                        <a:lstStyle/>
                        <a:p>
                          <a:r>
                            <a:rPr lang="en-US" sz="1400"/>
                            <a:t>The fit of the model is adequate in the sense that the average difference between observed and model-based correlation tends to be small.</a:t>
                          </a:r>
                        </a:p>
                      </a:txBody>
                      <a:tcPr/>
                    </a:tc>
                    <a:extLst>
                      <a:ext uri="{0D108BD9-81ED-4DB2-BD59-A6C34878D82A}">
                        <a16:rowId xmlns:a16="http://schemas.microsoft.com/office/drawing/2014/main" val="3802810651"/>
                      </a:ext>
                    </a:extLst>
                  </a:tr>
                  <a:tr h="370840">
                    <a:tc>
                      <a:txBody>
                        <a:bodyPr/>
                        <a:lstStyle/>
                        <a:p>
                          <a:r>
                            <a:rPr lang="en-US"/>
                            <a:t>AIC</a:t>
                          </a:r>
                        </a:p>
                      </a:txBody>
                      <a:tcPr/>
                    </a:tc>
                    <a:tc>
                      <a:txBody>
                        <a:bodyPr/>
                        <a:lstStyle/>
                        <a:p>
                          <a:r>
                            <a:rPr lang="en-US" sz="1400"/>
                            <a:t>Akaike’s Information Criterion. Use this when two models are being compared that are not nested/hierarchical</a:t>
                          </a:r>
                        </a:p>
                      </a:txBody>
                      <a:tcPr/>
                    </a:tc>
                    <a:tc>
                      <a:txBody>
                        <a:bodyPr/>
                        <a:lstStyle/>
                        <a:p>
                          <a:r>
                            <a:rPr lang="en-US" sz="1400"/>
                            <a:t>Smaller values are better</a:t>
                          </a:r>
                        </a:p>
                      </a:txBody>
                      <a:tcPr/>
                    </a:tc>
                    <a:tc>
                      <a:txBody>
                        <a:bodyPr/>
                        <a:lstStyle/>
                        <a:p>
                          <a:r>
                            <a:rPr lang="en-US" sz="1400"/>
                            <a:t>If model A has smaller AIC than model B, there is some evidence that it provides better fit. </a:t>
                          </a:r>
                        </a:p>
                      </a:txBody>
                      <a:tcPr/>
                    </a:tc>
                    <a:extLst>
                      <a:ext uri="{0D108BD9-81ED-4DB2-BD59-A6C34878D82A}">
                        <a16:rowId xmlns:a16="http://schemas.microsoft.com/office/drawing/2014/main" val="426037507"/>
                      </a:ext>
                    </a:extLst>
                  </a:tr>
                </a:tbl>
              </a:graphicData>
            </a:graphic>
          </p:graphicFrame>
        </mc:Choice>
        <mc:Fallback xmlns="">
          <p:graphicFrame>
            <p:nvGraphicFramePr>
              <p:cNvPr id="7" name="Table 7">
                <a:extLst>
                  <a:ext uri="{FF2B5EF4-FFF2-40B4-BE49-F238E27FC236}">
                    <a16:creationId xmlns:a16="http://schemas.microsoft.com/office/drawing/2014/main" id="{CD93E25D-3880-C34A-8BAF-2671A4D1B982}"/>
                  </a:ext>
                </a:extLst>
              </p:cNvPr>
              <p:cNvGraphicFramePr>
                <a:graphicFrameLocks noGrp="1"/>
              </p:cNvGraphicFramePr>
              <p:nvPr>
                <p:ph idx="1"/>
                <p:extLst>
                  <p:ext uri="{D42A27DB-BD31-4B8C-83A1-F6EECF244321}">
                    <p14:modId xmlns:p14="http://schemas.microsoft.com/office/powerpoint/2010/main" val="520501610"/>
                  </p:ext>
                </p:extLst>
              </p:nvPr>
            </p:nvGraphicFramePr>
            <p:xfrm>
              <a:off x="641430" y="1188720"/>
              <a:ext cx="10515600" cy="5669280"/>
            </p:xfrm>
            <a:graphic>
              <a:graphicData uri="http://schemas.openxmlformats.org/drawingml/2006/table">
                <a:tbl>
                  <a:tblPr firstRow="1" bandRow="1">
                    <a:tableStyleId>{5C22544A-7EE6-4342-B048-85BDC9FD1C3A}</a:tableStyleId>
                  </a:tblPr>
                  <a:tblGrid>
                    <a:gridCol w="1418863">
                      <a:extLst>
                        <a:ext uri="{9D8B030D-6E8A-4147-A177-3AD203B41FA5}">
                          <a16:colId xmlns:a16="http://schemas.microsoft.com/office/drawing/2014/main" val="879869203"/>
                        </a:ext>
                      </a:extLst>
                    </a:gridCol>
                    <a:gridCol w="3727048">
                      <a:extLst>
                        <a:ext uri="{9D8B030D-6E8A-4147-A177-3AD203B41FA5}">
                          <a16:colId xmlns:a16="http://schemas.microsoft.com/office/drawing/2014/main" val="3297097245"/>
                        </a:ext>
                      </a:extLst>
                    </a:gridCol>
                    <a:gridCol w="1273216">
                      <a:extLst>
                        <a:ext uri="{9D8B030D-6E8A-4147-A177-3AD203B41FA5}">
                          <a16:colId xmlns:a16="http://schemas.microsoft.com/office/drawing/2014/main" val="1099326431"/>
                        </a:ext>
                      </a:extLst>
                    </a:gridCol>
                    <a:gridCol w="4096473">
                      <a:extLst>
                        <a:ext uri="{9D8B030D-6E8A-4147-A177-3AD203B41FA5}">
                          <a16:colId xmlns:a16="http://schemas.microsoft.com/office/drawing/2014/main" val="1216164909"/>
                        </a:ext>
                      </a:extLst>
                    </a:gridCol>
                  </a:tblGrid>
                  <a:tr h="640080">
                    <a:tc>
                      <a:txBody>
                        <a:bodyPr/>
                        <a:lstStyle/>
                        <a:p>
                          <a:r>
                            <a:rPr lang="en-US"/>
                            <a:t>Name</a:t>
                          </a:r>
                        </a:p>
                      </a:txBody>
                      <a:tcPr/>
                    </a:tc>
                    <a:tc>
                      <a:txBody>
                        <a:bodyPr/>
                        <a:lstStyle/>
                        <a:p>
                          <a:r>
                            <a:rPr lang="en-US"/>
                            <a:t>Purpose</a:t>
                          </a:r>
                        </a:p>
                      </a:txBody>
                      <a:tcPr/>
                    </a:tc>
                    <a:tc>
                      <a:txBody>
                        <a:bodyPr/>
                        <a:lstStyle/>
                        <a:p>
                          <a:r>
                            <a:rPr lang="en-US"/>
                            <a:t>Rule of Thumb</a:t>
                          </a:r>
                        </a:p>
                      </a:txBody>
                      <a:tcPr/>
                    </a:tc>
                    <a:tc>
                      <a:txBody>
                        <a:bodyPr/>
                        <a:lstStyle/>
                        <a:p>
                          <a:r>
                            <a:rPr lang="en-US"/>
                            <a:t>Interpretation if Rule of Thumb Satisfied</a:t>
                          </a:r>
                        </a:p>
                      </a:txBody>
                      <a:tcPr/>
                    </a:tc>
                    <a:extLst>
                      <a:ext uri="{0D108BD9-81ED-4DB2-BD59-A6C34878D82A}">
                        <a16:rowId xmlns:a16="http://schemas.microsoft.com/office/drawing/2014/main" val="4244483863"/>
                      </a:ext>
                    </a:extLst>
                  </a:tr>
                  <a:tr h="944880">
                    <a:tc>
                      <a:txBody>
                        <a:bodyPr/>
                        <a:lstStyle/>
                        <a:p>
                          <a:endParaRPr lang="en-US"/>
                        </a:p>
                      </a:txBody>
                      <a:tcPr>
                        <a:blipFill>
                          <a:blip r:embed="rId2"/>
                          <a:stretch>
                            <a:fillRect l="-893" t="-69333" r="-641964" b="-437333"/>
                          </a:stretch>
                        </a:blipFill>
                      </a:tcPr>
                    </a:tc>
                    <a:tc>
                      <a:txBody>
                        <a:bodyPr/>
                        <a:lstStyle/>
                        <a:p>
                          <a:r>
                            <a:rPr lang="en-US" sz="1400"/>
                            <a:t>Test null hypothesis: the difference between the observed covariance matrix and model-based covariance based on specified factors and loadings can be explained by chance</a:t>
                          </a:r>
                        </a:p>
                      </a:txBody>
                      <a:tcPr/>
                    </a:tc>
                    <a:tc>
                      <a:txBody>
                        <a:bodyPr/>
                        <a:lstStyle/>
                        <a:p>
                          <a:r>
                            <a:rPr lang="en-US" sz="1400"/>
                            <a:t>p &gt; .05</a:t>
                          </a:r>
                        </a:p>
                      </a:txBody>
                      <a:tcPr/>
                    </a:tc>
                    <a:tc>
                      <a:txBody>
                        <a:bodyPr/>
                        <a:lstStyle/>
                        <a:p>
                          <a:r>
                            <a:rPr lang="en-US" sz="1400"/>
                            <a:t>We can’t reject the null hypothesis, so any observed differences (residuals) cannot be explained by chance due to choice of sampling of respondents for study.</a:t>
                          </a:r>
                        </a:p>
                        <a:p>
                          <a:r>
                            <a:rPr lang="en-US" sz="1400">
                              <a:sym typeface="Wingdings" pitchFamily="2" charset="2"/>
                            </a:rPr>
                            <a:t> S</a:t>
                          </a:r>
                          <a:r>
                            <a:rPr lang="en-US" sz="1400"/>
                            <a:t>upports fit of the model</a:t>
                          </a:r>
                        </a:p>
                      </a:txBody>
                      <a:tcPr/>
                    </a:tc>
                    <a:extLst>
                      <a:ext uri="{0D108BD9-81ED-4DB2-BD59-A6C34878D82A}">
                        <a16:rowId xmlns:a16="http://schemas.microsoft.com/office/drawing/2014/main" val="1208345056"/>
                      </a:ext>
                    </a:extLst>
                  </a:tr>
                  <a:tr h="1158240">
                    <a:tc>
                      <a:txBody>
                        <a:bodyPr/>
                        <a:lstStyle/>
                        <a:p>
                          <a:endParaRPr lang="en-US"/>
                        </a:p>
                      </a:txBody>
                      <a:tcPr>
                        <a:blipFill>
                          <a:blip r:embed="rId2"/>
                          <a:stretch>
                            <a:fillRect l="-893" t="-139560" r="-641964" b="-260440"/>
                          </a:stretch>
                        </a:blipFill>
                      </a:tcPr>
                    </a:tc>
                    <a:tc>
                      <a:txBody>
                        <a:bodyPr/>
                        <a:lstStyle/>
                        <a:p>
                          <a:endParaRPr lang="en-US"/>
                        </a:p>
                      </a:txBody>
                      <a:tcPr>
                        <a:blipFill>
                          <a:blip r:embed="rId2"/>
                          <a:stretch>
                            <a:fillRect l="-38435" t="-139560" r="-144558" b="-260440"/>
                          </a:stretch>
                        </a:blipFill>
                      </a:tcPr>
                    </a:tc>
                    <a:tc>
                      <a:txBody>
                        <a:bodyPr/>
                        <a:lstStyle/>
                        <a:p>
                          <a:r>
                            <a:rPr lang="en-US" sz="1400"/>
                            <a:t>p &lt;  .05</a:t>
                          </a:r>
                        </a:p>
                      </a:txBody>
                      <a:tcPr/>
                    </a:tc>
                    <a:tc>
                      <a:txBody>
                        <a:bodyPr/>
                        <a:lstStyle/>
                        <a:p>
                          <a:r>
                            <a:rPr lang="en-US" sz="1400"/>
                            <a:t>Reject the null—the full model (with additional parameters) explained additional covariance between indicators that can’t be explained by sampling error.</a:t>
                          </a:r>
                        </a:p>
                        <a:p>
                          <a:r>
                            <a:rPr lang="en-US" sz="1400">
                              <a:sym typeface="Wingdings" pitchFamily="2" charset="2"/>
                            </a:rPr>
                            <a:t> Supports fit of full model vs restricted model</a:t>
                          </a:r>
                          <a:endParaRPr lang="en-US" sz="1400"/>
                        </a:p>
                      </a:txBody>
                      <a:tcPr/>
                    </a:tc>
                    <a:extLst>
                      <a:ext uri="{0D108BD9-81ED-4DB2-BD59-A6C34878D82A}">
                        <a16:rowId xmlns:a16="http://schemas.microsoft.com/office/drawing/2014/main" val="376925142"/>
                      </a:ext>
                    </a:extLst>
                  </a:tr>
                  <a:tr h="518160">
                    <a:tc>
                      <a:txBody>
                        <a:bodyPr/>
                        <a:lstStyle/>
                        <a:p>
                          <a:r>
                            <a:rPr lang="en-US"/>
                            <a:t>RMSEA</a:t>
                          </a:r>
                        </a:p>
                      </a:txBody>
                      <a:tcPr/>
                    </a:tc>
                    <a:tc>
                      <a:txBody>
                        <a:bodyPr/>
                        <a:lstStyle/>
                        <a:p>
                          <a:r>
                            <a:rPr lang="en-US" sz="1400"/>
                            <a:t>“Root Mean Square Error of Approximation”</a:t>
                          </a:r>
                        </a:p>
                        <a:p>
                          <a:r>
                            <a:rPr lang="en-US" sz="1400"/>
                            <a:t>Test of approximate fit that privileges parsimony.</a:t>
                          </a:r>
                        </a:p>
                      </a:txBody>
                      <a:tcPr/>
                    </a:tc>
                    <a:tc>
                      <a:txBody>
                        <a:bodyPr/>
                        <a:lstStyle/>
                        <a:p>
                          <a:r>
                            <a:rPr lang="en-US" sz="1400"/>
                            <a:t>RMSEA &lt; .05</a:t>
                          </a:r>
                        </a:p>
                      </a:txBody>
                      <a:tcPr/>
                    </a:tc>
                    <a:tc>
                      <a:txBody>
                        <a:bodyPr/>
                        <a:lstStyle/>
                        <a:p>
                          <a:r>
                            <a:rPr lang="en-US" sz="1400"/>
                            <a:t>Suggests that the model may provide a parsimonious fit to the data</a:t>
                          </a:r>
                        </a:p>
                      </a:txBody>
                      <a:tcPr/>
                    </a:tc>
                    <a:extLst>
                      <a:ext uri="{0D108BD9-81ED-4DB2-BD59-A6C34878D82A}">
                        <a16:rowId xmlns:a16="http://schemas.microsoft.com/office/drawing/2014/main" val="3153314134"/>
                      </a:ext>
                    </a:extLst>
                  </a:tr>
                  <a:tr h="731520">
                    <a:tc>
                      <a:txBody>
                        <a:bodyPr/>
                        <a:lstStyle/>
                        <a:p>
                          <a:r>
                            <a:rPr lang="en-US"/>
                            <a:t>CFI</a:t>
                          </a:r>
                        </a:p>
                      </a:txBody>
                      <a:tcPr/>
                    </a:tc>
                    <a:tc>
                      <a:txBody>
                        <a:bodyPr/>
                        <a:lstStyle/>
                        <a:p>
                          <a:r>
                            <a:rPr lang="en-US" sz="1400"/>
                            <a:t>“Comparative Fit Index” Compare model being specified to a baseline model (default is a model in which all indicator variables are independent)</a:t>
                          </a:r>
                        </a:p>
                      </a:txBody>
                      <a:tcPr/>
                    </a:tc>
                    <a:tc>
                      <a:txBody>
                        <a:bodyPr/>
                        <a:lstStyle/>
                        <a:p>
                          <a:r>
                            <a:rPr lang="en-US" sz="1400"/>
                            <a:t>CFI &gt;= .95</a:t>
                          </a:r>
                        </a:p>
                      </a:txBody>
                      <a:tcPr/>
                    </a:tc>
                    <a:tc>
                      <a:txBody>
                        <a:bodyPr/>
                        <a:lstStyle/>
                        <a:p>
                          <a:r>
                            <a:rPr lang="en-US" sz="1400"/>
                            <a:t>The incremental fit of the model is a sufficient improvement over a null model. </a:t>
                          </a:r>
                        </a:p>
                      </a:txBody>
                      <a:tcPr/>
                    </a:tc>
                    <a:extLst>
                      <a:ext uri="{0D108BD9-81ED-4DB2-BD59-A6C34878D82A}">
                        <a16:rowId xmlns:a16="http://schemas.microsoft.com/office/drawing/2014/main" val="2996612622"/>
                      </a:ext>
                    </a:extLst>
                  </a:tr>
                  <a:tr h="944880">
                    <a:tc>
                      <a:txBody>
                        <a:bodyPr/>
                        <a:lstStyle/>
                        <a:p>
                          <a:r>
                            <a:rPr lang="en-US"/>
                            <a:t>SRMSR</a:t>
                          </a:r>
                        </a:p>
                      </a:txBody>
                      <a:tcPr/>
                    </a:tc>
                    <a:tc>
                      <a:txBody>
                        <a:bodyPr/>
                        <a:lstStyle/>
                        <a:p>
                          <a:r>
                            <a:rPr lang="en-US" sz="1400"/>
                            <a:t>“Standardized Root Mean Square of Residual” Compare average difference between observed and predicted covariance matrix in correlation metric.</a:t>
                          </a:r>
                        </a:p>
                      </a:txBody>
                      <a:tcPr/>
                    </a:tc>
                    <a:tc>
                      <a:txBody>
                        <a:bodyPr/>
                        <a:lstStyle/>
                        <a:p>
                          <a:r>
                            <a:rPr lang="en-US" sz="1400"/>
                            <a:t>SRMSR &lt; .08</a:t>
                          </a:r>
                        </a:p>
                      </a:txBody>
                      <a:tcPr/>
                    </a:tc>
                    <a:tc>
                      <a:txBody>
                        <a:bodyPr/>
                        <a:lstStyle/>
                        <a:p>
                          <a:r>
                            <a:rPr lang="en-US" sz="1400"/>
                            <a:t>The fit of the model is adequate in the sense that the average difference between observed and model-based correlation tends to be small.</a:t>
                          </a:r>
                        </a:p>
                      </a:txBody>
                      <a:tcPr/>
                    </a:tc>
                    <a:extLst>
                      <a:ext uri="{0D108BD9-81ED-4DB2-BD59-A6C34878D82A}">
                        <a16:rowId xmlns:a16="http://schemas.microsoft.com/office/drawing/2014/main" val="3802810651"/>
                      </a:ext>
                    </a:extLst>
                  </a:tr>
                  <a:tr h="731520">
                    <a:tc>
                      <a:txBody>
                        <a:bodyPr/>
                        <a:lstStyle/>
                        <a:p>
                          <a:r>
                            <a:rPr lang="en-US"/>
                            <a:t>AIC</a:t>
                          </a:r>
                        </a:p>
                      </a:txBody>
                      <a:tcPr/>
                    </a:tc>
                    <a:tc>
                      <a:txBody>
                        <a:bodyPr/>
                        <a:lstStyle/>
                        <a:p>
                          <a:r>
                            <a:rPr lang="en-US" sz="1400"/>
                            <a:t>Akaike’s Information Criterion. Use this when two models are being compared that are not nested/hierarchical</a:t>
                          </a:r>
                        </a:p>
                      </a:txBody>
                      <a:tcPr/>
                    </a:tc>
                    <a:tc>
                      <a:txBody>
                        <a:bodyPr/>
                        <a:lstStyle/>
                        <a:p>
                          <a:r>
                            <a:rPr lang="en-US" sz="1400"/>
                            <a:t>Smaller values are better</a:t>
                          </a:r>
                        </a:p>
                      </a:txBody>
                      <a:tcPr/>
                    </a:tc>
                    <a:tc>
                      <a:txBody>
                        <a:bodyPr/>
                        <a:lstStyle/>
                        <a:p>
                          <a:r>
                            <a:rPr lang="en-US" sz="1400"/>
                            <a:t>If model A has smaller AIC than model B, there is some evidence that it provides better fit. </a:t>
                          </a:r>
                        </a:p>
                      </a:txBody>
                      <a:tcPr/>
                    </a:tc>
                    <a:extLst>
                      <a:ext uri="{0D108BD9-81ED-4DB2-BD59-A6C34878D82A}">
                        <a16:rowId xmlns:a16="http://schemas.microsoft.com/office/drawing/2014/main" val="426037507"/>
                      </a:ext>
                    </a:extLst>
                  </a:tr>
                </a:tbl>
              </a:graphicData>
            </a:graphic>
          </p:graphicFrame>
        </mc:Fallback>
      </mc:AlternateContent>
    </p:spTree>
    <p:extLst>
      <p:ext uri="{BB962C8B-B14F-4D97-AF65-F5344CB8AC3E}">
        <p14:creationId xmlns:p14="http://schemas.microsoft.com/office/powerpoint/2010/main" val="893256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4F721-272A-6B76-12AE-611E4A2A3C2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06DFA1-05A0-F82D-20FB-77FC951C8403}"/>
              </a:ext>
            </a:extLst>
          </p:cNvPr>
          <p:cNvSpPr>
            <a:spLocks noGrp="1"/>
          </p:cNvSpPr>
          <p:nvPr>
            <p:ph type="sldNum" sz="quarter" idx="12"/>
          </p:nvPr>
        </p:nvSpPr>
        <p:spPr/>
        <p:txBody>
          <a:bodyPr/>
          <a:lstStyle/>
          <a:p>
            <a:fld id="{C324E0D7-F7AC-FE4A-AA37-CBD35715E861}" type="slidenum">
              <a:rPr lang="en-US" smtClean="0"/>
              <a:t>19</a:t>
            </a:fld>
            <a:endParaRPr lang="en-US"/>
          </a:p>
        </p:txBody>
      </p:sp>
      <p:sp>
        <p:nvSpPr>
          <p:cNvPr id="5" name="TextBox 4">
            <a:extLst>
              <a:ext uri="{FF2B5EF4-FFF2-40B4-BE49-F238E27FC236}">
                <a16:creationId xmlns:a16="http://schemas.microsoft.com/office/drawing/2014/main" id="{8F7AE857-2265-4F8E-95BB-D05CB7A50D45}"/>
              </a:ext>
            </a:extLst>
          </p:cNvPr>
          <p:cNvSpPr txBox="1"/>
          <p:nvPr/>
        </p:nvSpPr>
        <p:spPr>
          <a:xfrm>
            <a:off x="4683211" y="5029199"/>
            <a:ext cx="2372497" cy="584775"/>
          </a:xfrm>
          <a:prstGeom prst="rect">
            <a:avLst/>
          </a:prstGeom>
          <a:noFill/>
        </p:spPr>
        <p:txBody>
          <a:bodyPr wrap="square" rtlCol="0">
            <a:spAutoFit/>
          </a:bodyPr>
          <a:lstStyle/>
          <a:p>
            <a:r>
              <a:rPr lang="en-US" sz="3200"/>
              <a:t>End of aside</a:t>
            </a:r>
          </a:p>
        </p:txBody>
      </p:sp>
      <p:sp>
        <p:nvSpPr>
          <p:cNvPr id="2" name="TextBox 1">
            <a:extLst>
              <a:ext uri="{FF2B5EF4-FFF2-40B4-BE49-F238E27FC236}">
                <a16:creationId xmlns:a16="http://schemas.microsoft.com/office/drawing/2014/main" id="{F6A5179E-4393-761B-220A-40FF22ABF737}"/>
              </a:ext>
            </a:extLst>
          </p:cNvPr>
          <p:cNvSpPr txBox="1"/>
          <p:nvPr/>
        </p:nvSpPr>
        <p:spPr>
          <a:xfrm>
            <a:off x="1828799" y="2471352"/>
            <a:ext cx="8081319" cy="1569660"/>
          </a:xfrm>
          <a:prstGeom prst="rect">
            <a:avLst/>
          </a:prstGeom>
          <a:noFill/>
        </p:spPr>
        <p:txBody>
          <a:bodyPr wrap="square" rtlCol="0">
            <a:spAutoFit/>
          </a:bodyPr>
          <a:lstStyle/>
          <a:p>
            <a:r>
              <a:rPr lang="en-US" sz="3200"/>
              <a:t>In general, the fit statistics RMSEA, CFI, TLI and SRMSR from the SEM literature are not used to justify the fit of IRT Models</a:t>
            </a:r>
          </a:p>
        </p:txBody>
      </p:sp>
    </p:spTree>
    <p:extLst>
      <p:ext uri="{BB962C8B-B14F-4D97-AF65-F5344CB8AC3E}">
        <p14:creationId xmlns:p14="http://schemas.microsoft.com/office/powerpoint/2010/main" val="2237175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8B6CD-7F8A-5940-B4B2-660B29E59913}"/>
              </a:ext>
            </a:extLst>
          </p:cNvPr>
          <p:cNvSpPr>
            <a:spLocks noGrp="1"/>
          </p:cNvSpPr>
          <p:nvPr>
            <p:ph type="title"/>
          </p:nvPr>
        </p:nvSpPr>
        <p:spPr/>
        <p:txBody>
          <a:bodyPr/>
          <a:lstStyle/>
          <a:p>
            <a:r>
              <a:rPr lang="en-US" b="1"/>
              <a:t>Notice that the 3PL did not converge…</a:t>
            </a:r>
          </a:p>
        </p:txBody>
      </p:sp>
      <p:sp>
        <p:nvSpPr>
          <p:cNvPr id="3" name="Content Placeholder 2">
            <a:extLst>
              <a:ext uri="{FF2B5EF4-FFF2-40B4-BE49-F238E27FC236}">
                <a16:creationId xmlns:a16="http://schemas.microsoft.com/office/drawing/2014/main" id="{7027933D-A6DB-EA4B-84BF-2733CD6CA9A0}"/>
              </a:ext>
            </a:extLst>
          </p:cNvPr>
          <p:cNvSpPr>
            <a:spLocks noGrp="1"/>
          </p:cNvSpPr>
          <p:nvPr>
            <p:ph idx="1"/>
          </p:nvPr>
        </p:nvSpPr>
        <p:spPr/>
        <p:txBody>
          <a:bodyPr>
            <a:normAutofit/>
          </a:bodyPr>
          <a:lstStyle/>
          <a:p>
            <a:pPr marL="0" indent="0">
              <a:buNone/>
            </a:pPr>
            <a:r>
              <a:rPr lang="en-US" sz="2000">
                <a:latin typeface="Courier New" panose="02070309020205020404" pitchFamily="49" charset="0"/>
                <a:cs typeface="Courier New" panose="02070309020205020404" pitchFamily="49" charset="0"/>
              </a:rPr>
              <a:t>mod3 &lt;- mirt(d, 1, itemtype= "3PL", SE = TRUE)</a:t>
            </a:r>
          </a:p>
          <a:p>
            <a:pPr marL="0" indent="0">
              <a:buNone/>
            </a:pPr>
            <a:r>
              <a:rPr lang="en-US" sz="2000">
                <a:latin typeface="Courier New" panose="02070309020205020404" pitchFamily="49" charset="0"/>
                <a:cs typeface="Courier New" panose="02070309020205020404" pitchFamily="49" charset="0"/>
              </a:rPr>
              <a:t>Iteration: 500, Log-Lik: -25320.410, Max-Change: 0.00023</a:t>
            </a:r>
          </a:p>
          <a:p>
            <a:pPr marL="0" indent="0">
              <a:buNone/>
            </a:pPr>
            <a:r>
              <a:rPr lang="en-US" sz="2000" b="1">
                <a:latin typeface="Courier New" panose="02070309020205020404" pitchFamily="49" charset="0"/>
                <a:cs typeface="Courier New" panose="02070309020205020404" pitchFamily="49" charset="0"/>
              </a:rPr>
              <a:t>EM cycles terminated after 500 iterations.</a:t>
            </a:r>
          </a:p>
        </p:txBody>
      </p:sp>
      <p:sp>
        <p:nvSpPr>
          <p:cNvPr id="4" name="Slide Number Placeholder 3">
            <a:extLst>
              <a:ext uri="{FF2B5EF4-FFF2-40B4-BE49-F238E27FC236}">
                <a16:creationId xmlns:a16="http://schemas.microsoft.com/office/drawing/2014/main" id="{29FEF869-7632-524E-BA4F-56720FEFB98A}"/>
              </a:ext>
            </a:extLst>
          </p:cNvPr>
          <p:cNvSpPr>
            <a:spLocks noGrp="1"/>
          </p:cNvSpPr>
          <p:nvPr>
            <p:ph type="sldNum" sz="quarter" idx="12"/>
          </p:nvPr>
        </p:nvSpPr>
        <p:spPr/>
        <p:txBody>
          <a:bodyPr/>
          <a:lstStyle/>
          <a:p>
            <a:fld id="{C324E0D7-F7AC-FE4A-AA37-CBD35715E861}" type="slidenum">
              <a:rPr lang="en-US" smtClean="0"/>
              <a:t>20</a:t>
            </a:fld>
            <a:endParaRPr lang="en-US"/>
          </a:p>
        </p:txBody>
      </p:sp>
      <p:sp>
        <p:nvSpPr>
          <p:cNvPr id="5" name="TextBox 4">
            <a:extLst>
              <a:ext uri="{FF2B5EF4-FFF2-40B4-BE49-F238E27FC236}">
                <a16:creationId xmlns:a16="http://schemas.microsoft.com/office/drawing/2014/main" id="{7BBB1E88-992F-EE79-F249-5938EE19EED5}"/>
              </a:ext>
            </a:extLst>
          </p:cNvPr>
          <p:cNvSpPr txBox="1"/>
          <p:nvPr/>
        </p:nvSpPr>
        <p:spPr>
          <a:xfrm>
            <a:off x="395417" y="4413151"/>
            <a:ext cx="10515599" cy="2308324"/>
          </a:xfrm>
          <a:prstGeom prst="rect">
            <a:avLst/>
          </a:prstGeom>
          <a:noFill/>
          <a:ln>
            <a:solidFill>
              <a:schemeClr val="accent1"/>
            </a:solidFill>
          </a:ln>
        </p:spPr>
        <p:txBody>
          <a:bodyPr wrap="square" rtlCol="0">
            <a:spAutoFit/>
          </a:bodyPr>
          <a:lstStyle/>
          <a:p>
            <a:r>
              <a:rPr lang="en-US"/>
              <a:t>Some advice from Chalmers in use of mirt to fit 3PL: “</a:t>
            </a:r>
            <a:r>
              <a:rPr lang="en-US" b="0" i="0">
                <a:solidFill>
                  <a:srgbClr val="374151"/>
                </a:solidFill>
                <a:effectLst/>
                <a:latin typeface="Studio-Feixen-Sans"/>
              </a:rPr>
              <a:t>Unrestricted full-information factor analysis is known to have problems with convergence, and some items may need to be constrained or removed entirely to allow for an acceptable solution. As a general rule dichotomous items with means greater than .95, or items that are only .05 greater than the guessing parameter, should be considered for removal from the analysis or treated with prior distributions. Also, increasing the number of quadrature points per dimension may help to stabilize the estimation process.”</a:t>
            </a:r>
          </a:p>
          <a:p>
            <a:endParaRPr lang="en-US" b="0" i="0">
              <a:solidFill>
                <a:srgbClr val="374151"/>
              </a:solidFill>
              <a:effectLst/>
              <a:latin typeface="Studio-Feixen-Sans"/>
            </a:endParaRPr>
          </a:p>
          <a:p>
            <a:r>
              <a:rPr lang="en-US" b="0" i="0">
                <a:solidFill>
                  <a:srgbClr val="374151"/>
                </a:solidFill>
                <a:effectLst/>
                <a:latin typeface="Studio-Feixen-Sans"/>
              </a:rPr>
              <a:t> https://www.rdocumentation.org/packages/mirt/versions/0.2.6/topics/mirt</a:t>
            </a:r>
            <a:endParaRPr lang="en-US"/>
          </a:p>
        </p:txBody>
      </p:sp>
      <p:sp>
        <p:nvSpPr>
          <p:cNvPr id="6" name="TextBox 5">
            <a:extLst>
              <a:ext uri="{FF2B5EF4-FFF2-40B4-BE49-F238E27FC236}">
                <a16:creationId xmlns:a16="http://schemas.microsoft.com/office/drawing/2014/main" id="{75F02489-4395-2204-2DDF-9C1AA3C54D3A}"/>
              </a:ext>
            </a:extLst>
          </p:cNvPr>
          <p:cNvSpPr txBox="1"/>
          <p:nvPr/>
        </p:nvSpPr>
        <p:spPr>
          <a:xfrm>
            <a:off x="838199" y="3194221"/>
            <a:ext cx="9788611" cy="923330"/>
          </a:xfrm>
          <a:prstGeom prst="rect">
            <a:avLst/>
          </a:prstGeom>
          <a:noFill/>
        </p:spPr>
        <p:txBody>
          <a:bodyPr wrap="square" rtlCol="0">
            <a:spAutoFit/>
          </a:bodyPr>
          <a:lstStyle/>
          <a:p>
            <a:r>
              <a:rPr lang="en-US"/>
              <a:t>But it does actually converge if we increase max iterations to 2000</a:t>
            </a:r>
          </a:p>
          <a:p>
            <a:endParaRPr lang="en-US"/>
          </a:p>
          <a:p>
            <a:r>
              <a:rPr lang="en-US" sz="1800" b="0" i="0">
                <a:effectLst/>
                <a:latin typeface="Courier New" panose="02070309020205020404" pitchFamily="49" charset="0"/>
                <a:cs typeface="Courier New" panose="02070309020205020404" pitchFamily="49" charset="0"/>
              </a:rPr>
              <a:t>mod3&lt;- mirt(cde, 1,  itemtype=“3PL”, technical = list(NCYCLES = 2000))</a:t>
            </a:r>
            <a:endParaRPr lang="en-US" b="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11560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C73A03-6A54-6A0F-7953-B5E6E5EF57CA}"/>
              </a:ext>
            </a:extLst>
          </p:cNvPr>
          <p:cNvSpPr>
            <a:spLocks noGrp="1"/>
          </p:cNvSpPr>
          <p:nvPr>
            <p:ph type="sldNum" sz="quarter" idx="12"/>
          </p:nvPr>
        </p:nvSpPr>
        <p:spPr/>
        <p:txBody>
          <a:bodyPr/>
          <a:lstStyle/>
          <a:p>
            <a:fld id="{C324E0D7-F7AC-FE4A-AA37-CBD35715E861}" type="slidenum">
              <a:rPr lang="en-US" smtClean="0"/>
              <a:t>21</a:t>
            </a:fld>
            <a:endParaRPr lang="en-US"/>
          </a:p>
        </p:txBody>
      </p:sp>
      <p:sp>
        <p:nvSpPr>
          <p:cNvPr id="5" name="TextBox 4">
            <a:extLst>
              <a:ext uri="{FF2B5EF4-FFF2-40B4-BE49-F238E27FC236}">
                <a16:creationId xmlns:a16="http://schemas.microsoft.com/office/drawing/2014/main" id="{A97EDB58-D4D2-1B64-53F4-1F800C43EA56}"/>
              </a:ext>
            </a:extLst>
          </p:cNvPr>
          <p:cNvSpPr txBox="1"/>
          <p:nvPr/>
        </p:nvSpPr>
        <p:spPr>
          <a:xfrm>
            <a:off x="3398108" y="2782669"/>
            <a:ext cx="4806778" cy="646331"/>
          </a:xfrm>
          <a:prstGeom prst="rect">
            <a:avLst/>
          </a:prstGeom>
          <a:noFill/>
        </p:spPr>
        <p:txBody>
          <a:bodyPr wrap="square" rtlCol="0">
            <a:spAutoFit/>
          </a:bodyPr>
          <a:lstStyle/>
          <a:p>
            <a:pPr algn="ctr"/>
            <a:r>
              <a:rPr lang="en-US" sz="3600" b="1"/>
              <a:t>Item Fit</a:t>
            </a:r>
          </a:p>
        </p:txBody>
      </p:sp>
    </p:spTree>
    <p:extLst>
      <p:ext uri="{BB962C8B-B14F-4D97-AF65-F5344CB8AC3E}">
        <p14:creationId xmlns:p14="http://schemas.microsoft.com/office/powerpoint/2010/main" val="2005887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a:t>Comparing SEs of Item Parameter Estimates</a:t>
            </a:r>
          </a:p>
        </p:txBody>
      </p:sp>
      <p:graphicFrame>
        <p:nvGraphicFramePr>
          <p:cNvPr id="4" name="Content Placeholder 3"/>
          <p:cNvGraphicFramePr>
            <a:graphicFrameLocks noGrp="1"/>
          </p:cNvGraphicFramePr>
          <p:nvPr>
            <p:ph idx="1"/>
          </p:nvPr>
        </p:nvGraphicFramePr>
        <p:xfrm>
          <a:off x="2152650" y="2740025"/>
          <a:ext cx="7886700" cy="1483360"/>
        </p:xfrm>
        <a:graphic>
          <a:graphicData uri="http://schemas.openxmlformats.org/drawingml/2006/table">
            <a:tbl>
              <a:tblPr firstRow="1" bandRow="1">
                <a:tableStyleId>{5C22544A-7EE6-4342-B048-85BDC9FD1C3A}</a:tableStyleId>
              </a:tblPr>
              <a:tblGrid>
                <a:gridCol w="1577340">
                  <a:extLst>
                    <a:ext uri="{9D8B030D-6E8A-4147-A177-3AD203B41FA5}">
                      <a16:colId xmlns:a16="http://schemas.microsoft.com/office/drawing/2014/main" val="20000"/>
                    </a:ext>
                  </a:extLst>
                </a:gridCol>
                <a:gridCol w="1577340">
                  <a:extLst>
                    <a:ext uri="{9D8B030D-6E8A-4147-A177-3AD203B41FA5}">
                      <a16:colId xmlns:a16="http://schemas.microsoft.com/office/drawing/2014/main" val="20001"/>
                    </a:ext>
                  </a:extLst>
                </a:gridCol>
                <a:gridCol w="1577340">
                  <a:extLst>
                    <a:ext uri="{9D8B030D-6E8A-4147-A177-3AD203B41FA5}">
                      <a16:colId xmlns:a16="http://schemas.microsoft.com/office/drawing/2014/main" val="20002"/>
                    </a:ext>
                  </a:extLst>
                </a:gridCol>
                <a:gridCol w="1577340">
                  <a:extLst>
                    <a:ext uri="{9D8B030D-6E8A-4147-A177-3AD203B41FA5}">
                      <a16:colId xmlns:a16="http://schemas.microsoft.com/office/drawing/2014/main" val="20003"/>
                    </a:ext>
                  </a:extLst>
                </a:gridCol>
                <a:gridCol w="1577340">
                  <a:extLst>
                    <a:ext uri="{9D8B030D-6E8A-4147-A177-3AD203B41FA5}">
                      <a16:colId xmlns:a16="http://schemas.microsoft.com/office/drawing/2014/main" val="20004"/>
                    </a:ext>
                  </a:extLst>
                </a:gridCol>
              </a:tblGrid>
              <a:tr h="370840">
                <a:tc>
                  <a:txBody>
                    <a:bodyPr/>
                    <a:lstStyle/>
                    <a:p>
                      <a:endParaRPr lang="en-US"/>
                    </a:p>
                  </a:txBody>
                  <a:tcPr/>
                </a:tc>
                <a:tc gridSpan="2">
                  <a:txBody>
                    <a:bodyPr/>
                    <a:lstStyle/>
                    <a:p>
                      <a:pPr algn="ctr"/>
                      <a:r>
                        <a:rPr lang="en-US"/>
                        <a:t>Difficulty</a:t>
                      </a:r>
                    </a:p>
                  </a:txBody>
                  <a:tcPr/>
                </a:tc>
                <a:tc hMerge="1">
                  <a:txBody>
                    <a:bodyPr/>
                    <a:lstStyle/>
                    <a:p>
                      <a:endParaRPr lang="en-US"/>
                    </a:p>
                  </a:txBody>
                  <a:tcPr/>
                </a:tc>
                <a:tc gridSpan="2">
                  <a:txBody>
                    <a:bodyPr/>
                    <a:lstStyle/>
                    <a:p>
                      <a:r>
                        <a:rPr lang="en-US"/>
                        <a:t>Discrimination</a:t>
                      </a:r>
                    </a:p>
                  </a:txBody>
                  <a:tcPr/>
                </a:tc>
                <a:tc hMerge="1">
                  <a:txBody>
                    <a:bodyPr/>
                    <a:lstStyle/>
                    <a:p>
                      <a:endParaRPr lang="en-US"/>
                    </a:p>
                  </a:txBody>
                  <a:tcPr/>
                </a:tc>
                <a:extLst>
                  <a:ext uri="{0D108BD9-81ED-4DB2-BD59-A6C34878D82A}">
                    <a16:rowId xmlns:a16="http://schemas.microsoft.com/office/drawing/2014/main" val="10000"/>
                  </a:ext>
                </a:extLst>
              </a:tr>
              <a:tr h="370840">
                <a:tc>
                  <a:txBody>
                    <a:bodyPr/>
                    <a:lstStyle/>
                    <a:p>
                      <a:endParaRPr lang="en-US"/>
                    </a:p>
                  </a:txBody>
                  <a:tcPr/>
                </a:tc>
                <a:tc>
                  <a:txBody>
                    <a:bodyPr/>
                    <a:lstStyle/>
                    <a:p>
                      <a:pPr algn="ctr"/>
                      <a:r>
                        <a:rPr lang="en-US"/>
                        <a:t>2PL</a:t>
                      </a:r>
                    </a:p>
                  </a:txBody>
                  <a:tcPr/>
                </a:tc>
                <a:tc>
                  <a:txBody>
                    <a:bodyPr/>
                    <a:lstStyle/>
                    <a:p>
                      <a:pPr algn="ctr"/>
                      <a:r>
                        <a:rPr lang="en-US"/>
                        <a:t>3PL</a:t>
                      </a:r>
                    </a:p>
                  </a:txBody>
                  <a:tcPr/>
                </a:tc>
                <a:tc>
                  <a:txBody>
                    <a:bodyPr/>
                    <a:lstStyle/>
                    <a:p>
                      <a:pPr algn="ctr"/>
                      <a:r>
                        <a:rPr lang="en-US"/>
                        <a:t>2PL</a:t>
                      </a:r>
                    </a:p>
                  </a:txBody>
                  <a:tcPr/>
                </a:tc>
                <a:tc>
                  <a:txBody>
                    <a:bodyPr/>
                    <a:lstStyle/>
                    <a:p>
                      <a:pPr algn="ctr"/>
                      <a:r>
                        <a:rPr lang="en-US"/>
                        <a:t>3PL</a:t>
                      </a:r>
                    </a:p>
                  </a:txBody>
                  <a:tcPr/>
                </a:tc>
                <a:extLst>
                  <a:ext uri="{0D108BD9-81ED-4DB2-BD59-A6C34878D82A}">
                    <a16:rowId xmlns:a16="http://schemas.microsoft.com/office/drawing/2014/main" val="10001"/>
                  </a:ext>
                </a:extLst>
              </a:tr>
              <a:tr h="370840">
                <a:tc>
                  <a:txBody>
                    <a:bodyPr/>
                    <a:lstStyle/>
                    <a:p>
                      <a:r>
                        <a:rPr lang="en-US"/>
                        <a:t>Mean</a:t>
                      </a:r>
                    </a:p>
                  </a:txBody>
                  <a:tcPr/>
                </a:tc>
                <a:tc>
                  <a:txBody>
                    <a:bodyPr/>
                    <a:lstStyle/>
                    <a:p>
                      <a:pPr algn="ctr"/>
                      <a:r>
                        <a:rPr lang="en-US"/>
                        <a:t>.093</a:t>
                      </a:r>
                    </a:p>
                  </a:txBody>
                  <a:tcPr/>
                </a:tc>
                <a:tc>
                  <a:txBody>
                    <a:bodyPr/>
                    <a:lstStyle/>
                    <a:p>
                      <a:pPr algn="ctr"/>
                      <a:r>
                        <a:rPr lang="en-US"/>
                        <a:t>.177</a:t>
                      </a:r>
                    </a:p>
                  </a:txBody>
                  <a:tcPr/>
                </a:tc>
                <a:tc>
                  <a:txBody>
                    <a:bodyPr/>
                    <a:lstStyle/>
                    <a:p>
                      <a:pPr algn="ctr"/>
                      <a:r>
                        <a:rPr lang="en-US"/>
                        <a:t>.093</a:t>
                      </a:r>
                    </a:p>
                  </a:txBody>
                  <a:tcPr/>
                </a:tc>
                <a:tc>
                  <a:txBody>
                    <a:bodyPr/>
                    <a:lstStyle/>
                    <a:p>
                      <a:pPr algn="ctr"/>
                      <a:r>
                        <a:rPr lang="en-US"/>
                        <a:t>.179</a:t>
                      </a:r>
                    </a:p>
                  </a:txBody>
                  <a:tcPr/>
                </a:tc>
                <a:extLst>
                  <a:ext uri="{0D108BD9-81ED-4DB2-BD59-A6C34878D82A}">
                    <a16:rowId xmlns:a16="http://schemas.microsoft.com/office/drawing/2014/main" val="10002"/>
                  </a:ext>
                </a:extLst>
              </a:tr>
              <a:tr h="370840">
                <a:tc>
                  <a:txBody>
                    <a:bodyPr/>
                    <a:lstStyle/>
                    <a:p>
                      <a:r>
                        <a:rPr lang="en-US"/>
                        <a:t>SD</a:t>
                      </a:r>
                    </a:p>
                  </a:txBody>
                  <a:tcPr/>
                </a:tc>
                <a:tc>
                  <a:txBody>
                    <a:bodyPr/>
                    <a:lstStyle/>
                    <a:p>
                      <a:pPr algn="ctr"/>
                      <a:r>
                        <a:rPr lang="en-US"/>
                        <a:t>.042</a:t>
                      </a:r>
                    </a:p>
                  </a:txBody>
                  <a:tcPr/>
                </a:tc>
                <a:tc>
                  <a:txBody>
                    <a:bodyPr/>
                    <a:lstStyle/>
                    <a:p>
                      <a:pPr algn="ctr"/>
                      <a:r>
                        <a:rPr lang="en-US"/>
                        <a:t>.154</a:t>
                      </a:r>
                    </a:p>
                  </a:txBody>
                  <a:tcPr/>
                </a:tc>
                <a:tc>
                  <a:txBody>
                    <a:bodyPr/>
                    <a:lstStyle/>
                    <a:p>
                      <a:pPr algn="ctr"/>
                      <a:r>
                        <a:rPr lang="en-US"/>
                        <a:t>.027</a:t>
                      </a:r>
                    </a:p>
                  </a:txBody>
                  <a:tcPr/>
                </a:tc>
                <a:tc>
                  <a:txBody>
                    <a:bodyPr/>
                    <a:lstStyle/>
                    <a:p>
                      <a:pPr algn="ctr"/>
                      <a:r>
                        <a:rPr lang="en-US"/>
                        <a:t>.152</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196770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b="1" dirty="0">
                <a:cs typeface="Calibri"/>
              </a:rPr>
              <a:t>Chi-Square Test Statistics</a:t>
            </a:r>
          </a:p>
        </p:txBody>
      </p:sp>
      <p:graphicFrame>
        <p:nvGraphicFramePr>
          <p:cNvPr id="7" name="Content Placeholder 6"/>
          <p:cNvGraphicFramePr>
            <a:graphicFrameLocks noGrp="1"/>
          </p:cNvGraphicFramePr>
          <p:nvPr>
            <p:ph idx="1"/>
          </p:nvPr>
        </p:nvGraphicFramePr>
        <p:xfrm>
          <a:off x="838200" y="1983899"/>
          <a:ext cx="3139440" cy="4079240"/>
        </p:xfrm>
        <a:graphic>
          <a:graphicData uri="http://schemas.openxmlformats.org/drawingml/2006/table">
            <a:tbl>
              <a:tblPr firstRow="1" firstCol="1" bandRow="1">
                <a:tableStyleId>{85BE263C-DBD7-4A20-BB59-AAB30ACAA65A}</a:tableStyleId>
              </a:tblPr>
              <a:tblGrid>
                <a:gridCol w="1459472">
                  <a:extLst>
                    <a:ext uri="{9D8B030D-6E8A-4147-A177-3AD203B41FA5}">
                      <a16:colId xmlns:a16="http://schemas.microsoft.com/office/drawing/2014/main" val="20000"/>
                    </a:ext>
                  </a:extLst>
                </a:gridCol>
                <a:gridCol w="836688">
                  <a:extLst>
                    <a:ext uri="{9D8B030D-6E8A-4147-A177-3AD203B41FA5}">
                      <a16:colId xmlns:a16="http://schemas.microsoft.com/office/drawing/2014/main" val="20001"/>
                    </a:ext>
                  </a:extLst>
                </a:gridCol>
                <a:gridCol w="843280">
                  <a:extLst>
                    <a:ext uri="{9D8B030D-6E8A-4147-A177-3AD203B41FA5}">
                      <a16:colId xmlns:a16="http://schemas.microsoft.com/office/drawing/2014/main" val="20002"/>
                    </a:ext>
                  </a:extLst>
                </a:gridCol>
              </a:tblGrid>
              <a:tr h="370840">
                <a:tc>
                  <a:txBody>
                    <a:bodyPr/>
                    <a:lstStyle/>
                    <a:p>
                      <a:r>
                        <a:rPr lang="en-US" dirty="0"/>
                        <a:t>Groups (g)</a:t>
                      </a:r>
                    </a:p>
                  </a:txBody>
                  <a:tcPr>
                    <a:lnB w="12700" cap="flat" cmpd="sng" algn="ctr">
                      <a:solidFill>
                        <a:scrgbClr r="0" g="0" b="0"/>
                      </a:solidFill>
                      <a:prstDash val="solid"/>
                      <a:round/>
                      <a:headEnd type="none" w="med" len="med"/>
                      <a:tailEnd type="none" w="med" len="med"/>
                    </a:lnB>
                  </a:tcPr>
                </a:tc>
                <a:tc>
                  <a:txBody>
                    <a:bodyPr/>
                    <a:lstStyle/>
                    <a:p>
                      <a:r>
                        <a:rPr lang="en-US" dirty="0"/>
                        <a:t> </a:t>
                      </a:r>
                      <a:r>
                        <a:rPr lang="en-US"/>
                        <a:t>X</a:t>
                      </a:r>
                      <a:r>
                        <a:rPr lang="en-US" dirty="0"/>
                        <a:t>=1</a:t>
                      </a:r>
                    </a:p>
                  </a:txBody>
                  <a:tcPr>
                    <a:lnB w="12700" cap="flat" cmpd="sng" algn="ctr">
                      <a:solidFill>
                        <a:scrgbClr r="0" g="0" b="0"/>
                      </a:solidFill>
                      <a:prstDash val="solid"/>
                      <a:round/>
                      <a:headEnd type="none" w="med" len="med"/>
                      <a:tailEnd type="none" w="med" len="med"/>
                    </a:lnB>
                  </a:tcPr>
                </a:tc>
                <a:tc>
                  <a:txBody>
                    <a:bodyPr/>
                    <a:lstStyle/>
                    <a:p>
                      <a:r>
                        <a:rPr lang="en-US"/>
                        <a:t>X</a:t>
                      </a:r>
                      <a:r>
                        <a:rPr lang="en-US" dirty="0"/>
                        <a:t>=0</a:t>
                      </a:r>
                    </a:p>
                  </a:txBody>
                  <a:tcPr>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baseline="0" dirty="0"/>
                        <a:t>1</a:t>
                      </a:r>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dirty="0"/>
                        <a:t>2</a:t>
                      </a:r>
                    </a:p>
                  </a:txBody>
                  <a:tcPr>
                    <a:lnR w="12700" cap="flat" cmpd="sng" algn="ctr">
                      <a:solidFill>
                        <a:scrgbClr r="0" g="0" b="0"/>
                      </a:solidFill>
                      <a:prstDash val="solid"/>
                      <a:round/>
                      <a:headEnd type="none" w="med" len="med"/>
                      <a:tailEnd type="none" w="med" len="med"/>
                    </a:lnR>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dirty="0"/>
                        <a:t>3</a:t>
                      </a:r>
                    </a:p>
                  </a:txBody>
                  <a:tcPr>
                    <a:lnR w="12700" cap="flat" cmpd="sng" algn="ctr">
                      <a:solidFill>
                        <a:scrgbClr r="0" g="0" b="0"/>
                      </a:solidFill>
                      <a:prstDash val="solid"/>
                      <a:round/>
                      <a:headEnd type="none" w="med" len="med"/>
                      <a:tailEnd type="none" w="med" len="med"/>
                    </a:lnR>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US" dirty="0"/>
                        <a:t>4</a:t>
                      </a:r>
                    </a:p>
                  </a:txBody>
                  <a:tcPr>
                    <a:lnR w="12700" cap="flat" cmpd="sng" algn="ctr">
                      <a:solidFill>
                        <a:scrgbClr r="0" g="0" b="0"/>
                      </a:solidFill>
                      <a:prstDash val="solid"/>
                      <a:round/>
                      <a:headEnd type="none" w="med" len="med"/>
                      <a:tailEnd type="none" w="med" len="med"/>
                    </a:lnR>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US" dirty="0"/>
                        <a:t>5</a:t>
                      </a:r>
                    </a:p>
                  </a:txBody>
                  <a:tcPr>
                    <a:lnR w="12700" cap="flat" cmpd="sng" algn="ctr">
                      <a:solidFill>
                        <a:scrgbClr r="0" g="0" b="0"/>
                      </a:solidFill>
                      <a:prstDash val="solid"/>
                      <a:round/>
                      <a:headEnd type="none" w="med" len="med"/>
                      <a:tailEnd type="none" w="med" len="med"/>
                    </a:lnR>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US" dirty="0"/>
                        <a:t>6</a:t>
                      </a:r>
                    </a:p>
                  </a:txBody>
                  <a:tcPr>
                    <a:lnR w="12700" cap="flat" cmpd="sng" algn="ctr">
                      <a:solidFill>
                        <a:scrgbClr r="0" g="0" b="0"/>
                      </a:solidFill>
                      <a:prstDash val="solid"/>
                      <a:round/>
                      <a:headEnd type="none" w="med" len="med"/>
                      <a:tailEnd type="none" w="med" len="med"/>
                    </a:lnR>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a:r>
                        <a:rPr lang="en-US" dirty="0"/>
                        <a:t>7</a:t>
                      </a:r>
                    </a:p>
                  </a:txBody>
                  <a:tcPr>
                    <a:lnR w="12700" cap="flat" cmpd="sng" algn="ctr">
                      <a:solidFill>
                        <a:scrgbClr r="0" g="0" b="0"/>
                      </a:solidFill>
                      <a:prstDash val="solid"/>
                      <a:round/>
                      <a:headEnd type="none" w="med" len="med"/>
                      <a:tailEnd type="none" w="med" len="med"/>
                    </a:lnR>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dirty="0"/>
                        <a:t>8</a:t>
                      </a:r>
                    </a:p>
                  </a:txBody>
                  <a:tcPr>
                    <a:lnR w="12700" cap="flat" cmpd="sng" algn="ctr">
                      <a:solidFill>
                        <a:scrgbClr r="0" g="0" b="0"/>
                      </a:solidFill>
                      <a:prstDash val="solid"/>
                      <a:round/>
                      <a:headEnd type="none" w="med" len="med"/>
                      <a:tailEnd type="none" w="med" len="med"/>
                    </a:lnR>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algn="ctr"/>
                      <a:r>
                        <a:rPr lang="en-US" dirty="0"/>
                        <a:t>9</a:t>
                      </a:r>
                    </a:p>
                  </a:txBody>
                  <a:tcPr>
                    <a:lnR w="12700" cap="flat" cmpd="sng" algn="ctr">
                      <a:solidFill>
                        <a:scrgbClr r="0" g="0" b="0"/>
                      </a:solidFill>
                      <a:prstDash val="solid"/>
                      <a:round/>
                      <a:headEnd type="none" w="med" len="med"/>
                      <a:tailEnd type="none" w="med" len="med"/>
                    </a:lnR>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pPr algn="ctr"/>
                      <a:r>
                        <a:rPr lang="en-US" dirty="0"/>
                        <a:t>10</a:t>
                      </a:r>
                    </a:p>
                  </a:txBody>
                  <a:tcPr>
                    <a:lnR w="12700" cap="flat" cmpd="sng" algn="ctr">
                      <a:solidFill>
                        <a:scrgbClr r="0" g="0" b="0"/>
                      </a:solidFill>
                      <a:prstDash val="solid"/>
                      <a:round/>
                      <a:headEnd type="none" w="med" len="med"/>
                      <a:tailEnd type="none" w="med" len="med"/>
                    </a:lnR>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9" name="TextBox 8"/>
          <p:cNvSpPr txBox="1"/>
          <p:nvPr/>
        </p:nvSpPr>
        <p:spPr>
          <a:xfrm>
            <a:off x="5680710" y="3387091"/>
            <a:ext cx="4415790" cy="1200329"/>
          </a:xfrm>
          <a:prstGeom prst="rect">
            <a:avLst/>
          </a:prstGeom>
          <a:noFill/>
        </p:spPr>
        <p:txBody>
          <a:bodyPr wrap="square" rtlCol="0">
            <a:spAutoFit/>
          </a:bodyPr>
          <a:lstStyle/>
          <a:p>
            <a:r>
              <a:rPr lang="en-US" dirty="0">
                <a:latin typeface="Calibri"/>
                <a:cs typeface="Calibri"/>
              </a:rPr>
              <a:t>Shape of distribution depends on degrees of freedom (df).  Usually, given an m (row) by n (column) matrix, df = (m-1) x (n-1). So in this example df = (10-1) x (2-1) = 9.</a:t>
            </a:r>
          </a:p>
        </p:txBody>
      </p:sp>
      <p:sp>
        <p:nvSpPr>
          <p:cNvPr id="3" name="TextBox 2"/>
          <p:cNvSpPr txBox="1"/>
          <p:nvPr/>
        </p:nvSpPr>
        <p:spPr>
          <a:xfrm>
            <a:off x="5730875" y="4953000"/>
            <a:ext cx="4159250" cy="923330"/>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latin typeface="Calibri"/>
                <a:cs typeface="Calibri"/>
              </a:rPr>
              <a:t>In an IRT context “</a:t>
            </a:r>
            <a:r>
              <a:rPr lang="en-US" i="1" dirty="0" err="1">
                <a:latin typeface="Calibri"/>
                <a:cs typeface="Calibri"/>
              </a:rPr>
              <a:t>E</a:t>
            </a:r>
            <a:r>
              <a:rPr lang="en-US" i="1" baseline="-25000" dirty="0" err="1">
                <a:latin typeface="Calibri"/>
                <a:cs typeface="Calibri"/>
              </a:rPr>
              <a:t>g</a:t>
            </a:r>
            <a:r>
              <a:rPr lang="en-US" dirty="0">
                <a:latin typeface="Calibri"/>
                <a:cs typeface="Calibri"/>
              </a:rPr>
              <a:t>” is expected number of correct responses, and is determined by the IRF of the item in question.</a:t>
            </a:r>
          </a:p>
        </p:txBody>
      </p:sp>
      <mc:AlternateContent xmlns:mc="http://schemas.openxmlformats.org/markup-compatibility/2006" xmlns:a14="http://schemas.microsoft.com/office/drawing/2010/main">
        <mc:Choice Requires="a14">
          <p:sp>
            <p:nvSpPr>
              <p:cNvPr id="4" name="TextBox 3"/>
              <p:cNvSpPr txBox="1"/>
              <p:nvPr/>
            </p:nvSpPr>
            <p:spPr>
              <a:xfrm>
                <a:off x="5680710" y="1893276"/>
                <a:ext cx="3120598" cy="12538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600" b="0" i="1" smtClean="0">
                              <a:latin typeface="Cambria Math" panose="02040503050406030204" pitchFamily="18" charset="0"/>
                            </a:rPr>
                          </m:ctrlPr>
                        </m:sSupPr>
                        <m:e>
                          <m:r>
                            <a:rPr lang="en-US" sz="2600" b="0" i="1" smtClean="0">
                              <a:latin typeface="Cambria Math" charset="0"/>
                            </a:rPr>
                            <m:t>𝜒</m:t>
                          </m:r>
                        </m:e>
                        <m:sup>
                          <m:r>
                            <a:rPr lang="en-US" sz="2600" b="0" i="1" smtClean="0">
                              <a:latin typeface="Cambria Math" charset="0"/>
                            </a:rPr>
                            <m:t>2</m:t>
                          </m:r>
                        </m:sup>
                      </m:sSup>
                      <m:r>
                        <a:rPr lang="en-US" sz="2600" b="0" i="1" smtClean="0">
                          <a:latin typeface="Cambria Math" charset="0"/>
                        </a:rPr>
                        <m:t>=</m:t>
                      </m:r>
                      <m:nary>
                        <m:naryPr>
                          <m:chr m:val="∑"/>
                          <m:supHide m:val="on"/>
                          <m:ctrlPr>
                            <a:rPr lang="is-IS" sz="2600" b="0" i="1" smtClean="0">
                              <a:latin typeface="Cambria Math" panose="02040503050406030204" pitchFamily="18" charset="0"/>
                            </a:rPr>
                          </m:ctrlPr>
                        </m:naryPr>
                        <m:sub>
                          <m:r>
                            <m:rPr>
                              <m:brk m:alnAt="7"/>
                            </m:rPr>
                            <a:rPr lang="en-US" sz="2600" b="0" i="1" smtClean="0">
                              <a:latin typeface="Cambria Math" charset="0"/>
                            </a:rPr>
                            <m:t>𝑔</m:t>
                          </m:r>
                        </m:sub>
                        <m:sup/>
                        <m:e>
                          <m:f>
                            <m:fPr>
                              <m:ctrlPr>
                                <a:rPr lang="en-US" sz="2600" b="0" i="1" smtClean="0">
                                  <a:latin typeface="Cambria Math" panose="02040503050406030204" pitchFamily="18" charset="0"/>
                                </a:rPr>
                              </m:ctrlPr>
                            </m:fPr>
                            <m:num>
                              <m:sSup>
                                <m:sSupPr>
                                  <m:ctrlPr>
                                    <a:rPr lang="en-US" sz="2600" b="0" i="1" smtClean="0">
                                      <a:latin typeface="Cambria Math" panose="02040503050406030204" pitchFamily="18" charset="0"/>
                                    </a:rPr>
                                  </m:ctrlPr>
                                </m:sSupPr>
                                <m:e>
                                  <m:d>
                                    <m:dPr>
                                      <m:ctrlPr>
                                        <a:rPr lang="en-US" sz="2600" b="0" i="1" smtClean="0">
                                          <a:latin typeface="Cambria Math" panose="02040503050406030204" pitchFamily="18" charset="0"/>
                                        </a:rPr>
                                      </m:ctrlPr>
                                    </m:dPr>
                                    <m:e>
                                      <m:sSub>
                                        <m:sSubPr>
                                          <m:ctrlPr>
                                            <a:rPr lang="en-US" sz="2600" b="0" i="1" smtClean="0">
                                              <a:latin typeface="Cambria Math" panose="02040503050406030204" pitchFamily="18" charset="0"/>
                                            </a:rPr>
                                          </m:ctrlPr>
                                        </m:sSubPr>
                                        <m:e>
                                          <m:r>
                                            <a:rPr lang="en-US" sz="2600" b="0" i="1" smtClean="0">
                                              <a:latin typeface="Cambria Math" charset="0"/>
                                            </a:rPr>
                                            <m:t>𝑂</m:t>
                                          </m:r>
                                        </m:e>
                                        <m:sub>
                                          <m:r>
                                            <a:rPr lang="en-US" sz="2600" b="0" i="1" smtClean="0">
                                              <a:latin typeface="Cambria Math" charset="0"/>
                                            </a:rPr>
                                            <m:t>𝑔</m:t>
                                          </m:r>
                                        </m:sub>
                                      </m:sSub>
                                      <m:r>
                                        <a:rPr lang="en-US" sz="2600" b="0" i="1" smtClean="0">
                                          <a:latin typeface="Cambria Math" charset="0"/>
                                        </a:rPr>
                                        <m:t>−</m:t>
                                      </m:r>
                                      <m:sSub>
                                        <m:sSubPr>
                                          <m:ctrlPr>
                                            <a:rPr lang="en-US" sz="2600" b="0" i="1" smtClean="0">
                                              <a:latin typeface="Cambria Math" panose="02040503050406030204" pitchFamily="18" charset="0"/>
                                            </a:rPr>
                                          </m:ctrlPr>
                                        </m:sSubPr>
                                        <m:e>
                                          <m:r>
                                            <a:rPr lang="en-US" sz="2600" b="0" i="1" smtClean="0">
                                              <a:latin typeface="Cambria Math" charset="0"/>
                                            </a:rPr>
                                            <m:t>𝐸</m:t>
                                          </m:r>
                                        </m:e>
                                        <m:sub>
                                          <m:r>
                                            <a:rPr lang="en-US" sz="2600" b="0" i="1" smtClean="0">
                                              <a:latin typeface="Cambria Math" charset="0"/>
                                            </a:rPr>
                                            <m:t>𝑔</m:t>
                                          </m:r>
                                        </m:sub>
                                      </m:sSub>
                                    </m:e>
                                  </m:d>
                                </m:e>
                                <m:sup>
                                  <m:r>
                                    <a:rPr lang="en-US" sz="2600" b="0" i="1" smtClean="0">
                                      <a:latin typeface="Cambria Math" charset="0"/>
                                    </a:rPr>
                                    <m:t>2</m:t>
                                  </m:r>
                                </m:sup>
                              </m:sSup>
                            </m:num>
                            <m:den>
                              <m:sSub>
                                <m:sSubPr>
                                  <m:ctrlPr>
                                    <a:rPr lang="en-US" sz="2600" b="0" i="1" smtClean="0">
                                      <a:latin typeface="Cambria Math" panose="02040503050406030204" pitchFamily="18" charset="0"/>
                                    </a:rPr>
                                  </m:ctrlPr>
                                </m:sSubPr>
                                <m:e>
                                  <m:r>
                                    <a:rPr lang="en-US" sz="2600" b="0" i="1" smtClean="0">
                                      <a:latin typeface="Cambria Math" charset="0"/>
                                    </a:rPr>
                                    <m:t>𝐸</m:t>
                                  </m:r>
                                </m:e>
                                <m:sub>
                                  <m:r>
                                    <a:rPr lang="en-US" sz="2600" b="0" i="1" smtClean="0">
                                      <a:latin typeface="Cambria Math" charset="0"/>
                                    </a:rPr>
                                    <m:t>𝑔</m:t>
                                  </m:r>
                                </m:sub>
                              </m:sSub>
                            </m:den>
                          </m:f>
                        </m:e>
                      </m:nary>
                    </m:oMath>
                  </m:oMathPara>
                </a14:m>
                <a:endParaRPr lang="en-US" sz="2600" dirty="0"/>
              </a:p>
            </p:txBody>
          </p:sp>
        </mc:Choice>
        <mc:Fallback xmlns="">
          <p:sp>
            <p:nvSpPr>
              <p:cNvPr id="4" name="TextBox 3"/>
              <p:cNvSpPr txBox="1">
                <a:spLocks noRot="1" noChangeAspect="1" noMove="1" noResize="1" noEditPoints="1" noAdjustHandles="1" noChangeArrowheads="1" noChangeShapeType="1" noTextEdit="1"/>
              </p:cNvSpPr>
              <p:nvPr/>
            </p:nvSpPr>
            <p:spPr>
              <a:xfrm>
                <a:off x="5680710" y="1893276"/>
                <a:ext cx="3120598" cy="1253805"/>
              </a:xfrm>
              <a:prstGeom prst="rect">
                <a:avLst/>
              </a:prstGeom>
              <a:blipFill rotWithShape="0">
                <a:blip r:embed="rId2"/>
                <a:stretch>
                  <a:fillRect/>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C324E0D7-F7AC-FE4A-AA37-CBD35715E861}" type="slidenum">
              <a:rPr lang="en-US" smtClean="0"/>
              <a:t>23</a:t>
            </a:fld>
            <a:endParaRPr lang="en-US"/>
          </a:p>
        </p:txBody>
      </p:sp>
    </p:spTree>
    <p:extLst>
      <p:ext uri="{BB962C8B-B14F-4D97-AF65-F5344CB8AC3E}">
        <p14:creationId xmlns:p14="http://schemas.microsoft.com/office/powerpoint/2010/main" val="40870224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cs typeface="Calibri"/>
              </a:rPr>
              <a:t>Quick Refresher on Significance Testing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514350" indent="-514350">
                  <a:buFont typeface="+mj-lt"/>
                  <a:buAutoNum type="arabicPeriod"/>
                </a:pPr>
                <a:r>
                  <a:rPr lang="en-US" sz="2400" dirty="0">
                    <a:latin typeface="Calibri"/>
                    <a:cs typeface="Calibri"/>
                  </a:rPr>
                  <a:t>You can’t do a test of significance without having:</a:t>
                </a:r>
              </a:p>
              <a:p>
                <a:pPr marL="914400" lvl="1" indent="-514350">
                  <a:buFont typeface="+mj-lt"/>
                  <a:buAutoNum type="alphaLcParenR"/>
                </a:pPr>
                <a:r>
                  <a:rPr lang="en-US" sz="2000" dirty="0">
                    <a:latin typeface="Calibri"/>
                    <a:cs typeface="Calibri"/>
                  </a:rPr>
                  <a:t>a test statistic, and</a:t>
                </a:r>
              </a:p>
              <a:p>
                <a:pPr marL="914400" lvl="1" indent="-514350">
                  <a:buFont typeface="+mj-lt"/>
                  <a:buAutoNum type="alphaLcParenR"/>
                </a:pPr>
                <a:r>
                  <a:rPr lang="en-US" sz="2000" dirty="0">
                    <a:latin typeface="Calibri"/>
                    <a:cs typeface="Calibri"/>
                  </a:rPr>
                  <a:t>a null hypothesis (</a:t>
                </a:r>
                <a14:m>
                  <m:oMath xmlns:m="http://schemas.openxmlformats.org/officeDocument/2006/math">
                    <m:sSub>
                      <m:sSubPr>
                        <m:ctrlPr>
                          <a:rPr lang="en-US" sz="2000" b="0" i="1" smtClean="0">
                            <a:latin typeface="Cambria Math" panose="02040503050406030204" pitchFamily="18" charset="0"/>
                            <a:cs typeface="Calibri"/>
                          </a:rPr>
                        </m:ctrlPr>
                      </m:sSubPr>
                      <m:e>
                        <m:r>
                          <a:rPr lang="en-US" sz="2000" b="0" i="1" smtClean="0">
                            <a:latin typeface="Cambria Math" charset="0"/>
                            <a:cs typeface="Calibri"/>
                          </a:rPr>
                          <m:t>𝐻</m:t>
                        </m:r>
                      </m:e>
                      <m:sub>
                        <m:r>
                          <a:rPr lang="en-US" sz="2000" b="0" i="1" smtClean="0">
                            <a:latin typeface="Cambria Math" charset="0"/>
                            <a:cs typeface="Calibri"/>
                          </a:rPr>
                          <m:t>0</m:t>
                        </m:r>
                      </m:sub>
                    </m:sSub>
                  </m:oMath>
                </a14:m>
                <a:r>
                  <a:rPr lang="en-US" sz="2000" dirty="0">
                    <a:latin typeface="Calibri"/>
                    <a:cs typeface="Calibri"/>
                  </a:rPr>
                  <a:t>) about the test statistic.</a:t>
                </a:r>
              </a:p>
              <a:p>
                <a:pPr marL="514350" indent="-514350">
                  <a:buFont typeface="+mj-lt"/>
                  <a:buAutoNum type="arabicPeriod"/>
                </a:pPr>
                <a:r>
                  <a:rPr lang="en-US" sz="2400" dirty="0">
                    <a:latin typeface="Calibri"/>
                    <a:cs typeface="Calibri"/>
                  </a:rPr>
                  <a:t>Then we ask what the distribution of the test statistic would look like if </a:t>
                </a:r>
                <a14:m>
                  <m:oMath xmlns:m="http://schemas.openxmlformats.org/officeDocument/2006/math">
                    <m:sSub>
                      <m:sSubPr>
                        <m:ctrlPr>
                          <a:rPr lang="en-US" sz="2400" b="0" i="1" smtClean="0">
                            <a:latin typeface="Cambria Math" panose="02040503050406030204" pitchFamily="18" charset="0"/>
                            <a:cs typeface="Calibri"/>
                          </a:rPr>
                        </m:ctrlPr>
                      </m:sSubPr>
                      <m:e>
                        <m:r>
                          <a:rPr lang="en-US" sz="2400" b="0" i="1" smtClean="0">
                            <a:latin typeface="Cambria Math" charset="0"/>
                            <a:cs typeface="Calibri"/>
                          </a:rPr>
                          <m:t>𝐻</m:t>
                        </m:r>
                      </m:e>
                      <m:sub>
                        <m:r>
                          <a:rPr lang="en-US" sz="2400" b="0" i="1" smtClean="0">
                            <a:latin typeface="Cambria Math" charset="0"/>
                            <a:cs typeface="Calibri"/>
                          </a:rPr>
                          <m:t>0</m:t>
                        </m:r>
                      </m:sub>
                    </m:sSub>
                  </m:oMath>
                </a14:m>
                <a:r>
                  <a:rPr lang="en-US" sz="2400" dirty="0">
                    <a:latin typeface="Calibri"/>
                    <a:cs typeface="Calibri"/>
                  </a:rPr>
                  <a:t> were true and we repeated the same chance process over and over…</a:t>
                </a:r>
              </a:p>
              <a:p>
                <a:pPr marL="514350" indent="-514350">
                  <a:buFont typeface="+mj-lt"/>
                  <a:buAutoNum type="arabicPeriod"/>
                </a:pPr>
                <a:r>
                  <a:rPr lang="en-US" sz="2400" dirty="0">
                    <a:latin typeface="Calibri"/>
                    <a:cs typeface="Calibri"/>
                  </a:rPr>
                  <a:t>Two criteria of interest: Type I and II errors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28" t="-2101"/>
                </a:stretch>
              </a:blipFill>
            </p:spPr>
            <p:txBody>
              <a:bodyPr/>
              <a:lstStyle/>
              <a:p>
                <a:r>
                  <a:rPr lang="en-US">
                    <a:noFill/>
                  </a:rPr>
                  <a:t> </a:t>
                </a:r>
              </a:p>
            </p:txBody>
          </p:sp>
        </mc:Fallback>
      </mc:AlternateContent>
      <p:pic>
        <p:nvPicPr>
          <p:cNvPr id="115714" name="Picture 2"/>
          <p:cNvPicPr>
            <a:picLocks noChangeAspect="1" noChangeArrowheads="1"/>
          </p:cNvPicPr>
          <p:nvPr/>
        </p:nvPicPr>
        <p:blipFill>
          <a:blip r:embed="rId3"/>
          <a:srcRect/>
          <a:stretch>
            <a:fillRect/>
          </a:stretch>
        </p:blipFill>
        <p:spPr bwMode="auto">
          <a:xfrm>
            <a:off x="3168616" y="4167477"/>
            <a:ext cx="4605460" cy="2446562"/>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C324E0D7-F7AC-FE4A-AA37-CBD35715E861}" type="slidenum">
              <a:rPr lang="en-US" smtClean="0"/>
              <a:t>24</a:t>
            </a:fld>
            <a:endParaRPr lang="en-US"/>
          </a:p>
        </p:txBody>
      </p:sp>
    </p:spTree>
    <p:extLst>
      <p:ext uri="{BB962C8B-B14F-4D97-AF65-F5344CB8AC3E}">
        <p14:creationId xmlns:p14="http://schemas.microsoft.com/office/powerpoint/2010/main" val="2177721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Calibri" charset="0"/>
                <a:cs typeface="Calibri" charset="0"/>
              </a:rPr>
              <a:t>Significance Testing for Item Fit</a:t>
            </a:r>
          </a:p>
        </p:txBody>
      </p:sp>
      <p:sp>
        <p:nvSpPr>
          <p:cNvPr id="3" name="Text Placeholder 2"/>
          <p:cNvSpPr>
            <a:spLocks noGrp="1"/>
          </p:cNvSpPr>
          <p:nvPr>
            <p:ph type="body" idx="1"/>
          </p:nvPr>
        </p:nvSpPr>
        <p:spPr/>
        <p:txBody>
          <a:bodyPr/>
          <a:lstStyle/>
          <a:p>
            <a:r>
              <a:rPr lang="en-US" dirty="0">
                <a:latin typeface="Calibri" charset="0"/>
                <a:ea typeface="Calibri" charset="0"/>
                <a:cs typeface="Calibri" charset="0"/>
              </a:rPr>
              <a:t>Between </a:t>
            </a:r>
            <a:r>
              <a:rPr lang="en-US">
                <a:latin typeface="Calibri" charset="0"/>
                <a:ea typeface="Calibri" charset="0"/>
                <a:cs typeface="Calibri" charset="0"/>
              </a:rPr>
              <a:t>Group</a:t>
            </a:r>
            <a:r>
              <a:rPr lang="en-US" dirty="0">
                <a:latin typeface="Calibri" charset="0"/>
                <a:ea typeface="Calibri" charset="0"/>
                <a:cs typeface="Calibri" charset="0"/>
              </a:rPr>
              <a:t> Approach</a:t>
            </a:r>
          </a:p>
        </p:txBody>
      </p:sp>
      <mc:AlternateContent xmlns:mc="http://schemas.openxmlformats.org/markup-compatibility/2006" xmlns:a14="http://schemas.microsoft.com/office/drawing/2010/main">
        <mc:Choice Requires="a14">
          <p:sp>
            <p:nvSpPr>
              <p:cNvPr id="4" name="Content Placeholder 3"/>
              <p:cNvSpPr>
                <a:spLocks noGrp="1"/>
              </p:cNvSpPr>
              <p:nvPr>
                <p:ph sz="half" idx="2"/>
              </p:nvPr>
            </p:nvSpPr>
            <p:spPr/>
            <p:txBody>
              <a:bodyPr/>
              <a:lstStyle/>
              <a:p>
                <a:r>
                  <a:rPr lang="en-US" dirty="0">
                    <a:latin typeface="Calibri" charset="0"/>
                    <a:ea typeface="Calibri" charset="0"/>
                    <a:cs typeface="Calibri" charset="0"/>
                  </a:rPr>
                  <a:t>The basic idea:</a:t>
                </a:r>
              </a:p>
              <a:p>
                <a:pPr lvl="1"/>
                <a:r>
                  <a:rPr lang="en-US" sz="1800" dirty="0">
                    <a:latin typeface="Calibri" charset="0"/>
                    <a:ea typeface="Calibri" charset="0"/>
                    <a:cs typeface="Calibri" charset="0"/>
                  </a:rPr>
                  <a:t>Divide up respondents into score group “bins” of equal sizes.</a:t>
                </a:r>
              </a:p>
              <a:p>
                <a:pPr lvl="1"/>
                <a14:m>
                  <m:oMath xmlns:m="http://schemas.openxmlformats.org/officeDocument/2006/math">
                    <m:sSub>
                      <m:sSubPr>
                        <m:ctrlPr>
                          <a:rPr lang="en-US" sz="1800" b="1" i="1" smtClean="0">
                            <a:latin typeface="Cambria Math" panose="02040503050406030204" pitchFamily="18" charset="0"/>
                            <a:ea typeface="Calibri" charset="0"/>
                            <a:cs typeface="Calibri" charset="0"/>
                          </a:rPr>
                        </m:ctrlPr>
                      </m:sSubPr>
                      <m:e>
                        <m:r>
                          <a:rPr lang="en-US" sz="1800" b="1" i="1" smtClean="0">
                            <a:latin typeface="Cambria Math" charset="0"/>
                            <a:ea typeface="Calibri" charset="0"/>
                            <a:cs typeface="Calibri" charset="0"/>
                          </a:rPr>
                          <m:t>𝑯</m:t>
                        </m:r>
                      </m:e>
                      <m:sub>
                        <m:r>
                          <a:rPr lang="en-US" sz="1800" b="1" i="1" smtClean="0">
                            <a:latin typeface="Cambria Math" charset="0"/>
                            <a:ea typeface="Calibri" charset="0"/>
                            <a:cs typeface="Calibri" charset="0"/>
                          </a:rPr>
                          <m:t>𝟎</m:t>
                        </m:r>
                      </m:sub>
                    </m:sSub>
                  </m:oMath>
                </a14:m>
                <a:r>
                  <a:rPr lang="en-US" sz="1800" b="1" dirty="0">
                    <a:latin typeface="Calibri" charset="0"/>
                    <a:ea typeface="Calibri" charset="0"/>
                    <a:cs typeface="Calibri" charset="0"/>
                  </a:rPr>
                  <a:t>: Expected Responses are determined by IRFs.</a:t>
                </a:r>
              </a:p>
              <a:p>
                <a:pPr lvl="1"/>
                <a:r>
                  <a:rPr lang="en-US" sz="1800" dirty="0">
                    <a:latin typeface="Calibri" charset="0"/>
                    <a:ea typeface="Calibri" charset="0"/>
                    <a:cs typeface="Calibri" charset="0"/>
                  </a:rPr>
                  <a:t>Compare expected to observed response frequencies.</a:t>
                </a:r>
              </a:p>
              <a:p>
                <a:pPr lvl="1"/>
                <a:r>
                  <a:rPr lang="en-US" sz="1800" b="1" dirty="0">
                    <a:latin typeface="Calibri" charset="0"/>
                    <a:ea typeface="Calibri" charset="0"/>
                    <a:cs typeface="Calibri" charset="0"/>
                  </a:rPr>
                  <a:t>If Chi-Square statistic is big, reject null—unlikely that observed responses were generated from this IRF under the null.</a:t>
                </a:r>
              </a:p>
              <a:p>
                <a:pPr>
                  <a:buNone/>
                </a:pPr>
                <a:endParaRPr lang="en-US" dirty="0"/>
              </a:p>
              <a:p>
                <a:pPr lvl="1"/>
                <a:endParaRPr lang="en-US" dirty="0"/>
              </a:p>
              <a:p>
                <a:pPr lvl="1"/>
                <a:endParaRPr lang="en-US" dirty="0"/>
              </a:p>
              <a:p>
                <a:pPr lvl="1"/>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half" idx="2"/>
              </p:nvPr>
            </p:nvSpPr>
            <p:spPr>
              <a:blipFill rotWithShape="0">
                <a:blip r:embed="rId2"/>
                <a:stretch>
                  <a:fillRect l="-2128" t="-2815" r="-1773"/>
                </a:stretch>
              </a:blipFill>
            </p:spPr>
            <p:txBody>
              <a:bodyPr/>
              <a:lstStyle/>
              <a:p>
                <a:r>
                  <a:rPr lang="en-US">
                    <a:noFill/>
                  </a:rPr>
                  <a:t> </a:t>
                </a:r>
              </a:p>
            </p:txBody>
          </p:sp>
        </mc:Fallback>
      </mc:AlternateContent>
      <p:sp>
        <p:nvSpPr>
          <p:cNvPr id="5" name="Text Placeholder 4"/>
          <p:cNvSpPr>
            <a:spLocks noGrp="1"/>
          </p:cNvSpPr>
          <p:nvPr>
            <p:ph type="body" sz="quarter" idx="3"/>
          </p:nvPr>
        </p:nvSpPr>
        <p:spPr/>
        <p:txBody>
          <a:bodyPr/>
          <a:lstStyle/>
          <a:p>
            <a:r>
              <a:rPr lang="en-US" dirty="0">
                <a:latin typeface="Calibri" charset="0"/>
                <a:ea typeface="Calibri" charset="0"/>
                <a:cs typeface="Calibri" charset="0"/>
              </a:rPr>
              <a:t>Standardized Residual</a:t>
            </a:r>
          </a:p>
        </p:txBody>
      </p:sp>
      <p:sp>
        <p:nvSpPr>
          <p:cNvPr id="6" name="Content Placeholder 5"/>
          <p:cNvSpPr>
            <a:spLocks noGrp="1"/>
          </p:cNvSpPr>
          <p:nvPr>
            <p:ph sz="quarter" idx="4"/>
          </p:nvPr>
        </p:nvSpPr>
        <p:spPr/>
        <p:txBody>
          <a:bodyPr>
            <a:normAutofit/>
          </a:bodyPr>
          <a:lstStyle/>
          <a:p>
            <a:r>
              <a:rPr lang="en-US" dirty="0">
                <a:latin typeface="Calibri" charset="0"/>
                <a:ea typeface="Calibri" charset="0"/>
                <a:cs typeface="Calibri" charset="0"/>
              </a:rPr>
              <a:t>The basic idea</a:t>
            </a:r>
          </a:p>
          <a:p>
            <a:pPr lvl="1"/>
            <a:r>
              <a:rPr lang="en-US" sz="1800" dirty="0">
                <a:latin typeface="Calibri" charset="0"/>
                <a:ea typeface="Calibri" charset="0"/>
                <a:cs typeface="Calibri" charset="0"/>
              </a:rPr>
              <a:t>For each item by respondent (or respondent at same score level) combination, compare expected to observed.</a:t>
            </a:r>
          </a:p>
          <a:p>
            <a:pPr lvl="1"/>
            <a:r>
              <a:rPr lang="en-US" sz="1800" dirty="0">
                <a:latin typeface="Calibri" charset="0"/>
                <a:ea typeface="Calibri" charset="0"/>
                <a:cs typeface="Calibri" charset="0"/>
              </a:rPr>
              <a:t>Standardize these residuals such that they have normal distribution if model fits.</a:t>
            </a:r>
          </a:p>
          <a:p>
            <a:pPr lvl="1"/>
            <a:r>
              <a:rPr lang="en-US" sz="1800" dirty="0">
                <a:latin typeface="Calibri" charset="0"/>
                <a:ea typeface="Calibri" charset="0"/>
                <a:cs typeface="Calibri" charset="0"/>
              </a:rPr>
              <a:t>Basis for the “</a:t>
            </a:r>
            <a:r>
              <a:rPr lang="en-US" sz="1800" dirty="0" err="1">
                <a:latin typeface="Calibri" charset="0"/>
                <a:ea typeface="Calibri" charset="0"/>
                <a:cs typeface="Calibri" charset="0"/>
              </a:rPr>
              <a:t>infit</a:t>
            </a:r>
            <a:r>
              <a:rPr lang="en-US" sz="1800" dirty="0">
                <a:latin typeface="Calibri" charset="0"/>
                <a:ea typeface="Calibri" charset="0"/>
                <a:cs typeface="Calibri" charset="0"/>
              </a:rPr>
              <a:t>” and “outfit” </a:t>
            </a:r>
            <a:r>
              <a:rPr lang="en-US" sz="1800" dirty="0" err="1">
                <a:latin typeface="Calibri" charset="0"/>
                <a:ea typeface="Calibri" charset="0"/>
                <a:cs typeface="Calibri" charset="0"/>
              </a:rPr>
              <a:t>Rasch</a:t>
            </a:r>
            <a:r>
              <a:rPr lang="en-US" sz="1800" dirty="0">
                <a:latin typeface="Calibri" charset="0"/>
                <a:ea typeface="Calibri" charset="0"/>
                <a:cs typeface="Calibri" charset="0"/>
              </a:rPr>
              <a:t> model fit statistics.</a:t>
            </a:r>
          </a:p>
        </p:txBody>
      </p:sp>
      <p:sp>
        <p:nvSpPr>
          <p:cNvPr id="8" name="Slide Number Placeholder 7"/>
          <p:cNvSpPr>
            <a:spLocks noGrp="1"/>
          </p:cNvSpPr>
          <p:nvPr>
            <p:ph type="sldNum" sz="quarter" idx="12"/>
          </p:nvPr>
        </p:nvSpPr>
        <p:spPr/>
        <p:txBody>
          <a:bodyPr/>
          <a:lstStyle/>
          <a:p>
            <a:fld id="{C324E0D7-F7AC-FE4A-AA37-CBD35715E861}" type="slidenum">
              <a:rPr lang="en-US" smtClean="0"/>
              <a:t>25</a:t>
            </a:fld>
            <a:endParaRPr lang="en-US"/>
          </a:p>
        </p:txBody>
      </p:sp>
    </p:spTree>
    <p:extLst>
      <p:ext uri="{BB962C8B-B14F-4D97-AF65-F5344CB8AC3E}">
        <p14:creationId xmlns:p14="http://schemas.microsoft.com/office/powerpoint/2010/main" val="3197283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ea typeface="Calibri" charset="0"/>
                <a:cs typeface="Calibri" charset="0"/>
              </a:rPr>
              <a:t>Yen’s “Q1” Item Fit Statistic</a:t>
            </a:r>
          </a:p>
        </p:txBody>
      </p:sp>
      <p:sp>
        <p:nvSpPr>
          <p:cNvPr id="8" name="TextBox 7"/>
          <p:cNvSpPr txBox="1"/>
          <p:nvPr/>
        </p:nvSpPr>
        <p:spPr>
          <a:xfrm>
            <a:off x="838200" y="3323588"/>
            <a:ext cx="10515600" cy="3477875"/>
          </a:xfrm>
          <a:prstGeom prst="rect">
            <a:avLst/>
          </a:prstGeom>
          <a:noFill/>
        </p:spPr>
        <p:txBody>
          <a:bodyPr wrap="square" rtlCol="0">
            <a:spAutoFit/>
          </a:bodyPr>
          <a:lstStyle/>
          <a:p>
            <a:pPr marL="342900" indent="-342900">
              <a:buFont typeface="+mj-lt"/>
              <a:buAutoNum type="arabicPeriod"/>
            </a:pPr>
            <a:r>
              <a:rPr lang="en-US" sz="2000" dirty="0">
                <a:latin typeface="Calibri" charset="0"/>
                <a:ea typeface="Calibri" charset="0"/>
                <a:cs typeface="Calibri" charset="0"/>
              </a:rPr>
              <a:t>Known as a “Pearsonian” goodness-of-fit statistic</a:t>
            </a:r>
          </a:p>
          <a:p>
            <a:pPr marL="342900" indent="-342900">
              <a:buFont typeface="+mj-lt"/>
              <a:buAutoNum type="arabicPeriod"/>
            </a:pPr>
            <a:r>
              <a:rPr lang="en-US" sz="2000" dirty="0">
                <a:latin typeface="Calibri" charset="0"/>
                <a:ea typeface="Calibri" charset="0"/>
                <a:cs typeface="Calibri" charset="0"/>
              </a:rPr>
              <a:t>For each item break the estimated theta distribution into 10 equally sized groups. Take the mean of theta as average ability in each group and use to compute E.</a:t>
            </a:r>
          </a:p>
          <a:p>
            <a:pPr marL="342900" indent="-342900">
              <a:buFont typeface="+mj-lt"/>
              <a:buAutoNum type="arabicPeriod"/>
            </a:pPr>
            <a:r>
              <a:rPr lang="en-US" sz="2000" dirty="0">
                <a:latin typeface="Calibri" charset="0"/>
                <a:ea typeface="Calibri" charset="0"/>
                <a:cs typeface="Calibri" charset="0"/>
              </a:rPr>
              <a:t>Compare expected to observed frequency of responses in two categories (item correct, item incorrect).</a:t>
            </a:r>
          </a:p>
          <a:p>
            <a:pPr marL="342900" indent="-342900">
              <a:buFont typeface="+mj-lt"/>
              <a:buAutoNum type="arabicPeriod"/>
            </a:pPr>
            <a:r>
              <a:rPr lang="en-US" sz="2000" dirty="0">
                <a:latin typeface="Calibri" charset="0"/>
                <a:ea typeface="Calibri" charset="0"/>
                <a:cs typeface="Calibri" charset="0"/>
              </a:rPr>
              <a:t>Sum should have Chi-Square distribution with 10 – m degrees of freedom (where m = number of item parameters in IRF, usual 1, 2, or 3).</a:t>
            </a:r>
          </a:p>
          <a:p>
            <a:endParaRPr lang="en-US" sz="2000" dirty="0">
              <a:latin typeface="Calibri" charset="0"/>
              <a:ea typeface="Calibri" charset="0"/>
              <a:cs typeface="Calibri" charset="0"/>
            </a:endParaRPr>
          </a:p>
          <a:p>
            <a:r>
              <a:rPr lang="en-US" sz="2000" dirty="0">
                <a:latin typeface="Calibri" charset="0"/>
                <a:ea typeface="Calibri" charset="0"/>
                <a:cs typeface="Calibri" charset="0"/>
              </a:rPr>
              <a:t>Notes: can use different number of groups or median instead of mean, but then it is not technically the “Q1” statistic; sometimes there are not enough observations in one of k categories, and one gets dropped. </a:t>
            </a:r>
          </a:p>
        </p:txBody>
      </p:sp>
      <mc:AlternateContent xmlns:mc="http://schemas.openxmlformats.org/markup-compatibility/2006" xmlns:a14="http://schemas.microsoft.com/office/drawing/2010/main">
        <mc:Choice Requires="a14">
          <p:sp>
            <p:nvSpPr>
              <p:cNvPr id="5" name="TextBox 4"/>
              <p:cNvSpPr txBox="1"/>
              <p:nvPr/>
            </p:nvSpPr>
            <p:spPr>
              <a:xfrm>
                <a:off x="838200" y="1690688"/>
                <a:ext cx="4374211" cy="130362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charset="0"/>
                            </a:rPr>
                            <m:t>𝑄</m:t>
                          </m:r>
                        </m:e>
                        <m:sub>
                          <m:r>
                            <a:rPr lang="en-US" sz="2800" b="0" i="1" smtClean="0">
                              <a:latin typeface="Cambria Math" charset="0"/>
                            </a:rPr>
                            <m:t>1</m:t>
                          </m:r>
                          <m:r>
                            <a:rPr lang="en-US" sz="2800" b="0" i="1" smtClean="0">
                              <a:latin typeface="Cambria Math" charset="0"/>
                            </a:rPr>
                            <m:t>𝑖</m:t>
                          </m:r>
                        </m:sub>
                      </m:sSub>
                      <m:r>
                        <a:rPr lang="en-US" sz="2800" b="0" i="1" smtClean="0">
                          <a:latin typeface="Cambria Math" charset="0"/>
                        </a:rPr>
                        <m:t>=</m:t>
                      </m:r>
                      <m:nary>
                        <m:naryPr>
                          <m:chr m:val="∑"/>
                          <m:ctrlPr>
                            <a:rPr lang="is-IS" sz="2800" b="0" i="1" smtClean="0">
                              <a:latin typeface="Cambria Math" panose="02040503050406030204" pitchFamily="18" charset="0"/>
                            </a:rPr>
                          </m:ctrlPr>
                        </m:naryPr>
                        <m:sub>
                          <m:r>
                            <m:rPr>
                              <m:brk m:alnAt="23"/>
                            </m:rPr>
                            <a:rPr lang="en-US" sz="2800" b="0" i="1" smtClean="0">
                              <a:latin typeface="Cambria Math" charset="0"/>
                            </a:rPr>
                            <m:t>𝑘</m:t>
                          </m:r>
                          <m:r>
                            <a:rPr lang="en-US" sz="2800" b="0" i="1" smtClean="0">
                              <a:latin typeface="Cambria Math" charset="0"/>
                            </a:rPr>
                            <m:t>=1</m:t>
                          </m:r>
                        </m:sub>
                        <m:sup>
                          <m:r>
                            <a:rPr lang="en-US" sz="2800" b="0" i="1" smtClean="0">
                              <a:latin typeface="Cambria Math" charset="0"/>
                            </a:rPr>
                            <m:t>10</m:t>
                          </m:r>
                        </m:sup>
                        <m:e>
                          <m:f>
                            <m:fPr>
                              <m:ctrlPr>
                                <a:rPr lang="en-US" sz="2800" b="0" i="1" smtClean="0">
                                  <a:latin typeface="Cambria Math" panose="02040503050406030204" pitchFamily="18" charset="0"/>
                                </a:rPr>
                              </m:ctrlPr>
                            </m:fPr>
                            <m:num>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charset="0"/>
                                        </a:rPr>
                                        <m:t>𝑁</m:t>
                                      </m:r>
                                    </m:e>
                                    <m:sub>
                                      <m:r>
                                        <a:rPr lang="en-US" sz="2800" b="0" i="1" smtClean="0">
                                          <a:latin typeface="Cambria Math" charset="0"/>
                                        </a:rPr>
                                        <m:t>𝑘</m:t>
                                      </m:r>
                                    </m:sub>
                                  </m:sSub>
                                  <m:sSup>
                                    <m:sSupPr>
                                      <m:ctrlPr>
                                        <a:rPr lang="en-US" sz="2800" b="0" i="1" smtClean="0">
                                          <a:latin typeface="Cambria Math" panose="02040503050406030204" pitchFamily="18" charset="0"/>
                                        </a:rPr>
                                      </m:ctrlPr>
                                    </m:sSupPr>
                                    <m:e>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charset="0"/>
                                                </a:rPr>
                                                <m:t>𝑂</m:t>
                                              </m:r>
                                            </m:e>
                                            <m:sub>
                                              <m:r>
                                                <a:rPr lang="en-US" sz="2800" b="0" i="1" smtClean="0">
                                                  <a:latin typeface="Cambria Math" charset="0"/>
                                                </a:rPr>
                                                <m:t>𝑖𝑘</m:t>
                                              </m:r>
                                            </m:sub>
                                          </m:sSub>
                                          <m:r>
                                            <a:rPr lang="en-US" sz="2800" b="0" i="1" smtClean="0">
                                              <a:latin typeface="Cambria Math" charset="0"/>
                                            </a:rPr>
                                            <m:t>−</m:t>
                                          </m:r>
                                          <m:sSub>
                                            <m:sSubPr>
                                              <m:ctrlPr>
                                                <a:rPr lang="en-US" sz="2800" b="0" i="1" smtClean="0">
                                                  <a:latin typeface="Cambria Math" panose="02040503050406030204" pitchFamily="18" charset="0"/>
                                                </a:rPr>
                                              </m:ctrlPr>
                                            </m:sSubPr>
                                            <m:e>
                                              <m:r>
                                                <a:rPr lang="en-US" sz="2800" b="0" i="1" smtClean="0">
                                                  <a:latin typeface="Cambria Math" charset="0"/>
                                                </a:rPr>
                                                <m:t>𝐸</m:t>
                                              </m:r>
                                            </m:e>
                                            <m:sub>
                                              <m:r>
                                                <a:rPr lang="en-US" sz="2800" b="0" i="1" smtClean="0">
                                                  <a:latin typeface="Cambria Math" charset="0"/>
                                                </a:rPr>
                                                <m:t>𝑖𝑘</m:t>
                                              </m:r>
                                            </m:sub>
                                          </m:sSub>
                                        </m:e>
                                      </m:d>
                                    </m:e>
                                    <m:sup>
                                      <m:r>
                                        <a:rPr lang="en-US" sz="2800" b="0" i="1" smtClean="0">
                                          <a:latin typeface="Cambria Math" charset="0"/>
                                        </a:rPr>
                                        <m:t>2</m:t>
                                      </m:r>
                                    </m:sup>
                                  </m:sSup>
                                </m:e>
                              </m:d>
                            </m:num>
                            <m:den>
                              <m:sSub>
                                <m:sSubPr>
                                  <m:ctrlPr>
                                    <a:rPr lang="en-US" sz="2800" b="0" i="1" smtClean="0">
                                      <a:latin typeface="Cambria Math" panose="02040503050406030204" pitchFamily="18" charset="0"/>
                                    </a:rPr>
                                  </m:ctrlPr>
                                </m:sSubPr>
                                <m:e>
                                  <m:r>
                                    <a:rPr lang="en-US" sz="2800" b="0" i="1" smtClean="0">
                                      <a:latin typeface="Cambria Math" charset="0"/>
                                    </a:rPr>
                                    <m:t>𝐸</m:t>
                                  </m:r>
                                </m:e>
                                <m:sub>
                                  <m:r>
                                    <a:rPr lang="en-US" sz="2800" b="0" i="1" smtClean="0">
                                      <a:latin typeface="Cambria Math" charset="0"/>
                                    </a:rPr>
                                    <m:t>𝑖𝑘</m:t>
                                  </m:r>
                                </m:sub>
                              </m:sSub>
                              <m:d>
                                <m:dPr>
                                  <m:ctrlPr>
                                    <a:rPr lang="en-US" sz="2800" b="0" i="1" smtClean="0">
                                      <a:latin typeface="Cambria Math" panose="02040503050406030204" pitchFamily="18" charset="0"/>
                                    </a:rPr>
                                  </m:ctrlPr>
                                </m:dPr>
                                <m:e>
                                  <m:r>
                                    <a:rPr lang="en-US" sz="2800" b="0" i="1" smtClean="0">
                                      <a:latin typeface="Cambria Math" charset="0"/>
                                    </a:rPr>
                                    <m:t>1−</m:t>
                                  </m:r>
                                  <m:sSub>
                                    <m:sSubPr>
                                      <m:ctrlPr>
                                        <a:rPr lang="en-US" sz="2800" b="0" i="1" smtClean="0">
                                          <a:latin typeface="Cambria Math" panose="02040503050406030204" pitchFamily="18" charset="0"/>
                                        </a:rPr>
                                      </m:ctrlPr>
                                    </m:sSubPr>
                                    <m:e>
                                      <m:r>
                                        <a:rPr lang="en-US" sz="2800" b="0" i="1" smtClean="0">
                                          <a:latin typeface="Cambria Math" charset="0"/>
                                        </a:rPr>
                                        <m:t>𝐸</m:t>
                                      </m:r>
                                    </m:e>
                                    <m:sub>
                                      <m:r>
                                        <a:rPr lang="en-US" sz="2800" b="0" i="1" smtClean="0">
                                          <a:latin typeface="Cambria Math" charset="0"/>
                                        </a:rPr>
                                        <m:t>𝑖𝑘</m:t>
                                      </m:r>
                                    </m:sub>
                                  </m:sSub>
                                </m:e>
                              </m:d>
                            </m:den>
                          </m:f>
                        </m:e>
                      </m:nary>
                    </m:oMath>
                  </m:oMathPara>
                </a14:m>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838200" y="1690688"/>
                <a:ext cx="4374211" cy="130362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7349923" y="1281297"/>
                <a:ext cx="4456254" cy="1477328"/>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𝑁</m:t>
                        </m:r>
                      </m:e>
                      <m:sub>
                        <m:r>
                          <a:rPr lang="en-US" b="0" i="1" smtClean="0">
                            <a:latin typeface="Cambria Math" charset="0"/>
                          </a:rPr>
                          <m:t>𝑘</m:t>
                        </m:r>
                      </m:sub>
                    </m:sSub>
                  </m:oMath>
                </a14:m>
                <a:r>
                  <a:rPr lang="en-US" dirty="0"/>
                  <a:t>: number of people in score group k.</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𝐸</m:t>
                        </m:r>
                      </m:e>
                      <m:sub>
                        <m:r>
                          <a:rPr lang="en-US" b="0" i="1" smtClean="0">
                            <a:latin typeface="Cambria Math" charset="0"/>
                          </a:rPr>
                          <m:t>𝑖𝑘</m:t>
                        </m:r>
                      </m:sub>
                    </m:sSub>
                  </m:oMath>
                </a14:m>
                <a:r>
                  <a:rPr lang="en-US" dirty="0"/>
                  <a:t>: number of people we would expect to answer item I correctly based on mean theta in group k.</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𝑂</m:t>
                        </m:r>
                      </m:e>
                      <m:sub>
                        <m:r>
                          <a:rPr lang="en-US" b="0" i="1" smtClean="0">
                            <a:latin typeface="Cambria Math" charset="0"/>
                          </a:rPr>
                          <m:t>𝑖𝑘</m:t>
                        </m:r>
                      </m:sub>
                    </m:sSub>
                  </m:oMath>
                </a14:m>
                <a:r>
                  <a:rPr lang="en-US" dirty="0"/>
                  <a:t>: observed number of correct responses.</a:t>
                </a:r>
              </a:p>
            </p:txBody>
          </p:sp>
        </mc:Choice>
        <mc:Fallback xmlns="">
          <p:sp>
            <p:nvSpPr>
              <p:cNvPr id="6" name="TextBox 5"/>
              <p:cNvSpPr txBox="1">
                <a:spLocks noRot="1" noChangeAspect="1" noMove="1" noResize="1" noEditPoints="1" noAdjustHandles="1" noChangeArrowheads="1" noChangeShapeType="1" noTextEdit="1"/>
              </p:cNvSpPr>
              <p:nvPr/>
            </p:nvSpPr>
            <p:spPr>
              <a:xfrm>
                <a:off x="7349923" y="1281297"/>
                <a:ext cx="4456254" cy="1477328"/>
              </a:xfrm>
              <a:prstGeom prst="rect">
                <a:avLst/>
              </a:prstGeom>
              <a:blipFill rotWithShape="0">
                <a:blip r:embed="rId4"/>
                <a:stretch>
                  <a:fillRect l="-1231" t="-2058" b="-5350"/>
                </a:stretch>
              </a:blipFill>
            </p:spPr>
            <p:txBody>
              <a:bodyPr/>
              <a:lstStyle/>
              <a:p>
                <a:r>
                  <a:rPr lang="en-US">
                    <a:noFill/>
                  </a:rPr>
                  <a:t> </a:t>
                </a:r>
              </a:p>
            </p:txBody>
          </p:sp>
        </mc:Fallback>
      </mc:AlternateContent>
      <p:sp>
        <p:nvSpPr>
          <p:cNvPr id="7" name="Slide Number Placeholder 6"/>
          <p:cNvSpPr>
            <a:spLocks noGrp="1"/>
          </p:cNvSpPr>
          <p:nvPr>
            <p:ph type="sldNum" sz="quarter" idx="12"/>
          </p:nvPr>
        </p:nvSpPr>
        <p:spPr/>
        <p:txBody>
          <a:bodyPr/>
          <a:lstStyle/>
          <a:p>
            <a:fld id="{C324E0D7-F7AC-FE4A-AA37-CBD35715E861}" type="slidenum">
              <a:rPr lang="en-US" smtClean="0"/>
              <a:t>26</a:t>
            </a:fld>
            <a:endParaRPr lang="en-US"/>
          </a:p>
        </p:txBody>
      </p:sp>
    </p:spTree>
    <p:extLst>
      <p:ext uri="{BB962C8B-B14F-4D97-AF65-F5344CB8AC3E}">
        <p14:creationId xmlns:p14="http://schemas.microsoft.com/office/powerpoint/2010/main" val="1590238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375064" y="306107"/>
            <a:ext cx="4667250" cy="8765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ea typeface="Calibri" charset="0"/>
                <a:cs typeface="Calibri" charset="0"/>
              </a:rPr>
              <a:t>p-values from </a:t>
            </a:r>
            <a:r>
              <a:rPr lang="en-US" dirty="0" err="1">
                <a:ea typeface="Calibri" charset="0"/>
                <a:cs typeface="Calibri" charset="0"/>
              </a:rPr>
              <a:t>mirt</a:t>
            </a:r>
            <a:r>
              <a:rPr lang="en-US" dirty="0">
                <a:ea typeface="Calibri" charset="0"/>
                <a:cs typeface="Calibri" charset="0"/>
              </a:rPr>
              <a:t>()</a:t>
            </a:r>
          </a:p>
        </p:txBody>
      </p:sp>
      <p:sp>
        <p:nvSpPr>
          <p:cNvPr id="7" name="TextBox 6"/>
          <p:cNvSpPr txBox="1"/>
          <p:nvPr/>
        </p:nvSpPr>
        <p:spPr>
          <a:xfrm>
            <a:off x="4375064" y="2771465"/>
            <a:ext cx="6863955" cy="3416320"/>
          </a:xfrm>
          <a:prstGeom prst="rect">
            <a:avLst/>
          </a:prstGeom>
          <a:noFill/>
        </p:spPr>
        <p:txBody>
          <a:bodyPr wrap="square" rtlCol="0">
            <a:spAutoFit/>
          </a:bodyPr>
          <a:lstStyle/>
          <a:p>
            <a:r>
              <a:rPr lang="en-US" dirty="0">
                <a:latin typeface="Calibri" charset="0"/>
                <a:ea typeface="Calibri" charset="0"/>
                <a:cs typeface="Calibri" charset="0"/>
              </a:rPr>
              <a:t>Highlighted items are ones we would flag as potentially </a:t>
            </a:r>
            <a:r>
              <a:rPr lang="en-US" dirty="0" err="1">
                <a:latin typeface="Calibri" charset="0"/>
                <a:ea typeface="Calibri" charset="0"/>
                <a:cs typeface="Calibri" charset="0"/>
              </a:rPr>
              <a:t>misfitting</a:t>
            </a:r>
            <a:r>
              <a:rPr lang="en-US" dirty="0">
                <a:latin typeface="Calibri" charset="0"/>
                <a:ea typeface="Calibri" charset="0"/>
                <a:cs typeface="Calibri" charset="0"/>
              </a:rPr>
              <a:t>. Note that many misfit all three models! e.g. 12, 16, 20.</a:t>
            </a:r>
          </a:p>
          <a:p>
            <a:endParaRPr lang="en-US" dirty="0">
              <a:latin typeface="Calibri" charset="0"/>
              <a:ea typeface="Calibri" charset="0"/>
              <a:cs typeface="Calibri" charset="0"/>
            </a:endParaRPr>
          </a:p>
          <a:p>
            <a:r>
              <a:rPr lang="en-US" dirty="0">
                <a:latin typeface="Calibri" charset="0"/>
                <a:ea typeface="Calibri" charset="0"/>
                <a:cs typeface="Calibri" charset="0"/>
              </a:rPr>
              <a:t>Low p-values suggest we can reject null that correct/incorrect responses could be explained by IRF.</a:t>
            </a:r>
          </a:p>
          <a:p>
            <a:endParaRPr lang="en-US" dirty="0">
              <a:latin typeface="Calibri" charset="0"/>
              <a:ea typeface="Calibri" charset="0"/>
              <a:cs typeface="Calibri" charset="0"/>
            </a:endParaRPr>
          </a:p>
          <a:p>
            <a:r>
              <a:rPr lang="en-US" b="1" dirty="0">
                <a:latin typeface="Calibri" charset="0"/>
                <a:ea typeface="Calibri" charset="0"/>
                <a:cs typeface="Calibri" charset="0"/>
              </a:rPr>
              <a:t>Note: there are concerns about these statistics because they rely on estimated item and person parameters. Have been shown to result in very high Type I error rates! (Orlando &amp; Thissen, 2000)</a:t>
            </a:r>
          </a:p>
          <a:p>
            <a:endParaRPr lang="en-US" dirty="0">
              <a:latin typeface="Calibri" charset="0"/>
              <a:ea typeface="Calibri" charset="0"/>
              <a:cs typeface="Calibri" charset="0"/>
            </a:endParaRPr>
          </a:p>
          <a:p>
            <a:r>
              <a:rPr lang="en-US" dirty="0" err="1">
                <a:latin typeface="Calibri" charset="0"/>
                <a:ea typeface="Calibri" charset="0"/>
                <a:cs typeface="Calibri" charset="0"/>
              </a:rPr>
              <a:t>mirt </a:t>
            </a:r>
            <a:r>
              <a:rPr lang="en-US" dirty="0">
                <a:latin typeface="Calibri" charset="0"/>
                <a:ea typeface="Calibri" charset="0"/>
                <a:cs typeface="Calibri" charset="0"/>
              </a:rPr>
              <a:t>package has many additional alternative indices. See ?itemfit and fit_stats</a:t>
            </a:r>
          </a:p>
        </p:txBody>
      </p:sp>
      <p:sp>
        <p:nvSpPr>
          <p:cNvPr id="8" name="TextBox 7"/>
          <p:cNvSpPr txBox="1"/>
          <p:nvPr/>
        </p:nvSpPr>
        <p:spPr>
          <a:xfrm>
            <a:off x="4375064" y="1456212"/>
            <a:ext cx="7743630" cy="830997"/>
          </a:xfrm>
          <a:prstGeom prst="rect">
            <a:avLst/>
          </a:prstGeom>
          <a:noFill/>
        </p:spPr>
        <p:txBody>
          <a:bodyPr wrap="square" rtlCol="0">
            <a:spAutoFit/>
          </a:bodyPr>
          <a:lstStyle/>
          <a:p>
            <a:r>
              <a:rPr lang="en-US" sz="1600" dirty="0" err="1">
                <a:latin typeface="Courier New" charset="0"/>
                <a:ea typeface="Courier New" charset="0"/>
                <a:cs typeface="Courier New" charset="0"/>
              </a:rPr>
              <a:t>itemfit</a:t>
            </a:r>
            <a:r>
              <a:rPr lang="en-US" sz="1600" dirty="0">
                <a:latin typeface="Courier New" charset="0"/>
                <a:ea typeface="Courier New" charset="0"/>
                <a:cs typeface="Courier New" charset="0"/>
              </a:rPr>
              <a:t>(mod1, </a:t>
            </a:r>
            <a:r>
              <a:rPr lang="en-US" sz="1600" dirty="0" err="1">
                <a:latin typeface="Courier New" charset="0"/>
                <a:ea typeface="Courier New" charset="0"/>
                <a:cs typeface="Courier New" charset="0"/>
              </a:rPr>
              <a:t>fit_stats</a:t>
            </a:r>
            <a:r>
              <a:rPr lang="en-US" sz="1600" dirty="0">
                <a:latin typeface="Courier New" charset="0"/>
                <a:ea typeface="Courier New" charset="0"/>
                <a:cs typeface="Courier New" charset="0"/>
              </a:rPr>
              <a:t>=c("X2”), </a:t>
            </a:r>
            <a:r>
              <a:rPr lang="en-US" sz="1600" dirty="0" err="1">
                <a:latin typeface="Courier New" charset="0"/>
                <a:ea typeface="Courier New" charset="0"/>
                <a:cs typeface="Courier New" charset="0"/>
              </a:rPr>
              <a:t>group.bins</a:t>
            </a:r>
            <a:r>
              <a:rPr lang="en-US" sz="1600" dirty="0">
                <a:latin typeface="Courier New" charset="0"/>
                <a:ea typeface="Courier New" charset="0"/>
                <a:cs typeface="Courier New" charset="0"/>
              </a:rPr>
              <a:t>=10, method="EAP")</a:t>
            </a:r>
          </a:p>
          <a:p>
            <a:r>
              <a:rPr lang="en-US" sz="1600" dirty="0" err="1">
                <a:latin typeface="Courier New" charset="0"/>
                <a:ea typeface="Courier New" charset="0"/>
                <a:cs typeface="Courier New" charset="0"/>
              </a:rPr>
              <a:t>itemfit</a:t>
            </a:r>
            <a:r>
              <a:rPr lang="en-US" sz="1600" dirty="0">
                <a:latin typeface="Courier New" charset="0"/>
                <a:ea typeface="Courier New" charset="0"/>
                <a:cs typeface="Courier New" charset="0"/>
              </a:rPr>
              <a:t>(mod2, </a:t>
            </a:r>
            <a:r>
              <a:rPr lang="en-US" sz="1600" dirty="0" err="1">
                <a:latin typeface="Courier New" charset="0"/>
                <a:ea typeface="Courier New" charset="0"/>
                <a:cs typeface="Courier New" charset="0"/>
              </a:rPr>
              <a:t>fit_stats</a:t>
            </a:r>
            <a:r>
              <a:rPr lang="en-US" sz="1600" dirty="0">
                <a:latin typeface="Courier New" charset="0"/>
                <a:ea typeface="Courier New" charset="0"/>
                <a:cs typeface="Courier New" charset="0"/>
              </a:rPr>
              <a:t>=c("X2"), </a:t>
            </a:r>
            <a:r>
              <a:rPr lang="en-US" sz="1600" dirty="0" err="1">
                <a:latin typeface="Courier New" charset="0"/>
                <a:ea typeface="Courier New" charset="0"/>
                <a:cs typeface="Courier New" charset="0"/>
              </a:rPr>
              <a:t>group.bins</a:t>
            </a:r>
            <a:r>
              <a:rPr lang="en-US" sz="1600" dirty="0">
                <a:latin typeface="Courier New" charset="0"/>
                <a:ea typeface="Courier New" charset="0"/>
                <a:cs typeface="Courier New" charset="0"/>
              </a:rPr>
              <a:t>=10, method="EAP”)</a:t>
            </a:r>
          </a:p>
          <a:p>
            <a:r>
              <a:rPr lang="en-US" sz="1600" dirty="0" err="1">
                <a:latin typeface="Courier New" charset="0"/>
                <a:ea typeface="Courier New" charset="0"/>
                <a:cs typeface="Courier New" charset="0"/>
              </a:rPr>
              <a:t>itemfit</a:t>
            </a:r>
            <a:r>
              <a:rPr lang="en-US" sz="1600" dirty="0">
                <a:latin typeface="Courier New" charset="0"/>
                <a:ea typeface="Courier New" charset="0"/>
                <a:cs typeface="Courier New" charset="0"/>
              </a:rPr>
              <a:t>(mod3, </a:t>
            </a:r>
            <a:r>
              <a:rPr lang="en-US" sz="1600" dirty="0" err="1">
                <a:latin typeface="Courier New" charset="0"/>
                <a:ea typeface="Courier New" charset="0"/>
                <a:cs typeface="Courier New" charset="0"/>
              </a:rPr>
              <a:t>fit_stats</a:t>
            </a:r>
            <a:r>
              <a:rPr lang="en-US" sz="1600" dirty="0">
                <a:latin typeface="Courier New" charset="0"/>
                <a:ea typeface="Courier New" charset="0"/>
                <a:cs typeface="Courier New" charset="0"/>
              </a:rPr>
              <a:t>=c("X2"), </a:t>
            </a:r>
            <a:r>
              <a:rPr lang="en-US" sz="1600" dirty="0" err="1">
                <a:latin typeface="Courier New" charset="0"/>
                <a:ea typeface="Courier New" charset="0"/>
                <a:cs typeface="Courier New" charset="0"/>
              </a:rPr>
              <a:t>group.bins</a:t>
            </a:r>
            <a:r>
              <a:rPr lang="en-US" sz="1600" dirty="0">
                <a:latin typeface="Courier New" charset="0"/>
                <a:ea typeface="Courier New" charset="0"/>
                <a:cs typeface="Courier New" charset="0"/>
              </a:rPr>
              <a:t>=10, method="EAP")</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612" y="88900"/>
            <a:ext cx="3378200" cy="6769100"/>
          </a:xfrm>
          <a:prstGeom prst="rect">
            <a:avLst/>
          </a:prstGeom>
        </p:spPr>
      </p:pic>
      <p:sp>
        <p:nvSpPr>
          <p:cNvPr id="10" name="Slide Number Placeholder 9"/>
          <p:cNvSpPr>
            <a:spLocks noGrp="1"/>
          </p:cNvSpPr>
          <p:nvPr>
            <p:ph type="sldNum" sz="quarter" idx="12"/>
          </p:nvPr>
        </p:nvSpPr>
        <p:spPr/>
        <p:txBody>
          <a:bodyPr/>
          <a:lstStyle/>
          <a:p>
            <a:fld id="{C324E0D7-F7AC-FE4A-AA37-CBD35715E861}" type="slidenum">
              <a:rPr lang="en-US" smtClean="0"/>
              <a:t>27</a:t>
            </a:fld>
            <a:endParaRPr lang="en-US"/>
          </a:p>
        </p:txBody>
      </p:sp>
    </p:spTree>
    <p:extLst>
      <p:ext uri="{BB962C8B-B14F-4D97-AF65-F5344CB8AC3E}">
        <p14:creationId xmlns:p14="http://schemas.microsoft.com/office/powerpoint/2010/main" val="770306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00E213D-452B-A04E-871C-72DAB068ADC1}"/>
              </a:ext>
            </a:extLst>
          </p:cNvPr>
          <p:cNvSpPr>
            <a:spLocks noGrp="1"/>
          </p:cNvSpPr>
          <p:nvPr>
            <p:ph type="title"/>
          </p:nvPr>
        </p:nvSpPr>
        <p:spPr/>
        <p:txBody>
          <a:bodyPr/>
          <a:lstStyle/>
          <a:p>
            <a:r>
              <a:rPr lang="en-US" b="1"/>
              <a:t>Chalmers &amp; Ng (2017)</a:t>
            </a:r>
          </a:p>
        </p:txBody>
      </p:sp>
      <p:pic>
        <p:nvPicPr>
          <p:cNvPr id="6" name="Content Placeholder 5" descr="A screenshot of a cell phone&#10;&#10;Description automatically generated">
            <a:extLst>
              <a:ext uri="{FF2B5EF4-FFF2-40B4-BE49-F238E27FC236}">
                <a16:creationId xmlns:a16="http://schemas.microsoft.com/office/drawing/2014/main" id="{EBC7B29E-B544-3646-94F0-8988AC6ACCDF}"/>
              </a:ext>
            </a:extLst>
          </p:cNvPr>
          <p:cNvPicPr>
            <a:picLocks noGrp="1" noChangeAspect="1"/>
          </p:cNvPicPr>
          <p:nvPr>
            <p:ph idx="1"/>
          </p:nvPr>
        </p:nvPicPr>
        <p:blipFill>
          <a:blip r:embed="rId2"/>
          <a:stretch>
            <a:fillRect/>
          </a:stretch>
        </p:blipFill>
        <p:spPr>
          <a:xfrm>
            <a:off x="838200" y="2005012"/>
            <a:ext cx="5861177" cy="4351338"/>
          </a:xfrm>
        </p:spPr>
      </p:pic>
      <p:sp>
        <p:nvSpPr>
          <p:cNvPr id="2" name="Slide Number Placeholder 1">
            <a:extLst>
              <a:ext uri="{FF2B5EF4-FFF2-40B4-BE49-F238E27FC236}">
                <a16:creationId xmlns:a16="http://schemas.microsoft.com/office/drawing/2014/main" id="{3049773E-6027-1F41-B07C-8F1188D612F3}"/>
              </a:ext>
            </a:extLst>
          </p:cNvPr>
          <p:cNvSpPr>
            <a:spLocks noGrp="1"/>
          </p:cNvSpPr>
          <p:nvPr>
            <p:ph type="sldNum" sz="quarter" idx="12"/>
          </p:nvPr>
        </p:nvSpPr>
        <p:spPr/>
        <p:txBody>
          <a:bodyPr/>
          <a:lstStyle/>
          <a:p>
            <a:fld id="{C324E0D7-F7AC-FE4A-AA37-CBD35715E861}" type="slidenum">
              <a:rPr lang="en-US" smtClean="0"/>
              <a:t>28</a:t>
            </a:fld>
            <a:endParaRPr lang="en-US"/>
          </a:p>
        </p:txBody>
      </p:sp>
      <p:pic>
        <p:nvPicPr>
          <p:cNvPr id="8" name="Picture 7" descr="A picture containing knife&#10;&#10;Description automatically generated">
            <a:extLst>
              <a:ext uri="{FF2B5EF4-FFF2-40B4-BE49-F238E27FC236}">
                <a16:creationId xmlns:a16="http://schemas.microsoft.com/office/drawing/2014/main" id="{CBB21E85-4924-E54F-9BF7-9B11DE5D0DE7}"/>
              </a:ext>
            </a:extLst>
          </p:cNvPr>
          <p:cNvPicPr>
            <a:picLocks noChangeAspect="1"/>
          </p:cNvPicPr>
          <p:nvPr/>
        </p:nvPicPr>
        <p:blipFill>
          <a:blip r:embed="rId3"/>
          <a:stretch>
            <a:fillRect/>
          </a:stretch>
        </p:blipFill>
        <p:spPr>
          <a:xfrm>
            <a:off x="6118727" y="309561"/>
            <a:ext cx="5593344" cy="1113367"/>
          </a:xfrm>
          <a:prstGeom prst="rect">
            <a:avLst/>
          </a:prstGeom>
        </p:spPr>
      </p:pic>
      <p:sp>
        <p:nvSpPr>
          <p:cNvPr id="9" name="TextBox 8">
            <a:extLst>
              <a:ext uri="{FF2B5EF4-FFF2-40B4-BE49-F238E27FC236}">
                <a16:creationId xmlns:a16="http://schemas.microsoft.com/office/drawing/2014/main" id="{0AC9F27F-AF85-434B-A377-049977913548}"/>
              </a:ext>
            </a:extLst>
          </p:cNvPr>
          <p:cNvSpPr txBox="1"/>
          <p:nvPr/>
        </p:nvSpPr>
        <p:spPr>
          <a:xfrm>
            <a:off x="7010400" y="2370764"/>
            <a:ext cx="4701671" cy="923330"/>
          </a:xfrm>
          <a:prstGeom prst="rect">
            <a:avLst/>
          </a:prstGeom>
          <a:noFill/>
        </p:spPr>
        <p:txBody>
          <a:bodyPr wrap="square" rtlCol="0">
            <a:spAutoFit/>
          </a:bodyPr>
          <a:lstStyle/>
          <a:p>
            <a:r>
              <a:rPr lang="en-US"/>
              <a:t>Bottom Line: Be very very careful about interpreting Q1 fit statistics, especially when you have fewer than 40 items.</a:t>
            </a:r>
          </a:p>
        </p:txBody>
      </p:sp>
      <p:sp>
        <p:nvSpPr>
          <p:cNvPr id="10" name="TextBox 9">
            <a:extLst>
              <a:ext uri="{FF2B5EF4-FFF2-40B4-BE49-F238E27FC236}">
                <a16:creationId xmlns:a16="http://schemas.microsoft.com/office/drawing/2014/main" id="{3BAEE1CC-8A35-FF46-8F07-3CA090AEB6D3}"/>
              </a:ext>
            </a:extLst>
          </p:cNvPr>
          <p:cNvSpPr txBox="1"/>
          <p:nvPr/>
        </p:nvSpPr>
        <p:spPr>
          <a:xfrm>
            <a:off x="7010400" y="3974170"/>
            <a:ext cx="4343400" cy="646331"/>
          </a:xfrm>
          <a:prstGeom prst="rect">
            <a:avLst/>
          </a:prstGeom>
          <a:noFill/>
        </p:spPr>
        <p:txBody>
          <a:bodyPr wrap="square" rtlCol="0">
            <a:spAutoFit/>
          </a:bodyPr>
          <a:lstStyle/>
          <a:p>
            <a:r>
              <a:rPr lang="en-US"/>
              <a:t>Alternative to Yen’s Q1: Chalmer’s PV-Q1 and PV-Q1*</a:t>
            </a:r>
          </a:p>
        </p:txBody>
      </p:sp>
      <p:sp>
        <p:nvSpPr>
          <p:cNvPr id="4" name="TextBox 3">
            <a:extLst>
              <a:ext uri="{FF2B5EF4-FFF2-40B4-BE49-F238E27FC236}">
                <a16:creationId xmlns:a16="http://schemas.microsoft.com/office/drawing/2014/main" id="{7BB89AA0-61FD-40EC-5DD3-C0231CC2647F}"/>
              </a:ext>
            </a:extLst>
          </p:cNvPr>
          <p:cNvSpPr txBox="1"/>
          <p:nvPr/>
        </p:nvSpPr>
        <p:spPr>
          <a:xfrm>
            <a:off x="7243044" y="5026760"/>
            <a:ext cx="4469027" cy="923330"/>
          </a:xfrm>
          <a:prstGeom prst="rect">
            <a:avLst/>
          </a:prstGeom>
          <a:noFill/>
        </p:spPr>
        <p:txBody>
          <a:bodyPr wrap="square" rtlCol="0">
            <a:spAutoFit/>
          </a:bodyPr>
          <a:lstStyle/>
          <a:p>
            <a:r>
              <a:rPr lang="en-US">
                <a:latin typeface="Courier New" panose="02070309020205020404" pitchFamily="49" charset="0"/>
                <a:cs typeface="Courier New" panose="02070309020205020404" pitchFamily="49" charset="0"/>
              </a:rPr>
              <a:t>f2n&lt;-itemfit(m2, fit_stats=c("X2","PV_Q1"), group.bins=10, method="EAP")</a:t>
            </a:r>
          </a:p>
        </p:txBody>
      </p:sp>
    </p:spTree>
    <p:extLst>
      <p:ext uri="{BB962C8B-B14F-4D97-AF65-F5344CB8AC3E}">
        <p14:creationId xmlns:p14="http://schemas.microsoft.com/office/powerpoint/2010/main" val="17004529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B8C2398-07DE-DC48-9742-A3F4B0D721D8}"/>
              </a:ext>
            </a:extLst>
          </p:cNvPr>
          <p:cNvSpPr>
            <a:spLocks noGrp="1"/>
          </p:cNvSpPr>
          <p:nvPr>
            <p:ph type="title"/>
          </p:nvPr>
        </p:nvSpPr>
        <p:spPr>
          <a:xfrm>
            <a:off x="652462" y="257152"/>
            <a:ext cx="10515600" cy="1325563"/>
          </a:xfrm>
        </p:spPr>
        <p:txBody>
          <a:bodyPr/>
          <a:lstStyle/>
          <a:p>
            <a:r>
              <a:rPr lang="en-US" b="1"/>
              <a:t>Comparing Q1 to Chalmers’ PV-Q1 for CDE data using 2PL Results</a:t>
            </a:r>
          </a:p>
        </p:txBody>
      </p:sp>
      <p:sp>
        <p:nvSpPr>
          <p:cNvPr id="2" name="Slide Number Placeholder 1">
            <a:extLst>
              <a:ext uri="{FF2B5EF4-FFF2-40B4-BE49-F238E27FC236}">
                <a16:creationId xmlns:a16="http://schemas.microsoft.com/office/drawing/2014/main" id="{6A083A1E-7181-ED46-81E1-328166C80684}"/>
              </a:ext>
            </a:extLst>
          </p:cNvPr>
          <p:cNvSpPr>
            <a:spLocks noGrp="1"/>
          </p:cNvSpPr>
          <p:nvPr>
            <p:ph type="sldNum" sz="quarter" idx="12"/>
          </p:nvPr>
        </p:nvSpPr>
        <p:spPr/>
        <p:txBody>
          <a:bodyPr/>
          <a:lstStyle/>
          <a:p>
            <a:fld id="{C324E0D7-F7AC-FE4A-AA37-CBD35715E861}" type="slidenum">
              <a:rPr lang="en-US" smtClean="0"/>
              <a:t>29</a:t>
            </a:fld>
            <a:endParaRPr lang="en-US"/>
          </a:p>
        </p:txBody>
      </p:sp>
      <p:graphicFrame>
        <p:nvGraphicFramePr>
          <p:cNvPr id="5" name="Table 4">
            <a:extLst>
              <a:ext uri="{FF2B5EF4-FFF2-40B4-BE49-F238E27FC236}">
                <a16:creationId xmlns:a16="http://schemas.microsoft.com/office/drawing/2014/main" id="{153F31A8-0014-8E43-9462-970B453070AB}"/>
              </a:ext>
            </a:extLst>
          </p:cNvPr>
          <p:cNvGraphicFramePr>
            <a:graphicFrameLocks noGrp="1"/>
          </p:cNvGraphicFramePr>
          <p:nvPr>
            <p:extLst>
              <p:ext uri="{D42A27DB-BD31-4B8C-83A1-F6EECF244321}">
                <p14:modId xmlns:p14="http://schemas.microsoft.com/office/powerpoint/2010/main" val="108644577"/>
              </p:ext>
            </p:extLst>
          </p:nvPr>
        </p:nvGraphicFramePr>
        <p:xfrm>
          <a:off x="1887118" y="1582715"/>
          <a:ext cx="3527844" cy="4773634"/>
        </p:xfrm>
        <a:graphic>
          <a:graphicData uri="http://schemas.openxmlformats.org/drawingml/2006/table">
            <a:tbl>
              <a:tblPr/>
              <a:tblGrid>
                <a:gridCol w="1175948">
                  <a:extLst>
                    <a:ext uri="{9D8B030D-6E8A-4147-A177-3AD203B41FA5}">
                      <a16:colId xmlns:a16="http://schemas.microsoft.com/office/drawing/2014/main" val="1907583704"/>
                    </a:ext>
                  </a:extLst>
                </a:gridCol>
                <a:gridCol w="1175948">
                  <a:extLst>
                    <a:ext uri="{9D8B030D-6E8A-4147-A177-3AD203B41FA5}">
                      <a16:colId xmlns:a16="http://schemas.microsoft.com/office/drawing/2014/main" val="934568702"/>
                    </a:ext>
                  </a:extLst>
                </a:gridCol>
                <a:gridCol w="1175948">
                  <a:extLst>
                    <a:ext uri="{9D8B030D-6E8A-4147-A177-3AD203B41FA5}">
                      <a16:colId xmlns:a16="http://schemas.microsoft.com/office/drawing/2014/main" val="3505612019"/>
                    </a:ext>
                  </a:extLst>
                </a:gridCol>
              </a:tblGrid>
              <a:tr h="140401">
                <a:tc>
                  <a:txBody>
                    <a:bodyPr/>
                    <a:lstStyle/>
                    <a:p>
                      <a:pPr algn="r" fontAlgn="b"/>
                      <a:r>
                        <a:rPr lang="en-US" sz="800" b="0" i="0" u="none" strike="noStrike">
                          <a:solidFill>
                            <a:srgbClr val="000000"/>
                          </a:solidFill>
                          <a:effectLst/>
                          <a:latin typeface="Calibri" panose="020F0502020204030204" pitchFamily="34" charset="0"/>
                        </a:rPr>
                        <a:t>Model</a:t>
                      </a:r>
                    </a:p>
                  </a:txBody>
                  <a:tcPr marL="5999" marR="5999" marT="599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US" sz="800" b="0" i="0" u="none" strike="noStrike">
                          <a:solidFill>
                            <a:srgbClr val="000000"/>
                          </a:solidFill>
                          <a:effectLst/>
                          <a:latin typeface="Calibri" panose="020F0502020204030204" pitchFamily="34" charset="0"/>
                        </a:rPr>
                        <a:t>2PL</a:t>
                      </a:r>
                    </a:p>
                  </a:txBody>
                  <a:tcPr marL="5999" marR="5999" marT="599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US" sz="800" b="0" i="0" u="none" strike="noStrike">
                          <a:solidFill>
                            <a:srgbClr val="000000"/>
                          </a:solidFill>
                          <a:effectLst/>
                          <a:latin typeface="Calibri" panose="020F0502020204030204" pitchFamily="34" charset="0"/>
                        </a:rPr>
                        <a:t>2PL</a:t>
                      </a:r>
                    </a:p>
                  </a:txBody>
                  <a:tcPr marL="5999" marR="5999" marT="5999"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823369130"/>
                  </a:ext>
                </a:extLst>
              </a:tr>
              <a:tr h="140401">
                <a:tc>
                  <a:txBody>
                    <a:bodyPr/>
                    <a:lstStyle/>
                    <a:p>
                      <a:pPr algn="r" fontAlgn="b"/>
                      <a:r>
                        <a:rPr lang="en-US" sz="800" b="0" i="0" u="none" strike="noStrike">
                          <a:solidFill>
                            <a:srgbClr val="000000"/>
                          </a:solidFill>
                          <a:effectLst/>
                          <a:latin typeface="Calibri" panose="020F0502020204030204" pitchFamily="34" charset="0"/>
                        </a:rPr>
                        <a:t>Item</a:t>
                      </a:r>
                    </a:p>
                  </a:txBody>
                  <a:tcPr marL="5999" marR="5999" marT="5999"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Calibri" panose="020F0502020204030204" pitchFamily="34" charset="0"/>
                        </a:rPr>
                        <a:t>Q1</a:t>
                      </a:r>
                    </a:p>
                  </a:txBody>
                  <a:tcPr marL="5999" marR="5999" marT="5999"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Calibri" panose="020F0502020204030204" pitchFamily="34" charset="0"/>
                        </a:rPr>
                        <a:t>PV_Q1</a:t>
                      </a:r>
                    </a:p>
                  </a:txBody>
                  <a:tcPr marL="5999" marR="5999" marT="5999"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5583076"/>
                  </a:ext>
                </a:extLst>
              </a:tr>
              <a:tr h="140401">
                <a:tc>
                  <a:txBody>
                    <a:bodyPr/>
                    <a:lstStyle/>
                    <a:p>
                      <a:pPr algn="r" fontAlgn="b"/>
                      <a:r>
                        <a:rPr lang="en-US" sz="800" b="0" i="0" u="none" strike="noStrike">
                          <a:solidFill>
                            <a:srgbClr val="000000"/>
                          </a:solidFill>
                          <a:effectLst/>
                          <a:latin typeface="Calibri" panose="020F0502020204030204" pitchFamily="34" charset="0"/>
                        </a:rPr>
                        <a:t>1</a:t>
                      </a:r>
                    </a:p>
                  </a:txBody>
                  <a:tcPr marL="5999" marR="5999" marT="599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US" sz="800" b="0" i="0" u="none" strike="noStrike">
                          <a:solidFill>
                            <a:srgbClr val="000000"/>
                          </a:solidFill>
                          <a:effectLst/>
                          <a:latin typeface="Calibri" panose="020F0502020204030204" pitchFamily="34" charset="0"/>
                        </a:rPr>
                        <a:t>0.25</a:t>
                      </a:r>
                    </a:p>
                  </a:txBody>
                  <a:tcPr marL="5999" marR="5999" marT="599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US" sz="800" b="0" i="0" u="none" strike="noStrike">
                          <a:solidFill>
                            <a:srgbClr val="000000"/>
                          </a:solidFill>
                          <a:effectLst/>
                          <a:latin typeface="Calibri" panose="020F0502020204030204" pitchFamily="34" charset="0"/>
                        </a:rPr>
                        <a:t>0.44</a:t>
                      </a:r>
                    </a:p>
                  </a:txBody>
                  <a:tcPr marL="5999" marR="5999" marT="5999"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79459674"/>
                  </a:ext>
                </a:extLst>
              </a:tr>
              <a:tr h="140401">
                <a:tc>
                  <a:txBody>
                    <a:bodyPr/>
                    <a:lstStyle/>
                    <a:p>
                      <a:pPr algn="r" fontAlgn="b"/>
                      <a:r>
                        <a:rPr lang="en-US" sz="800" b="0" i="0" u="none" strike="noStrike">
                          <a:solidFill>
                            <a:srgbClr val="000000"/>
                          </a:solidFill>
                          <a:effectLst/>
                          <a:latin typeface="Calibri" panose="020F0502020204030204" pitchFamily="34" charset="0"/>
                        </a:rPr>
                        <a:t>2</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0.09</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0.29</a:t>
                      </a:r>
                    </a:p>
                  </a:txBody>
                  <a:tcPr marL="5999" marR="5999" marT="5999" marB="0" anchor="b">
                    <a:lnL>
                      <a:noFill/>
                    </a:lnL>
                    <a:lnR>
                      <a:noFill/>
                    </a:lnR>
                    <a:lnT>
                      <a:noFill/>
                    </a:lnT>
                    <a:lnB>
                      <a:noFill/>
                    </a:lnB>
                  </a:tcPr>
                </a:tc>
                <a:extLst>
                  <a:ext uri="{0D108BD9-81ED-4DB2-BD59-A6C34878D82A}">
                    <a16:rowId xmlns:a16="http://schemas.microsoft.com/office/drawing/2014/main" val="2989180238"/>
                  </a:ext>
                </a:extLst>
              </a:tr>
              <a:tr h="140401">
                <a:tc>
                  <a:txBody>
                    <a:bodyPr/>
                    <a:lstStyle/>
                    <a:p>
                      <a:pPr algn="r" fontAlgn="b"/>
                      <a:r>
                        <a:rPr lang="en-US" sz="800" b="0" i="0" u="none" strike="noStrike">
                          <a:solidFill>
                            <a:srgbClr val="000000"/>
                          </a:solidFill>
                          <a:effectLst/>
                          <a:latin typeface="Calibri" panose="020F0502020204030204" pitchFamily="34" charset="0"/>
                        </a:rPr>
                        <a:t>3</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0.04</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0.44</a:t>
                      </a:r>
                    </a:p>
                  </a:txBody>
                  <a:tcPr marL="5999" marR="5999" marT="5999" marB="0" anchor="b">
                    <a:lnL>
                      <a:noFill/>
                    </a:lnL>
                    <a:lnR>
                      <a:noFill/>
                    </a:lnR>
                    <a:lnT>
                      <a:noFill/>
                    </a:lnT>
                    <a:lnB>
                      <a:noFill/>
                    </a:lnB>
                  </a:tcPr>
                </a:tc>
                <a:extLst>
                  <a:ext uri="{0D108BD9-81ED-4DB2-BD59-A6C34878D82A}">
                    <a16:rowId xmlns:a16="http://schemas.microsoft.com/office/drawing/2014/main" val="1035756303"/>
                  </a:ext>
                </a:extLst>
              </a:tr>
              <a:tr h="140401">
                <a:tc>
                  <a:txBody>
                    <a:bodyPr/>
                    <a:lstStyle/>
                    <a:p>
                      <a:pPr algn="r" fontAlgn="b"/>
                      <a:r>
                        <a:rPr lang="en-US" sz="800" b="0" i="0" u="none" strike="noStrike">
                          <a:solidFill>
                            <a:srgbClr val="000000"/>
                          </a:solidFill>
                          <a:effectLst/>
                          <a:latin typeface="Calibri" panose="020F0502020204030204" pitchFamily="34" charset="0"/>
                        </a:rPr>
                        <a:t>4</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0.05</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0.25</a:t>
                      </a:r>
                    </a:p>
                  </a:txBody>
                  <a:tcPr marL="5999" marR="5999" marT="5999" marB="0" anchor="b">
                    <a:lnL>
                      <a:noFill/>
                    </a:lnL>
                    <a:lnR>
                      <a:noFill/>
                    </a:lnR>
                    <a:lnT>
                      <a:noFill/>
                    </a:lnT>
                    <a:lnB>
                      <a:noFill/>
                    </a:lnB>
                  </a:tcPr>
                </a:tc>
                <a:extLst>
                  <a:ext uri="{0D108BD9-81ED-4DB2-BD59-A6C34878D82A}">
                    <a16:rowId xmlns:a16="http://schemas.microsoft.com/office/drawing/2014/main" val="1248531227"/>
                  </a:ext>
                </a:extLst>
              </a:tr>
              <a:tr h="140401">
                <a:tc>
                  <a:txBody>
                    <a:bodyPr/>
                    <a:lstStyle/>
                    <a:p>
                      <a:pPr algn="r" fontAlgn="b"/>
                      <a:r>
                        <a:rPr lang="en-US" sz="800" b="0" i="0" u="none" strike="noStrike">
                          <a:solidFill>
                            <a:srgbClr val="000000"/>
                          </a:solidFill>
                          <a:effectLst/>
                          <a:latin typeface="Calibri" panose="020F0502020204030204" pitchFamily="34" charset="0"/>
                        </a:rPr>
                        <a:t>5</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0.01</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0.37</a:t>
                      </a:r>
                    </a:p>
                  </a:txBody>
                  <a:tcPr marL="5999" marR="5999" marT="5999" marB="0" anchor="b">
                    <a:lnL>
                      <a:noFill/>
                    </a:lnL>
                    <a:lnR>
                      <a:noFill/>
                    </a:lnR>
                    <a:lnT>
                      <a:noFill/>
                    </a:lnT>
                    <a:lnB>
                      <a:noFill/>
                    </a:lnB>
                  </a:tcPr>
                </a:tc>
                <a:extLst>
                  <a:ext uri="{0D108BD9-81ED-4DB2-BD59-A6C34878D82A}">
                    <a16:rowId xmlns:a16="http://schemas.microsoft.com/office/drawing/2014/main" val="1288290940"/>
                  </a:ext>
                </a:extLst>
              </a:tr>
              <a:tr h="140401">
                <a:tc>
                  <a:txBody>
                    <a:bodyPr/>
                    <a:lstStyle/>
                    <a:p>
                      <a:pPr algn="r" fontAlgn="b"/>
                      <a:r>
                        <a:rPr lang="en-US" sz="800" b="0" i="0" u="none" strike="noStrike">
                          <a:solidFill>
                            <a:srgbClr val="000000"/>
                          </a:solidFill>
                          <a:effectLst/>
                          <a:latin typeface="Calibri" panose="020F0502020204030204" pitchFamily="34" charset="0"/>
                        </a:rPr>
                        <a:t>6</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0.31</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0.44</a:t>
                      </a:r>
                    </a:p>
                  </a:txBody>
                  <a:tcPr marL="5999" marR="5999" marT="5999" marB="0" anchor="b">
                    <a:lnL>
                      <a:noFill/>
                    </a:lnL>
                    <a:lnR>
                      <a:noFill/>
                    </a:lnR>
                    <a:lnT>
                      <a:noFill/>
                    </a:lnT>
                    <a:lnB>
                      <a:noFill/>
                    </a:lnB>
                  </a:tcPr>
                </a:tc>
                <a:extLst>
                  <a:ext uri="{0D108BD9-81ED-4DB2-BD59-A6C34878D82A}">
                    <a16:rowId xmlns:a16="http://schemas.microsoft.com/office/drawing/2014/main" val="733931091"/>
                  </a:ext>
                </a:extLst>
              </a:tr>
              <a:tr h="140401">
                <a:tc>
                  <a:txBody>
                    <a:bodyPr/>
                    <a:lstStyle/>
                    <a:p>
                      <a:pPr algn="r" fontAlgn="b"/>
                      <a:r>
                        <a:rPr lang="en-US" sz="800" b="0" i="0" u="none" strike="noStrike">
                          <a:solidFill>
                            <a:srgbClr val="000000"/>
                          </a:solidFill>
                          <a:effectLst/>
                          <a:latin typeface="Calibri" panose="020F0502020204030204" pitchFamily="34" charset="0"/>
                        </a:rPr>
                        <a:t>7</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0.00</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0.03</a:t>
                      </a:r>
                    </a:p>
                  </a:txBody>
                  <a:tcPr marL="5999" marR="5999" marT="5999" marB="0" anchor="b">
                    <a:lnL>
                      <a:noFill/>
                    </a:lnL>
                    <a:lnR>
                      <a:noFill/>
                    </a:lnR>
                    <a:lnT>
                      <a:noFill/>
                    </a:lnT>
                    <a:lnB>
                      <a:noFill/>
                    </a:lnB>
                    <a:solidFill>
                      <a:srgbClr val="FFFF00"/>
                    </a:solidFill>
                  </a:tcPr>
                </a:tc>
                <a:extLst>
                  <a:ext uri="{0D108BD9-81ED-4DB2-BD59-A6C34878D82A}">
                    <a16:rowId xmlns:a16="http://schemas.microsoft.com/office/drawing/2014/main" val="2877333780"/>
                  </a:ext>
                </a:extLst>
              </a:tr>
              <a:tr h="140401">
                <a:tc>
                  <a:txBody>
                    <a:bodyPr/>
                    <a:lstStyle/>
                    <a:p>
                      <a:pPr algn="r" fontAlgn="b"/>
                      <a:r>
                        <a:rPr lang="en-US" sz="800" b="0" i="0" u="none" strike="noStrike">
                          <a:solidFill>
                            <a:srgbClr val="000000"/>
                          </a:solidFill>
                          <a:effectLst/>
                          <a:latin typeface="Calibri" panose="020F0502020204030204" pitchFamily="34" charset="0"/>
                        </a:rPr>
                        <a:t>8</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0.02</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0.35</a:t>
                      </a:r>
                    </a:p>
                  </a:txBody>
                  <a:tcPr marL="5999" marR="5999" marT="5999" marB="0" anchor="b">
                    <a:lnL>
                      <a:noFill/>
                    </a:lnL>
                    <a:lnR>
                      <a:noFill/>
                    </a:lnR>
                    <a:lnT>
                      <a:noFill/>
                    </a:lnT>
                    <a:lnB>
                      <a:noFill/>
                    </a:lnB>
                  </a:tcPr>
                </a:tc>
                <a:extLst>
                  <a:ext uri="{0D108BD9-81ED-4DB2-BD59-A6C34878D82A}">
                    <a16:rowId xmlns:a16="http://schemas.microsoft.com/office/drawing/2014/main" val="2343201794"/>
                  </a:ext>
                </a:extLst>
              </a:tr>
              <a:tr h="140401">
                <a:tc>
                  <a:txBody>
                    <a:bodyPr/>
                    <a:lstStyle/>
                    <a:p>
                      <a:pPr algn="r" fontAlgn="b"/>
                      <a:r>
                        <a:rPr lang="en-US" sz="800" b="0" i="0" u="none" strike="noStrike">
                          <a:solidFill>
                            <a:srgbClr val="000000"/>
                          </a:solidFill>
                          <a:effectLst/>
                          <a:latin typeface="Calibri" panose="020F0502020204030204" pitchFamily="34" charset="0"/>
                        </a:rPr>
                        <a:t>9</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0.00</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0.33</a:t>
                      </a:r>
                    </a:p>
                  </a:txBody>
                  <a:tcPr marL="5999" marR="5999" marT="5999" marB="0" anchor="b">
                    <a:lnL>
                      <a:noFill/>
                    </a:lnL>
                    <a:lnR>
                      <a:noFill/>
                    </a:lnR>
                    <a:lnT>
                      <a:noFill/>
                    </a:lnT>
                    <a:lnB>
                      <a:noFill/>
                    </a:lnB>
                  </a:tcPr>
                </a:tc>
                <a:extLst>
                  <a:ext uri="{0D108BD9-81ED-4DB2-BD59-A6C34878D82A}">
                    <a16:rowId xmlns:a16="http://schemas.microsoft.com/office/drawing/2014/main" val="508337320"/>
                  </a:ext>
                </a:extLst>
              </a:tr>
              <a:tr h="140401">
                <a:tc>
                  <a:txBody>
                    <a:bodyPr/>
                    <a:lstStyle/>
                    <a:p>
                      <a:pPr algn="r" fontAlgn="b"/>
                      <a:r>
                        <a:rPr lang="en-US" sz="800" b="0" i="0" u="none" strike="noStrike">
                          <a:solidFill>
                            <a:srgbClr val="000000"/>
                          </a:solidFill>
                          <a:effectLst/>
                          <a:latin typeface="Calibri" panose="020F0502020204030204" pitchFamily="34" charset="0"/>
                        </a:rPr>
                        <a:t>10</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0.03</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0.39</a:t>
                      </a:r>
                    </a:p>
                  </a:txBody>
                  <a:tcPr marL="5999" marR="5999" marT="5999" marB="0" anchor="b">
                    <a:lnL>
                      <a:noFill/>
                    </a:lnL>
                    <a:lnR>
                      <a:noFill/>
                    </a:lnR>
                    <a:lnT>
                      <a:noFill/>
                    </a:lnT>
                    <a:lnB>
                      <a:noFill/>
                    </a:lnB>
                  </a:tcPr>
                </a:tc>
                <a:extLst>
                  <a:ext uri="{0D108BD9-81ED-4DB2-BD59-A6C34878D82A}">
                    <a16:rowId xmlns:a16="http://schemas.microsoft.com/office/drawing/2014/main" val="3395928139"/>
                  </a:ext>
                </a:extLst>
              </a:tr>
              <a:tr h="140401">
                <a:tc>
                  <a:txBody>
                    <a:bodyPr/>
                    <a:lstStyle/>
                    <a:p>
                      <a:pPr algn="r" fontAlgn="b"/>
                      <a:r>
                        <a:rPr lang="en-US" sz="800" b="0" i="0" u="none" strike="noStrike">
                          <a:solidFill>
                            <a:srgbClr val="000000"/>
                          </a:solidFill>
                          <a:effectLst/>
                          <a:latin typeface="Calibri" panose="020F0502020204030204" pitchFamily="34" charset="0"/>
                        </a:rPr>
                        <a:t>11</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0.09</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0.26</a:t>
                      </a:r>
                    </a:p>
                  </a:txBody>
                  <a:tcPr marL="5999" marR="5999" marT="5999" marB="0" anchor="b">
                    <a:lnL>
                      <a:noFill/>
                    </a:lnL>
                    <a:lnR>
                      <a:noFill/>
                    </a:lnR>
                    <a:lnT>
                      <a:noFill/>
                    </a:lnT>
                    <a:lnB>
                      <a:noFill/>
                    </a:lnB>
                  </a:tcPr>
                </a:tc>
                <a:extLst>
                  <a:ext uri="{0D108BD9-81ED-4DB2-BD59-A6C34878D82A}">
                    <a16:rowId xmlns:a16="http://schemas.microsoft.com/office/drawing/2014/main" val="2594643892"/>
                  </a:ext>
                </a:extLst>
              </a:tr>
              <a:tr h="140401">
                <a:tc>
                  <a:txBody>
                    <a:bodyPr/>
                    <a:lstStyle/>
                    <a:p>
                      <a:pPr algn="r" fontAlgn="b"/>
                      <a:r>
                        <a:rPr lang="en-US" sz="800" b="0" i="0" u="none" strike="noStrike">
                          <a:solidFill>
                            <a:srgbClr val="000000"/>
                          </a:solidFill>
                          <a:effectLst/>
                          <a:latin typeface="Calibri" panose="020F0502020204030204" pitchFamily="34" charset="0"/>
                        </a:rPr>
                        <a:t>12</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0.01</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0.21</a:t>
                      </a:r>
                    </a:p>
                  </a:txBody>
                  <a:tcPr marL="5999" marR="5999" marT="5999" marB="0" anchor="b">
                    <a:lnL>
                      <a:noFill/>
                    </a:lnL>
                    <a:lnR>
                      <a:noFill/>
                    </a:lnR>
                    <a:lnT>
                      <a:noFill/>
                    </a:lnT>
                    <a:lnB>
                      <a:noFill/>
                    </a:lnB>
                  </a:tcPr>
                </a:tc>
                <a:extLst>
                  <a:ext uri="{0D108BD9-81ED-4DB2-BD59-A6C34878D82A}">
                    <a16:rowId xmlns:a16="http://schemas.microsoft.com/office/drawing/2014/main" val="3175883551"/>
                  </a:ext>
                </a:extLst>
              </a:tr>
              <a:tr h="140401">
                <a:tc>
                  <a:txBody>
                    <a:bodyPr/>
                    <a:lstStyle/>
                    <a:p>
                      <a:pPr algn="r" fontAlgn="b"/>
                      <a:r>
                        <a:rPr lang="en-US" sz="800" b="0" i="0" u="none" strike="noStrike">
                          <a:solidFill>
                            <a:srgbClr val="000000"/>
                          </a:solidFill>
                          <a:effectLst/>
                          <a:latin typeface="Calibri" panose="020F0502020204030204" pitchFamily="34" charset="0"/>
                        </a:rPr>
                        <a:t>13</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0.54</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0.52</a:t>
                      </a:r>
                    </a:p>
                  </a:txBody>
                  <a:tcPr marL="5999" marR="5999" marT="5999" marB="0" anchor="b">
                    <a:lnL>
                      <a:noFill/>
                    </a:lnL>
                    <a:lnR>
                      <a:noFill/>
                    </a:lnR>
                    <a:lnT>
                      <a:noFill/>
                    </a:lnT>
                    <a:lnB>
                      <a:noFill/>
                    </a:lnB>
                  </a:tcPr>
                </a:tc>
                <a:extLst>
                  <a:ext uri="{0D108BD9-81ED-4DB2-BD59-A6C34878D82A}">
                    <a16:rowId xmlns:a16="http://schemas.microsoft.com/office/drawing/2014/main" val="1688143673"/>
                  </a:ext>
                </a:extLst>
              </a:tr>
              <a:tr h="140401">
                <a:tc>
                  <a:txBody>
                    <a:bodyPr/>
                    <a:lstStyle/>
                    <a:p>
                      <a:pPr algn="r" fontAlgn="b"/>
                      <a:r>
                        <a:rPr lang="en-US" sz="800" b="0" i="0" u="none" strike="noStrike">
                          <a:solidFill>
                            <a:srgbClr val="000000"/>
                          </a:solidFill>
                          <a:effectLst/>
                          <a:latin typeface="Calibri" panose="020F0502020204030204" pitchFamily="34" charset="0"/>
                        </a:rPr>
                        <a:t>14</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0.02</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0.37</a:t>
                      </a:r>
                    </a:p>
                  </a:txBody>
                  <a:tcPr marL="5999" marR="5999" marT="5999" marB="0" anchor="b">
                    <a:lnL>
                      <a:noFill/>
                    </a:lnL>
                    <a:lnR>
                      <a:noFill/>
                    </a:lnR>
                    <a:lnT>
                      <a:noFill/>
                    </a:lnT>
                    <a:lnB>
                      <a:noFill/>
                    </a:lnB>
                  </a:tcPr>
                </a:tc>
                <a:extLst>
                  <a:ext uri="{0D108BD9-81ED-4DB2-BD59-A6C34878D82A}">
                    <a16:rowId xmlns:a16="http://schemas.microsoft.com/office/drawing/2014/main" val="3835472899"/>
                  </a:ext>
                </a:extLst>
              </a:tr>
              <a:tr h="140401">
                <a:tc>
                  <a:txBody>
                    <a:bodyPr/>
                    <a:lstStyle/>
                    <a:p>
                      <a:pPr algn="r" fontAlgn="b"/>
                      <a:r>
                        <a:rPr lang="en-US" sz="800" b="0" i="0" u="none" strike="noStrike">
                          <a:solidFill>
                            <a:srgbClr val="000000"/>
                          </a:solidFill>
                          <a:effectLst/>
                          <a:latin typeface="Calibri" panose="020F0502020204030204" pitchFamily="34" charset="0"/>
                        </a:rPr>
                        <a:t>15</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0.03</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0.32</a:t>
                      </a:r>
                    </a:p>
                  </a:txBody>
                  <a:tcPr marL="5999" marR="5999" marT="5999" marB="0" anchor="b">
                    <a:lnL>
                      <a:noFill/>
                    </a:lnL>
                    <a:lnR>
                      <a:noFill/>
                    </a:lnR>
                    <a:lnT>
                      <a:noFill/>
                    </a:lnT>
                    <a:lnB>
                      <a:noFill/>
                    </a:lnB>
                  </a:tcPr>
                </a:tc>
                <a:extLst>
                  <a:ext uri="{0D108BD9-81ED-4DB2-BD59-A6C34878D82A}">
                    <a16:rowId xmlns:a16="http://schemas.microsoft.com/office/drawing/2014/main" val="777144205"/>
                  </a:ext>
                </a:extLst>
              </a:tr>
              <a:tr h="140401">
                <a:tc>
                  <a:txBody>
                    <a:bodyPr/>
                    <a:lstStyle/>
                    <a:p>
                      <a:pPr algn="r" fontAlgn="b"/>
                      <a:r>
                        <a:rPr lang="en-US" sz="800" b="0" i="0" u="none" strike="noStrike">
                          <a:solidFill>
                            <a:srgbClr val="000000"/>
                          </a:solidFill>
                          <a:effectLst/>
                          <a:latin typeface="Calibri" panose="020F0502020204030204" pitchFamily="34" charset="0"/>
                        </a:rPr>
                        <a:t>16</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0.02</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0.44</a:t>
                      </a:r>
                    </a:p>
                  </a:txBody>
                  <a:tcPr marL="5999" marR="5999" marT="5999" marB="0" anchor="b">
                    <a:lnL>
                      <a:noFill/>
                    </a:lnL>
                    <a:lnR>
                      <a:noFill/>
                    </a:lnR>
                    <a:lnT>
                      <a:noFill/>
                    </a:lnT>
                    <a:lnB>
                      <a:noFill/>
                    </a:lnB>
                  </a:tcPr>
                </a:tc>
                <a:extLst>
                  <a:ext uri="{0D108BD9-81ED-4DB2-BD59-A6C34878D82A}">
                    <a16:rowId xmlns:a16="http://schemas.microsoft.com/office/drawing/2014/main" val="2406447003"/>
                  </a:ext>
                </a:extLst>
              </a:tr>
              <a:tr h="140401">
                <a:tc>
                  <a:txBody>
                    <a:bodyPr/>
                    <a:lstStyle/>
                    <a:p>
                      <a:pPr algn="r" fontAlgn="b"/>
                      <a:r>
                        <a:rPr lang="en-US" sz="800" b="0" i="0" u="none" strike="noStrike">
                          <a:solidFill>
                            <a:srgbClr val="000000"/>
                          </a:solidFill>
                          <a:effectLst/>
                          <a:latin typeface="Calibri" panose="020F0502020204030204" pitchFamily="34" charset="0"/>
                        </a:rPr>
                        <a:t>17</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0.03</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0.43</a:t>
                      </a:r>
                    </a:p>
                  </a:txBody>
                  <a:tcPr marL="5999" marR="5999" marT="5999" marB="0" anchor="b">
                    <a:lnL>
                      <a:noFill/>
                    </a:lnL>
                    <a:lnR>
                      <a:noFill/>
                    </a:lnR>
                    <a:lnT>
                      <a:noFill/>
                    </a:lnT>
                    <a:lnB>
                      <a:noFill/>
                    </a:lnB>
                  </a:tcPr>
                </a:tc>
                <a:extLst>
                  <a:ext uri="{0D108BD9-81ED-4DB2-BD59-A6C34878D82A}">
                    <a16:rowId xmlns:a16="http://schemas.microsoft.com/office/drawing/2014/main" val="104371463"/>
                  </a:ext>
                </a:extLst>
              </a:tr>
              <a:tr h="140401">
                <a:tc>
                  <a:txBody>
                    <a:bodyPr/>
                    <a:lstStyle/>
                    <a:p>
                      <a:pPr algn="r" fontAlgn="b"/>
                      <a:r>
                        <a:rPr lang="en-US" sz="800" b="0" i="0" u="none" strike="noStrike">
                          <a:solidFill>
                            <a:srgbClr val="000000"/>
                          </a:solidFill>
                          <a:effectLst/>
                          <a:latin typeface="Calibri" panose="020F0502020204030204" pitchFamily="34" charset="0"/>
                        </a:rPr>
                        <a:t>18</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0.01</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0.46</a:t>
                      </a:r>
                    </a:p>
                  </a:txBody>
                  <a:tcPr marL="5999" marR="5999" marT="5999" marB="0" anchor="b">
                    <a:lnL>
                      <a:noFill/>
                    </a:lnL>
                    <a:lnR>
                      <a:noFill/>
                    </a:lnR>
                    <a:lnT>
                      <a:noFill/>
                    </a:lnT>
                    <a:lnB>
                      <a:noFill/>
                    </a:lnB>
                  </a:tcPr>
                </a:tc>
                <a:extLst>
                  <a:ext uri="{0D108BD9-81ED-4DB2-BD59-A6C34878D82A}">
                    <a16:rowId xmlns:a16="http://schemas.microsoft.com/office/drawing/2014/main" val="3345186334"/>
                  </a:ext>
                </a:extLst>
              </a:tr>
              <a:tr h="140401">
                <a:tc>
                  <a:txBody>
                    <a:bodyPr/>
                    <a:lstStyle/>
                    <a:p>
                      <a:pPr algn="r" fontAlgn="b"/>
                      <a:r>
                        <a:rPr lang="en-US" sz="800" b="0" i="0" u="none" strike="noStrike">
                          <a:solidFill>
                            <a:srgbClr val="000000"/>
                          </a:solidFill>
                          <a:effectLst/>
                          <a:latin typeface="Calibri" panose="020F0502020204030204" pitchFamily="34" charset="0"/>
                        </a:rPr>
                        <a:t>19</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0.25</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0.47</a:t>
                      </a:r>
                    </a:p>
                  </a:txBody>
                  <a:tcPr marL="5999" marR="5999" marT="5999" marB="0" anchor="b">
                    <a:lnL>
                      <a:noFill/>
                    </a:lnL>
                    <a:lnR>
                      <a:noFill/>
                    </a:lnR>
                    <a:lnT>
                      <a:noFill/>
                    </a:lnT>
                    <a:lnB>
                      <a:noFill/>
                    </a:lnB>
                  </a:tcPr>
                </a:tc>
                <a:extLst>
                  <a:ext uri="{0D108BD9-81ED-4DB2-BD59-A6C34878D82A}">
                    <a16:rowId xmlns:a16="http://schemas.microsoft.com/office/drawing/2014/main" val="2389952286"/>
                  </a:ext>
                </a:extLst>
              </a:tr>
              <a:tr h="140401">
                <a:tc>
                  <a:txBody>
                    <a:bodyPr/>
                    <a:lstStyle/>
                    <a:p>
                      <a:pPr algn="r" fontAlgn="b"/>
                      <a:r>
                        <a:rPr lang="en-US" sz="800" b="0" i="0" u="none" strike="noStrike">
                          <a:solidFill>
                            <a:srgbClr val="000000"/>
                          </a:solidFill>
                          <a:effectLst/>
                          <a:latin typeface="Calibri" panose="020F0502020204030204" pitchFamily="34" charset="0"/>
                        </a:rPr>
                        <a:t>20</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0.00</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0.02</a:t>
                      </a:r>
                    </a:p>
                  </a:txBody>
                  <a:tcPr marL="5999" marR="5999" marT="5999" marB="0" anchor="b">
                    <a:lnL>
                      <a:noFill/>
                    </a:lnL>
                    <a:lnR>
                      <a:noFill/>
                    </a:lnR>
                    <a:lnT>
                      <a:noFill/>
                    </a:lnT>
                    <a:lnB>
                      <a:noFill/>
                    </a:lnB>
                    <a:solidFill>
                      <a:srgbClr val="FFFF00"/>
                    </a:solidFill>
                  </a:tcPr>
                </a:tc>
                <a:extLst>
                  <a:ext uri="{0D108BD9-81ED-4DB2-BD59-A6C34878D82A}">
                    <a16:rowId xmlns:a16="http://schemas.microsoft.com/office/drawing/2014/main" val="3544034654"/>
                  </a:ext>
                </a:extLst>
              </a:tr>
              <a:tr h="140401">
                <a:tc>
                  <a:txBody>
                    <a:bodyPr/>
                    <a:lstStyle/>
                    <a:p>
                      <a:pPr algn="r" fontAlgn="b"/>
                      <a:r>
                        <a:rPr lang="en-US" sz="800" b="0" i="0" u="none" strike="noStrike">
                          <a:solidFill>
                            <a:srgbClr val="000000"/>
                          </a:solidFill>
                          <a:effectLst/>
                          <a:latin typeface="Calibri" panose="020F0502020204030204" pitchFamily="34" charset="0"/>
                        </a:rPr>
                        <a:t>21</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0.00</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0.01</a:t>
                      </a:r>
                    </a:p>
                  </a:txBody>
                  <a:tcPr marL="5999" marR="5999" marT="5999" marB="0" anchor="b">
                    <a:lnL>
                      <a:noFill/>
                    </a:lnL>
                    <a:lnR>
                      <a:noFill/>
                    </a:lnR>
                    <a:lnT>
                      <a:noFill/>
                    </a:lnT>
                    <a:lnB>
                      <a:noFill/>
                    </a:lnB>
                    <a:solidFill>
                      <a:srgbClr val="FFFF00"/>
                    </a:solidFill>
                  </a:tcPr>
                </a:tc>
                <a:extLst>
                  <a:ext uri="{0D108BD9-81ED-4DB2-BD59-A6C34878D82A}">
                    <a16:rowId xmlns:a16="http://schemas.microsoft.com/office/drawing/2014/main" val="1231840514"/>
                  </a:ext>
                </a:extLst>
              </a:tr>
              <a:tr h="140401">
                <a:tc>
                  <a:txBody>
                    <a:bodyPr/>
                    <a:lstStyle/>
                    <a:p>
                      <a:pPr algn="r" fontAlgn="b"/>
                      <a:r>
                        <a:rPr lang="en-US" sz="800" b="0" i="0" u="none" strike="noStrike">
                          <a:solidFill>
                            <a:srgbClr val="000000"/>
                          </a:solidFill>
                          <a:effectLst/>
                          <a:latin typeface="Calibri" panose="020F0502020204030204" pitchFamily="34" charset="0"/>
                        </a:rPr>
                        <a:t>22</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0.03</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0.38</a:t>
                      </a:r>
                    </a:p>
                  </a:txBody>
                  <a:tcPr marL="5999" marR="5999" marT="5999" marB="0" anchor="b">
                    <a:lnL>
                      <a:noFill/>
                    </a:lnL>
                    <a:lnR>
                      <a:noFill/>
                    </a:lnR>
                    <a:lnT>
                      <a:noFill/>
                    </a:lnT>
                    <a:lnB>
                      <a:noFill/>
                    </a:lnB>
                  </a:tcPr>
                </a:tc>
                <a:extLst>
                  <a:ext uri="{0D108BD9-81ED-4DB2-BD59-A6C34878D82A}">
                    <a16:rowId xmlns:a16="http://schemas.microsoft.com/office/drawing/2014/main" val="2548900373"/>
                  </a:ext>
                </a:extLst>
              </a:tr>
              <a:tr h="140401">
                <a:tc>
                  <a:txBody>
                    <a:bodyPr/>
                    <a:lstStyle/>
                    <a:p>
                      <a:pPr algn="r" fontAlgn="b"/>
                      <a:r>
                        <a:rPr lang="en-US" sz="800" b="0" i="0" u="none" strike="noStrike">
                          <a:solidFill>
                            <a:srgbClr val="000000"/>
                          </a:solidFill>
                          <a:effectLst/>
                          <a:latin typeface="Calibri" panose="020F0502020204030204" pitchFamily="34" charset="0"/>
                        </a:rPr>
                        <a:t>23</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0.56</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0.31</a:t>
                      </a:r>
                    </a:p>
                  </a:txBody>
                  <a:tcPr marL="5999" marR="5999" marT="5999" marB="0" anchor="b">
                    <a:lnL>
                      <a:noFill/>
                    </a:lnL>
                    <a:lnR>
                      <a:noFill/>
                    </a:lnR>
                    <a:lnT>
                      <a:noFill/>
                    </a:lnT>
                    <a:lnB>
                      <a:noFill/>
                    </a:lnB>
                  </a:tcPr>
                </a:tc>
                <a:extLst>
                  <a:ext uri="{0D108BD9-81ED-4DB2-BD59-A6C34878D82A}">
                    <a16:rowId xmlns:a16="http://schemas.microsoft.com/office/drawing/2014/main" val="2051055924"/>
                  </a:ext>
                </a:extLst>
              </a:tr>
              <a:tr h="140401">
                <a:tc>
                  <a:txBody>
                    <a:bodyPr/>
                    <a:lstStyle/>
                    <a:p>
                      <a:pPr algn="r" fontAlgn="b"/>
                      <a:r>
                        <a:rPr lang="en-US" sz="800" b="0" i="0" u="none" strike="noStrike">
                          <a:solidFill>
                            <a:srgbClr val="000000"/>
                          </a:solidFill>
                          <a:effectLst/>
                          <a:latin typeface="Calibri" panose="020F0502020204030204" pitchFamily="34" charset="0"/>
                        </a:rPr>
                        <a:t>24</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0.17</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0.32</a:t>
                      </a:r>
                    </a:p>
                  </a:txBody>
                  <a:tcPr marL="5999" marR="5999" marT="5999" marB="0" anchor="b">
                    <a:lnL>
                      <a:noFill/>
                    </a:lnL>
                    <a:lnR>
                      <a:noFill/>
                    </a:lnR>
                    <a:lnT>
                      <a:noFill/>
                    </a:lnT>
                    <a:lnB>
                      <a:noFill/>
                    </a:lnB>
                  </a:tcPr>
                </a:tc>
                <a:extLst>
                  <a:ext uri="{0D108BD9-81ED-4DB2-BD59-A6C34878D82A}">
                    <a16:rowId xmlns:a16="http://schemas.microsoft.com/office/drawing/2014/main" val="2886408800"/>
                  </a:ext>
                </a:extLst>
              </a:tr>
              <a:tr h="140401">
                <a:tc>
                  <a:txBody>
                    <a:bodyPr/>
                    <a:lstStyle/>
                    <a:p>
                      <a:pPr algn="r" fontAlgn="b"/>
                      <a:r>
                        <a:rPr lang="en-US" sz="800" b="0" i="0" u="none" strike="noStrike">
                          <a:solidFill>
                            <a:srgbClr val="000000"/>
                          </a:solidFill>
                          <a:effectLst/>
                          <a:latin typeface="Calibri" panose="020F0502020204030204" pitchFamily="34" charset="0"/>
                        </a:rPr>
                        <a:t>25</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0.01</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0.14</a:t>
                      </a:r>
                    </a:p>
                  </a:txBody>
                  <a:tcPr marL="5999" marR="5999" marT="5999" marB="0" anchor="b">
                    <a:lnL>
                      <a:noFill/>
                    </a:lnL>
                    <a:lnR>
                      <a:noFill/>
                    </a:lnR>
                    <a:lnT>
                      <a:noFill/>
                    </a:lnT>
                    <a:lnB>
                      <a:noFill/>
                    </a:lnB>
                  </a:tcPr>
                </a:tc>
                <a:extLst>
                  <a:ext uri="{0D108BD9-81ED-4DB2-BD59-A6C34878D82A}">
                    <a16:rowId xmlns:a16="http://schemas.microsoft.com/office/drawing/2014/main" val="2806773953"/>
                  </a:ext>
                </a:extLst>
              </a:tr>
              <a:tr h="140401">
                <a:tc>
                  <a:txBody>
                    <a:bodyPr/>
                    <a:lstStyle/>
                    <a:p>
                      <a:pPr algn="r" fontAlgn="b"/>
                      <a:r>
                        <a:rPr lang="en-US" sz="800" b="0" i="0" u="none" strike="noStrike">
                          <a:solidFill>
                            <a:srgbClr val="000000"/>
                          </a:solidFill>
                          <a:effectLst/>
                          <a:latin typeface="Calibri" panose="020F0502020204030204" pitchFamily="34" charset="0"/>
                        </a:rPr>
                        <a:t>26</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0.00</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0.07</a:t>
                      </a:r>
                    </a:p>
                  </a:txBody>
                  <a:tcPr marL="5999" marR="5999" marT="5999" marB="0" anchor="b">
                    <a:lnL>
                      <a:noFill/>
                    </a:lnL>
                    <a:lnR>
                      <a:noFill/>
                    </a:lnR>
                    <a:lnT>
                      <a:noFill/>
                    </a:lnT>
                    <a:lnB>
                      <a:noFill/>
                    </a:lnB>
                    <a:solidFill>
                      <a:srgbClr val="FFFF00"/>
                    </a:solidFill>
                  </a:tcPr>
                </a:tc>
                <a:extLst>
                  <a:ext uri="{0D108BD9-81ED-4DB2-BD59-A6C34878D82A}">
                    <a16:rowId xmlns:a16="http://schemas.microsoft.com/office/drawing/2014/main" val="3920784341"/>
                  </a:ext>
                </a:extLst>
              </a:tr>
              <a:tr h="140401">
                <a:tc>
                  <a:txBody>
                    <a:bodyPr/>
                    <a:lstStyle/>
                    <a:p>
                      <a:pPr algn="r" fontAlgn="b"/>
                      <a:r>
                        <a:rPr lang="en-US" sz="800" b="0" i="0" u="none" strike="noStrike">
                          <a:solidFill>
                            <a:srgbClr val="000000"/>
                          </a:solidFill>
                          <a:effectLst/>
                          <a:latin typeface="Calibri" panose="020F0502020204030204" pitchFamily="34" charset="0"/>
                        </a:rPr>
                        <a:t>27</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0.01</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0.18</a:t>
                      </a:r>
                    </a:p>
                  </a:txBody>
                  <a:tcPr marL="5999" marR="5999" marT="5999" marB="0" anchor="b">
                    <a:lnL>
                      <a:noFill/>
                    </a:lnL>
                    <a:lnR>
                      <a:noFill/>
                    </a:lnR>
                    <a:lnT>
                      <a:noFill/>
                    </a:lnT>
                    <a:lnB>
                      <a:noFill/>
                    </a:lnB>
                  </a:tcPr>
                </a:tc>
                <a:extLst>
                  <a:ext uri="{0D108BD9-81ED-4DB2-BD59-A6C34878D82A}">
                    <a16:rowId xmlns:a16="http://schemas.microsoft.com/office/drawing/2014/main" val="2378604953"/>
                  </a:ext>
                </a:extLst>
              </a:tr>
              <a:tr h="140401">
                <a:tc>
                  <a:txBody>
                    <a:bodyPr/>
                    <a:lstStyle/>
                    <a:p>
                      <a:pPr algn="r" fontAlgn="b"/>
                      <a:r>
                        <a:rPr lang="en-US" sz="800" b="0" i="0" u="none" strike="noStrike">
                          <a:solidFill>
                            <a:srgbClr val="000000"/>
                          </a:solidFill>
                          <a:effectLst/>
                          <a:latin typeface="Calibri" panose="020F0502020204030204" pitchFamily="34" charset="0"/>
                        </a:rPr>
                        <a:t>28</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0.00</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0.04</a:t>
                      </a:r>
                    </a:p>
                  </a:txBody>
                  <a:tcPr marL="5999" marR="5999" marT="5999" marB="0" anchor="b">
                    <a:lnL>
                      <a:noFill/>
                    </a:lnL>
                    <a:lnR>
                      <a:noFill/>
                    </a:lnR>
                    <a:lnT>
                      <a:noFill/>
                    </a:lnT>
                    <a:lnB>
                      <a:noFill/>
                    </a:lnB>
                    <a:solidFill>
                      <a:srgbClr val="FFFF00"/>
                    </a:solidFill>
                  </a:tcPr>
                </a:tc>
                <a:extLst>
                  <a:ext uri="{0D108BD9-81ED-4DB2-BD59-A6C34878D82A}">
                    <a16:rowId xmlns:a16="http://schemas.microsoft.com/office/drawing/2014/main" val="2461041640"/>
                  </a:ext>
                </a:extLst>
              </a:tr>
              <a:tr h="140401">
                <a:tc>
                  <a:txBody>
                    <a:bodyPr/>
                    <a:lstStyle/>
                    <a:p>
                      <a:pPr algn="r" fontAlgn="b"/>
                      <a:r>
                        <a:rPr lang="en-US" sz="800" b="0" i="0" u="none" strike="noStrike">
                          <a:solidFill>
                            <a:srgbClr val="000000"/>
                          </a:solidFill>
                          <a:effectLst/>
                          <a:latin typeface="Calibri" panose="020F0502020204030204" pitchFamily="34" charset="0"/>
                        </a:rPr>
                        <a:t>29</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0.02</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0.25</a:t>
                      </a:r>
                    </a:p>
                  </a:txBody>
                  <a:tcPr marL="5999" marR="5999" marT="5999" marB="0" anchor="b">
                    <a:lnL>
                      <a:noFill/>
                    </a:lnL>
                    <a:lnR>
                      <a:noFill/>
                    </a:lnR>
                    <a:lnT>
                      <a:noFill/>
                    </a:lnT>
                    <a:lnB>
                      <a:noFill/>
                    </a:lnB>
                  </a:tcPr>
                </a:tc>
                <a:extLst>
                  <a:ext uri="{0D108BD9-81ED-4DB2-BD59-A6C34878D82A}">
                    <a16:rowId xmlns:a16="http://schemas.microsoft.com/office/drawing/2014/main" val="1049769809"/>
                  </a:ext>
                </a:extLst>
              </a:tr>
              <a:tr h="140401">
                <a:tc>
                  <a:txBody>
                    <a:bodyPr/>
                    <a:lstStyle/>
                    <a:p>
                      <a:pPr algn="r" fontAlgn="b"/>
                      <a:r>
                        <a:rPr lang="en-US" sz="800" b="0" i="0" u="none" strike="noStrike">
                          <a:solidFill>
                            <a:srgbClr val="000000"/>
                          </a:solidFill>
                          <a:effectLst/>
                          <a:latin typeface="Calibri" panose="020F0502020204030204" pitchFamily="34" charset="0"/>
                        </a:rPr>
                        <a:t>30</a:t>
                      </a:r>
                    </a:p>
                  </a:txBody>
                  <a:tcPr marL="5999" marR="5999" marT="5999" marB="0" anchor="b">
                    <a:lnL>
                      <a:noFill/>
                    </a:lnL>
                    <a:lnR>
                      <a:noFill/>
                    </a:lnR>
                    <a:lnT>
                      <a:noFill/>
                    </a:lnT>
                    <a:lnB>
                      <a:noFill/>
                    </a:lnB>
                  </a:tcPr>
                </a:tc>
                <a:tc>
                  <a:txBody>
                    <a:bodyPr/>
                    <a:lstStyle/>
                    <a:p>
                      <a:pPr algn="ctr" fontAlgn="b"/>
                      <a:r>
                        <a:rPr lang="en-US" sz="800" b="0" i="0" u="none" strike="noStrike">
                          <a:solidFill>
                            <a:srgbClr val="000000"/>
                          </a:solidFill>
                          <a:effectLst/>
                          <a:latin typeface="Calibri" panose="020F0502020204030204" pitchFamily="34" charset="0"/>
                        </a:rPr>
                        <a:t>0.00</a:t>
                      </a:r>
                    </a:p>
                  </a:txBody>
                  <a:tcPr marL="5999" marR="5999" marT="5999" marB="0" anchor="b">
                    <a:lnL>
                      <a:noFill/>
                    </a:lnL>
                    <a:lnR>
                      <a:noFill/>
                    </a:lnR>
                    <a:lnT>
                      <a:noFill/>
                    </a:lnT>
                    <a:lnB>
                      <a:noFill/>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0.08</a:t>
                      </a:r>
                    </a:p>
                  </a:txBody>
                  <a:tcPr marL="5999" marR="5999" marT="5999" marB="0" anchor="b">
                    <a:lnL>
                      <a:noFill/>
                    </a:lnL>
                    <a:lnR>
                      <a:noFill/>
                    </a:lnR>
                    <a:lnT>
                      <a:noFill/>
                    </a:lnT>
                    <a:lnB>
                      <a:noFill/>
                    </a:lnB>
                  </a:tcPr>
                </a:tc>
                <a:extLst>
                  <a:ext uri="{0D108BD9-81ED-4DB2-BD59-A6C34878D82A}">
                    <a16:rowId xmlns:a16="http://schemas.microsoft.com/office/drawing/2014/main" val="2353264531"/>
                  </a:ext>
                </a:extLst>
              </a:tr>
              <a:tr h="140401">
                <a:tc>
                  <a:txBody>
                    <a:bodyPr/>
                    <a:lstStyle/>
                    <a:p>
                      <a:pPr algn="r" fontAlgn="b"/>
                      <a:r>
                        <a:rPr lang="en-US" sz="800" b="0" i="0" u="none" strike="noStrike">
                          <a:solidFill>
                            <a:srgbClr val="000000"/>
                          </a:solidFill>
                          <a:effectLst/>
                          <a:latin typeface="Calibri" panose="020F0502020204030204" pitchFamily="34" charset="0"/>
                        </a:rPr>
                        <a:t>31</a:t>
                      </a:r>
                    </a:p>
                  </a:txBody>
                  <a:tcPr marL="5999" marR="5999" marT="5999"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Calibri" panose="020F0502020204030204" pitchFamily="34" charset="0"/>
                        </a:rPr>
                        <a:t>0.02</a:t>
                      </a:r>
                    </a:p>
                  </a:txBody>
                  <a:tcPr marL="5999" marR="5999" marT="5999"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800" b="0" i="0" u="none" strike="noStrike">
                          <a:solidFill>
                            <a:srgbClr val="000000"/>
                          </a:solidFill>
                          <a:effectLst/>
                          <a:latin typeface="Calibri" panose="020F0502020204030204" pitchFamily="34" charset="0"/>
                        </a:rPr>
                        <a:t>0.21</a:t>
                      </a:r>
                    </a:p>
                  </a:txBody>
                  <a:tcPr marL="5999" marR="5999" marT="5999"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1103974"/>
                  </a:ext>
                </a:extLst>
              </a:tr>
              <a:tr h="140401">
                <a:tc>
                  <a:txBody>
                    <a:bodyPr/>
                    <a:lstStyle/>
                    <a:p>
                      <a:pPr algn="l" fontAlgn="b"/>
                      <a:r>
                        <a:rPr lang="en-US" sz="800" b="0" i="0" u="none" strike="noStrike">
                          <a:solidFill>
                            <a:srgbClr val="000000"/>
                          </a:solidFill>
                          <a:effectLst/>
                          <a:latin typeface="Calibri" panose="020F0502020204030204" pitchFamily="34" charset="0"/>
                        </a:rPr>
                        <a:t>Total Flags</a:t>
                      </a:r>
                    </a:p>
                  </a:txBody>
                  <a:tcPr marL="5999" marR="5999" marT="5999"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Calibri" panose="020F0502020204030204" pitchFamily="34" charset="0"/>
                        </a:rPr>
                        <a:t>23</a:t>
                      </a:r>
                    </a:p>
                  </a:txBody>
                  <a:tcPr marL="5999" marR="5999" marT="5999"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Calibri" panose="020F0502020204030204" pitchFamily="34" charset="0"/>
                        </a:rPr>
                        <a:t>5</a:t>
                      </a:r>
                    </a:p>
                  </a:txBody>
                  <a:tcPr marL="5999" marR="5999" marT="5999"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7804590"/>
                  </a:ext>
                </a:extLst>
              </a:tr>
            </a:tbl>
          </a:graphicData>
        </a:graphic>
      </p:graphicFrame>
      <p:sp>
        <p:nvSpPr>
          <p:cNvPr id="6" name="TextBox 5">
            <a:extLst>
              <a:ext uri="{FF2B5EF4-FFF2-40B4-BE49-F238E27FC236}">
                <a16:creationId xmlns:a16="http://schemas.microsoft.com/office/drawing/2014/main" id="{F400EB5D-FC43-3442-84A5-7AFEC3E7A047}"/>
              </a:ext>
            </a:extLst>
          </p:cNvPr>
          <p:cNvSpPr txBox="1"/>
          <p:nvPr/>
        </p:nvSpPr>
        <p:spPr>
          <a:xfrm>
            <a:off x="6096000" y="2857500"/>
            <a:ext cx="5257800" cy="928688"/>
          </a:xfrm>
          <a:prstGeom prst="rect">
            <a:avLst/>
          </a:prstGeom>
          <a:noFill/>
        </p:spPr>
        <p:txBody>
          <a:bodyPr wrap="square" rtlCol="0">
            <a:spAutoFit/>
          </a:bodyPr>
          <a:lstStyle/>
          <a:p>
            <a:endParaRPr lang="en-US"/>
          </a:p>
        </p:txBody>
      </p:sp>
      <p:sp>
        <p:nvSpPr>
          <p:cNvPr id="4" name="TextBox 3">
            <a:extLst>
              <a:ext uri="{FF2B5EF4-FFF2-40B4-BE49-F238E27FC236}">
                <a16:creationId xmlns:a16="http://schemas.microsoft.com/office/drawing/2014/main" id="{3D5CD5AA-1657-8D42-8C89-EE53EDF72FA0}"/>
              </a:ext>
            </a:extLst>
          </p:cNvPr>
          <p:cNvSpPr txBox="1"/>
          <p:nvPr/>
        </p:nvSpPr>
        <p:spPr>
          <a:xfrm>
            <a:off x="6096000" y="2907703"/>
            <a:ext cx="5232211" cy="830997"/>
          </a:xfrm>
          <a:prstGeom prst="rect">
            <a:avLst/>
          </a:prstGeom>
          <a:noFill/>
        </p:spPr>
        <p:txBody>
          <a:bodyPr wrap="square" rtlCol="0">
            <a:spAutoFit/>
          </a:bodyPr>
          <a:lstStyle/>
          <a:p>
            <a:r>
              <a:rPr lang="en-US" sz="2400"/>
              <a:t>We go from 23 items flagged for misfit to 5 items flagged!</a:t>
            </a:r>
          </a:p>
        </p:txBody>
      </p:sp>
    </p:spTree>
    <p:extLst>
      <p:ext uri="{BB962C8B-B14F-4D97-AF65-F5344CB8AC3E}">
        <p14:creationId xmlns:p14="http://schemas.microsoft.com/office/powerpoint/2010/main" val="16486913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Note on Statistical Fit from Yen &amp; Fitzpatrick</a:t>
            </a:r>
          </a:p>
        </p:txBody>
      </p:sp>
      <p:sp>
        <p:nvSpPr>
          <p:cNvPr id="5" name="Content Placeholder 4"/>
          <p:cNvSpPr>
            <a:spLocks noGrp="1"/>
          </p:cNvSpPr>
          <p:nvPr>
            <p:ph idx="1"/>
          </p:nvPr>
        </p:nvSpPr>
        <p:spPr/>
        <p:txBody>
          <a:bodyPr/>
          <a:lstStyle/>
          <a:p>
            <a:pPr marL="0" indent="0">
              <a:buNone/>
            </a:pPr>
            <a:r>
              <a:rPr lang="en-US" dirty="0"/>
              <a:t>“Thus, a compelling case can be made for treating statistical analyses of item fit as informative but not definitive. These statistics can provide a basis for identifying items on which further analyses are needed. The summary statistics should be supplemented by more detailed analyses so that the reasons for the misfit of an item can be better understood.” (Yen and Fitzpatrick, 2006, p. 141).</a:t>
            </a:r>
          </a:p>
        </p:txBody>
      </p:sp>
      <p:sp>
        <p:nvSpPr>
          <p:cNvPr id="2" name="Slide Number Placeholder 1"/>
          <p:cNvSpPr>
            <a:spLocks noGrp="1"/>
          </p:cNvSpPr>
          <p:nvPr>
            <p:ph type="sldNum" sz="quarter" idx="12"/>
          </p:nvPr>
        </p:nvSpPr>
        <p:spPr/>
        <p:txBody>
          <a:bodyPr/>
          <a:lstStyle/>
          <a:p>
            <a:fld id="{C324E0D7-F7AC-FE4A-AA37-CBD35715E861}" type="slidenum">
              <a:rPr lang="en-US" smtClean="0"/>
              <a:t>30</a:t>
            </a:fld>
            <a:endParaRPr lang="en-US"/>
          </a:p>
        </p:txBody>
      </p:sp>
    </p:spTree>
    <p:extLst>
      <p:ext uri="{BB962C8B-B14F-4D97-AF65-F5344CB8AC3E}">
        <p14:creationId xmlns:p14="http://schemas.microsoft.com/office/powerpoint/2010/main" val="670979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Graphical Analysis of Item Fit</a:t>
            </a:r>
          </a:p>
        </p:txBody>
      </p:sp>
      <p:sp>
        <p:nvSpPr>
          <p:cNvPr id="3" name="Content Placeholder 2"/>
          <p:cNvSpPr>
            <a:spLocks noGrp="1"/>
          </p:cNvSpPr>
          <p:nvPr>
            <p:ph idx="1"/>
          </p:nvPr>
        </p:nvSpPr>
        <p:spPr>
          <a:xfrm>
            <a:off x="838200" y="1825625"/>
            <a:ext cx="10515600" cy="1531033"/>
          </a:xfrm>
        </p:spPr>
        <p:txBody>
          <a:bodyPr/>
          <a:lstStyle/>
          <a:p>
            <a:r>
              <a:rPr lang="en-US" dirty="0"/>
              <a:t>Ideally, look at item content and think of substantive/theoretical explanations. For CDE data we don’t have the items. But can still look at item fit plots</a:t>
            </a:r>
          </a:p>
        </p:txBody>
      </p:sp>
      <p:pic>
        <p:nvPicPr>
          <p:cNvPr id="4" name="Picture 3"/>
          <p:cNvPicPr>
            <a:picLocks noChangeAspect="1"/>
          </p:cNvPicPr>
          <p:nvPr/>
        </p:nvPicPr>
        <p:blipFill>
          <a:blip r:embed="rId3"/>
          <a:stretch>
            <a:fillRect/>
          </a:stretch>
        </p:blipFill>
        <p:spPr>
          <a:xfrm>
            <a:off x="629856" y="3190653"/>
            <a:ext cx="3558127" cy="3142527"/>
          </a:xfrm>
          <a:prstGeom prst="rect">
            <a:avLst/>
          </a:prstGeom>
        </p:spPr>
      </p:pic>
      <p:pic>
        <p:nvPicPr>
          <p:cNvPr id="5" name="Picture 4"/>
          <p:cNvPicPr>
            <a:picLocks noChangeAspect="1"/>
          </p:cNvPicPr>
          <p:nvPr/>
        </p:nvPicPr>
        <p:blipFill>
          <a:blip r:embed="rId4"/>
          <a:stretch>
            <a:fillRect/>
          </a:stretch>
        </p:blipFill>
        <p:spPr>
          <a:xfrm>
            <a:off x="4611484" y="3190653"/>
            <a:ext cx="3554537" cy="3139356"/>
          </a:xfrm>
          <a:prstGeom prst="rect">
            <a:avLst/>
          </a:prstGeom>
        </p:spPr>
      </p:pic>
      <p:pic>
        <p:nvPicPr>
          <p:cNvPr id="6" name="Picture 5"/>
          <p:cNvPicPr>
            <a:picLocks noChangeAspect="1"/>
          </p:cNvPicPr>
          <p:nvPr/>
        </p:nvPicPr>
        <p:blipFill>
          <a:blip r:embed="rId5"/>
          <a:stretch>
            <a:fillRect/>
          </a:stretch>
        </p:blipFill>
        <p:spPr>
          <a:xfrm>
            <a:off x="8358029" y="3190652"/>
            <a:ext cx="3554539" cy="3139357"/>
          </a:xfrm>
          <a:prstGeom prst="rect">
            <a:avLst/>
          </a:prstGeom>
        </p:spPr>
      </p:pic>
      <p:sp>
        <p:nvSpPr>
          <p:cNvPr id="7" name="TextBox 6"/>
          <p:cNvSpPr txBox="1"/>
          <p:nvPr/>
        </p:nvSpPr>
        <p:spPr>
          <a:xfrm>
            <a:off x="1794007" y="6211860"/>
            <a:ext cx="1229824" cy="369332"/>
          </a:xfrm>
          <a:prstGeom prst="rect">
            <a:avLst/>
          </a:prstGeom>
          <a:noFill/>
        </p:spPr>
        <p:txBody>
          <a:bodyPr wrap="none" rtlCol="0">
            <a:spAutoFit/>
          </a:bodyPr>
          <a:lstStyle/>
          <a:p>
            <a:r>
              <a:rPr lang="en-US" dirty="0"/>
              <a:t>1PL Fit Plot</a:t>
            </a:r>
          </a:p>
        </p:txBody>
      </p:sp>
      <p:sp>
        <p:nvSpPr>
          <p:cNvPr id="8" name="TextBox 7"/>
          <p:cNvSpPr txBox="1"/>
          <p:nvPr/>
        </p:nvSpPr>
        <p:spPr>
          <a:xfrm>
            <a:off x="5870313" y="6214261"/>
            <a:ext cx="1229824" cy="369332"/>
          </a:xfrm>
          <a:prstGeom prst="rect">
            <a:avLst/>
          </a:prstGeom>
          <a:noFill/>
        </p:spPr>
        <p:txBody>
          <a:bodyPr wrap="none" rtlCol="0">
            <a:spAutoFit/>
          </a:bodyPr>
          <a:lstStyle/>
          <a:p>
            <a:r>
              <a:rPr lang="en-US" dirty="0"/>
              <a:t>2PL Fit Plot</a:t>
            </a:r>
          </a:p>
        </p:txBody>
      </p:sp>
      <p:sp>
        <p:nvSpPr>
          <p:cNvPr id="9" name="TextBox 8"/>
          <p:cNvSpPr txBox="1"/>
          <p:nvPr/>
        </p:nvSpPr>
        <p:spPr>
          <a:xfrm>
            <a:off x="9655710" y="6214261"/>
            <a:ext cx="1229824" cy="369332"/>
          </a:xfrm>
          <a:prstGeom prst="rect">
            <a:avLst/>
          </a:prstGeom>
          <a:noFill/>
        </p:spPr>
        <p:txBody>
          <a:bodyPr wrap="none" rtlCol="0">
            <a:spAutoFit/>
          </a:bodyPr>
          <a:lstStyle/>
          <a:p>
            <a:r>
              <a:rPr lang="en-US" dirty="0"/>
              <a:t>3PL Fit Plot</a:t>
            </a:r>
          </a:p>
        </p:txBody>
      </p:sp>
      <p:sp>
        <p:nvSpPr>
          <p:cNvPr id="10" name="TextBox 9"/>
          <p:cNvSpPr txBox="1"/>
          <p:nvPr/>
        </p:nvSpPr>
        <p:spPr>
          <a:xfrm>
            <a:off x="0" y="6581001"/>
            <a:ext cx="7622600" cy="276999"/>
          </a:xfrm>
          <a:prstGeom prst="rect">
            <a:avLst/>
          </a:prstGeom>
          <a:noFill/>
        </p:spPr>
        <p:txBody>
          <a:bodyPr wrap="none" rtlCol="0">
            <a:spAutoFit/>
          </a:bodyPr>
          <a:lstStyle/>
          <a:p>
            <a:r>
              <a:rPr lang="en-US" sz="1200" dirty="0" err="1">
                <a:latin typeface="Courier New" charset="0"/>
                <a:ea typeface="Courier New" charset="0"/>
                <a:cs typeface="Courier New" charset="0"/>
              </a:rPr>
              <a:t>itemfit</a:t>
            </a:r>
            <a:r>
              <a:rPr lang="en-US" sz="1200" dirty="0">
                <a:latin typeface="Courier New" charset="0"/>
                <a:ea typeface="Courier New" charset="0"/>
                <a:cs typeface="Courier New" charset="0"/>
              </a:rPr>
              <a:t>(mod1, </a:t>
            </a:r>
            <a:r>
              <a:rPr lang="en-US" sz="1200" dirty="0" err="1">
                <a:latin typeface="Courier New" charset="0"/>
                <a:ea typeface="Courier New" charset="0"/>
                <a:cs typeface="Courier New" charset="0"/>
              </a:rPr>
              <a:t>fit_stats</a:t>
            </a:r>
            <a:r>
              <a:rPr lang="en-US" sz="1200" dirty="0">
                <a:latin typeface="Courier New" charset="0"/>
                <a:ea typeface="Courier New" charset="0"/>
                <a:cs typeface="Courier New" charset="0"/>
              </a:rPr>
              <a:t>=c("X2"), </a:t>
            </a:r>
            <a:r>
              <a:rPr lang="en-US" sz="1200" dirty="0" err="1">
                <a:latin typeface="Courier New" charset="0"/>
                <a:ea typeface="Courier New" charset="0"/>
                <a:cs typeface="Courier New" charset="0"/>
              </a:rPr>
              <a:t>group.bins</a:t>
            </a:r>
            <a:r>
              <a:rPr lang="en-US" sz="1200" dirty="0">
                <a:latin typeface="Courier New" charset="0"/>
                <a:ea typeface="Courier New" charset="0"/>
                <a:cs typeface="Courier New" charset="0"/>
              </a:rPr>
              <a:t>=10, </a:t>
            </a:r>
            <a:r>
              <a:rPr lang="en-US" sz="1200" dirty="0" err="1">
                <a:latin typeface="Courier New" charset="0"/>
                <a:ea typeface="Courier New" charset="0"/>
                <a:cs typeface="Courier New" charset="0"/>
              </a:rPr>
              <a:t>empirical.plot</a:t>
            </a:r>
            <a:r>
              <a:rPr lang="en-US" sz="1200" dirty="0">
                <a:latin typeface="Courier New" charset="0"/>
                <a:ea typeface="Courier New" charset="0"/>
                <a:cs typeface="Courier New" charset="0"/>
              </a:rPr>
              <a:t>=14, </a:t>
            </a:r>
            <a:r>
              <a:rPr lang="en-US" sz="1200" dirty="0" err="1">
                <a:latin typeface="Courier New" charset="0"/>
                <a:ea typeface="Courier New" charset="0"/>
                <a:cs typeface="Courier New" charset="0"/>
              </a:rPr>
              <a:t>xlim</a:t>
            </a:r>
            <a:r>
              <a:rPr lang="en-US" sz="1200" dirty="0">
                <a:latin typeface="Courier New" charset="0"/>
                <a:ea typeface="Courier New" charset="0"/>
                <a:cs typeface="Courier New" charset="0"/>
              </a:rPr>
              <a:t>=c(-2,2))</a:t>
            </a:r>
          </a:p>
        </p:txBody>
      </p:sp>
      <p:sp>
        <p:nvSpPr>
          <p:cNvPr id="11" name="Slide Number Placeholder 10"/>
          <p:cNvSpPr>
            <a:spLocks noGrp="1"/>
          </p:cNvSpPr>
          <p:nvPr>
            <p:ph type="sldNum" sz="quarter" idx="12"/>
          </p:nvPr>
        </p:nvSpPr>
        <p:spPr/>
        <p:txBody>
          <a:bodyPr/>
          <a:lstStyle/>
          <a:p>
            <a:fld id="{C324E0D7-F7AC-FE4A-AA37-CBD35715E861}" type="slidenum">
              <a:rPr lang="en-US" smtClean="0"/>
              <a:t>31</a:t>
            </a:fld>
            <a:endParaRPr lang="en-US"/>
          </a:p>
        </p:txBody>
      </p:sp>
    </p:spTree>
    <p:extLst>
      <p:ext uri="{BB962C8B-B14F-4D97-AF65-F5344CB8AC3E}">
        <p14:creationId xmlns:p14="http://schemas.microsoft.com/office/powerpoint/2010/main" val="654039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5F487-9DA8-BDC2-3551-D23E0D94E90E}"/>
              </a:ext>
            </a:extLst>
          </p:cNvPr>
          <p:cNvSpPr>
            <a:spLocks noGrp="1"/>
          </p:cNvSpPr>
          <p:nvPr>
            <p:ph type="title"/>
          </p:nvPr>
        </p:nvSpPr>
        <p:spPr/>
        <p:txBody>
          <a:bodyPr/>
          <a:lstStyle/>
          <a:p>
            <a:r>
              <a:rPr lang="en-US" b="1"/>
              <a:t>Only Item 12 shows evidence of misfit to 3PL when using PV-Q1</a:t>
            </a:r>
          </a:p>
        </p:txBody>
      </p:sp>
      <p:pic>
        <p:nvPicPr>
          <p:cNvPr id="5" name="Content Placeholder 4">
            <a:extLst>
              <a:ext uri="{FF2B5EF4-FFF2-40B4-BE49-F238E27FC236}">
                <a16:creationId xmlns:a16="http://schemas.microsoft.com/office/drawing/2014/main" id="{443B7998-65E5-24D5-BE39-1A130B6525F3}"/>
              </a:ext>
            </a:extLst>
          </p:cNvPr>
          <p:cNvPicPr>
            <a:picLocks noGrp="1" noChangeAspect="1"/>
          </p:cNvPicPr>
          <p:nvPr>
            <p:ph idx="1"/>
          </p:nvPr>
        </p:nvPicPr>
        <p:blipFill>
          <a:blip r:embed="rId2"/>
          <a:stretch>
            <a:fillRect/>
          </a:stretch>
        </p:blipFill>
        <p:spPr>
          <a:xfrm>
            <a:off x="2150075" y="1927654"/>
            <a:ext cx="7028371" cy="4613919"/>
          </a:xfrm>
          <a:prstGeom prst="rect">
            <a:avLst/>
          </a:prstGeom>
        </p:spPr>
      </p:pic>
      <p:sp>
        <p:nvSpPr>
          <p:cNvPr id="4" name="Slide Number Placeholder 3">
            <a:extLst>
              <a:ext uri="{FF2B5EF4-FFF2-40B4-BE49-F238E27FC236}">
                <a16:creationId xmlns:a16="http://schemas.microsoft.com/office/drawing/2014/main" id="{536DAE22-79B1-9FF2-72C9-1635C487BABD}"/>
              </a:ext>
            </a:extLst>
          </p:cNvPr>
          <p:cNvSpPr>
            <a:spLocks noGrp="1"/>
          </p:cNvSpPr>
          <p:nvPr>
            <p:ph type="sldNum" sz="quarter" idx="12"/>
          </p:nvPr>
        </p:nvSpPr>
        <p:spPr/>
        <p:txBody>
          <a:bodyPr/>
          <a:lstStyle/>
          <a:p>
            <a:fld id="{C324E0D7-F7AC-FE4A-AA37-CBD35715E861}" type="slidenum">
              <a:rPr lang="en-US" smtClean="0"/>
              <a:t>32</a:t>
            </a:fld>
            <a:endParaRPr lang="en-US"/>
          </a:p>
        </p:txBody>
      </p:sp>
    </p:spTree>
    <p:extLst>
      <p:ext uri="{BB962C8B-B14F-4D97-AF65-F5344CB8AC3E}">
        <p14:creationId xmlns:p14="http://schemas.microsoft.com/office/powerpoint/2010/main" val="20621806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Infit</a:t>
            </a:r>
            <a:r>
              <a:rPr lang="en-US" b="1" dirty="0"/>
              <a:t> and Outfit in </a:t>
            </a:r>
            <a:r>
              <a:rPr lang="en-US" b="1" dirty="0" err="1"/>
              <a:t>Rasch</a:t>
            </a:r>
            <a:r>
              <a:rPr lang="en-US" b="1" dirty="0"/>
              <a:t> model</a:t>
            </a:r>
          </a:p>
        </p:txBody>
      </p:sp>
      <p:sp>
        <p:nvSpPr>
          <p:cNvPr id="3" name="Content Placeholder 2"/>
          <p:cNvSpPr>
            <a:spLocks noGrp="1"/>
          </p:cNvSpPr>
          <p:nvPr>
            <p:ph idx="1"/>
          </p:nvPr>
        </p:nvSpPr>
        <p:spPr/>
        <p:txBody>
          <a:bodyPr/>
          <a:lstStyle/>
          <a:p>
            <a:r>
              <a:rPr lang="en-US" dirty="0"/>
              <a:t>Reminder: these are based on standardized residuals.</a:t>
            </a:r>
          </a:p>
          <a:p>
            <a:r>
              <a:rPr lang="en-US" dirty="0"/>
              <a:t>Used to evaluate fit of </a:t>
            </a:r>
            <a:r>
              <a:rPr lang="en-US" dirty="0" err="1"/>
              <a:t>Rasch</a:t>
            </a:r>
            <a:r>
              <a:rPr lang="en-US" dirty="0"/>
              <a:t> model.</a:t>
            </a:r>
          </a:p>
          <a:p>
            <a:r>
              <a:rPr lang="en-US" dirty="0"/>
              <a:t>Most informative about whether items conform to equal slopes assumption.</a:t>
            </a:r>
          </a:p>
          <a:p>
            <a:r>
              <a:rPr lang="en-US" dirty="0"/>
              <a:t>In </a:t>
            </a:r>
            <a:r>
              <a:rPr lang="en-US" dirty="0" err="1"/>
              <a:t>mirt</a:t>
            </a:r>
            <a:r>
              <a:rPr lang="en-US" dirty="0"/>
              <a:t>:</a:t>
            </a:r>
          </a:p>
          <a:p>
            <a:pPr marL="0" indent="0">
              <a:buNone/>
            </a:pPr>
            <a:endParaRPr lang="en-US" dirty="0">
              <a:latin typeface="Courier New" charset="0"/>
              <a:ea typeface="Courier New" charset="0"/>
              <a:cs typeface="Courier New" charset="0"/>
            </a:endParaRPr>
          </a:p>
          <a:p>
            <a:pPr marL="0" indent="0">
              <a:buNone/>
            </a:pPr>
            <a:r>
              <a:rPr lang="en-US" dirty="0" err="1">
                <a:latin typeface="Courier New" charset="0"/>
                <a:ea typeface="Courier New" charset="0"/>
                <a:cs typeface="Courier New" charset="0"/>
              </a:rPr>
              <a:t>itemfit</a:t>
            </a:r>
            <a:r>
              <a:rPr lang="en-US" dirty="0">
                <a:latin typeface="Courier New" charset="0"/>
                <a:ea typeface="Courier New" charset="0"/>
                <a:cs typeface="Courier New" charset="0"/>
              </a:rPr>
              <a:t>(mod1, </a:t>
            </a:r>
            <a:r>
              <a:rPr lang="en-US" dirty="0" err="1">
                <a:latin typeface="Courier New" charset="0"/>
                <a:ea typeface="Courier New" charset="0"/>
                <a:cs typeface="Courier New" charset="0"/>
              </a:rPr>
              <a:t>fit_stats</a:t>
            </a:r>
            <a:r>
              <a:rPr lang="en-US" dirty="0">
                <a:latin typeface="Courier New" charset="0"/>
                <a:ea typeface="Courier New" charset="0"/>
                <a:cs typeface="Courier New" charset="0"/>
              </a:rPr>
              <a:t> = "</a:t>
            </a:r>
            <a:r>
              <a:rPr lang="en-US" dirty="0" err="1">
                <a:latin typeface="Courier New" charset="0"/>
                <a:ea typeface="Courier New" charset="0"/>
                <a:cs typeface="Courier New" charset="0"/>
              </a:rPr>
              <a:t>infit</a:t>
            </a:r>
            <a:r>
              <a:rPr lang="en-US" dirty="0">
                <a:latin typeface="Courier New" charset="0"/>
                <a:ea typeface="Courier New" charset="0"/>
                <a:cs typeface="Courier New" charset="0"/>
              </a:rPr>
              <a:t>")</a:t>
            </a:r>
          </a:p>
        </p:txBody>
      </p:sp>
      <p:sp>
        <p:nvSpPr>
          <p:cNvPr id="4" name="Slide Number Placeholder 3"/>
          <p:cNvSpPr>
            <a:spLocks noGrp="1"/>
          </p:cNvSpPr>
          <p:nvPr>
            <p:ph type="sldNum" sz="quarter" idx="12"/>
          </p:nvPr>
        </p:nvSpPr>
        <p:spPr/>
        <p:txBody>
          <a:bodyPr/>
          <a:lstStyle/>
          <a:p>
            <a:fld id="{C324E0D7-F7AC-FE4A-AA37-CBD35715E861}" type="slidenum">
              <a:rPr lang="en-US" smtClean="0"/>
              <a:t>33</a:t>
            </a:fld>
            <a:endParaRPr lang="en-US"/>
          </a:p>
        </p:txBody>
      </p:sp>
    </p:spTree>
    <p:extLst>
      <p:ext uri="{BB962C8B-B14F-4D97-AF65-F5344CB8AC3E}">
        <p14:creationId xmlns:p14="http://schemas.microsoft.com/office/powerpoint/2010/main" val="13805030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C73A03-6A54-6A0F-7953-B5E6E5EF57CA}"/>
              </a:ext>
            </a:extLst>
          </p:cNvPr>
          <p:cNvSpPr>
            <a:spLocks noGrp="1"/>
          </p:cNvSpPr>
          <p:nvPr>
            <p:ph type="sldNum" sz="quarter" idx="12"/>
          </p:nvPr>
        </p:nvSpPr>
        <p:spPr/>
        <p:txBody>
          <a:bodyPr/>
          <a:lstStyle/>
          <a:p>
            <a:fld id="{C324E0D7-F7AC-FE4A-AA37-CBD35715E861}" type="slidenum">
              <a:rPr lang="en-US" smtClean="0"/>
              <a:t>34</a:t>
            </a:fld>
            <a:endParaRPr lang="en-US"/>
          </a:p>
        </p:txBody>
      </p:sp>
      <p:sp>
        <p:nvSpPr>
          <p:cNvPr id="5" name="TextBox 4">
            <a:extLst>
              <a:ext uri="{FF2B5EF4-FFF2-40B4-BE49-F238E27FC236}">
                <a16:creationId xmlns:a16="http://schemas.microsoft.com/office/drawing/2014/main" id="{A97EDB58-D4D2-1B64-53F4-1F800C43EA56}"/>
              </a:ext>
            </a:extLst>
          </p:cNvPr>
          <p:cNvSpPr txBox="1"/>
          <p:nvPr/>
        </p:nvSpPr>
        <p:spPr>
          <a:xfrm>
            <a:off x="3398108" y="2782669"/>
            <a:ext cx="4806778" cy="646331"/>
          </a:xfrm>
          <a:prstGeom prst="rect">
            <a:avLst/>
          </a:prstGeom>
          <a:noFill/>
        </p:spPr>
        <p:txBody>
          <a:bodyPr wrap="square" rtlCol="0">
            <a:spAutoFit/>
          </a:bodyPr>
          <a:lstStyle/>
          <a:p>
            <a:pPr algn="ctr"/>
            <a:r>
              <a:rPr lang="en-US" sz="3600" b="1"/>
              <a:t>Person Fit</a:t>
            </a:r>
          </a:p>
        </p:txBody>
      </p:sp>
    </p:spTree>
    <p:extLst>
      <p:ext uri="{BB962C8B-B14F-4D97-AF65-F5344CB8AC3E}">
        <p14:creationId xmlns:p14="http://schemas.microsoft.com/office/powerpoint/2010/main" val="22387084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b="1" dirty="0"/>
                  <a:t>Person Fit with the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charset="0"/>
                          </a:rPr>
                          <m:t>𝒍</m:t>
                        </m:r>
                      </m:e>
                      <m:sub>
                        <m:r>
                          <a:rPr lang="en-US" b="1" i="1" smtClean="0">
                            <a:latin typeface="Cambria Math" charset="0"/>
                          </a:rPr>
                          <m:t>𝒛</m:t>
                        </m:r>
                      </m:sub>
                    </m:sSub>
                  </m:oMath>
                </a14:m>
                <a:r>
                  <a:rPr lang="en-US" b="1" dirty="0"/>
                  <a:t> Statistic</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2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0000" lnSpcReduction="20000"/>
              </a:bodyPr>
              <a:lstStyle/>
              <a:p>
                <a:r>
                  <a:rPr lang="en-US" dirty="0"/>
                  <a:t>For any given respondent </a:t>
                </a:r>
                <a14:m>
                  <m:oMath xmlns:m="http://schemas.openxmlformats.org/officeDocument/2006/math">
                    <m:r>
                      <a:rPr lang="en-US" b="0" i="1" smtClean="0">
                        <a:latin typeface="Cambria Math" charset="0"/>
                      </a:rPr>
                      <m:t>𝑖</m:t>
                    </m:r>
                  </m:oMath>
                </a14:m>
                <a:r>
                  <a:rPr lang="en-US" dirty="0"/>
                  <a:t>, compute the likelihood of their observed response vector to a set of </a:t>
                </a:r>
                <a14:m>
                  <m:oMath xmlns:m="http://schemas.openxmlformats.org/officeDocument/2006/math">
                    <m:r>
                      <a:rPr lang="en-US" b="0" i="1" smtClean="0">
                        <a:latin typeface="Cambria Math" charset="0"/>
                      </a:rPr>
                      <m:t>𝑛</m:t>
                    </m:r>
                  </m:oMath>
                </a14:m>
                <a:r>
                  <a:rPr lang="en-US" dirty="0"/>
                  <a:t> items as: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charset="0"/>
                        </a:rPr>
                        <m:t>𝑙</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charset="0"/>
                                </a:rPr>
                                <m:t>𝜃</m:t>
                              </m:r>
                            </m:e>
                          </m:acc>
                        </m:e>
                      </m:d>
                      <m:r>
                        <a:rPr lang="en-US" b="0" i="1" smtClean="0">
                          <a:latin typeface="Cambria Math" charset="0"/>
                        </a:rPr>
                        <m:t>=</m:t>
                      </m:r>
                      <m:nary>
                        <m:naryPr>
                          <m:chr m:val="∑"/>
                          <m:ctrlPr>
                            <a:rPr lang="is-IS" b="0" i="1" smtClean="0">
                              <a:latin typeface="Cambria Math" panose="02040503050406030204" pitchFamily="18" charset="0"/>
                            </a:rPr>
                          </m:ctrlPr>
                        </m:naryPr>
                        <m:sub>
                          <m:r>
                            <m:rPr>
                              <m:brk m:alnAt="23"/>
                            </m:rPr>
                            <a:rPr lang="en-US" b="0" i="1" smtClean="0">
                              <a:latin typeface="Cambria Math" charset="0"/>
                            </a:rPr>
                            <m:t>𝑖</m:t>
                          </m:r>
                          <m:r>
                            <a:rPr lang="en-US" b="0" i="1" smtClean="0">
                              <a:latin typeface="Cambria Math" charset="0"/>
                            </a:rPr>
                            <m:t>=1</m:t>
                          </m:r>
                        </m:sub>
                        <m:sup>
                          <m:r>
                            <a:rPr lang="en-US" b="0" i="1" smtClean="0">
                              <a:latin typeface="Cambria Math" charset="0"/>
                            </a:rPr>
                            <m:t>𝑛</m:t>
                          </m:r>
                        </m:sup>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𝑋</m:t>
                                  </m:r>
                                </m:e>
                                <m:sub>
                                  <m:r>
                                    <a:rPr lang="en-US" b="0" i="1" smtClean="0">
                                      <a:latin typeface="Cambria Math" charset="0"/>
                                    </a:rPr>
                                    <m:t>𝑖</m:t>
                                  </m:r>
                                </m:sub>
                              </m:sSub>
                              <m:func>
                                <m:funcPr>
                                  <m:ctrlPr>
                                    <a:rPr lang="en-US" b="0" i="1" smtClean="0">
                                      <a:latin typeface="Cambria Math" panose="02040503050406030204" pitchFamily="18" charset="0"/>
                                    </a:rPr>
                                  </m:ctrlPr>
                                </m:funcPr>
                                <m:fName>
                                  <m:r>
                                    <m:rPr>
                                      <m:sty m:val="p"/>
                                    </m:rPr>
                                    <a:rPr lang="en-US" b="0" i="0" smtClean="0">
                                      <a:latin typeface="Cambria Math" charset="0"/>
                                    </a:rPr>
                                    <m:t>ln</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𝑃</m:t>
                                          </m:r>
                                        </m:e>
                                        <m:sub>
                                          <m:r>
                                            <a:rPr lang="en-US" b="0" i="1" smtClean="0">
                                              <a:latin typeface="Cambria Math" charset="0"/>
                                            </a:rPr>
                                            <m:t>𝑖</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charset="0"/>
                                                </a:rPr>
                                                <m:t>𝜃</m:t>
                                              </m:r>
                                            </m:e>
                                          </m:acc>
                                        </m:e>
                                      </m:d>
                                    </m:e>
                                  </m:d>
                                </m:e>
                              </m:func>
                              <m:r>
                                <a:rPr lang="en-US" b="0" i="1" smtClean="0">
                                  <a:latin typeface="Cambria Math" charset="0"/>
                                </a:rPr>
                                <m:t>+</m:t>
                              </m:r>
                              <m:d>
                                <m:dPr>
                                  <m:ctrlPr>
                                    <a:rPr lang="en-US" b="0" i="1" smtClean="0">
                                      <a:latin typeface="Cambria Math" panose="02040503050406030204" pitchFamily="18" charset="0"/>
                                    </a:rPr>
                                  </m:ctrlPr>
                                </m:dPr>
                                <m:e>
                                  <m:r>
                                    <a:rPr lang="en-US" b="0" i="1" smtClean="0">
                                      <a:latin typeface="Cambria Math" charset="0"/>
                                    </a:rPr>
                                    <m:t>1−</m:t>
                                  </m:r>
                                  <m:sSub>
                                    <m:sSubPr>
                                      <m:ctrlPr>
                                        <a:rPr lang="en-US" b="0" i="1" smtClean="0">
                                          <a:latin typeface="Cambria Math" panose="02040503050406030204" pitchFamily="18" charset="0"/>
                                        </a:rPr>
                                      </m:ctrlPr>
                                    </m:sSubPr>
                                    <m:e>
                                      <m:r>
                                        <a:rPr lang="en-US" b="0" i="1" smtClean="0">
                                          <a:latin typeface="Cambria Math" charset="0"/>
                                        </a:rPr>
                                        <m:t>𝑋</m:t>
                                      </m:r>
                                    </m:e>
                                    <m:sub>
                                      <m:r>
                                        <a:rPr lang="en-US" b="0" i="1" smtClean="0">
                                          <a:latin typeface="Cambria Math" charset="0"/>
                                        </a:rPr>
                                        <m:t>𝑖</m:t>
                                      </m:r>
                                    </m:sub>
                                  </m:sSub>
                                </m:e>
                              </m:d>
                              <m:func>
                                <m:funcPr>
                                  <m:ctrlPr>
                                    <a:rPr lang="en-US" b="0" i="1" smtClean="0">
                                      <a:latin typeface="Cambria Math" panose="02040503050406030204" pitchFamily="18" charset="0"/>
                                    </a:rPr>
                                  </m:ctrlPr>
                                </m:funcPr>
                                <m:fName>
                                  <m:r>
                                    <m:rPr>
                                      <m:sty m:val="p"/>
                                    </m:rPr>
                                    <a:rPr lang="en-US" b="0" i="0" smtClean="0">
                                      <a:latin typeface="Cambria Math" charset="0"/>
                                    </a:rPr>
                                    <m:t>ln</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𝑄</m:t>
                                          </m:r>
                                        </m:e>
                                        <m:sub>
                                          <m:r>
                                            <a:rPr lang="en-US" b="0" i="1" smtClean="0">
                                              <a:latin typeface="Cambria Math" charset="0"/>
                                            </a:rPr>
                                            <m:t>𝑖</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charset="0"/>
                                                </a:rPr>
                                                <m:t>𝜃</m:t>
                                              </m:r>
                                            </m:e>
                                          </m:acc>
                                        </m:e>
                                      </m:d>
                                    </m:e>
                                  </m:d>
                                </m:e>
                              </m:func>
                            </m:e>
                          </m:d>
                        </m:e>
                      </m:nary>
                    </m:oMath>
                  </m:oMathPara>
                </a14:m>
                <a:endParaRPr lang="en-US" dirty="0"/>
              </a:p>
              <a:p>
                <a:r>
                  <a:rPr lang="en-US" dirty="0"/>
                  <a:t>Then standardize this value based in the expected value and variance of </a:t>
                </a:r>
                <a14:m>
                  <m:oMath xmlns:m="http://schemas.openxmlformats.org/officeDocument/2006/math">
                    <m:r>
                      <a:rPr lang="en-US" b="0" i="1" smtClean="0">
                        <a:latin typeface="Cambria Math" charset="0"/>
                      </a:rPr>
                      <m:t>𝑙</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charset="0"/>
                              </a:rPr>
                              <m:t>𝜃</m:t>
                            </m:r>
                          </m:e>
                        </m:acc>
                      </m:e>
                    </m:d>
                  </m:oMath>
                </a14:m>
                <a:r>
                  <a:rPr lang="en-US" dirty="0"/>
                  <a:t> at the value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charset="0"/>
                          </a:rPr>
                          <m:t>𝜃</m:t>
                        </m:r>
                      </m:e>
                    </m:acc>
                  </m:oMath>
                </a14:m>
                <a:r>
                  <a:rPr lang="en-US" dirty="0"/>
                  <a:t>:</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𝑙</m:t>
                          </m:r>
                        </m:e>
                        <m:sub>
                          <m:r>
                            <a:rPr lang="en-US" b="0" i="1" smtClean="0">
                              <a:latin typeface="Cambria Math" charset="0"/>
                            </a:rPr>
                            <m:t>𝑧</m:t>
                          </m:r>
                        </m:sub>
                      </m:sSub>
                      <m:r>
                        <a:rPr lang="en-US" b="0" i="1" smtClean="0">
                          <a:latin typeface="Cambria Math"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charset="0"/>
                                </a:rPr>
                                <m:t>𝑙</m:t>
                              </m:r>
                            </m:e>
                            <m:sub>
                              <m:r>
                                <a:rPr lang="en-US" b="0" i="1" smtClean="0">
                                  <a:latin typeface="Cambria Math" charset="0"/>
                                </a:rPr>
                                <m:t>0</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charset="0"/>
                                    </a:rPr>
                                    <m:t>𝜃</m:t>
                                  </m:r>
                                </m:e>
                              </m:acc>
                            </m:e>
                          </m:d>
                          <m:r>
                            <a:rPr lang="en-US" b="0" i="1" smtClean="0">
                              <a:latin typeface="Cambria Math" charset="0"/>
                            </a:rPr>
                            <m:t>−</m:t>
                          </m:r>
                          <m:r>
                            <a:rPr lang="en-US" b="0" i="1" smtClean="0">
                              <a:latin typeface="Cambria Math"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𝑙</m:t>
                                  </m:r>
                                </m:e>
                                <m:sub>
                                  <m:r>
                                    <a:rPr lang="en-US" b="0" i="1" smtClean="0">
                                      <a:latin typeface="Cambria Math" charset="0"/>
                                    </a:rPr>
                                    <m:t>0</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charset="0"/>
                                        </a:rPr>
                                        <m:t>𝜃</m:t>
                                      </m:r>
                                    </m:e>
                                  </m:acc>
                                </m:e>
                              </m:d>
                            </m:e>
                          </m:d>
                        </m:num>
                        <m:den>
                          <m:r>
                            <a:rPr lang="en-US" b="0" i="1" smtClean="0">
                              <a:latin typeface="Cambria Math" charset="0"/>
                            </a:rPr>
                            <m:t>𝑆𝐷</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𝑙</m:t>
                                  </m:r>
                                </m:e>
                                <m:sub>
                                  <m:r>
                                    <a:rPr lang="en-US" b="0" i="1" smtClean="0">
                                      <a:latin typeface="Cambria Math" charset="0"/>
                                    </a:rPr>
                                    <m:t>0</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charset="0"/>
                                        </a:rPr>
                                        <m:t>𝜃</m:t>
                                      </m:r>
                                    </m:e>
                                  </m:acc>
                                </m:e>
                              </m:d>
                            </m:e>
                          </m:d>
                        </m:den>
                      </m:f>
                    </m:oMath>
                  </m:oMathPara>
                </a14:m>
                <a:endParaRPr lang="en-US" dirty="0"/>
              </a:p>
              <a:p>
                <a:r>
                  <a:rPr lang="en-US" dirty="0"/>
                  <a:t>Large values of this statistic indicate “unusual” response patterns.</a:t>
                </a:r>
              </a:p>
              <a:p>
                <a:r>
                  <a:rPr lang="en-US" dirty="0"/>
                  <a:t>There is on-going research regarding whether to use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𝑙</m:t>
                        </m:r>
                      </m:e>
                      <m:sub>
                        <m:r>
                          <a:rPr lang="en-US" b="0" i="1" smtClean="0">
                            <a:latin typeface="Cambria Math" charset="0"/>
                          </a:rPr>
                          <m:t>𝑧</m:t>
                        </m:r>
                      </m:sub>
                    </m:sSub>
                  </m:oMath>
                </a14:m>
                <a:r>
                  <a:rPr lang="en-US" dirty="0"/>
                  <a:t> or an adjusted version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charset="0"/>
                          </a:rPr>
                          <m:t>𝑙</m:t>
                        </m:r>
                      </m:e>
                      <m:sub>
                        <m:r>
                          <a:rPr lang="en-US" b="0" i="1" smtClean="0">
                            <a:latin typeface="Cambria Math" charset="0"/>
                          </a:rPr>
                          <m:t>𝑧</m:t>
                        </m:r>
                      </m:sub>
                      <m:sup>
                        <m:r>
                          <a:rPr lang="en-US" b="0" i="1" smtClean="0">
                            <a:latin typeface="Cambria Math" charset="0"/>
                          </a:rPr>
                          <m:t>∗</m:t>
                        </m:r>
                      </m:sup>
                    </m:sSubSup>
                  </m:oMath>
                </a14:m>
                <a:r>
                  <a:rPr lang="en-US" dirty="0"/>
                  <a:t>.</a:t>
                </a:r>
              </a:p>
              <a:p>
                <a:r>
                  <a:rPr lang="en-US" dirty="0"/>
                  <a:t>Interpreting the statistic can be complicated. Need to ensure IRT model fits first.</a:t>
                </a:r>
              </a:p>
              <a:p>
                <a:r>
                  <a:rPr lang="en-US" dirty="0"/>
                  <a:t>“Person fit” has been studied more in </a:t>
                </a:r>
                <a:r>
                  <a:rPr lang="en-US" dirty="0" err="1"/>
                  <a:t>Rasch</a:t>
                </a:r>
                <a:r>
                  <a:rPr lang="en-US" dirty="0"/>
                  <a:t> modeling, and is an on-going area of research. </a:t>
                </a:r>
              </a:p>
              <a:p>
                <a:r>
                  <a:rPr lang="en-US" dirty="0"/>
                  <a:t>In </a:t>
                </a:r>
                <a:r>
                  <a:rPr lang="en-US" dirty="0" err="1"/>
                  <a:t>mirt</a:t>
                </a:r>
                <a:r>
                  <a:rPr lang="en-US" dirty="0"/>
                  <a:t>: lz &lt;- personfit(m3)</a:t>
                </a:r>
                <a:endParaRPr lang="en-US" dirty="0">
                  <a:latin typeface="Courier New" charset="0"/>
                  <a:ea typeface="Courier New" charset="0"/>
                  <a:cs typeface="Courier New"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03" t="-1366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C324E0D7-F7AC-FE4A-AA37-CBD35715E861}" type="slidenum">
              <a:rPr lang="en-US" smtClean="0"/>
              <a:t>35</a:t>
            </a:fld>
            <a:endParaRPr lang="en-US"/>
          </a:p>
        </p:txBody>
      </p:sp>
    </p:spTree>
    <p:extLst>
      <p:ext uri="{BB962C8B-B14F-4D97-AF65-F5344CB8AC3E}">
        <p14:creationId xmlns:p14="http://schemas.microsoft.com/office/powerpoint/2010/main" val="39929261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61DCA-B4C4-CCCE-0E40-A53BFDD568C6}"/>
              </a:ext>
            </a:extLst>
          </p:cNvPr>
          <p:cNvSpPr>
            <a:spLocks noGrp="1"/>
          </p:cNvSpPr>
          <p:nvPr>
            <p:ph type="title"/>
          </p:nvPr>
        </p:nvSpPr>
        <p:spPr/>
        <p:txBody>
          <a:bodyPr/>
          <a:lstStyle/>
          <a:p>
            <a:r>
              <a:rPr lang="en-US" b="1"/>
              <a:t>Distribution of lz for 3PL</a:t>
            </a:r>
          </a:p>
        </p:txBody>
      </p:sp>
      <p:pic>
        <p:nvPicPr>
          <p:cNvPr id="5" name="Content Placeholder 4">
            <a:extLst>
              <a:ext uri="{FF2B5EF4-FFF2-40B4-BE49-F238E27FC236}">
                <a16:creationId xmlns:a16="http://schemas.microsoft.com/office/drawing/2014/main" id="{83FA5474-9781-2A29-A6E4-83F5962C44DF}"/>
              </a:ext>
            </a:extLst>
          </p:cNvPr>
          <p:cNvPicPr>
            <a:picLocks noGrp="1" noChangeAspect="1"/>
          </p:cNvPicPr>
          <p:nvPr>
            <p:ph idx="1"/>
          </p:nvPr>
        </p:nvPicPr>
        <p:blipFill>
          <a:blip r:embed="rId2"/>
          <a:stretch>
            <a:fillRect/>
          </a:stretch>
        </p:blipFill>
        <p:spPr>
          <a:xfrm>
            <a:off x="1519879" y="1596107"/>
            <a:ext cx="7807461" cy="5125368"/>
          </a:xfrm>
          <a:prstGeom prst="rect">
            <a:avLst/>
          </a:prstGeom>
        </p:spPr>
      </p:pic>
      <p:sp>
        <p:nvSpPr>
          <p:cNvPr id="4" name="Slide Number Placeholder 3">
            <a:extLst>
              <a:ext uri="{FF2B5EF4-FFF2-40B4-BE49-F238E27FC236}">
                <a16:creationId xmlns:a16="http://schemas.microsoft.com/office/drawing/2014/main" id="{0DFD424E-4F17-53BC-76A2-584CA44FBAC3}"/>
              </a:ext>
            </a:extLst>
          </p:cNvPr>
          <p:cNvSpPr>
            <a:spLocks noGrp="1"/>
          </p:cNvSpPr>
          <p:nvPr>
            <p:ph type="sldNum" sz="quarter" idx="12"/>
          </p:nvPr>
        </p:nvSpPr>
        <p:spPr/>
        <p:txBody>
          <a:bodyPr/>
          <a:lstStyle/>
          <a:p>
            <a:fld id="{C324E0D7-F7AC-FE4A-AA37-CBD35715E861}" type="slidenum">
              <a:rPr lang="en-US" smtClean="0"/>
              <a:t>36</a:t>
            </a:fld>
            <a:endParaRPr lang="en-US"/>
          </a:p>
        </p:txBody>
      </p:sp>
      <p:sp>
        <p:nvSpPr>
          <p:cNvPr id="6" name="Oval 5">
            <a:extLst>
              <a:ext uri="{FF2B5EF4-FFF2-40B4-BE49-F238E27FC236}">
                <a16:creationId xmlns:a16="http://schemas.microsoft.com/office/drawing/2014/main" id="{976EEE5E-4AD7-BB34-B6A6-312ED4425DD9}"/>
              </a:ext>
            </a:extLst>
          </p:cNvPr>
          <p:cNvSpPr/>
          <p:nvPr/>
        </p:nvSpPr>
        <p:spPr>
          <a:xfrm>
            <a:off x="3212757" y="5078627"/>
            <a:ext cx="1322173" cy="76611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8C44581-AE0A-0CCD-728E-809E10ACBF90}"/>
              </a:ext>
            </a:extLst>
          </p:cNvPr>
          <p:cNvSpPr txBox="1"/>
          <p:nvPr/>
        </p:nvSpPr>
        <p:spPr>
          <a:xfrm>
            <a:off x="2996513" y="3626395"/>
            <a:ext cx="1754659" cy="1569660"/>
          </a:xfrm>
          <a:prstGeom prst="rect">
            <a:avLst/>
          </a:prstGeom>
          <a:noFill/>
        </p:spPr>
        <p:txBody>
          <a:bodyPr wrap="square" rtlCol="0">
            <a:spAutoFit/>
          </a:bodyPr>
          <a:lstStyle/>
          <a:p>
            <a:r>
              <a:rPr lang="en-US" sz="1600"/>
              <a:t>Maybe these student weren’t giving consistent effort? Might check process data. </a:t>
            </a:r>
          </a:p>
        </p:txBody>
      </p:sp>
    </p:spTree>
    <p:extLst>
      <p:ext uri="{BB962C8B-B14F-4D97-AF65-F5344CB8AC3E}">
        <p14:creationId xmlns:p14="http://schemas.microsoft.com/office/powerpoint/2010/main" val="28909857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C73A03-6A54-6A0F-7953-B5E6E5EF57CA}"/>
              </a:ext>
            </a:extLst>
          </p:cNvPr>
          <p:cNvSpPr>
            <a:spLocks noGrp="1"/>
          </p:cNvSpPr>
          <p:nvPr>
            <p:ph type="sldNum" sz="quarter" idx="12"/>
          </p:nvPr>
        </p:nvSpPr>
        <p:spPr/>
        <p:txBody>
          <a:bodyPr/>
          <a:lstStyle/>
          <a:p>
            <a:fld id="{C324E0D7-F7AC-FE4A-AA37-CBD35715E861}" type="slidenum">
              <a:rPr lang="en-US" smtClean="0"/>
              <a:t>37</a:t>
            </a:fld>
            <a:endParaRPr lang="en-US"/>
          </a:p>
        </p:txBody>
      </p:sp>
      <p:sp>
        <p:nvSpPr>
          <p:cNvPr id="5" name="TextBox 4">
            <a:extLst>
              <a:ext uri="{FF2B5EF4-FFF2-40B4-BE49-F238E27FC236}">
                <a16:creationId xmlns:a16="http://schemas.microsoft.com/office/drawing/2014/main" id="{A97EDB58-D4D2-1B64-53F4-1F800C43EA56}"/>
              </a:ext>
            </a:extLst>
          </p:cNvPr>
          <p:cNvSpPr txBox="1"/>
          <p:nvPr/>
        </p:nvSpPr>
        <p:spPr>
          <a:xfrm>
            <a:off x="3398108" y="2782669"/>
            <a:ext cx="4806778" cy="646331"/>
          </a:xfrm>
          <a:prstGeom prst="rect">
            <a:avLst/>
          </a:prstGeom>
          <a:noFill/>
        </p:spPr>
        <p:txBody>
          <a:bodyPr wrap="square" rtlCol="0">
            <a:spAutoFit/>
          </a:bodyPr>
          <a:lstStyle/>
          <a:p>
            <a:pPr algn="ctr"/>
            <a:r>
              <a:rPr lang="en-US" sz="3600" b="1"/>
              <a:t>Local Independence</a:t>
            </a:r>
          </a:p>
        </p:txBody>
      </p:sp>
    </p:spTree>
    <p:extLst>
      <p:ext uri="{BB962C8B-B14F-4D97-AF65-F5344CB8AC3E}">
        <p14:creationId xmlns:p14="http://schemas.microsoft.com/office/powerpoint/2010/main" val="22875729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en-US" sz="4000" b="1" dirty="0">
                <a:cs typeface="Calibri"/>
              </a:rPr>
              <a:t>Local Independence Assumption</a:t>
            </a:r>
          </a:p>
        </p:txBody>
      </p:sp>
      <mc:AlternateContent xmlns:mc="http://schemas.openxmlformats.org/markup-compatibility/2006" xmlns:a14="http://schemas.microsoft.com/office/drawing/2010/main">
        <mc:Choice Requires="a14">
          <p:sp>
            <p:nvSpPr>
              <p:cNvPr id="62468" name="Rectangle 3"/>
              <p:cNvSpPr>
                <a:spLocks noGrp="1" noChangeArrowheads="1"/>
              </p:cNvSpPr>
              <p:nvPr>
                <p:ph type="body" idx="1"/>
              </p:nvPr>
            </p:nvSpPr>
            <p:spPr/>
            <p:txBody>
              <a:bodyPr>
                <a:normAutofit/>
              </a:bodyPr>
              <a:lstStyle/>
              <a:p>
                <a:pPr marL="609600" indent="-609600">
                  <a:buNone/>
                </a:pPr>
                <a:r>
                  <a:rPr lang="en-US" u="sng" dirty="0">
                    <a:latin typeface="Calibri"/>
                    <a:cs typeface="Calibri"/>
                  </a:rPr>
                  <a:t>Yen’s Q3 Statistic</a:t>
                </a:r>
              </a:p>
              <a:p>
                <a:r>
                  <a:rPr lang="en-US" sz="2400" dirty="0">
                    <a:latin typeface="Calibri"/>
                    <a:cs typeface="Calibri"/>
                  </a:rPr>
                  <a:t>Use estimated item parameters and person parameters to get expected item responses: </a:t>
                </a:r>
                <a14:m>
                  <m:oMath xmlns:m="http://schemas.openxmlformats.org/officeDocument/2006/math">
                    <m:sSub>
                      <m:sSubPr>
                        <m:ctrlPr>
                          <a:rPr lang="en-US" sz="2400" b="0" i="1" smtClean="0">
                            <a:latin typeface="Cambria Math" panose="02040503050406030204" pitchFamily="18" charset="0"/>
                            <a:cs typeface="Calibri"/>
                          </a:rPr>
                        </m:ctrlPr>
                      </m:sSubPr>
                      <m:e>
                        <m:r>
                          <a:rPr lang="en-US" sz="2400" b="0" i="1" smtClean="0">
                            <a:latin typeface="Cambria Math" charset="0"/>
                            <a:cs typeface="Calibri"/>
                          </a:rPr>
                          <m:t>𝑃</m:t>
                        </m:r>
                      </m:e>
                      <m:sub>
                        <m:r>
                          <a:rPr lang="en-US" sz="2400" b="0" i="1" smtClean="0">
                            <a:latin typeface="Cambria Math" charset="0"/>
                            <a:cs typeface="Calibri"/>
                          </a:rPr>
                          <m:t>𝑖𝑠</m:t>
                        </m:r>
                      </m:sub>
                    </m:sSub>
                  </m:oMath>
                </a14:m>
                <a:endParaRPr lang="en-US" sz="2400" b="0" dirty="0">
                  <a:latin typeface="Calibri"/>
                  <a:cs typeface="Calibri"/>
                </a:endParaRPr>
              </a:p>
              <a:p>
                <a:r>
                  <a:rPr lang="en-US" sz="2400" dirty="0">
                    <a:latin typeface="Calibri"/>
                    <a:cs typeface="Calibri"/>
                  </a:rPr>
                  <a:t>Subtract observed item responses from expected to get residuals: </a:t>
                </a:r>
                <a14:m>
                  <m:oMath xmlns:m="http://schemas.openxmlformats.org/officeDocument/2006/math">
                    <m:sSub>
                      <m:sSubPr>
                        <m:ctrlPr>
                          <a:rPr lang="en-US" sz="2400" b="0" i="1" smtClean="0">
                            <a:latin typeface="Cambria Math" panose="02040503050406030204" pitchFamily="18" charset="0"/>
                            <a:cs typeface="Calibri"/>
                          </a:rPr>
                        </m:ctrlPr>
                      </m:sSubPr>
                      <m:e>
                        <m:r>
                          <a:rPr lang="en-US" sz="2400" b="0" i="1" smtClean="0">
                            <a:latin typeface="Cambria Math" charset="0"/>
                            <a:cs typeface="Calibri"/>
                          </a:rPr>
                          <m:t>𝑟</m:t>
                        </m:r>
                      </m:e>
                      <m:sub>
                        <m:r>
                          <a:rPr lang="en-US" sz="2400" b="0" i="1" smtClean="0">
                            <a:latin typeface="Cambria Math" charset="0"/>
                            <a:cs typeface="Calibri"/>
                          </a:rPr>
                          <m:t>𝑖𝑠</m:t>
                        </m:r>
                      </m:sub>
                    </m:sSub>
                    <m:r>
                      <a:rPr lang="en-US" sz="2400" b="0" i="1" smtClean="0">
                        <a:latin typeface="Cambria Math" charset="0"/>
                        <a:cs typeface="Calibri"/>
                      </a:rPr>
                      <m:t>=</m:t>
                    </m:r>
                    <m:sSub>
                      <m:sSubPr>
                        <m:ctrlPr>
                          <a:rPr lang="en-US" sz="2400" b="0" i="1" smtClean="0">
                            <a:latin typeface="Cambria Math" panose="02040503050406030204" pitchFamily="18" charset="0"/>
                            <a:cs typeface="Calibri"/>
                          </a:rPr>
                        </m:ctrlPr>
                      </m:sSubPr>
                      <m:e>
                        <m:r>
                          <a:rPr lang="en-US" sz="2400" b="0" i="1" smtClean="0">
                            <a:latin typeface="Cambria Math" charset="0"/>
                            <a:cs typeface="Calibri"/>
                          </a:rPr>
                          <m:t>𝑋</m:t>
                        </m:r>
                      </m:e>
                      <m:sub>
                        <m:r>
                          <a:rPr lang="en-US" sz="2400" b="0" i="1" smtClean="0">
                            <a:latin typeface="Cambria Math" charset="0"/>
                            <a:cs typeface="Calibri"/>
                          </a:rPr>
                          <m:t>𝑖𝑠</m:t>
                        </m:r>
                      </m:sub>
                    </m:sSub>
                    <m:r>
                      <a:rPr lang="en-US" sz="2400" b="0" i="1" smtClean="0">
                        <a:latin typeface="Cambria Math" charset="0"/>
                        <a:cs typeface="Calibri"/>
                      </a:rPr>
                      <m:t>−</m:t>
                    </m:r>
                    <m:sSub>
                      <m:sSubPr>
                        <m:ctrlPr>
                          <a:rPr lang="en-US" sz="2400" b="0" i="1" smtClean="0">
                            <a:latin typeface="Cambria Math" panose="02040503050406030204" pitchFamily="18" charset="0"/>
                            <a:cs typeface="Calibri"/>
                          </a:rPr>
                        </m:ctrlPr>
                      </m:sSubPr>
                      <m:e>
                        <m:r>
                          <a:rPr lang="en-US" sz="2400" b="0" i="1" smtClean="0">
                            <a:latin typeface="Cambria Math" charset="0"/>
                            <a:cs typeface="Calibri"/>
                          </a:rPr>
                          <m:t>𝑃</m:t>
                        </m:r>
                      </m:e>
                      <m:sub>
                        <m:r>
                          <a:rPr lang="en-US" sz="2400" b="0" i="1" smtClean="0">
                            <a:latin typeface="Cambria Math" charset="0"/>
                            <a:cs typeface="Calibri"/>
                          </a:rPr>
                          <m:t>𝑖𝑠</m:t>
                        </m:r>
                      </m:sub>
                    </m:sSub>
                  </m:oMath>
                </a14:m>
                <a:endParaRPr lang="en-US" sz="2400" b="0" dirty="0">
                  <a:latin typeface="Calibri"/>
                  <a:cs typeface="Calibri"/>
                </a:endParaRPr>
              </a:p>
              <a:p>
                <a:r>
                  <a:rPr lang="en-US" sz="2400" dirty="0">
                    <a:latin typeface="Calibri"/>
                    <a:cs typeface="Calibri"/>
                  </a:rPr>
                  <a:t>Correlate residuals across respondents by item. These correlations represent the Q3 statistics.</a:t>
                </a:r>
              </a:p>
              <a:p>
                <a:r>
                  <a:rPr lang="en-US" sz="2400" dirty="0">
                    <a:latin typeface="Calibri"/>
                    <a:cs typeface="Calibri"/>
                  </a:rPr>
                  <a:t>Expected value under hypothesis of LID = -1/(N-1)</a:t>
                </a:r>
              </a:p>
              <a:p>
                <a:pPr lvl="1"/>
                <a:r>
                  <a:rPr lang="en-US" sz="1600" dirty="0">
                    <a:latin typeface="Calibri"/>
                    <a:cs typeface="Calibri"/>
                  </a:rPr>
                  <a:t>NOTE: Where “N” = number of items</a:t>
                </a:r>
              </a:p>
              <a:p>
                <a:r>
                  <a:rPr lang="en-US" sz="2800" dirty="0">
                    <a:latin typeface="Calibri"/>
                    <a:cs typeface="Calibri"/>
                  </a:rPr>
                  <a:t>Rule of thumb: values &gt;= 0.2 get flagged (Yen &amp; Fitzpatrick, 2006)</a:t>
                </a:r>
              </a:p>
              <a:p>
                <a:pPr marL="609600" indent="-609600"/>
                <a:endParaRPr lang="en-US" sz="2400" dirty="0">
                  <a:latin typeface="Calibri"/>
                  <a:cs typeface="Calibri"/>
                </a:endParaRPr>
              </a:p>
            </p:txBody>
          </p:sp>
        </mc:Choice>
        <mc:Fallback xmlns="">
          <p:sp>
            <p:nvSpPr>
              <p:cNvPr id="62468" name="Rectangle 3"/>
              <p:cNvSpPr>
                <a:spLocks noGrp="1" noRot="1" noChangeAspect="1" noMove="1" noResize="1" noEditPoints="1" noAdjustHandles="1" noChangeArrowheads="1" noChangeShapeType="1" noTextEdit="1"/>
              </p:cNvSpPr>
              <p:nvPr>
                <p:ph type="body" idx="1"/>
              </p:nvPr>
            </p:nvSpPr>
            <p:spPr>
              <a:blipFill rotWithShape="0">
                <a:blip r:embed="rId3"/>
                <a:stretch>
                  <a:fillRect l="-1217" t="-2241"/>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C324E0D7-F7AC-FE4A-AA37-CBD35715E861}" type="slidenum">
              <a:rPr lang="en-US" smtClean="0"/>
              <a:t>38</a:t>
            </a:fld>
            <a:endParaRPr lang="en-US"/>
          </a:p>
        </p:txBody>
      </p:sp>
    </p:spTree>
    <p:extLst>
      <p:ext uri="{BB962C8B-B14F-4D97-AF65-F5344CB8AC3E}">
        <p14:creationId xmlns:p14="http://schemas.microsoft.com/office/powerpoint/2010/main" val="5588497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Calculating Q3 Statistic in </a:t>
            </a:r>
            <a:r>
              <a:rPr lang="en-US" b="1" dirty="0" err="1"/>
              <a:t>mirt</a:t>
            </a:r>
            <a:r>
              <a:rPr lang="en-US" b="1" dirty="0"/>
              <a:t>()</a:t>
            </a:r>
          </a:p>
        </p:txBody>
      </p:sp>
      <p:sp>
        <p:nvSpPr>
          <p:cNvPr id="3" name="Content Placeholder 2"/>
          <p:cNvSpPr>
            <a:spLocks noGrp="1"/>
          </p:cNvSpPr>
          <p:nvPr>
            <p:ph idx="1"/>
          </p:nvPr>
        </p:nvSpPr>
        <p:spPr/>
        <p:txBody>
          <a:bodyPr>
            <a:normAutofit lnSpcReduction="10000"/>
          </a:bodyPr>
          <a:lstStyle/>
          <a:p>
            <a:pPr marL="0" indent="0" algn="ctr">
              <a:buNone/>
            </a:pPr>
            <a:r>
              <a:rPr lang="en-US" dirty="0">
                <a:latin typeface="Courier New" charset="0"/>
                <a:ea typeface="Courier New" charset="0"/>
                <a:cs typeface="Courier New" charset="0"/>
              </a:rPr>
              <a:t>residuals(mod3, type="Q3", method="EAP")</a:t>
            </a:r>
          </a:p>
          <a:p>
            <a:endParaRPr lang="en-US" dirty="0">
              <a:ea typeface="Courier New" charset="0"/>
              <a:cs typeface="Courier New" charset="0"/>
            </a:endParaRPr>
          </a:p>
          <a:p>
            <a:r>
              <a:rPr lang="en-US" dirty="0">
                <a:ea typeface="Courier New" charset="0"/>
                <a:cs typeface="Courier New" charset="0"/>
              </a:rPr>
              <a:t>Again note that this will depend on both the specific IRT model being fit and how theta is estimated.</a:t>
            </a:r>
          </a:p>
          <a:p>
            <a:r>
              <a:rPr lang="en-US" dirty="0">
                <a:ea typeface="Courier New" charset="0"/>
                <a:cs typeface="Courier New" charset="0"/>
              </a:rPr>
              <a:t>Here, we find no values greater than 0.2 in absolute value. Assumptions seems defensible.</a:t>
            </a:r>
          </a:p>
          <a:p>
            <a:endParaRPr lang="en-US" dirty="0">
              <a:ea typeface="Courier New" charset="0"/>
              <a:cs typeface="Courier New" charset="0"/>
            </a:endParaRPr>
          </a:p>
          <a:p>
            <a:pPr marL="0" indent="0">
              <a:buNone/>
            </a:pPr>
            <a:r>
              <a:rPr lang="de-DE" sz="2200" dirty="0" err="1">
                <a:latin typeface="Courier New" charset="0"/>
                <a:ea typeface="Courier New" charset="0"/>
                <a:cs typeface="Courier New" charset="0"/>
              </a:rPr>
              <a:t>summary</a:t>
            </a:r>
            <a:r>
              <a:rPr lang="de-DE" sz="2200" dirty="0">
                <a:latin typeface="Courier New" charset="0"/>
                <a:ea typeface="Courier New" charset="0"/>
                <a:cs typeface="Courier New" charset="0"/>
              </a:rPr>
              <a:t>(q3[</a:t>
            </a:r>
            <a:r>
              <a:rPr lang="de-DE" sz="2200" dirty="0" err="1">
                <a:latin typeface="Courier New" charset="0"/>
                <a:ea typeface="Courier New" charset="0"/>
                <a:cs typeface="Courier New" charset="0"/>
              </a:rPr>
              <a:t>lower.tri</a:t>
            </a:r>
            <a:r>
              <a:rPr lang="de-DE" sz="2200" dirty="0">
                <a:latin typeface="Courier New" charset="0"/>
                <a:ea typeface="Courier New" charset="0"/>
                <a:cs typeface="Courier New" charset="0"/>
              </a:rPr>
              <a:t>(q3)])</a:t>
            </a:r>
          </a:p>
          <a:p>
            <a:pPr marL="0" indent="0">
              <a:buNone/>
            </a:pPr>
            <a:r>
              <a:rPr lang="de-DE" sz="2200" dirty="0">
                <a:latin typeface="Courier New" charset="0"/>
                <a:ea typeface="Courier New" charset="0"/>
                <a:cs typeface="Courier New" charset="0"/>
              </a:rPr>
              <a:t>Min.   1st </a:t>
            </a:r>
            <a:r>
              <a:rPr lang="de-DE" sz="2200" dirty="0" err="1">
                <a:latin typeface="Courier New" charset="0"/>
                <a:ea typeface="Courier New" charset="0"/>
                <a:cs typeface="Courier New" charset="0"/>
              </a:rPr>
              <a:t>Qu</a:t>
            </a:r>
            <a:r>
              <a:rPr lang="de-DE" sz="2200" dirty="0">
                <a:latin typeface="Courier New" charset="0"/>
                <a:ea typeface="Courier New" charset="0"/>
                <a:cs typeface="Courier New" charset="0"/>
              </a:rPr>
              <a:t>.    Median      </a:t>
            </a:r>
            <a:r>
              <a:rPr lang="de-DE" sz="2200" dirty="0" err="1">
                <a:latin typeface="Courier New" charset="0"/>
                <a:ea typeface="Courier New" charset="0"/>
                <a:cs typeface="Courier New" charset="0"/>
              </a:rPr>
              <a:t>Mean</a:t>
            </a:r>
            <a:r>
              <a:rPr lang="de-DE" sz="2200" dirty="0">
                <a:latin typeface="Courier New" charset="0"/>
                <a:ea typeface="Courier New" charset="0"/>
                <a:cs typeface="Courier New" charset="0"/>
              </a:rPr>
              <a:t>   3rd </a:t>
            </a:r>
            <a:r>
              <a:rPr lang="de-DE" sz="2200" dirty="0" err="1">
                <a:latin typeface="Courier New" charset="0"/>
                <a:ea typeface="Courier New" charset="0"/>
                <a:cs typeface="Courier New" charset="0"/>
              </a:rPr>
              <a:t>Qu</a:t>
            </a:r>
            <a:r>
              <a:rPr lang="de-DE" sz="2200" dirty="0">
                <a:latin typeface="Courier New" charset="0"/>
                <a:ea typeface="Courier New" charset="0"/>
                <a:cs typeface="Courier New" charset="0"/>
              </a:rPr>
              <a:t>.      Max. </a:t>
            </a:r>
          </a:p>
          <a:p>
            <a:pPr marL="0" indent="0">
              <a:buNone/>
            </a:pPr>
            <a:r>
              <a:rPr lang="de-DE" sz="2200" dirty="0">
                <a:latin typeface="Courier New" charset="0"/>
                <a:ea typeface="Courier New" charset="0"/>
                <a:cs typeface="Courier New" charset="0"/>
              </a:rPr>
              <a:t>-0.118702 -0.049555 -0.023562 -0.026432 -0.004529  0.083165 </a:t>
            </a:r>
            <a:endParaRPr lang="en-US" sz="2200" dirty="0">
              <a:latin typeface="Courier New" charset="0"/>
              <a:ea typeface="Courier New" charset="0"/>
              <a:cs typeface="Courier New" charset="0"/>
            </a:endParaRPr>
          </a:p>
          <a:p>
            <a:endParaRPr lang="en-US" dirty="0"/>
          </a:p>
        </p:txBody>
      </p:sp>
      <p:sp>
        <p:nvSpPr>
          <p:cNvPr id="4" name="Slide Number Placeholder 3"/>
          <p:cNvSpPr>
            <a:spLocks noGrp="1"/>
          </p:cNvSpPr>
          <p:nvPr>
            <p:ph type="sldNum" sz="quarter" idx="12"/>
          </p:nvPr>
        </p:nvSpPr>
        <p:spPr/>
        <p:txBody>
          <a:bodyPr/>
          <a:lstStyle/>
          <a:p>
            <a:fld id="{C324E0D7-F7AC-FE4A-AA37-CBD35715E861}" type="slidenum">
              <a:rPr lang="en-US" smtClean="0"/>
              <a:t>39</a:t>
            </a:fld>
            <a:endParaRPr lang="en-US"/>
          </a:p>
        </p:txBody>
      </p:sp>
    </p:spTree>
    <p:extLst>
      <p:ext uri="{BB962C8B-B14F-4D97-AF65-F5344CB8AC3E}">
        <p14:creationId xmlns:p14="http://schemas.microsoft.com/office/powerpoint/2010/main" val="8856453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C73A03-6A54-6A0F-7953-B5E6E5EF57CA}"/>
              </a:ext>
            </a:extLst>
          </p:cNvPr>
          <p:cNvSpPr>
            <a:spLocks noGrp="1"/>
          </p:cNvSpPr>
          <p:nvPr>
            <p:ph type="sldNum" sz="quarter" idx="12"/>
          </p:nvPr>
        </p:nvSpPr>
        <p:spPr/>
        <p:txBody>
          <a:bodyPr/>
          <a:lstStyle/>
          <a:p>
            <a:fld id="{C324E0D7-F7AC-FE4A-AA37-CBD35715E861}" type="slidenum">
              <a:rPr lang="en-US" smtClean="0"/>
              <a:t>40</a:t>
            </a:fld>
            <a:endParaRPr lang="en-US"/>
          </a:p>
        </p:txBody>
      </p:sp>
      <p:sp>
        <p:nvSpPr>
          <p:cNvPr id="5" name="TextBox 4">
            <a:extLst>
              <a:ext uri="{FF2B5EF4-FFF2-40B4-BE49-F238E27FC236}">
                <a16:creationId xmlns:a16="http://schemas.microsoft.com/office/drawing/2014/main" id="{A97EDB58-D4D2-1B64-53F4-1F800C43EA56}"/>
              </a:ext>
            </a:extLst>
          </p:cNvPr>
          <p:cNvSpPr txBox="1"/>
          <p:nvPr/>
        </p:nvSpPr>
        <p:spPr>
          <a:xfrm>
            <a:off x="3398108" y="2782669"/>
            <a:ext cx="4806778" cy="646331"/>
          </a:xfrm>
          <a:prstGeom prst="rect">
            <a:avLst/>
          </a:prstGeom>
          <a:noFill/>
        </p:spPr>
        <p:txBody>
          <a:bodyPr wrap="square" rtlCol="0">
            <a:spAutoFit/>
          </a:bodyPr>
          <a:lstStyle/>
          <a:p>
            <a:pPr algn="ctr"/>
            <a:r>
              <a:rPr lang="en-US" sz="3600" b="1"/>
              <a:t>Parameter Invariance</a:t>
            </a:r>
          </a:p>
        </p:txBody>
      </p:sp>
    </p:spTree>
    <p:extLst>
      <p:ext uri="{BB962C8B-B14F-4D97-AF65-F5344CB8AC3E}">
        <p14:creationId xmlns:p14="http://schemas.microsoft.com/office/powerpoint/2010/main" val="24628140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Checking Parameter Invariance</a:t>
            </a:r>
          </a:p>
        </p:txBody>
      </p:sp>
      <p:sp>
        <p:nvSpPr>
          <p:cNvPr id="3" name="Content Placeholder 2"/>
          <p:cNvSpPr>
            <a:spLocks noGrp="1"/>
          </p:cNvSpPr>
          <p:nvPr>
            <p:ph idx="1"/>
          </p:nvPr>
        </p:nvSpPr>
        <p:spPr/>
        <p:txBody>
          <a:bodyPr/>
          <a:lstStyle/>
          <a:p>
            <a:r>
              <a:rPr lang="en-US" dirty="0"/>
              <a:t>Conceptual overview:</a:t>
            </a:r>
          </a:p>
          <a:p>
            <a:pPr marL="914400" lvl="1" indent="-457200">
              <a:buFont typeface="+mj-lt"/>
              <a:buAutoNum type="arabicPeriod"/>
            </a:pPr>
            <a:r>
              <a:rPr lang="en-US" dirty="0"/>
              <a:t>Split data into 2 random samples.</a:t>
            </a:r>
          </a:p>
          <a:p>
            <a:pPr marL="914400" lvl="1" indent="-457200">
              <a:buFont typeface="+mj-lt"/>
              <a:buAutoNum type="arabicPeriod"/>
            </a:pPr>
            <a:r>
              <a:rPr lang="en-US" dirty="0"/>
              <a:t>Fit IRT model in both samples.</a:t>
            </a:r>
          </a:p>
          <a:p>
            <a:pPr marL="914400" lvl="1" indent="-457200">
              <a:buFont typeface="+mj-lt"/>
              <a:buAutoNum type="arabicPeriod"/>
            </a:pPr>
            <a:r>
              <a:rPr lang="en-US" dirty="0"/>
              <a:t>Compare stability (“invariance”) of parameter estimates.</a:t>
            </a:r>
          </a:p>
          <a:p>
            <a:r>
              <a:rPr lang="en-US" dirty="0"/>
              <a:t>If invariance holds, parameters should be highly correlated.</a:t>
            </a:r>
          </a:p>
          <a:p>
            <a:r>
              <a:rPr lang="en-US" dirty="0"/>
              <a:t>In this dataset we don’t have any group variables (e.g., sociodemographic variables)</a:t>
            </a:r>
          </a:p>
          <a:p>
            <a:r>
              <a:rPr lang="en-US" dirty="0"/>
              <a:t>If we did, this would be a better check on parameter invariance—we’ll return to this in the context of DIF in a few weeks.</a:t>
            </a:r>
          </a:p>
        </p:txBody>
      </p:sp>
      <p:sp>
        <p:nvSpPr>
          <p:cNvPr id="4" name="Slide Number Placeholder 3"/>
          <p:cNvSpPr>
            <a:spLocks noGrp="1"/>
          </p:cNvSpPr>
          <p:nvPr>
            <p:ph type="sldNum" sz="quarter" idx="12"/>
          </p:nvPr>
        </p:nvSpPr>
        <p:spPr/>
        <p:txBody>
          <a:bodyPr/>
          <a:lstStyle/>
          <a:p>
            <a:fld id="{C324E0D7-F7AC-FE4A-AA37-CBD35715E861}" type="slidenum">
              <a:rPr lang="en-US" smtClean="0"/>
              <a:t>41</a:t>
            </a:fld>
            <a:endParaRPr lang="en-US"/>
          </a:p>
        </p:txBody>
      </p:sp>
    </p:spTree>
    <p:extLst>
      <p:ext uri="{BB962C8B-B14F-4D97-AF65-F5344CB8AC3E}">
        <p14:creationId xmlns:p14="http://schemas.microsoft.com/office/powerpoint/2010/main" val="14108979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Parameter Invariance</a:t>
            </a:r>
          </a:p>
        </p:txBody>
      </p:sp>
      <p:sp>
        <p:nvSpPr>
          <p:cNvPr id="3" name="Content Placeholder 2"/>
          <p:cNvSpPr>
            <a:spLocks noGrp="1"/>
          </p:cNvSpPr>
          <p:nvPr>
            <p:ph idx="1"/>
          </p:nvPr>
        </p:nvSpPr>
        <p:spPr/>
        <p:txBody>
          <a:bodyPr>
            <a:normAutofit/>
          </a:bodyPr>
          <a:lstStyle/>
          <a:p>
            <a:pPr marL="0" indent="0">
              <a:buNone/>
            </a:pPr>
            <a:r>
              <a:rPr lang="en-US" sz="2000" dirty="0">
                <a:latin typeface="Courier New" charset="0"/>
                <a:ea typeface="Courier New" charset="0"/>
                <a:cs typeface="Courier New" charset="0"/>
              </a:rPr>
              <a:t># checking invariance</a:t>
            </a:r>
          </a:p>
          <a:p>
            <a:pPr marL="0" indent="0">
              <a:buNone/>
            </a:pPr>
            <a:r>
              <a:rPr lang="en-US" sz="2000" dirty="0">
                <a:latin typeface="Courier New" charset="0"/>
                <a:ea typeface="Courier New" charset="0"/>
                <a:cs typeface="Courier New" charset="0"/>
              </a:rPr>
              <a:t># I’ll assume the order in the data is random, so first half and second half of the data file are "random" samples</a:t>
            </a:r>
          </a:p>
          <a:p>
            <a:pPr marL="0" indent="0">
              <a:buNone/>
            </a:pPr>
            <a:r>
              <a:rPr lang="en-US" sz="2000" dirty="0">
                <a:latin typeface="Courier New" charset="0"/>
                <a:ea typeface="Courier New" charset="0"/>
                <a:cs typeface="Courier New" charset="0"/>
              </a:rPr>
              <a:t>samp1 &lt;- d[1:750,]</a:t>
            </a:r>
          </a:p>
          <a:p>
            <a:pPr marL="0" indent="0">
              <a:buNone/>
            </a:pPr>
            <a:r>
              <a:rPr lang="en-US" sz="2000" dirty="0">
                <a:latin typeface="Courier New" charset="0"/>
                <a:ea typeface="Courier New" charset="0"/>
                <a:cs typeface="Courier New" charset="0"/>
              </a:rPr>
              <a:t>samp2 &lt;- d[751:1500,]</a:t>
            </a:r>
          </a:p>
          <a:p>
            <a:pPr marL="0" indent="0">
              <a:buNone/>
            </a:pPr>
            <a:r>
              <a:rPr lang="en-US" sz="2000" dirty="0">
                <a:latin typeface="Courier New" charset="0"/>
                <a:ea typeface="Courier New" charset="0"/>
                <a:cs typeface="Courier New" charset="0"/>
              </a:rPr>
              <a:t>est1 &lt;- </a:t>
            </a:r>
            <a:r>
              <a:rPr lang="en-US" sz="2000" dirty="0" err="1">
                <a:latin typeface="Courier New" charset="0"/>
                <a:ea typeface="Courier New" charset="0"/>
                <a:cs typeface="Courier New" charset="0"/>
              </a:rPr>
              <a:t>mirt</a:t>
            </a:r>
            <a:r>
              <a:rPr lang="en-US" sz="2000" dirty="0">
                <a:latin typeface="Courier New" charset="0"/>
                <a:ea typeface="Courier New" charset="0"/>
                <a:cs typeface="Courier New" charset="0"/>
              </a:rPr>
              <a:t>(samp1, 1, </a:t>
            </a:r>
            <a:r>
              <a:rPr lang="en-US" sz="2000" dirty="0" err="1">
                <a:latin typeface="Courier New" charset="0"/>
                <a:ea typeface="Courier New" charset="0"/>
                <a:cs typeface="Courier New" charset="0"/>
              </a:rPr>
              <a:t>itemtype</a:t>
            </a:r>
            <a:r>
              <a:rPr lang="en-US" sz="2000" dirty="0">
                <a:latin typeface="Courier New" charset="0"/>
                <a:ea typeface="Courier New" charset="0"/>
                <a:cs typeface="Courier New" charset="0"/>
              </a:rPr>
              <a:t> = "3PL")</a:t>
            </a:r>
          </a:p>
          <a:p>
            <a:pPr marL="0" indent="0">
              <a:buNone/>
            </a:pPr>
            <a:r>
              <a:rPr lang="en-US" sz="2000" dirty="0">
                <a:latin typeface="Courier New" charset="0"/>
                <a:ea typeface="Courier New" charset="0"/>
                <a:cs typeface="Courier New" charset="0"/>
              </a:rPr>
              <a:t>est2 &lt;- </a:t>
            </a:r>
            <a:r>
              <a:rPr lang="en-US" sz="2000" dirty="0" err="1">
                <a:latin typeface="Courier New" charset="0"/>
                <a:ea typeface="Courier New" charset="0"/>
                <a:cs typeface="Courier New" charset="0"/>
              </a:rPr>
              <a:t>mirt</a:t>
            </a:r>
            <a:r>
              <a:rPr lang="en-US" sz="2000" dirty="0">
                <a:latin typeface="Courier New" charset="0"/>
                <a:ea typeface="Courier New" charset="0"/>
                <a:cs typeface="Courier New" charset="0"/>
              </a:rPr>
              <a:t>(samp2, 1, </a:t>
            </a:r>
            <a:r>
              <a:rPr lang="en-US" sz="2000" dirty="0" err="1">
                <a:latin typeface="Courier New" charset="0"/>
                <a:ea typeface="Courier New" charset="0"/>
                <a:cs typeface="Courier New" charset="0"/>
              </a:rPr>
              <a:t>itemtype</a:t>
            </a:r>
            <a:r>
              <a:rPr lang="en-US" sz="2000" dirty="0">
                <a:latin typeface="Courier New" charset="0"/>
                <a:ea typeface="Courier New" charset="0"/>
                <a:cs typeface="Courier New" charset="0"/>
              </a:rPr>
              <a:t> = "3PL")</a:t>
            </a:r>
          </a:p>
          <a:p>
            <a:pPr marL="0" indent="0">
              <a:buNone/>
            </a:pPr>
            <a:r>
              <a:rPr lang="en-US" sz="2000" dirty="0">
                <a:latin typeface="Courier New" charset="0"/>
                <a:ea typeface="Courier New" charset="0"/>
                <a:cs typeface="Courier New" charset="0"/>
              </a:rPr>
              <a:t>coef1 &lt;- </a:t>
            </a:r>
            <a:r>
              <a:rPr lang="en-US" sz="2000" dirty="0" err="1">
                <a:latin typeface="Courier New" charset="0"/>
                <a:ea typeface="Courier New" charset="0"/>
                <a:cs typeface="Courier New" charset="0"/>
              </a:rPr>
              <a:t>coef</a:t>
            </a:r>
            <a:r>
              <a:rPr lang="en-US" sz="2000" dirty="0">
                <a:latin typeface="Courier New" charset="0"/>
                <a:ea typeface="Courier New" charset="0"/>
                <a:cs typeface="Courier New" charset="0"/>
              </a:rPr>
              <a:t>(est1, </a:t>
            </a:r>
            <a:r>
              <a:rPr lang="en-US" sz="2000" dirty="0" err="1">
                <a:latin typeface="Courier New" charset="0"/>
                <a:ea typeface="Courier New" charset="0"/>
                <a:cs typeface="Courier New" charset="0"/>
              </a:rPr>
              <a:t>IRTpars</a:t>
            </a:r>
            <a:r>
              <a:rPr lang="en-US" sz="2000" dirty="0">
                <a:latin typeface="Courier New" charset="0"/>
                <a:ea typeface="Courier New" charset="0"/>
                <a:cs typeface="Courier New" charset="0"/>
              </a:rPr>
              <a:t>=TRUE, simplify = TRUE)$items</a:t>
            </a:r>
          </a:p>
          <a:p>
            <a:pPr marL="0" indent="0">
              <a:buNone/>
            </a:pPr>
            <a:r>
              <a:rPr lang="en-US" sz="2000" dirty="0">
                <a:latin typeface="Courier New" charset="0"/>
                <a:ea typeface="Courier New" charset="0"/>
                <a:cs typeface="Courier New" charset="0"/>
              </a:rPr>
              <a:t>coef2 &lt;- </a:t>
            </a:r>
            <a:r>
              <a:rPr lang="en-US" sz="2000" dirty="0" err="1">
                <a:latin typeface="Courier New" charset="0"/>
                <a:ea typeface="Courier New" charset="0"/>
                <a:cs typeface="Courier New" charset="0"/>
              </a:rPr>
              <a:t>coef</a:t>
            </a:r>
            <a:r>
              <a:rPr lang="en-US" sz="2000" dirty="0">
                <a:latin typeface="Courier New" charset="0"/>
                <a:ea typeface="Courier New" charset="0"/>
                <a:cs typeface="Courier New" charset="0"/>
              </a:rPr>
              <a:t>(est2, </a:t>
            </a:r>
            <a:r>
              <a:rPr lang="en-US" sz="2000" dirty="0" err="1">
                <a:latin typeface="Courier New" charset="0"/>
                <a:ea typeface="Courier New" charset="0"/>
                <a:cs typeface="Courier New" charset="0"/>
              </a:rPr>
              <a:t>IRTpars</a:t>
            </a:r>
            <a:r>
              <a:rPr lang="en-US" sz="2000" dirty="0">
                <a:latin typeface="Courier New" charset="0"/>
                <a:ea typeface="Courier New" charset="0"/>
                <a:cs typeface="Courier New" charset="0"/>
              </a:rPr>
              <a:t>=TRUE, simplify = TRUE)$items</a:t>
            </a:r>
          </a:p>
        </p:txBody>
      </p:sp>
      <p:sp>
        <p:nvSpPr>
          <p:cNvPr id="4" name="Slide Number Placeholder 3"/>
          <p:cNvSpPr>
            <a:spLocks noGrp="1"/>
          </p:cNvSpPr>
          <p:nvPr>
            <p:ph type="sldNum" sz="quarter" idx="12"/>
          </p:nvPr>
        </p:nvSpPr>
        <p:spPr/>
        <p:txBody>
          <a:bodyPr/>
          <a:lstStyle/>
          <a:p>
            <a:fld id="{C324E0D7-F7AC-FE4A-AA37-CBD35715E861}" type="slidenum">
              <a:rPr lang="en-US" smtClean="0"/>
              <a:t>42</a:t>
            </a:fld>
            <a:endParaRPr lang="en-US"/>
          </a:p>
        </p:txBody>
      </p:sp>
    </p:spTree>
    <p:extLst>
      <p:ext uri="{BB962C8B-B14F-4D97-AF65-F5344CB8AC3E}">
        <p14:creationId xmlns:p14="http://schemas.microsoft.com/office/powerpoint/2010/main" val="19519508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3PL Parameter Invariance</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364" y="1690688"/>
            <a:ext cx="11760282" cy="3920094"/>
          </a:xfrm>
        </p:spPr>
      </p:pic>
      <p:sp>
        <p:nvSpPr>
          <p:cNvPr id="4" name="Slide Number Placeholder 3"/>
          <p:cNvSpPr>
            <a:spLocks noGrp="1"/>
          </p:cNvSpPr>
          <p:nvPr>
            <p:ph type="sldNum" sz="quarter" idx="12"/>
          </p:nvPr>
        </p:nvSpPr>
        <p:spPr/>
        <p:txBody>
          <a:bodyPr/>
          <a:lstStyle/>
          <a:p>
            <a:fld id="{C324E0D7-F7AC-FE4A-AA37-CBD35715E861}" type="slidenum">
              <a:rPr lang="en-US" smtClean="0"/>
              <a:t>43</a:t>
            </a:fld>
            <a:endParaRPr lang="en-US"/>
          </a:p>
        </p:txBody>
      </p:sp>
    </p:spTree>
    <p:extLst>
      <p:ext uri="{BB962C8B-B14F-4D97-AF65-F5344CB8AC3E}">
        <p14:creationId xmlns:p14="http://schemas.microsoft.com/office/powerpoint/2010/main" val="16869944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3PL Parameter Invariance</a:t>
            </a:r>
          </a:p>
        </p:txBody>
      </p:sp>
      <p:sp>
        <p:nvSpPr>
          <p:cNvPr id="4" name="Slide Number Placeholder 3"/>
          <p:cNvSpPr>
            <a:spLocks noGrp="1"/>
          </p:cNvSpPr>
          <p:nvPr>
            <p:ph type="sldNum" sz="quarter" idx="12"/>
          </p:nvPr>
        </p:nvSpPr>
        <p:spPr/>
        <p:txBody>
          <a:bodyPr/>
          <a:lstStyle/>
          <a:p>
            <a:fld id="{C324E0D7-F7AC-FE4A-AA37-CBD35715E861}" type="slidenum">
              <a:rPr lang="en-US" smtClean="0"/>
              <a:t>44</a:t>
            </a:fld>
            <a:endParaRPr lang="en-US"/>
          </a:p>
        </p:txBody>
      </p:sp>
      <p:sp>
        <p:nvSpPr>
          <p:cNvPr id="3" name="Content Placeholder 2"/>
          <p:cNvSpPr>
            <a:spLocks noGrp="1"/>
          </p:cNvSpPr>
          <p:nvPr>
            <p:ph idx="1"/>
          </p:nvPr>
        </p:nvSpPr>
        <p:spPr/>
        <p:txBody>
          <a:bodyPr/>
          <a:lstStyle/>
          <a:p>
            <a:r>
              <a:rPr lang="en-US" dirty="0"/>
              <a:t>More formal analysis would consider the standard errors of the parameter estimates.</a:t>
            </a:r>
          </a:p>
          <a:p>
            <a:r>
              <a:rPr lang="en-US" dirty="0"/>
              <a:t>This initial look suggests some stability of a and b parameters. But, the guessing parameters don’t seem very stable</a:t>
            </a:r>
          </a:p>
          <a:p>
            <a:r>
              <a:rPr lang="en-US" dirty="0"/>
              <a:t>The small sample sizes (750 per half) also warrant caution in interpretation.</a:t>
            </a:r>
          </a:p>
        </p:txBody>
      </p:sp>
    </p:spTree>
    <p:extLst>
      <p:ext uri="{BB962C8B-B14F-4D97-AF65-F5344CB8AC3E}">
        <p14:creationId xmlns:p14="http://schemas.microsoft.com/office/powerpoint/2010/main" val="12200134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Calibri" charset="0"/>
                <a:cs typeface="Calibri" charset="0"/>
              </a:rPr>
              <a:t>Summary of Findings Re. Fit</a:t>
            </a:r>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dirty="0">
                <a:latin typeface="Calibri" charset="0"/>
                <a:ea typeface="Calibri" charset="0"/>
                <a:cs typeface="Calibri" charset="0"/>
              </a:rPr>
              <a:t>There is evidence of a strong first factor, reasonable to assert that the data is “essentially” unidimensional</a:t>
            </a:r>
          </a:p>
          <a:p>
            <a:pPr marL="514350" indent="-514350">
              <a:buFont typeface="+mj-lt"/>
              <a:buAutoNum type="arabicPeriod"/>
            </a:pPr>
            <a:r>
              <a:rPr lang="en-US" dirty="0">
                <a:latin typeface="Calibri" charset="0"/>
                <a:ea typeface="Calibri" charset="0"/>
                <a:cs typeface="Calibri" charset="0"/>
              </a:rPr>
              <a:t>In a global sense, 3PL fits item response data better than 2PL, and 2PL fits better than 1PL.</a:t>
            </a:r>
          </a:p>
          <a:p>
            <a:pPr marL="514350" indent="-514350">
              <a:buFont typeface="+mj-lt"/>
              <a:buAutoNum type="arabicPeriod"/>
            </a:pPr>
            <a:r>
              <a:rPr lang="en-US" dirty="0">
                <a:latin typeface="Calibri" charset="0"/>
                <a:ea typeface="Calibri" charset="0"/>
                <a:cs typeface="Calibri" charset="0"/>
              </a:rPr>
              <a:t>The 3PL model converges after we remove item 23 or increase iterations</a:t>
            </a:r>
          </a:p>
          <a:p>
            <a:pPr marL="514350" indent="-514350">
              <a:buFont typeface="+mj-lt"/>
              <a:buAutoNum type="arabicPeriod"/>
            </a:pPr>
            <a:r>
              <a:rPr lang="en-US" dirty="0">
                <a:latin typeface="Calibri" charset="0"/>
                <a:ea typeface="Calibri" charset="0"/>
                <a:cs typeface="Calibri" charset="0"/>
              </a:rPr>
              <a:t>Item fit look pretty good under the 3PL; person fit seems ok too but might want to check students with values less than -2</a:t>
            </a:r>
          </a:p>
          <a:p>
            <a:pPr marL="514350" indent="-514350">
              <a:buFont typeface="+mj-lt"/>
              <a:buAutoNum type="arabicPeriod"/>
            </a:pPr>
            <a:r>
              <a:rPr lang="en-US" dirty="0">
                <a:latin typeface="Calibri" charset="0"/>
                <a:ea typeface="Calibri" charset="0"/>
                <a:cs typeface="Calibri" charset="0"/>
              </a:rPr>
              <a:t>Local independence seems to hold based on examination of residual correlations</a:t>
            </a:r>
          </a:p>
          <a:p>
            <a:pPr marL="514350" indent="-514350">
              <a:buFont typeface="+mj-lt"/>
              <a:buAutoNum type="arabicPeriod"/>
            </a:pPr>
            <a:r>
              <a:rPr lang="en-US" dirty="0">
                <a:latin typeface="Calibri" charset="0"/>
                <a:ea typeface="Calibri" charset="0"/>
                <a:cs typeface="Calibri" charset="0"/>
              </a:rPr>
              <a:t>Property of parameter invariance doesn’t hold for guessing parameters…may require either dropping items, setting prior values on guessing parameters, or fixing some of the values.</a:t>
            </a:r>
          </a:p>
        </p:txBody>
      </p:sp>
      <p:sp>
        <p:nvSpPr>
          <p:cNvPr id="5" name="Slide Number Placeholder 4"/>
          <p:cNvSpPr>
            <a:spLocks noGrp="1"/>
          </p:cNvSpPr>
          <p:nvPr>
            <p:ph type="sldNum" sz="quarter" idx="12"/>
          </p:nvPr>
        </p:nvSpPr>
        <p:spPr/>
        <p:txBody>
          <a:bodyPr/>
          <a:lstStyle/>
          <a:p>
            <a:fld id="{C324E0D7-F7AC-FE4A-AA37-CBD35715E861}" type="slidenum">
              <a:rPr lang="en-US" smtClean="0"/>
              <a:t>45</a:t>
            </a:fld>
            <a:endParaRPr lang="en-US"/>
          </a:p>
        </p:txBody>
      </p:sp>
    </p:spTree>
    <p:extLst>
      <p:ext uri="{BB962C8B-B14F-4D97-AF65-F5344CB8AC3E}">
        <p14:creationId xmlns:p14="http://schemas.microsoft.com/office/powerpoint/2010/main" val="457765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7143</TotalTime>
  <Words>3292</Words>
  <Application>Microsoft Macintosh PowerPoint</Application>
  <PresentationFormat>Widescreen</PresentationFormat>
  <Paragraphs>471</Paragraphs>
  <Slides>45</Slides>
  <Notes>13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45</vt:i4>
      </vt:variant>
    </vt:vector>
  </HeadingPairs>
  <TitlesOfParts>
    <vt:vector size="56" baseType="lpstr">
      <vt:lpstr>ＭＳ Ｐゴシック</vt:lpstr>
      <vt:lpstr>Aptos Narrow</vt:lpstr>
      <vt:lpstr>Arial</vt:lpstr>
      <vt:lpstr>Calibri</vt:lpstr>
      <vt:lpstr>Calibri Light</vt:lpstr>
      <vt:lpstr>Cambria Math</vt:lpstr>
      <vt:lpstr>Courier New</vt:lpstr>
      <vt:lpstr>SF Pro Text</vt:lpstr>
      <vt:lpstr>Studio-Feixen-Sans</vt:lpstr>
      <vt:lpstr>Wingdings</vt:lpstr>
      <vt:lpstr>Office Theme</vt:lpstr>
      <vt:lpstr>Evaluating the Fit of IRT Models: Diagnostics</vt:lpstr>
      <vt:lpstr>My Acronym for Fit Diagnostics:  DDMIPLiP (“DeeDeeMipLip”)</vt:lpstr>
      <vt:lpstr>Context: CDE Math Data Set</vt:lpstr>
      <vt:lpstr>PowerPoint Presentation</vt:lpstr>
      <vt:lpstr>PowerPoint Presentation</vt:lpstr>
      <vt:lpstr>Descriptives</vt:lpstr>
      <vt:lpstr>PowerPoint Presentation</vt:lpstr>
      <vt:lpstr>Dimensionality: Parallel Analysis</vt:lpstr>
      <vt:lpstr>Dimensionality: Parallel Analysis Scree Plot</vt:lpstr>
      <vt:lpstr>Criteria for Unidimensionality in IRT Models for Large-Scale Assessment?</vt:lpstr>
      <vt:lpstr>Upshot of this Criterion…</vt:lpstr>
      <vt:lpstr>PowerPoint Presentation</vt:lpstr>
      <vt:lpstr>Model Fit Comparisons</vt:lpstr>
      <vt:lpstr>Comparing fit of 1PL, 2PL, 3PL</vt:lpstr>
      <vt:lpstr>Global Tests of Fit: Results</vt:lpstr>
      <vt:lpstr>PowerPoint Presentation</vt:lpstr>
      <vt:lpstr>mirt can also produce SEM Fit Statistics (results from applying the “M2” fcn) </vt:lpstr>
      <vt:lpstr>SEM Fit Statistic Crib Sheet</vt:lpstr>
      <vt:lpstr>PowerPoint Presentation</vt:lpstr>
      <vt:lpstr>Notice that the 3PL did not converge…</vt:lpstr>
      <vt:lpstr>PowerPoint Presentation</vt:lpstr>
      <vt:lpstr>Comparing SEs of Item Parameter Estimates</vt:lpstr>
      <vt:lpstr>Chi-Square Test Statistics</vt:lpstr>
      <vt:lpstr>Quick Refresher on Significance Testing</vt:lpstr>
      <vt:lpstr>Significance Testing for Item Fit</vt:lpstr>
      <vt:lpstr>Yen’s “Q1” Item Fit Statistic</vt:lpstr>
      <vt:lpstr>PowerPoint Presentation</vt:lpstr>
      <vt:lpstr>Chalmers &amp; Ng (2017)</vt:lpstr>
      <vt:lpstr>Comparing Q1 to Chalmers’ PV-Q1 for CDE data using 2PL Results</vt:lpstr>
      <vt:lpstr>Note on Statistical Fit from Yen &amp; Fitzpatrick</vt:lpstr>
      <vt:lpstr>Graphical Analysis of Item Fit</vt:lpstr>
      <vt:lpstr>Only Item 12 shows evidence of misfit to 3PL when using PV-Q1</vt:lpstr>
      <vt:lpstr>Infit and Outfit in Rasch model</vt:lpstr>
      <vt:lpstr>PowerPoint Presentation</vt:lpstr>
      <vt:lpstr>Person Fit with the l_z Statistic</vt:lpstr>
      <vt:lpstr>Distribution of lz for 3PL</vt:lpstr>
      <vt:lpstr>PowerPoint Presentation</vt:lpstr>
      <vt:lpstr>Local Independence Assumption</vt:lpstr>
      <vt:lpstr>Calculating Q3 Statistic in mirt()</vt:lpstr>
      <vt:lpstr>PowerPoint Presentation</vt:lpstr>
      <vt:lpstr>Checking Parameter Invariance</vt:lpstr>
      <vt:lpstr>Parameter Invariance</vt:lpstr>
      <vt:lpstr>3PL Parameter Invariance</vt:lpstr>
      <vt:lpstr>3PL Parameter Invariance</vt:lpstr>
      <vt:lpstr>Summary of Findings Re. Fit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Benjamin Shear</dc:creator>
  <cp:lastModifiedBy>Derek Briggs</cp:lastModifiedBy>
  <cp:revision>85</cp:revision>
  <dcterms:created xsi:type="dcterms:W3CDTF">2018-02-24T04:27:42Z</dcterms:created>
  <dcterms:modified xsi:type="dcterms:W3CDTF">2026-02-22T21:06:22Z</dcterms:modified>
</cp:coreProperties>
</file>