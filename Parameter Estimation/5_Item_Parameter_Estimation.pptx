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sldIdLst>
    <p:sldId id="256" r:id="rId2"/>
    <p:sldId id="337" r:id="rId3"/>
    <p:sldId id="323" r:id="rId4"/>
    <p:sldId id="294" r:id="rId5"/>
    <p:sldId id="270" r:id="rId6"/>
    <p:sldId id="292" r:id="rId7"/>
    <p:sldId id="289" r:id="rId8"/>
    <p:sldId id="291" r:id="rId9"/>
    <p:sldId id="290" r:id="rId10"/>
    <p:sldId id="282" r:id="rId11"/>
    <p:sldId id="283" r:id="rId12"/>
    <p:sldId id="338" r:id="rId13"/>
    <p:sldId id="324" r:id="rId14"/>
    <p:sldId id="345" r:id="rId15"/>
    <p:sldId id="340" r:id="rId16"/>
    <p:sldId id="365" r:id="rId17"/>
    <p:sldId id="339" r:id="rId18"/>
    <p:sldId id="361" r:id="rId19"/>
    <p:sldId id="307" r:id="rId20"/>
    <p:sldId id="273" r:id="rId21"/>
    <p:sldId id="334" r:id="rId22"/>
    <p:sldId id="274" r:id="rId23"/>
    <p:sldId id="276" r:id="rId24"/>
    <p:sldId id="335" r:id="rId25"/>
    <p:sldId id="263" r:id="rId26"/>
    <p:sldId id="275" r:id="rId27"/>
    <p:sldId id="362" r:id="rId28"/>
    <p:sldId id="278" r:id="rId29"/>
    <p:sldId id="344" r:id="rId30"/>
    <p:sldId id="342" r:id="rId31"/>
    <p:sldId id="343" r:id="rId32"/>
    <p:sldId id="346" r:id="rId33"/>
    <p:sldId id="360" r:id="rId34"/>
    <p:sldId id="363" r:id="rId35"/>
    <p:sldId id="36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76"/>
    <p:restoredTop sz="83061"/>
  </p:normalViewPr>
  <p:slideViewPr>
    <p:cSldViewPr snapToGrid="0" snapToObjects="1">
      <p:cViewPr varScale="1">
        <p:scale>
          <a:sx n="105" d="100"/>
          <a:sy n="105" d="100"/>
        </p:scale>
        <p:origin x="10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handouts/max_likelihood_theta.xls"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handouts/max_likelihood_theta.xls"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handouts/max_likelihood_theta.xls"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handouts/max_likelihood_theta.xls"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58902887139108"/>
          <c:y val="6.0185185185185203E-2"/>
          <c:w val="0.66132895888013998"/>
          <c:h val="0.72206802274715698"/>
        </c:manualLayout>
      </c:layout>
      <c:scatterChart>
        <c:scatterStyle val="lineMarker"/>
        <c:varyColors val="0"/>
        <c:ser>
          <c:idx val="0"/>
          <c:order val="0"/>
          <c:tx>
            <c:v>Item 1</c:v>
          </c:tx>
          <c:spPr>
            <a:ln w="31750" cap="rnd">
              <a:noFill/>
              <a:round/>
            </a:ln>
            <a:effectLst/>
          </c:spPr>
          <c:marker>
            <c:symbol val="circle"/>
            <c:size val="5"/>
            <c:spPr>
              <a:solidFill>
                <a:schemeClr val="accent1"/>
              </a:solidFill>
              <a:ln w="9525">
                <a:solidFill>
                  <a:schemeClr val="accent1"/>
                </a:solidFill>
              </a:ln>
              <a:effectLst/>
            </c:spPr>
          </c:marker>
          <c:xVal>
            <c:numRef>
              <c:f>'X=1,0 (MLE)'!$A$5:$A$65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9.9999999999999603E-2</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1.50000000000001</c:v>
                </c:pt>
                <c:pt idx="46">
                  <c:v>1.6</c:v>
                </c:pt>
                <c:pt idx="47">
                  <c:v>1.7</c:v>
                </c:pt>
                <c:pt idx="48">
                  <c:v>1.80000000000001</c:v>
                </c:pt>
                <c:pt idx="49">
                  <c:v>1.9000000000000099</c:v>
                </c:pt>
                <c:pt idx="50">
                  <c:v>2.0000000000000102</c:v>
                </c:pt>
                <c:pt idx="51">
                  <c:v>2.1</c:v>
                </c:pt>
                <c:pt idx="52">
                  <c:v>2.2000000000000099</c:v>
                </c:pt>
                <c:pt idx="53">
                  <c:v>2.30000000000001</c:v>
                </c:pt>
                <c:pt idx="54">
                  <c:v>2.4000000000000101</c:v>
                </c:pt>
                <c:pt idx="55">
                  <c:v>2.5000000000000102</c:v>
                </c:pt>
                <c:pt idx="56">
                  <c:v>2.6000000000000099</c:v>
                </c:pt>
                <c:pt idx="57">
                  <c:v>2.7000000000000099</c:v>
                </c:pt>
                <c:pt idx="58">
                  <c:v>2.80000000000001</c:v>
                </c:pt>
                <c:pt idx="59">
                  <c:v>2.9000000000000101</c:v>
                </c:pt>
                <c:pt idx="60">
                  <c:v>3.0000000000000102</c:v>
                </c:pt>
              </c:numCache>
            </c:numRef>
          </c:xVal>
          <c:yVal>
            <c:numRef>
              <c:f>'X=1,0 (Bayes) '!$B$5:$B$65</c:f>
              <c:numCache>
                <c:formatCode>0.000</c:formatCode>
                <c:ptCount val="61"/>
                <c:pt idx="0">
                  <c:v>4.7425873177566802E-2</c:v>
                </c:pt>
                <c:pt idx="1">
                  <c:v>5.2153563078417703E-2</c:v>
                </c:pt>
                <c:pt idx="2">
                  <c:v>5.73241758988687E-2</c:v>
                </c:pt>
                <c:pt idx="3">
                  <c:v>6.2973356056996499E-2</c:v>
                </c:pt>
                <c:pt idx="4">
                  <c:v>6.9138420343346801E-2</c:v>
                </c:pt>
                <c:pt idx="5">
                  <c:v>7.5858180021243601E-2</c:v>
                </c:pt>
                <c:pt idx="6">
                  <c:v>8.3172696493922393E-2</c:v>
                </c:pt>
                <c:pt idx="7">
                  <c:v>9.1122961014856105E-2</c:v>
                </c:pt>
                <c:pt idx="8">
                  <c:v>9.9750489119685107E-2</c:v>
                </c:pt>
                <c:pt idx="9">
                  <c:v>0.10909682119561299</c:v>
                </c:pt>
                <c:pt idx="10">
                  <c:v>0.119202922022118</c:v>
                </c:pt>
                <c:pt idx="11">
                  <c:v>0.13010847436299799</c:v>
                </c:pt>
                <c:pt idx="12">
                  <c:v>0.14185106490048799</c:v>
                </c:pt>
                <c:pt idx="13">
                  <c:v>0.154465265083535</c:v>
                </c:pt>
                <c:pt idx="14">
                  <c:v>0.16798161486607499</c:v>
                </c:pt>
                <c:pt idx="15">
                  <c:v>0.18242552380635599</c:v>
                </c:pt>
                <c:pt idx="16">
                  <c:v>0.197816111441418</c:v>
                </c:pt>
                <c:pt idx="17">
                  <c:v>0.214165016957441</c:v>
                </c:pt>
                <c:pt idx="18">
                  <c:v>0.23147521650098199</c:v>
                </c:pt>
                <c:pt idx="19">
                  <c:v>0.24973989440488201</c:v>
                </c:pt>
                <c:pt idx="20">
                  <c:v>0.26894142136999499</c:v>
                </c:pt>
                <c:pt idx="21">
                  <c:v>0.289050497374996</c:v>
                </c:pt>
                <c:pt idx="22">
                  <c:v>0.310025518872388</c:v>
                </c:pt>
                <c:pt idx="23">
                  <c:v>0.33181222783183401</c:v>
                </c:pt>
                <c:pt idx="24">
                  <c:v>0.35434369377420399</c:v>
                </c:pt>
                <c:pt idx="25">
                  <c:v>0.37754066879814502</c:v>
                </c:pt>
                <c:pt idx="26">
                  <c:v>0.401312339887548</c:v>
                </c:pt>
                <c:pt idx="27">
                  <c:v>0.42555748318834102</c:v>
                </c:pt>
                <c:pt idx="28">
                  <c:v>0.45016600268752199</c:v>
                </c:pt>
                <c:pt idx="29">
                  <c:v>0.47502081252105999</c:v>
                </c:pt>
                <c:pt idx="30">
                  <c:v>0.5</c:v>
                </c:pt>
                <c:pt idx="31">
                  <c:v>0.52497918747894001</c:v>
                </c:pt>
                <c:pt idx="32">
                  <c:v>0.54983399731247795</c:v>
                </c:pt>
                <c:pt idx="33">
                  <c:v>0.57444251681165903</c:v>
                </c:pt>
                <c:pt idx="34">
                  <c:v>0.598687660112452</c:v>
                </c:pt>
                <c:pt idx="35">
                  <c:v>0.62245933120185404</c:v>
                </c:pt>
                <c:pt idx="36">
                  <c:v>0.64565630622579495</c:v>
                </c:pt>
                <c:pt idx="37">
                  <c:v>0.66818777216816605</c:v>
                </c:pt>
                <c:pt idx="38">
                  <c:v>0.68997448112761195</c:v>
                </c:pt>
                <c:pt idx="39">
                  <c:v>0.710949502625004</c:v>
                </c:pt>
                <c:pt idx="40">
                  <c:v>0.73105857863000501</c:v>
                </c:pt>
                <c:pt idx="41">
                  <c:v>0.75026010559511802</c:v>
                </c:pt>
                <c:pt idx="42">
                  <c:v>0.76852478349901798</c:v>
                </c:pt>
                <c:pt idx="43">
                  <c:v>0.78583498304255905</c:v>
                </c:pt>
                <c:pt idx="44">
                  <c:v>0.80218388855858203</c:v>
                </c:pt>
                <c:pt idx="45">
                  <c:v>0.81757447619364498</c:v>
                </c:pt>
                <c:pt idx="46">
                  <c:v>0.83201838513392401</c:v>
                </c:pt>
                <c:pt idx="47">
                  <c:v>0.84553473491646503</c:v>
                </c:pt>
                <c:pt idx="48">
                  <c:v>0.85814893509951296</c:v>
                </c:pt>
                <c:pt idx="49">
                  <c:v>0.869891525637003</c:v>
                </c:pt>
                <c:pt idx="50">
                  <c:v>0.88079707797788298</c:v>
                </c:pt>
                <c:pt idx="51">
                  <c:v>0.89090317880438696</c:v>
                </c:pt>
                <c:pt idx="52">
                  <c:v>0.90024951088031602</c:v>
                </c:pt>
                <c:pt idx="53">
                  <c:v>0.90887703898514505</c:v>
                </c:pt>
                <c:pt idx="54">
                  <c:v>0.916827303506078</c:v>
                </c:pt>
                <c:pt idx="55">
                  <c:v>0.924141819978757</c:v>
                </c:pt>
                <c:pt idx="56">
                  <c:v>0.93086157965665395</c:v>
                </c:pt>
                <c:pt idx="57">
                  <c:v>0.93702664394300395</c:v>
                </c:pt>
                <c:pt idx="58">
                  <c:v>0.94267582410113204</c:v>
                </c:pt>
                <c:pt idx="59">
                  <c:v>0.94784643692158299</c:v>
                </c:pt>
                <c:pt idx="60">
                  <c:v>0.95257412682243403</c:v>
                </c:pt>
              </c:numCache>
            </c:numRef>
          </c:yVal>
          <c:smooth val="0"/>
          <c:extLst>
            <c:ext xmlns:c16="http://schemas.microsoft.com/office/drawing/2014/chart" uri="{C3380CC4-5D6E-409C-BE32-E72D297353CC}">
              <c16:uniqueId val="{00000000-712D-D34A-9FA9-A61C2E16152B}"/>
            </c:ext>
          </c:extLst>
        </c:ser>
        <c:ser>
          <c:idx val="1"/>
          <c:order val="1"/>
          <c:tx>
            <c:v>Item 2</c:v>
          </c:tx>
          <c:spPr>
            <a:ln w="25400" cap="rnd">
              <a:noFill/>
              <a:round/>
            </a:ln>
            <a:effectLst/>
          </c:spPr>
          <c:marker>
            <c:symbol val="circle"/>
            <c:size val="5"/>
            <c:spPr>
              <a:solidFill>
                <a:schemeClr val="accent2"/>
              </a:solidFill>
              <a:ln w="9525">
                <a:solidFill>
                  <a:schemeClr val="accent2"/>
                </a:solidFill>
              </a:ln>
              <a:effectLst/>
            </c:spPr>
          </c:marker>
          <c:xVal>
            <c:numRef>
              <c:f>'X=1,0 (Bayes) '!$A$5:$A$65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9.9999999999999603E-2</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1.50000000000001</c:v>
                </c:pt>
                <c:pt idx="46">
                  <c:v>1.6</c:v>
                </c:pt>
                <c:pt idx="47">
                  <c:v>1.7</c:v>
                </c:pt>
                <c:pt idx="48">
                  <c:v>1.80000000000001</c:v>
                </c:pt>
                <c:pt idx="49">
                  <c:v>1.9000000000000099</c:v>
                </c:pt>
                <c:pt idx="50">
                  <c:v>2.0000000000000102</c:v>
                </c:pt>
                <c:pt idx="51">
                  <c:v>2.1</c:v>
                </c:pt>
                <c:pt idx="52">
                  <c:v>2.2000000000000099</c:v>
                </c:pt>
                <c:pt idx="53">
                  <c:v>2.30000000000001</c:v>
                </c:pt>
                <c:pt idx="54">
                  <c:v>2.4000000000000101</c:v>
                </c:pt>
                <c:pt idx="55">
                  <c:v>2.5000000000000102</c:v>
                </c:pt>
                <c:pt idx="56">
                  <c:v>2.6000000000000099</c:v>
                </c:pt>
                <c:pt idx="57">
                  <c:v>2.7000000000000099</c:v>
                </c:pt>
                <c:pt idx="58">
                  <c:v>2.80000000000001</c:v>
                </c:pt>
                <c:pt idx="59">
                  <c:v>2.9000000000000101</c:v>
                </c:pt>
                <c:pt idx="60">
                  <c:v>3.0000000000000102</c:v>
                </c:pt>
              </c:numCache>
            </c:numRef>
          </c:xVal>
          <c:yVal>
            <c:numRef>
              <c:f>'X=1,0 (Bayes) '!$G$5:$G$65</c:f>
              <c:numCache>
                <c:formatCode>0.000</c:formatCode>
                <c:ptCount val="61"/>
                <c:pt idx="0">
                  <c:v>0.99995460213129805</c:v>
                </c:pt>
                <c:pt idx="1">
                  <c:v>0.99994455147527705</c:v>
                </c:pt>
                <c:pt idx="2">
                  <c:v>0.99993227585038003</c:v>
                </c:pt>
                <c:pt idx="3">
                  <c:v>0.99991728277714798</c:v>
                </c:pt>
                <c:pt idx="4">
                  <c:v>0.99989897080609202</c:v>
                </c:pt>
                <c:pt idx="5">
                  <c:v>0.99987660542401402</c:v>
                </c:pt>
                <c:pt idx="6">
                  <c:v>0.99984928964193998</c:v>
                </c:pt>
                <c:pt idx="7">
                  <c:v>0.99981592809503705</c:v>
                </c:pt>
                <c:pt idx="8">
                  <c:v>0.99977518322976699</c:v>
                </c:pt>
                <c:pt idx="9">
                  <c:v>0.99972542184389901</c:v>
                </c:pt>
                <c:pt idx="10">
                  <c:v>0.99966464986953296</c:v>
                </c:pt>
                <c:pt idx="11">
                  <c:v>0.99959043283501403</c:v>
                </c:pt>
                <c:pt idx="12">
                  <c:v>0.99949979889291996</c:v>
                </c:pt>
                <c:pt idx="13">
                  <c:v>0.99938912064056595</c:v>
                </c:pt>
                <c:pt idx="14">
                  <c:v>0.99925397116616299</c:v>
                </c:pt>
                <c:pt idx="15">
                  <c:v>0.99908894880559895</c:v>
                </c:pt>
                <c:pt idx="16">
                  <c:v>0.99888746396714001</c:v>
                </c:pt>
                <c:pt idx="17">
                  <c:v>0.99864148004957098</c:v>
                </c:pt>
                <c:pt idx="18">
                  <c:v>0.99834119891982498</c:v>
                </c:pt>
                <c:pt idx="19">
                  <c:v>0.99797467961094999</c:v>
                </c:pt>
                <c:pt idx="20">
                  <c:v>0.99752737684336501</c:v>
                </c:pt>
                <c:pt idx="21">
                  <c:v>0.99698158367529199</c:v>
                </c:pt>
                <c:pt idx="22">
                  <c:v>0.996315760100564</c:v>
                </c:pt>
                <c:pt idx="23">
                  <c:v>0.99550372683905897</c:v>
                </c:pt>
                <c:pt idx="24">
                  <c:v>0.99451370110055004</c:v>
                </c:pt>
                <c:pt idx="25">
                  <c:v>0.99330714907571505</c:v>
                </c:pt>
                <c:pt idx="26">
                  <c:v>0.99183742884684001</c:v>
                </c:pt>
                <c:pt idx="27">
                  <c:v>0.99004819813309597</c:v>
                </c:pt>
                <c:pt idx="28">
                  <c:v>0.98787156501572604</c:v>
                </c:pt>
                <c:pt idx="29">
                  <c:v>0.98522596830672704</c:v>
                </c:pt>
                <c:pt idx="30">
                  <c:v>0.98201379003790801</c:v>
                </c:pt>
                <c:pt idx="31">
                  <c:v>0.97811872906386998</c:v>
                </c:pt>
                <c:pt idx="32">
                  <c:v>0.97340300642313404</c:v>
                </c:pt>
                <c:pt idx="33">
                  <c:v>0.96770453530154998</c:v>
                </c:pt>
                <c:pt idx="34">
                  <c:v>0.960834277203236</c:v>
                </c:pt>
                <c:pt idx="35">
                  <c:v>0.95257412682243303</c:v>
                </c:pt>
                <c:pt idx="36">
                  <c:v>0.94267582410113104</c:v>
                </c:pt>
                <c:pt idx="37">
                  <c:v>0.93086157965665295</c:v>
                </c:pt>
                <c:pt idx="38">
                  <c:v>0.916827303506078</c:v>
                </c:pt>
                <c:pt idx="39">
                  <c:v>0.90024951088031502</c:v>
                </c:pt>
                <c:pt idx="40">
                  <c:v>0.88079707797788198</c:v>
                </c:pt>
                <c:pt idx="41">
                  <c:v>0.85814893509951196</c:v>
                </c:pt>
                <c:pt idx="42">
                  <c:v>0.83201838513392401</c:v>
                </c:pt>
                <c:pt idx="43">
                  <c:v>0.80218388855858203</c:v>
                </c:pt>
                <c:pt idx="44">
                  <c:v>0.76852478349901798</c:v>
                </c:pt>
                <c:pt idx="45">
                  <c:v>0.73105857863000101</c:v>
                </c:pt>
                <c:pt idx="46">
                  <c:v>0.68997448112761195</c:v>
                </c:pt>
                <c:pt idx="47">
                  <c:v>0.64565630622579495</c:v>
                </c:pt>
                <c:pt idx="48">
                  <c:v>0.59868766011244701</c:v>
                </c:pt>
                <c:pt idx="49">
                  <c:v>0.54983399731247296</c:v>
                </c:pt>
                <c:pt idx="50">
                  <c:v>0.499999999999995</c:v>
                </c:pt>
                <c:pt idx="51">
                  <c:v>0.45016600268752199</c:v>
                </c:pt>
                <c:pt idx="52">
                  <c:v>0.401312339887543</c:v>
                </c:pt>
                <c:pt idx="53">
                  <c:v>0.3543436937742</c:v>
                </c:pt>
                <c:pt idx="54">
                  <c:v>0.310025518872383</c:v>
                </c:pt>
                <c:pt idx="55">
                  <c:v>0.268941421369991</c:v>
                </c:pt>
                <c:pt idx="56">
                  <c:v>0.23147521650097899</c:v>
                </c:pt>
                <c:pt idx="57">
                  <c:v>0.197816111441415</c:v>
                </c:pt>
                <c:pt idx="58">
                  <c:v>0.16798161486607299</c:v>
                </c:pt>
                <c:pt idx="59">
                  <c:v>0.14185106490048499</c:v>
                </c:pt>
                <c:pt idx="60">
                  <c:v>0.11920292202211499</c:v>
                </c:pt>
              </c:numCache>
            </c:numRef>
          </c:yVal>
          <c:smooth val="0"/>
          <c:extLst>
            <c:ext xmlns:c16="http://schemas.microsoft.com/office/drawing/2014/chart" uri="{C3380CC4-5D6E-409C-BE32-E72D297353CC}">
              <c16:uniqueId val="{00000001-712D-D34A-9FA9-A61C2E16152B}"/>
            </c:ext>
          </c:extLst>
        </c:ser>
        <c:dLbls>
          <c:showLegendKey val="0"/>
          <c:showVal val="0"/>
          <c:showCatName val="0"/>
          <c:showSerName val="0"/>
          <c:showPercent val="0"/>
          <c:showBubbleSize val="0"/>
        </c:dLbls>
        <c:axId val="-96983344"/>
        <c:axId val="-96980224"/>
      </c:scatterChart>
      <c:valAx>
        <c:axId val="-96983344"/>
        <c:scaling>
          <c:orientation val="minMax"/>
          <c:max val="3"/>
          <c:min val="-3"/>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Theta</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980224"/>
        <c:crosses val="autoZero"/>
        <c:crossBetween val="midCat"/>
      </c:valAx>
      <c:valAx>
        <c:axId val="-9698022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P(X)</a:t>
                </a:r>
              </a:p>
            </c:rich>
          </c:tx>
          <c:layout>
            <c:manualLayout>
              <c:xMode val="edge"/>
              <c:yMode val="edge"/>
              <c:x val="2.7777777777777801E-2"/>
              <c:y val="0.3277701224846890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983344"/>
        <c:crossesAt val="-3"/>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184150368300701"/>
          <c:y val="0.18384787472035799"/>
          <c:w val="0.79708322749978799"/>
          <c:h val="0.58781518082051798"/>
        </c:manualLayout>
      </c:layout>
      <c:scatterChart>
        <c:scatterStyle val="lineMarker"/>
        <c:varyColors val="0"/>
        <c:ser>
          <c:idx val="0"/>
          <c:order val="0"/>
          <c:tx>
            <c:strRef>
              <c:f>'X=1,0 (Bayes) '!$H$4</c:f>
              <c:strCache>
                <c:ptCount val="1"/>
                <c:pt idx="0">
                  <c:v>Prior</c:v>
                </c:pt>
              </c:strCache>
            </c:strRef>
          </c:tx>
          <c:spPr>
            <a:ln w="31750" cap="rnd">
              <a:noFill/>
              <a:round/>
            </a:ln>
            <a:effectLst/>
          </c:spPr>
          <c:marker>
            <c:symbol val="circle"/>
            <c:size val="5"/>
            <c:spPr>
              <a:solidFill>
                <a:schemeClr val="accent1"/>
              </a:solidFill>
              <a:ln w="9525">
                <a:solidFill>
                  <a:schemeClr val="accent1"/>
                </a:solidFill>
              </a:ln>
              <a:effectLst/>
            </c:spPr>
          </c:marker>
          <c:xVal>
            <c:numRef>
              <c:f>'X=1,0 (Bayes) '!$A$5:$A$65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9.9999999999999603E-2</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1.50000000000001</c:v>
                </c:pt>
                <c:pt idx="46">
                  <c:v>1.6</c:v>
                </c:pt>
                <c:pt idx="47">
                  <c:v>1.7</c:v>
                </c:pt>
                <c:pt idx="48">
                  <c:v>1.80000000000001</c:v>
                </c:pt>
                <c:pt idx="49">
                  <c:v>1.9000000000000099</c:v>
                </c:pt>
                <c:pt idx="50">
                  <c:v>2.0000000000000102</c:v>
                </c:pt>
                <c:pt idx="51">
                  <c:v>2.1</c:v>
                </c:pt>
                <c:pt idx="52">
                  <c:v>2.2000000000000099</c:v>
                </c:pt>
                <c:pt idx="53">
                  <c:v>2.30000000000001</c:v>
                </c:pt>
                <c:pt idx="54">
                  <c:v>2.4000000000000101</c:v>
                </c:pt>
                <c:pt idx="55">
                  <c:v>2.5000000000000102</c:v>
                </c:pt>
                <c:pt idx="56">
                  <c:v>2.6000000000000099</c:v>
                </c:pt>
                <c:pt idx="57">
                  <c:v>2.7000000000000099</c:v>
                </c:pt>
                <c:pt idx="58">
                  <c:v>2.80000000000001</c:v>
                </c:pt>
                <c:pt idx="59">
                  <c:v>2.9000000000000101</c:v>
                </c:pt>
                <c:pt idx="60">
                  <c:v>3.0000000000000102</c:v>
                </c:pt>
              </c:numCache>
            </c:numRef>
          </c:xVal>
          <c:yVal>
            <c:numRef>
              <c:f>'X=1,0 (Bayes) '!$H$5:$H$65</c:f>
              <c:numCache>
                <c:formatCode>General</c:formatCode>
                <c:ptCount val="61"/>
                <c:pt idx="0">
                  <c:v>4.4318484119380101E-3</c:v>
                </c:pt>
                <c:pt idx="1">
                  <c:v>5.9525324197758503E-3</c:v>
                </c:pt>
                <c:pt idx="2">
                  <c:v>7.9154515829799703E-3</c:v>
                </c:pt>
                <c:pt idx="3">
                  <c:v>1.04209348144226E-2</c:v>
                </c:pt>
                <c:pt idx="4">
                  <c:v>1.3582969233685601E-2</c:v>
                </c:pt>
                <c:pt idx="5">
                  <c:v>1.7528300493568499E-2</c:v>
                </c:pt>
                <c:pt idx="6">
                  <c:v>2.2394530294842899E-2</c:v>
                </c:pt>
                <c:pt idx="7">
                  <c:v>2.83270377416012E-2</c:v>
                </c:pt>
                <c:pt idx="8">
                  <c:v>3.5474592846231397E-2</c:v>
                </c:pt>
                <c:pt idx="9">
                  <c:v>4.3983595980427198E-2</c:v>
                </c:pt>
                <c:pt idx="10">
                  <c:v>5.3990966513188098E-2</c:v>
                </c:pt>
                <c:pt idx="11">
                  <c:v>6.5615814774676595E-2</c:v>
                </c:pt>
                <c:pt idx="12">
                  <c:v>7.8950158300894094E-2</c:v>
                </c:pt>
                <c:pt idx="13">
                  <c:v>9.4049077376886905E-2</c:v>
                </c:pt>
                <c:pt idx="14">
                  <c:v>0.110920834679456</c:v>
                </c:pt>
                <c:pt idx="15">
                  <c:v>0.12951759566589199</c:v>
                </c:pt>
                <c:pt idx="16">
                  <c:v>0.14972746563574499</c:v>
                </c:pt>
                <c:pt idx="17">
                  <c:v>0.17136859204780699</c:v>
                </c:pt>
                <c:pt idx="18">
                  <c:v>0.19418605498321301</c:v>
                </c:pt>
                <c:pt idx="19">
                  <c:v>0.217852177032551</c:v>
                </c:pt>
                <c:pt idx="20">
                  <c:v>0.241970724519143</c:v>
                </c:pt>
                <c:pt idx="21">
                  <c:v>0.26608524989875498</c:v>
                </c:pt>
                <c:pt idx="22">
                  <c:v>0.28969155276148301</c:v>
                </c:pt>
                <c:pt idx="23">
                  <c:v>0.31225393336676099</c:v>
                </c:pt>
                <c:pt idx="24">
                  <c:v>0.3332246028918</c:v>
                </c:pt>
                <c:pt idx="25">
                  <c:v>0.35206532676429902</c:v>
                </c:pt>
                <c:pt idx="26">
                  <c:v>0.368270140303323</c:v>
                </c:pt>
                <c:pt idx="27">
                  <c:v>0.38138781546052403</c:v>
                </c:pt>
                <c:pt idx="28">
                  <c:v>0.39104269397545599</c:v>
                </c:pt>
                <c:pt idx="29">
                  <c:v>0.39695254747701197</c:v>
                </c:pt>
                <c:pt idx="30">
                  <c:v>0.39894228040143298</c:v>
                </c:pt>
                <c:pt idx="31">
                  <c:v>0.39695254747701197</c:v>
                </c:pt>
                <c:pt idx="32">
                  <c:v>0.39104269397545599</c:v>
                </c:pt>
                <c:pt idx="33">
                  <c:v>0.38138781546052403</c:v>
                </c:pt>
                <c:pt idx="34">
                  <c:v>0.368270140303323</c:v>
                </c:pt>
                <c:pt idx="35">
                  <c:v>0.35206532676429902</c:v>
                </c:pt>
                <c:pt idx="36">
                  <c:v>0.3332246028918</c:v>
                </c:pt>
                <c:pt idx="37">
                  <c:v>0.31225393336676099</c:v>
                </c:pt>
                <c:pt idx="38">
                  <c:v>0.28969155276148301</c:v>
                </c:pt>
                <c:pt idx="39">
                  <c:v>0.26608524989875498</c:v>
                </c:pt>
                <c:pt idx="40">
                  <c:v>0.241970724519143</c:v>
                </c:pt>
                <c:pt idx="41">
                  <c:v>0.217852177032551</c:v>
                </c:pt>
                <c:pt idx="42">
                  <c:v>0.19418605498321301</c:v>
                </c:pt>
                <c:pt idx="43">
                  <c:v>0.17136859204780699</c:v>
                </c:pt>
                <c:pt idx="44">
                  <c:v>0.14972746563574499</c:v>
                </c:pt>
                <c:pt idx="45">
                  <c:v>0.12951759566589</c:v>
                </c:pt>
                <c:pt idx="46">
                  <c:v>0.110920834679456</c:v>
                </c:pt>
                <c:pt idx="47">
                  <c:v>9.4049077376886905E-2</c:v>
                </c:pt>
                <c:pt idx="48">
                  <c:v>7.8950158300892706E-2</c:v>
                </c:pt>
                <c:pt idx="49">
                  <c:v>6.5615814774675305E-2</c:v>
                </c:pt>
                <c:pt idx="50">
                  <c:v>5.3990966513186897E-2</c:v>
                </c:pt>
                <c:pt idx="51">
                  <c:v>4.3983595980427198E-2</c:v>
                </c:pt>
                <c:pt idx="52">
                  <c:v>3.5474592846230703E-2</c:v>
                </c:pt>
                <c:pt idx="53">
                  <c:v>2.8327037741600499E-2</c:v>
                </c:pt>
                <c:pt idx="54">
                  <c:v>2.23945302948424E-2</c:v>
                </c:pt>
                <c:pt idx="55">
                  <c:v>1.75283004935681E-2</c:v>
                </c:pt>
                <c:pt idx="56">
                  <c:v>1.3582969233685301E-2</c:v>
                </c:pt>
                <c:pt idx="57">
                  <c:v>1.04209348144223E-2</c:v>
                </c:pt>
                <c:pt idx="58">
                  <c:v>7.9154515829797396E-3</c:v>
                </c:pt>
                <c:pt idx="59">
                  <c:v>5.9525324197756803E-3</c:v>
                </c:pt>
                <c:pt idx="60">
                  <c:v>4.4318484119378696E-3</c:v>
                </c:pt>
              </c:numCache>
            </c:numRef>
          </c:yVal>
          <c:smooth val="0"/>
          <c:extLst>
            <c:ext xmlns:c16="http://schemas.microsoft.com/office/drawing/2014/chart" uri="{C3380CC4-5D6E-409C-BE32-E72D297353CC}">
              <c16:uniqueId val="{00000000-CB1A-444C-BF9D-A0F486530DF2}"/>
            </c:ext>
          </c:extLst>
        </c:ser>
        <c:dLbls>
          <c:showLegendKey val="0"/>
          <c:showVal val="0"/>
          <c:showCatName val="0"/>
          <c:showSerName val="0"/>
          <c:showPercent val="0"/>
          <c:showBubbleSize val="0"/>
        </c:dLbls>
        <c:axId val="-97078736"/>
        <c:axId val="-97880432"/>
      </c:scatterChart>
      <c:valAx>
        <c:axId val="-97078736"/>
        <c:scaling>
          <c:orientation val="minMax"/>
          <c:max val="3"/>
          <c:min val="-3"/>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Theta</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80432"/>
        <c:crosses val="autoZero"/>
        <c:crossBetween val="midCat"/>
      </c:valAx>
      <c:valAx>
        <c:axId val="-97880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Density</a:t>
                </a:r>
              </a:p>
            </c:rich>
          </c:tx>
          <c:layout>
            <c:manualLayout>
              <c:xMode val="edge"/>
              <c:yMode val="edge"/>
              <c:x val="2.9569892473118298E-2"/>
              <c:y val="0.38744208987299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078736"/>
        <c:crossesAt val="-3"/>
        <c:crossBetween val="midCat"/>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Likelihood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184150368300701"/>
          <c:y val="0.18384787472035799"/>
          <c:w val="0.79708322749978799"/>
          <c:h val="0.58781518082051798"/>
        </c:manualLayout>
      </c:layout>
      <c:scatterChart>
        <c:scatterStyle val="lineMarker"/>
        <c:varyColors val="0"/>
        <c:ser>
          <c:idx val="0"/>
          <c:order val="0"/>
          <c:tx>
            <c:strRef>
              <c:f>'X=1,0 (Bayes) '!$H$4</c:f>
              <c:strCache>
                <c:ptCount val="1"/>
                <c:pt idx="0">
                  <c:v>Prior</c:v>
                </c:pt>
              </c:strCache>
            </c:strRef>
          </c:tx>
          <c:spPr>
            <a:ln w="25400" cap="rnd">
              <a:noFill/>
              <a:round/>
            </a:ln>
            <a:effectLst/>
          </c:spPr>
          <c:marker>
            <c:symbol val="circle"/>
            <c:size val="5"/>
            <c:spPr>
              <a:solidFill>
                <a:schemeClr val="accent1"/>
              </a:solidFill>
              <a:ln w="9525">
                <a:solidFill>
                  <a:schemeClr val="accent1"/>
                </a:solidFill>
              </a:ln>
              <a:effectLst/>
            </c:spPr>
          </c:marker>
          <c:xVal>
            <c:numRef>
              <c:f>'X=1,0 (Bayes) '!$A$5:$A$65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9.9999999999999603E-2</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1.50000000000001</c:v>
                </c:pt>
                <c:pt idx="46">
                  <c:v>1.6</c:v>
                </c:pt>
                <c:pt idx="47">
                  <c:v>1.7</c:v>
                </c:pt>
                <c:pt idx="48">
                  <c:v>1.80000000000001</c:v>
                </c:pt>
                <c:pt idx="49">
                  <c:v>1.9000000000000099</c:v>
                </c:pt>
                <c:pt idx="50">
                  <c:v>2.0000000000000102</c:v>
                </c:pt>
                <c:pt idx="51">
                  <c:v>2.1</c:v>
                </c:pt>
                <c:pt idx="52">
                  <c:v>2.2000000000000099</c:v>
                </c:pt>
                <c:pt idx="53">
                  <c:v>2.30000000000001</c:v>
                </c:pt>
                <c:pt idx="54">
                  <c:v>2.4000000000000101</c:v>
                </c:pt>
                <c:pt idx="55">
                  <c:v>2.5000000000000102</c:v>
                </c:pt>
                <c:pt idx="56">
                  <c:v>2.6000000000000099</c:v>
                </c:pt>
                <c:pt idx="57">
                  <c:v>2.7000000000000099</c:v>
                </c:pt>
                <c:pt idx="58">
                  <c:v>2.80000000000001</c:v>
                </c:pt>
                <c:pt idx="59">
                  <c:v>2.9000000000000101</c:v>
                </c:pt>
                <c:pt idx="60">
                  <c:v>3.0000000000000102</c:v>
                </c:pt>
              </c:numCache>
            </c:numRef>
          </c:xVal>
          <c:yVal>
            <c:numRef>
              <c:f>'X=1,0 (Bayes) '!$I$5:$I$65</c:f>
              <c:numCache>
                <c:formatCode>General</c:formatCode>
                <c:ptCount val="61"/>
                <c:pt idx="0">
                  <c:v>4.7423720144003201E-2</c:v>
                </c:pt>
                <c:pt idx="1">
                  <c:v>5.2150671240286002E-2</c:v>
                </c:pt>
                <c:pt idx="2">
                  <c:v>5.73202936678033E-2</c:v>
                </c:pt>
                <c:pt idx="3">
                  <c:v>6.2968147075869799E-2</c:v>
                </c:pt>
                <c:pt idx="4">
                  <c:v>6.9131435344471498E-2</c:v>
                </c:pt>
                <c:pt idx="5">
                  <c:v>7.5848819533284706E-2</c:v>
                </c:pt>
                <c:pt idx="6">
                  <c:v>8.3160161507052993E-2</c:v>
                </c:pt>
                <c:pt idx="7">
                  <c:v>9.1106187837836194E-2</c:v>
                </c:pt>
                <c:pt idx="8">
                  <c:v>9.9728063536891995E-2</c:v>
                </c:pt>
                <c:pt idx="9">
                  <c:v>0.10906686559161299</c:v>
                </c:pt>
                <c:pt idx="10">
                  <c:v>0.119162947306665</c:v>
                </c:pt>
                <c:pt idx="11">
                  <c:v>0.13005518620401199</c:v>
                </c:pt>
                <c:pt idx="12">
                  <c:v>0.14178011084078401</c:v>
                </c:pt>
                <c:pt idx="13">
                  <c:v>0.15437090544134599</c:v>
                </c:pt>
                <c:pt idx="14">
                  <c:v>0.16785629573783101</c:v>
                </c:pt>
                <c:pt idx="15">
                  <c:v>0.18225932481500301</c:v>
                </c:pt>
                <c:pt idx="16">
                  <c:v>0.19759603388955899</c:v>
                </c:pt>
                <c:pt idx="17">
                  <c:v>0.213874069509221</c:v>
                </c:pt>
                <c:pt idx="18">
                  <c:v>0.231091245161817</c:v>
                </c:pt>
                <c:pt idx="19">
                  <c:v>0.249234091104785</c:v>
                </c:pt>
                <c:pt idx="20">
                  <c:v>0.26827643058373701</c:v>
                </c:pt>
                <c:pt idx="21">
                  <c:v>0.28817802263505399</c:v>
                </c:pt>
                <c:pt idx="22">
                  <c:v>0.308883310485915</c:v>
                </c:pt>
                <c:pt idx="23">
                  <c:v>0.33032030941736201</c:v>
                </c:pt>
                <c:pt idx="24">
                  <c:v>0.35239965835702403</c:v>
                </c:pt>
                <c:pt idx="25">
                  <c:v>0.37501384538402499</c:v>
                </c:pt>
                <c:pt idx="26">
                  <c:v>0.39803659935857499</c:v>
                </c:pt>
                <c:pt idx="27">
                  <c:v>0.42132241943267201</c:v>
                </c:pt>
                <c:pt idx="28">
                  <c:v>0.44470619359179597</c:v>
                </c:pt>
                <c:pt idx="29">
                  <c:v>0.468002839981909</c:v>
                </c:pt>
                <c:pt idx="30">
                  <c:v>0.491006895018954</c:v>
                </c:pt>
                <c:pt idx="31">
                  <c:v>0.51349197564188398</c:v>
                </c:pt>
                <c:pt idx="32">
                  <c:v>0.535210066017615</c:v>
                </c:pt>
                <c:pt idx="33">
                  <c:v>0.55589062878867901</c:v>
                </c:pt>
                <c:pt idx="34">
                  <c:v>0.575239625174644</c:v>
                </c:pt>
                <c:pt idx="35">
                  <c:v>0.592938653902082</c:v>
                </c:pt>
                <c:pt idx="36">
                  <c:v>0.60864459055749398</c:v>
                </c:pt>
                <c:pt idx="37">
                  <c:v>0.62199032510771901</c:v>
                </c:pt>
                <c:pt idx="38">
                  <c:v>0.63258744302023395</c:v>
                </c:pt>
                <c:pt idx="39">
                  <c:v>0.64003194199876301</c:v>
                </c:pt>
                <c:pt idx="40">
                  <c:v>0.64391425988797202</c:v>
                </c:pt>
                <c:pt idx="41">
                  <c:v>0.64383491066409804</c:v>
                </c:pt>
                <c:pt idx="42">
                  <c:v>0.63942674930225196</c:v>
                </c:pt>
                <c:pt idx="43">
                  <c:v>0.630384162462447</c:v>
                </c:pt>
                <c:pt idx="44">
                  <c:v>0.61649819928088401</c:v>
                </c:pt>
                <c:pt idx="45">
                  <c:v>0.59769483449029404</c:v>
                </c:pt>
                <c:pt idx="46">
                  <c:v>0.57407145357141398</c:v>
                </c:pt>
                <c:pt idx="47">
                  <c:v>0.54592483373177203</c:v>
                </c:pt>
                <c:pt idx="48">
                  <c:v>0.51376317798271598</c:v>
                </c:pt>
                <c:pt idx="49">
                  <c:v>0.47829593476923898</c:v>
                </c:pt>
                <c:pt idx="50">
                  <c:v>0.44039853898893699</c:v>
                </c:pt>
                <c:pt idx="51">
                  <c:v>0.40105432278397801</c:v>
                </c:pt>
                <c:pt idx="52">
                  <c:v>0.361281237693996</c:v>
                </c:pt>
                <c:pt idx="53">
                  <c:v>0.32205484718055399</c:v>
                </c:pt>
                <c:pt idx="54">
                  <c:v>0.28423986048583999</c:v>
                </c:pt>
                <c:pt idx="55">
                  <c:v>0.248540014612537</c:v>
                </c:pt>
                <c:pt idx="56">
                  <c:v>0.21547138568346699</c:v>
                </c:pt>
                <c:pt idx="57">
                  <c:v>0.18535896702180399</c:v>
                </c:pt>
                <c:pt idx="58">
                  <c:v>0.15835220722771401</c:v>
                </c:pt>
                <c:pt idx="59">
                  <c:v>0.134453026439457</c:v>
                </c:pt>
                <c:pt idx="60">
                  <c:v>0.113549619359899</c:v>
                </c:pt>
              </c:numCache>
            </c:numRef>
          </c:yVal>
          <c:smooth val="0"/>
          <c:extLst>
            <c:ext xmlns:c16="http://schemas.microsoft.com/office/drawing/2014/chart" uri="{C3380CC4-5D6E-409C-BE32-E72D297353CC}">
              <c16:uniqueId val="{00000000-FDE8-E247-B115-5E3DA9FE65CB}"/>
            </c:ext>
          </c:extLst>
        </c:ser>
        <c:dLbls>
          <c:showLegendKey val="0"/>
          <c:showVal val="0"/>
          <c:showCatName val="0"/>
          <c:showSerName val="0"/>
          <c:showPercent val="0"/>
          <c:showBubbleSize val="0"/>
        </c:dLbls>
        <c:axId val="-97811120"/>
        <c:axId val="-97807360"/>
      </c:scatterChart>
      <c:valAx>
        <c:axId val="-97811120"/>
        <c:scaling>
          <c:orientation val="minMax"/>
          <c:max val="3"/>
          <c:min val="-3"/>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Theta</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07360"/>
        <c:crosses val="autoZero"/>
        <c:crossBetween val="midCat"/>
      </c:valAx>
      <c:valAx>
        <c:axId val="-978073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Likelihood</a:t>
                </a:r>
              </a:p>
            </c:rich>
          </c:tx>
          <c:layout>
            <c:manualLayout>
              <c:xMode val="edge"/>
              <c:yMode val="edge"/>
              <c:x val="2.9569892473118298E-2"/>
              <c:y val="0.38744208987299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11120"/>
        <c:crossesAt val="-3"/>
        <c:crossBetween val="midCat"/>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Posterior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184150368300701"/>
          <c:y val="0.18384787472035799"/>
          <c:w val="0.79708322749978799"/>
          <c:h val="0.58781518082051798"/>
        </c:manualLayout>
      </c:layout>
      <c:scatterChart>
        <c:scatterStyle val="lineMarker"/>
        <c:varyColors val="0"/>
        <c:ser>
          <c:idx val="0"/>
          <c:order val="0"/>
          <c:tx>
            <c:strRef>
              <c:f>'X=1,0 (Bayes) '!$H$4</c:f>
              <c:strCache>
                <c:ptCount val="1"/>
                <c:pt idx="0">
                  <c:v>Prior</c:v>
                </c:pt>
              </c:strCache>
            </c:strRef>
          </c:tx>
          <c:spPr>
            <a:ln w="25400" cap="rnd">
              <a:noFill/>
              <a:round/>
            </a:ln>
            <a:effectLst/>
          </c:spPr>
          <c:marker>
            <c:symbol val="circle"/>
            <c:size val="5"/>
            <c:spPr>
              <a:solidFill>
                <a:schemeClr val="accent1"/>
              </a:solidFill>
              <a:ln w="9525">
                <a:solidFill>
                  <a:schemeClr val="accent1"/>
                </a:solidFill>
              </a:ln>
              <a:effectLst/>
            </c:spPr>
          </c:marker>
          <c:xVal>
            <c:numRef>
              <c:f>'X=1,0 (Bayes) '!$A$5:$A$65</c:f>
              <c:numCache>
                <c:formatCode>General</c:formatCode>
                <c:ptCount val="61"/>
                <c:pt idx="0">
                  <c:v>-3</c:v>
                </c:pt>
                <c:pt idx="1">
                  <c:v>-2.9</c:v>
                </c:pt>
                <c:pt idx="2">
                  <c:v>-2.8</c:v>
                </c:pt>
                <c:pt idx="3">
                  <c:v>-2.7</c:v>
                </c:pt>
                <c:pt idx="4">
                  <c:v>-2.6</c:v>
                </c:pt>
                <c:pt idx="5">
                  <c:v>-2.5</c:v>
                </c:pt>
                <c:pt idx="6">
                  <c:v>-2.4</c:v>
                </c:pt>
                <c:pt idx="7">
                  <c:v>-2.2999999999999998</c:v>
                </c:pt>
                <c:pt idx="8">
                  <c:v>-2.2000000000000002</c:v>
                </c:pt>
                <c:pt idx="9">
                  <c:v>-2.1</c:v>
                </c:pt>
                <c:pt idx="10">
                  <c:v>-2</c:v>
                </c:pt>
                <c:pt idx="11">
                  <c:v>-1.9</c:v>
                </c:pt>
                <c:pt idx="12">
                  <c:v>-1.8</c:v>
                </c:pt>
                <c:pt idx="13">
                  <c:v>-1.7</c:v>
                </c:pt>
                <c:pt idx="14">
                  <c:v>-1.6</c:v>
                </c:pt>
                <c:pt idx="15">
                  <c:v>-1.5</c:v>
                </c:pt>
                <c:pt idx="16">
                  <c:v>-1.4</c:v>
                </c:pt>
                <c:pt idx="17">
                  <c:v>-1.3</c:v>
                </c:pt>
                <c:pt idx="18">
                  <c:v>-1.2</c:v>
                </c:pt>
                <c:pt idx="19">
                  <c:v>-1.1000000000000001</c:v>
                </c:pt>
                <c:pt idx="20">
                  <c:v>-1</c:v>
                </c:pt>
                <c:pt idx="21">
                  <c:v>-0.9</c:v>
                </c:pt>
                <c:pt idx="22">
                  <c:v>-0.8</c:v>
                </c:pt>
                <c:pt idx="23">
                  <c:v>-0.7</c:v>
                </c:pt>
                <c:pt idx="24">
                  <c:v>-0.6</c:v>
                </c:pt>
                <c:pt idx="25">
                  <c:v>-0.5</c:v>
                </c:pt>
                <c:pt idx="26">
                  <c:v>-0.4</c:v>
                </c:pt>
                <c:pt idx="27">
                  <c:v>-0.3</c:v>
                </c:pt>
                <c:pt idx="28">
                  <c:v>-0.2</c:v>
                </c:pt>
                <c:pt idx="29">
                  <c:v>-0.1</c:v>
                </c:pt>
                <c:pt idx="30">
                  <c:v>0</c:v>
                </c:pt>
                <c:pt idx="31">
                  <c:v>9.9999999999999603E-2</c:v>
                </c:pt>
                <c:pt idx="32">
                  <c:v>0.2</c:v>
                </c:pt>
                <c:pt idx="33">
                  <c:v>0.3</c:v>
                </c:pt>
                <c:pt idx="34">
                  <c:v>0.4</c:v>
                </c:pt>
                <c:pt idx="35">
                  <c:v>0.5</c:v>
                </c:pt>
                <c:pt idx="36">
                  <c:v>0.6</c:v>
                </c:pt>
                <c:pt idx="37">
                  <c:v>0.7</c:v>
                </c:pt>
                <c:pt idx="38">
                  <c:v>0.8</c:v>
                </c:pt>
                <c:pt idx="39">
                  <c:v>0.9</c:v>
                </c:pt>
                <c:pt idx="40">
                  <c:v>1</c:v>
                </c:pt>
                <c:pt idx="41">
                  <c:v>1.1000000000000001</c:v>
                </c:pt>
                <c:pt idx="42">
                  <c:v>1.2</c:v>
                </c:pt>
                <c:pt idx="43">
                  <c:v>1.3</c:v>
                </c:pt>
                <c:pt idx="44">
                  <c:v>1.4</c:v>
                </c:pt>
                <c:pt idx="45">
                  <c:v>1.50000000000001</c:v>
                </c:pt>
                <c:pt idx="46">
                  <c:v>1.6</c:v>
                </c:pt>
                <c:pt idx="47">
                  <c:v>1.7</c:v>
                </c:pt>
                <c:pt idx="48">
                  <c:v>1.80000000000001</c:v>
                </c:pt>
                <c:pt idx="49">
                  <c:v>1.9000000000000099</c:v>
                </c:pt>
                <c:pt idx="50">
                  <c:v>2.0000000000000102</c:v>
                </c:pt>
                <c:pt idx="51">
                  <c:v>2.1</c:v>
                </c:pt>
                <c:pt idx="52">
                  <c:v>2.2000000000000099</c:v>
                </c:pt>
                <c:pt idx="53">
                  <c:v>2.30000000000001</c:v>
                </c:pt>
                <c:pt idx="54">
                  <c:v>2.4000000000000101</c:v>
                </c:pt>
                <c:pt idx="55">
                  <c:v>2.5000000000000102</c:v>
                </c:pt>
                <c:pt idx="56">
                  <c:v>2.6000000000000099</c:v>
                </c:pt>
                <c:pt idx="57">
                  <c:v>2.7000000000000099</c:v>
                </c:pt>
                <c:pt idx="58">
                  <c:v>2.80000000000001</c:v>
                </c:pt>
                <c:pt idx="59">
                  <c:v>2.9000000000000101</c:v>
                </c:pt>
                <c:pt idx="60">
                  <c:v>3.0000000000000102</c:v>
                </c:pt>
              </c:numCache>
            </c:numRef>
          </c:xVal>
          <c:yVal>
            <c:numRef>
              <c:f>'X=1,0 (Bayes) '!$J$5:$J$65</c:f>
              <c:numCache>
                <c:formatCode>General</c:formatCode>
                <c:ptCount val="61"/>
                <c:pt idx="0">
                  <c:v>2.10174738808393E-4</c:v>
                </c:pt>
                <c:pt idx="1">
                  <c:v>3.1042856127087501E-4</c:v>
                </c:pt>
                <c:pt idx="2">
                  <c:v>4.5371600924969102E-4</c:v>
                </c:pt>
                <c:pt idx="3">
                  <c:v>6.5618695606261396E-4</c:v>
                </c:pt>
                <c:pt idx="4">
                  <c:v>9.39010159364482E-4</c:v>
                </c:pt>
                <c:pt idx="5">
                  <c:v>1.3295009008618701E-3</c:v>
                </c:pt>
                <c:pt idx="6">
                  <c:v>1.86233275619373E-3</c:v>
                </c:pt>
                <c:pt idx="7">
                  <c:v>2.5807684213757899E-3</c:v>
                </c:pt>
                <c:pt idx="8">
                  <c:v>3.5378124493143401E-3</c:v>
                </c:pt>
                <c:pt idx="9">
                  <c:v>4.7971529510330404E-3</c:v>
                </c:pt>
                <c:pt idx="10">
                  <c:v>6.4337226976469699E-3</c:v>
                </c:pt>
                <c:pt idx="11">
                  <c:v>8.5336770084485508E-3</c:v>
                </c:pt>
                <c:pt idx="12">
                  <c:v>1.1193562194798201E-2</c:v>
                </c:pt>
                <c:pt idx="13">
                  <c:v>1.4518441230593201E-2</c:v>
                </c:pt>
                <c:pt idx="14">
                  <c:v>1.8618760429441699E-2</c:v>
                </c:pt>
                <c:pt idx="15">
                  <c:v>2.3605789537728E-2</c:v>
                </c:pt>
                <c:pt idx="16">
                  <c:v>2.95855533739585E-2</c:v>
                </c:pt>
                <c:pt idx="17">
                  <c:v>3.6651298167330003E-2</c:v>
                </c:pt>
                <c:pt idx="18">
                  <c:v>4.4874697239131699E-2</c:v>
                </c:pt>
                <c:pt idx="19">
                  <c:v>5.4296189337906399E-2</c:v>
                </c:pt>
                <c:pt idx="20">
                  <c:v>6.4915042279756599E-2</c:v>
                </c:pt>
                <c:pt idx="21">
                  <c:v>7.6679921168177401E-2</c:v>
                </c:pt>
                <c:pt idx="22">
                  <c:v>8.9480885836771801E-2</c:v>
                </c:pt>
                <c:pt idx="23">
                  <c:v>0.103143815886497</c:v>
                </c:pt>
                <c:pt idx="24">
                  <c:v>0.117428236215225</c:v>
                </c:pt>
                <c:pt idx="25">
                  <c:v>0.132029372016263</c:v>
                </c:pt>
                <c:pt idx="26">
                  <c:v>0.14658499429163999</c:v>
                </c:pt>
                <c:pt idx="27">
                  <c:v>0.16068723715197</c:v>
                </c:pt>
                <c:pt idx="28">
                  <c:v>0.17389910796970601</c:v>
                </c:pt>
                <c:pt idx="29">
                  <c:v>0.185774919557295</c:v>
                </c:pt>
                <c:pt idx="30">
                  <c:v>0.195883410391688</c:v>
                </c:pt>
                <c:pt idx="31">
                  <c:v>0.20383194784004899</c:v>
                </c:pt>
                <c:pt idx="32">
                  <c:v>0.20928998605831001</c:v>
                </c:pt>
                <c:pt idx="33">
                  <c:v>0.212009912548691</c:v>
                </c:pt>
                <c:pt idx="34">
                  <c:v>0.211843577471097</c:v>
                </c:pt>
                <c:pt idx="35">
                  <c:v>0.208753140937221</c:v>
                </c:pt>
                <c:pt idx="36">
                  <c:v>0.202815351990763</c:v>
                </c:pt>
                <c:pt idx="37">
                  <c:v>0.19421892553095599</c:v>
                </c:pt>
                <c:pt idx="38">
                  <c:v>0.183255238625948</c:v>
                </c:pt>
                <c:pt idx="39">
                  <c:v>0.170303059229926</c:v>
                </c:pt>
                <c:pt idx="40">
                  <c:v>0.15580839999330101</c:v>
                </c:pt>
                <c:pt idx="41">
                  <c:v>0.140260836937731</c:v>
                </c:pt>
                <c:pt idx="42">
                  <c:v>0.12416775789774399</c:v>
                </c:pt>
                <c:pt idx="43">
                  <c:v>0.108028046370426</c:v>
                </c:pt>
                <c:pt idx="44">
                  <c:v>9.2306712947327105E-2</c:v>
                </c:pt>
                <c:pt idx="45">
                  <c:v>7.7411997905104807E-2</c:v>
                </c:pt>
                <c:pt idx="46">
                  <c:v>6.3676484795789495E-2</c:v>
                </c:pt>
                <c:pt idx="47">
                  <c:v>5.1343726929603602E-2</c:v>
                </c:pt>
                <c:pt idx="48">
                  <c:v>4.0561684230905101E-2</c:v>
                </c:pt>
                <c:pt idx="49">
                  <c:v>3.1383777463298602E-2</c:v>
                </c:pt>
                <c:pt idx="50">
                  <c:v>2.37775427710082E-2</c:v>
                </c:pt>
                <c:pt idx="51">
                  <c:v>1.7639811299534298E-2</c:v>
                </c:pt>
                <c:pt idx="52">
                  <c:v>1.2816304810176799E-2</c:v>
                </c:pt>
                <c:pt idx="53">
                  <c:v>9.1228598109489301E-3</c:v>
                </c:pt>
                <c:pt idx="54">
                  <c:v>6.3654181666519E-3</c:v>
                </c:pt>
                <c:pt idx="55">
                  <c:v>4.3564840608043597E-3</c:v>
                </c:pt>
                <c:pt idx="56">
                  <c:v>2.92674120247807E-3</c:v>
                </c:pt>
                <c:pt idx="57">
                  <c:v>1.9316137126028799E-3</c:v>
                </c:pt>
                <c:pt idx="58">
                  <c:v>1.25342922936894E-3</c:v>
                </c:pt>
                <c:pt idx="59">
                  <c:v>8.0033599881782597E-4</c:v>
                </c:pt>
                <c:pt idx="60">
                  <c:v>5.0323470023631899E-4</c:v>
                </c:pt>
              </c:numCache>
            </c:numRef>
          </c:yVal>
          <c:smooth val="0"/>
          <c:extLst>
            <c:ext xmlns:c16="http://schemas.microsoft.com/office/drawing/2014/chart" uri="{C3380CC4-5D6E-409C-BE32-E72D297353CC}">
              <c16:uniqueId val="{00000000-6E33-DB47-9B98-96038C43DE2E}"/>
            </c:ext>
          </c:extLst>
        </c:ser>
        <c:dLbls>
          <c:showLegendKey val="0"/>
          <c:showVal val="0"/>
          <c:showCatName val="0"/>
          <c:showSerName val="0"/>
          <c:showPercent val="0"/>
          <c:showBubbleSize val="0"/>
        </c:dLbls>
        <c:axId val="-96852016"/>
        <c:axId val="-97748160"/>
      </c:scatterChart>
      <c:valAx>
        <c:axId val="-96852016"/>
        <c:scaling>
          <c:orientation val="minMax"/>
          <c:max val="3"/>
          <c:min val="-3"/>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Theta</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748160"/>
        <c:crosses val="autoZero"/>
        <c:crossBetween val="midCat"/>
      </c:valAx>
      <c:valAx>
        <c:axId val="-977481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Relative Frequency</a:t>
                </a:r>
              </a:p>
            </c:rich>
          </c:tx>
          <c:layout>
            <c:manualLayout>
              <c:xMode val="edge"/>
              <c:yMode val="edge"/>
              <c:x val="2.9569892473118298E-2"/>
              <c:y val="0.38744208987299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852016"/>
        <c:crossesAt val="-3"/>
        <c:crossBetween val="midCat"/>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045BB-2ED9-6748-988A-0FF2A8B288DA}" type="datetimeFigureOut">
              <a:rPr lang="en-US" smtClean="0"/>
              <a:t>3/3/24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5B4A1-9DC8-0E4C-BB98-1DF79D36A9DE}" type="slidenum">
              <a:rPr lang="en-US" smtClean="0"/>
              <a:t>‹#›</a:t>
            </a:fld>
            <a:endParaRPr lang="en-US"/>
          </a:p>
        </p:txBody>
      </p:sp>
    </p:spTree>
    <p:extLst>
      <p:ext uri="{BB962C8B-B14F-4D97-AF65-F5344CB8AC3E}">
        <p14:creationId xmlns:p14="http://schemas.microsoft.com/office/powerpoint/2010/main" val="2077405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F6F85C31-7A5D-C243-8F0C-995DCA81A6E6}" type="slidenum">
              <a:rPr lang="en-US" altLang="en-US"/>
              <a:pPr>
                <a:spcBef>
                  <a:spcPct val="0"/>
                </a:spcBef>
              </a:pPr>
              <a:t>4</a:t>
            </a:fld>
            <a:endParaRPr lang="en-US" alt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Arial" charset="0"/>
                <a:ea typeface="ＭＳ Ｐゴシック" charset="-128"/>
              </a:rPr>
              <a:t>Note: I prefer this form to the one shown in ER p. 202 where they have taken log for respondents but not for items. Should have two summation symbols.</a:t>
            </a:r>
          </a:p>
        </p:txBody>
      </p:sp>
    </p:spTree>
    <p:extLst>
      <p:ext uri="{BB962C8B-B14F-4D97-AF65-F5344CB8AC3E}">
        <p14:creationId xmlns:p14="http://schemas.microsoft.com/office/powerpoint/2010/main" val="99974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ECD1A518-5992-5942-8ED1-F5330771709B}" type="slidenum">
              <a:rPr lang="en-US" altLang="en-US"/>
              <a:pPr>
                <a:spcBef>
                  <a:spcPct val="0"/>
                </a:spcBef>
              </a:pPr>
              <a:t>5</a:t>
            </a:fld>
            <a:endParaRPr lang="en-US" alt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171778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AC5E557A-A2C2-2C4D-BB63-D88A41CC835D}" type="slidenum">
              <a:rPr lang="en-US" altLang="en-US"/>
              <a:pPr>
                <a:spcBef>
                  <a:spcPct val="0"/>
                </a:spcBef>
              </a:pPr>
              <a:t>19</a:t>
            </a:fld>
            <a:endParaRPr lang="en-US" alt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047738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120B03A9-2B20-734A-9DB7-2450342DF50F}" type="slidenum">
              <a:rPr lang="en-US" altLang="en-US"/>
              <a:pPr>
                <a:spcBef>
                  <a:spcPct val="0"/>
                </a:spcBef>
              </a:pPr>
              <a:t>20</a:t>
            </a:fld>
            <a:endParaRPr lang="en-US" alt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485796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9E903F71-A6F3-814A-A37F-8BB1C3BF32D0}" type="slidenum">
              <a:rPr lang="en-US" altLang="en-US"/>
              <a:pPr>
                <a:spcBef>
                  <a:spcPct val="0"/>
                </a:spcBef>
              </a:pPr>
              <a:t>21</a:t>
            </a:fld>
            <a:endParaRPr lang="en-US" alt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Arial" charset="0"/>
                <a:ea typeface="ＭＳ Ｐゴシック" charset="-128"/>
              </a:rPr>
              <a:t>Explain source for term in brackets based on application of Bayes Theorem with </a:t>
            </a:r>
            <a:r>
              <a:rPr lang="en-US" altLang="en-US" dirty="0" err="1">
                <a:latin typeface="Arial" charset="0"/>
                <a:ea typeface="ＭＳ Ｐゴシック" charset="-128"/>
              </a:rPr>
              <a:t>gaussian</a:t>
            </a:r>
            <a:r>
              <a:rPr lang="en-US" altLang="en-US" dirty="0">
                <a:latin typeface="Arial" charset="0"/>
                <a:ea typeface="ＭＳ Ｐゴシック" charset="-128"/>
              </a:rPr>
              <a:t> quadrature, B&amp;K, p. 159.</a:t>
            </a:r>
          </a:p>
          <a:p>
            <a:pPr eaLnBrk="1" hangingPunct="1"/>
            <a:endParaRPr lang="en-US" altLang="en-US" dirty="0">
              <a:latin typeface="Arial" charset="0"/>
              <a:ea typeface="ＭＳ Ｐゴシック" charset="-128"/>
            </a:endParaRPr>
          </a:p>
          <a:p>
            <a:pPr eaLnBrk="1" hangingPunct="1"/>
            <a:r>
              <a:rPr lang="en-US" altLang="en-US" dirty="0">
                <a:latin typeface="Arial" charset="0"/>
                <a:ea typeface="ＭＳ Ｐゴシック" charset="-128"/>
              </a:rPr>
              <a:t>Intuition is very tricky: First term is replacing the observed response to item </a:t>
            </a:r>
            <a:r>
              <a:rPr lang="en-US" altLang="en-US" dirty="0" err="1">
                <a:latin typeface="Arial" charset="0"/>
                <a:ea typeface="ＭＳ Ｐゴシック" charset="-128"/>
              </a:rPr>
              <a:t>i</a:t>
            </a:r>
            <a:r>
              <a:rPr lang="en-US" altLang="en-US" dirty="0">
                <a:latin typeface="Arial" charset="0"/>
                <a:ea typeface="ＭＳ Ｐゴシック" charset="-128"/>
              </a:rPr>
              <a:t> for </a:t>
            </a:r>
            <a:r>
              <a:rPr lang="en-US" altLang="en-US" dirty="0" err="1">
                <a:latin typeface="Arial" charset="0"/>
                <a:ea typeface="ＭＳ Ｐゴシック" charset="-128"/>
              </a:rPr>
              <a:t>examiness</a:t>
            </a:r>
            <a:r>
              <a:rPr lang="en-US" altLang="en-US" dirty="0">
                <a:latin typeface="Arial" charset="0"/>
                <a:ea typeface="ＭＳ Ｐゴシック" charset="-128"/>
              </a:rPr>
              <a:t> at a given value of theta. Second term is replacing what we would predict if the model were true as a function of unknown item par. But what we “expect” (</a:t>
            </a:r>
            <a:r>
              <a:rPr lang="en-US" altLang="en-US" dirty="0" err="1">
                <a:latin typeface="Arial" charset="0"/>
                <a:ea typeface="ＭＳ Ｐゴシック" charset="-128"/>
              </a:rPr>
              <a:t>wrt</a:t>
            </a:r>
            <a:r>
              <a:rPr lang="en-US" altLang="en-US" dirty="0">
                <a:latin typeface="Arial" charset="0"/>
                <a:ea typeface="ＭＳ Ｐゴシック" charset="-128"/>
              </a:rPr>
              <a:t> to given item) for an observed value if our posterior </a:t>
            </a:r>
            <a:r>
              <a:rPr lang="en-US" altLang="en-US" dirty="0" err="1">
                <a:latin typeface="Arial" charset="0"/>
                <a:ea typeface="ＭＳ Ｐゴシック" charset="-128"/>
              </a:rPr>
              <a:t>prob</a:t>
            </a:r>
            <a:r>
              <a:rPr lang="en-US" altLang="en-US" dirty="0">
                <a:latin typeface="Arial" charset="0"/>
                <a:ea typeface="ＭＳ Ｐゴシック" charset="-128"/>
              </a:rPr>
              <a:t> is right, second term is the expected value.</a:t>
            </a:r>
          </a:p>
          <a:p>
            <a:pPr eaLnBrk="1" hangingPunct="1"/>
            <a:endParaRPr lang="en-US" altLang="en-US" dirty="0">
              <a:latin typeface="Arial" charset="0"/>
              <a:ea typeface="ＭＳ Ｐゴシック" charset="-128"/>
            </a:endParaRPr>
          </a:p>
        </p:txBody>
      </p:sp>
    </p:spTree>
    <p:extLst>
      <p:ext uri="{BB962C8B-B14F-4D97-AF65-F5344CB8AC3E}">
        <p14:creationId xmlns:p14="http://schemas.microsoft.com/office/powerpoint/2010/main" val="2529661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60D41713-2948-6B4A-AF3A-7998F5738D10}" type="slidenum">
              <a:rPr lang="en-US" altLang="en-US"/>
              <a:pPr>
                <a:spcBef>
                  <a:spcPct val="0"/>
                </a:spcBef>
              </a:pPr>
              <a:t>22</a:t>
            </a:fld>
            <a:endParaRPr lang="en-US" alt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369759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551C45C1-23DF-B54D-9DC6-83419BD74041}" type="slidenum">
              <a:rPr lang="en-US" altLang="en-US"/>
              <a:pPr>
                <a:spcBef>
                  <a:spcPct val="0"/>
                </a:spcBef>
              </a:pPr>
              <a:t>23</a:t>
            </a:fld>
            <a:endParaRPr lang="en-US" alt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2287003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45E4AD2A-353F-234B-9CCD-EAF870C389FF}" type="slidenum">
              <a:rPr lang="en-US" altLang="en-US"/>
              <a:pPr>
                <a:spcBef>
                  <a:spcPct val="0"/>
                </a:spcBef>
              </a:pPr>
              <a:t>25</a:t>
            </a:fld>
            <a:endParaRPr lang="en-US" alt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933114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7B25589F-CF49-C942-81E3-B7C748C18F6E}" type="slidenum">
              <a:rPr lang="en-US" altLang="en-US"/>
              <a:pPr>
                <a:spcBef>
                  <a:spcPct val="0"/>
                </a:spcBef>
              </a:pPr>
              <a:t>26</a:t>
            </a:fld>
            <a:endParaRPr lang="en-US" alt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Arial" charset="0"/>
                <a:ea typeface="ＭＳ Ｐゴシック" charset="-128"/>
              </a:rPr>
              <a:t>Denominator in top expression can be interpreted as the unconditional (marginal) probability of the response vector X_s</a:t>
            </a:r>
          </a:p>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3026120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7B25589F-CF49-C942-81E3-B7C748C18F6E}" type="slidenum">
              <a:rPr lang="en-US" altLang="en-US"/>
              <a:pPr>
                <a:spcBef>
                  <a:spcPct val="0"/>
                </a:spcBef>
              </a:pPr>
              <a:t>27</a:t>
            </a:fld>
            <a:endParaRPr lang="en-US" alt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Arial" charset="0"/>
                <a:ea typeface="ＭＳ Ｐゴシック" charset="-128"/>
              </a:rPr>
              <a:t>Denominator in top expression can be interpreted as the unconditional (marginal) probability of the response vector X_s</a:t>
            </a:r>
          </a:p>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2180614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ＭＳ Ｐゴシック" charset="-128"/>
              </a:defRPr>
            </a:lvl1pPr>
            <a:lvl2pPr marL="742950" indent="-285750">
              <a:spcBef>
                <a:spcPct val="30000"/>
              </a:spcBef>
              <a:defRPr sz="1200">
                <a:solidFill>
                  <a:schemeClr val="tx1"/>
                </a:solidFill>
                <a:latin typeface="Arial" charset="0"/>
                <a:ea typeface="ＭＳ Ｐゴシック" charset="-128"/>
              </a:defRPr>
            </a:lvl2pPr>
            <a:lvl3pPr marL="1143000" indent="-228600">
              <a:spcBef>
                <a:spcPct val="30000"/>
              </a:spcBef>
              <a:defRPr sz="1200">
                <a:solidFill>
                  <a:schemeClr val="tx1"/>
                </a:solidFill>
                <a:latin typeface="Arial" charset="0"/>
                <a:ea typeface="ＭＳ Ｐゴシック" charset="-128"/>
              </a:defRPr>
            </a:lvl3pPr>
            <a:lvl4pPr marL="1600200" indent="-228600">
              <a:spcBef>
                <a:spcPct val="30000"/>
              </a:spcBef>
              <a:defRPr sz="1200">
                <a:solidFill>
                  <a:schemeClr val="tx1"/>
                </a:solidFill>
                <a:latin typeface="Arial" charset="0"/>
                <a:ea typeface="ＭＳ Ｐゴシック" charset="-128"/>
              </a:defRPr>
            </a:lvl4pPr>
            <a:lvl5pPr marL="2057400" indent="-228600">
              <a:spcBef>
                <a:spcPct val="30000"/>
              </a:spcBef>
              <a:defRPr sz="1200">
                <a:solidFill>
                  <a:schemeClr val="tx1"/>
                </a:solidFill>
                <a:latin typeface="Arial" charset="0"/>
                <a:ea typeface="ＭＳ Ｐゴシック"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charset="-128"/>
              </a:defRPr>
            </a:lvl9pPr>
          </a:lstStyle>
          <a:p>
            <a:pPr>
              <a:spcBef>
                <a:spcPct val="0"/>
              </a:spcBef>
            </a:pPr>
            <a:fld id="{C9F8956C-39A7-B547-820F-1BE1B743DC2C}" type="slidenum">
              <a:rPr lang="en-US" altLang="en-US"/>
              <a:pPr>
                <a:spcBef>
                  <a:spcPct val="0"/>
                </a:spcBef>
              </a:pPr>
              <a:t>28</a:t>
            </a:fld>
            <a:endParaRPr lang="en-US" alt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242852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C39A-DD1F-A148-B0D3-4A1B95791A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E534CF-C42F-E947-A288-82F2720F4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7F6B06-127F-E842-B63A-7E01ADB8A352}"/>
              </a:ext>
            </a:extLst>
          </p:cNvPr>
          <p:cNvSpPr>
            <a:spLocks noGrp="1"/>
          </p:cNvSpPr>
          <p:nvPr>
            <p:ph type="dt" sz="half" idx="10"/>
          </p:nvPr>
        </p:nvSpPr>
        <p:spPr/>
        <p:txBody>
          <a:bodyPr/>
          <a:lstStyle/>
          <a:p>
            <a:fld id="{C7CCBC3B-D386-B24B-A646-9E6B897E3F25}" type="datetime1">
              <a:rPr lang="en-US" smtClean="0"/>
              <a:t>3/3/24</a:t>
            </a:fld>
            <a:endParaRPr lang="en-US"/>
          </a:p>
        </p:txBody>
      </p:sp>
      <p:sp>
        <p:nvSpPr>
          <p:cNvPr id="5" name="Footer Placeholder 4">
            <a:extLst>
              <a:ext uri="{FF2B5EF4-FFF2-40B4-BE49-F238E27FC236}">
                <a16:creationId xmlns:a16="http://schemas.microsoft.com/office/drawing/2014/main" id="{362F1D16-6683-824B-89A2-430708900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1ACEB-79E0-204B-9E6A-C6F8A4605A79}"/>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92429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4CF6-AD01-5543-803F-C54639204B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8BBA-28F7-0643-B15F-D56C25F98B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6F55F9-752E-EF46-B1BB-F890ADB20991}"/>
              </a:ext>
            </a:extLst>
          </p:cNvPr>
          <p:cNvSpPr>
            <a:spLocks noGrp="1"/>
          </p:cNvSpPr>
          <p:nvPr>
            <p:ph type="dt" sz="half" idx="10"/>
          </p:nvPr>
        </p:nvSpPr>
        <p:spPr/>
        <p:txBody>
          <a:bodyPr/>
          <a:lstStyle/>
          <a:p>
            <a:fld id="{50EF6096-C94B-1F43-B444-D62CEC4BBC62}" type="datetime1">
              <a:rPr lang="en-US" smtClean="0"/>
              <a:t>3/3/24</a:t>
            </a:fld>
            <a:endParaRPr lang="en-US"/>
          </a:p>
        </p:txBody>
      </p:sp>
      <p:sp>
        <p:nvSpPr>
          <p:cNvPr id="5" name="Footer Placeholder 4">
            <a:extLst>
              <a:ext uri="{FF2B5EF4-FFF2-40B4-BE49-F238E27FC236}">
                <a16:creationId xmlns:a16="http://schemas.microsoft.com/office/drawing/2014/main" id="{AB9AAE76-683F-DF4F-AA92-A1A5B4DBA0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8E903-ED97-8E40-919F-C4E6759E7E0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02715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E822-8388-3144-A79F-46DDE2647D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F9E753-968E-AF43-A069-5EE0A8A3A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F00C7A-50EC-CF46-84FE-359537D14AEC}"/>
              </a:ext>
            </a:extLst>
          </p:cNvPr>
          <p:cNvSpPr>
            <a:spLocks noGrp="1"/>
          </p:cNvSpPr>
          <p:nvPr>
            <p:ph type="dt" sz="half" idx="10"/>
          </p:nvPr>
        </p:nvSpPr>
        <p:spPr/>
        <p:txBody>
          <a:bodyPr/>
          <a:lstStyle/>
          <a:p>
            <a:fld id="{E8692F82-B0F2-8D41-AD15-91C65D150B2C}" type="datetime1">
              <a:rPr lang="en-US" smtClean="0"/>
              <a:t>3/3/24</a:t>
            </a:fld>
            <a:endParaRPr lang="en-US"/>
          </a:p>
        </p:txBody>
      </p:sp>
      <p:sp>
        <p:nvSpPr>
          <p:cNvPr id="5" name="Footer Placeholder 4">
            <a:extLst>
              <a:ext uri="{FF2B5EF4-FFF2-40B4-BE49-F238E27FC236}">
                <a16:creationId xmlns:a16="http://schemas.microsoft.com/office/drawing/2014/main" id="{8F06A446-B99F-A94C-AC0C-9D0E13E2D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E0DCD3-1C3F-C34E-93F4-801886513A79}"/>
              </a:ext>
            </a:extLst>
          </p:cNvPr>
          <p:cNvSpPr>
            <a:spLocks noGrp="1"/>
          </p:cNvSpPr>
          <p:nvPr>
            <p:ph type="sldNum" sz="quarter" idx="12"/>
          </p:nvPr>
        </p:nvSpPr>
        <p:spPr/>
        <p:txBody>
          <a:bodyPr/>
          <a:lstStyle/>
          <a:p>
            <a:fld id="{0B97A0ED-0713-854E-AE67-C1B678B4A72A}" type="slidenum">
              <a:rPr lang="en-US" smtClean="0"/>
              <a:t>‹#›</a:t>
            </a:fld>
            <a:endParaRPr lang="en-US" dirty="0"/>
          </a:p>
        </p:txBody>
      </p:sp>
    </p:spTree>
    <p:extLst>
      <p:ext uri="{BB962C8B-B14F-4D97-AF65-F5344CB8AC3E}">
        <p14:creationId xmlns:p14="http://schemas.microsoft.com/office/powerpoint/2010/main" val="325884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1FAE7-561D-D746-A9C4-732898086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7316E3-7DD2-884E-8B6B-83B8CA1030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59B3D4-32C2-004C-A8DC-0A9944EDD2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C59EF-8F55-EC4C-87F9-E26235153B8B}"/>
              </a:ext>
            </a:extLst>
          </p:cNvPr>
          <p:cNvSpPr>
            <a:spLocks noGrp="1"/>
          </p:cNvSpPr>
          <p:nvPr>
            <p:ph type="dt" sz="half" idx="10"/>
          </p:nvPr>
        </p:nvSpPr>
        <p:spPr/>
        <p:txBody>
          <a:bodyPr/>
          <a:lstStyle/>
          <a:p>
            <a:fld id="{8126DA07-0646-7B4A-87F7-8A74D5327665}" type="datetime1">
              <a:rPr lang="en-US" smtClean="0"/>
              <a:t>3/3/24</a:t>
            </a:fld>
            <a:endParaRPr lang="en-US"/>
          </a:p>
        </p:txBody>
      </p:sp>
      <p:sp>
        <p:nvSpPr>
          <p:cNvPr id="6" name="Footer Placeholder 5">
            <a:extLst>
              <a:ext uri="{FF2B5EF4-FFF2-40B4-BE49-F238E27FC236}">
                <a16:creationId xmlns:a16="http://schemas.microsoft.com/office/drawing/2014/main" id="{EABBEB57-B775-7C46-9CE3-9F920DD19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451C04-543E-5E4D-9B03-9D559B3F66D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795363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F6A71-D5DD-8441-B67B-BBB8DCDC5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BF922E-AA81-2B43-B031-DD239A7241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1FA3A4-D5F0-FE4B-96F8-51A011DCE6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FD1CE6-8A9C-2C46-A1E4-8D7163C0FF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48417-6421-234A-99CC-49ADC1814B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56567E-0258-4A4B-BCB3-337C01C422E3}"/>
              </a:ext>
            </a:extLst>
          </p:cNvPr>
          <p:cNvSpPr>
            <a:spLocks noGrp="1"/>
          </p:cNvSpPr>
          <p:nvPr>
            <p:ph type="dt" sz="half" idx="10"/>
          </p:nvPr>
        </p:nvSpPr>
        <p:spPr/>
        <p:txBody>
          <a:bodyPr/>
          <a:lstStyle/>
          <a:p>
            <a:fld id="{3DDABA88-1493-C94E-99C8-CE647B3DF7AE}" type="datetime1">
              <a:rPr lang="en-US" smtClean="0"/>
              <a:t>3/3/24</a:t>
            </a:fld>
            <a:endParaRPr lang="en-US"/>
          </a:p>
        </p:txBody>
      </p:sp>
      <p:sp>
        <p:nvSpPr>
          <p:cNvPr id="8" name="Footer Placeholder 7">
            <a:extLst>
              <a:ext uri="{FF2B5EF4-FFF2-40B4-BE49-F238E27FC236}">
                <a16:creationId xmlns:a16="http://schemas.microsoft.com/office/drawing/2014/main" id="{B7E777CD-E8A7-1A4C-85A7-4D501E7B21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93ED2D-A467-FB4B-8EB4-206998BEFE0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7297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EA55-90DB-7E4B-8C11-80C6A3367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9A4ABB-7AFF-6F48-B33F-BDB17D4E8086}"/>
              </a:ext>
            </a:extLst>
          </p:cNvPr>
          <p:cNvSpPr>
            <a:spLocks noGrp="1"/>
          </p:cNvSpPr>
          <p:nvPr>
            <p:ph type="dt" sz="half" idx="10"/>
          </p:nvPr>
        </p:nvSpPr>
        <p:spPr/>
        <p:txBody>
          <a:bodyPr/>
          <a:lstStyle/>
          <a:p>
            <a:fld id="{121EC347-9826-F648-9694-5895C7CA0EE1}" type="datetime1">
              <a:rPr lang="en-US" smtClean="0"/>
              <a:t>3/3/24</a:t>
            </a:fld>
            <a:endParaRPr lang="en-US"/>
          </a:p>
        </p:txBody>
      </p:sp>
      <p:sp>
        <p:nvSpPr>
          <p:cNvPr id="4" name="Footer Placeholder 3">
            <a:extLst>
              <a:ext uri="{FF2B5EF4-FFF2-40B4-BE49-F238E27FC236}">
                <a16:creationId xmlns:a16="http://schemas.microsoft.com/office/drawing/2014/main" id="{F9D0BD56-28BF-BC47-8662-BAAB14C8D4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F5C44-4DB2-F547-BAC9-0EA5A1731F93}"/>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4120023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ADDE13-37F7-2E41-8FA2-10F6FD188F32}"/>
              </a:ext>
            </a:extLst>
          </p:cNvPr>
          <p:cNvSpPr>
            <a:spLocks noGrp="1"/>
          </p:cNvSpPr>
          <p:nvPr>
            <p:ph type="dt" sz="half" idx="10"/>
          </p:nvPr>
        </p:nvSpPr>
        <p:spPr/>
        <p:txBody>
          <a:bodyPr/>
          <a:lstStyle/>
          <a:p>
            <a:fld id="{25EE4F74-8F7B-2242-90E7-CE93326C0103}" type="datetime1">
              <a:rPr lang="en-US" smtClean="0"/>
              <a:t>3/3/24</a:t>
            </a:fld>
            <a:endParaRPr lang="en-US"/>
          </a:p>
        </p:txBody>
      </p:sp>
      <p:sp>
        <p:nvSpPr>
          <p:cNvPr id="3" name="Footer Placeholder 2">
            <a:extLst>
              <a:ext uri="{FF2B5EF4-FFF2-40B4-BE49-F238E27FC236}">
                <a16:creationId xmlns:a16="http://schemas.microsoft.com/office/drawing/2014/main" id="{B6A60609-70EC-DF4F-97BE-CEBB01D442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6BAC87-03E5-814E-B14F-C2DCF65D544E}"/>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13368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54E3-0519-2741-9836-89D503E94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2B972A-8F43-6B4C-8A4F-09C4193EF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139879-0C02-FB40-B638-F416DD96C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1124E2-8013-1446-943F-90E8C5CE33B7}"/>
              </a:ext>
            </a:extLst>
          </p:cNvPr>
          <p:cNvSpPr>
            <a:spLocks noGrp="1"/>
          </p:cNvSpPr>
          <p:nvPr>
            <p:ph type="dt" sz="half" idx="10"/>
          </p:nvPr>
        </p:nvSpPr>
        <p:spPr/>
        <p:txBody>
          <a:bodyPr/>
          <a:lstStyle/>
          <a:p>
            <a:fld id="{58E0B05B-3CE4-8346-AB96-5A2D17171AEB}" type="datetime1">
              <a:rPr lang="en-US" smtClean="0"/>
              <a:t>3/3/24</a:t>
            </a:fld>
            <a:endParaRPr lang="en-US"/>
          </a:p>
        </p:txBody>
      </p:sp>
      <p:sp>
        <p:nvSpPr>
          <p:cNvPr id="6" name="Footer Placeholder 5">
            <a:extLst>
              <a:ext uri="{FF2B5EF4-FFF2-40B4-BE49-F238E27FC236}">
                <a16:creationId xmlns:a16="http://schemas.microsoft.com/office/drawing/2014/main" id="{B552C0D4-0CB4-6047-AFFB-AB3D588A0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D42813-4FB9-494D-9149-25E8DC69646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30072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E214-B67B-1842-895A-8AFB2FA21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4AED4A-0EDF-664F-AF09-5D27599D3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a:extLst>
              <a:ext uri="{FF2B5EF4-FFF2-40B4-BE49-F238E27FC236}">
                <a16:creationId xmlns:a16="http://schemas.microsoft.com/office/drawing/2014/main" id="{AFAE99B0-E56B-9B4C-BD84-D5649AB28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CB027E-9249-DA40-841B-CEA50DB35243}"/>
              </a:ext>
            </a:extLst>
          </p:cNvPr>
          <p:cNvSpPr>
            <a:spLocks noGrp="1"/>
          </p:cNvSpPr>
          <p:nvPr>
            <p:ph type="dt" sz="half" idx="10"/>
          </p:nvPr>
        </p:nvSpPr>
        <p:spPr/>
        <p:txBody>
          <a:bodyPr/>
          <a:lstStyle/>
          <a:p>
            <a:fld id="{B7D1DEC5-A769-7644-A7A3-BEB9C281F414}" type="datetime1">
              <a:rPr lang="en-US" smtClean="0"/>
              <a:t>3/3/24</a:t>
            </a:fld>
            <a:endParaRPr lang="en-US"/>
          </a:p>
        </p:txBody>
      </p:sp>
      <p:sp>
        <p:nvSpPr>
          <p:cNvPr id="6" name="Footer Placeholder 5">
            <a:extLst>
              <a:ext uri="{FF2B5EF4-FFF2-40B4-BE49-F238E27FC236}">
                <a16:creationId xmlns:a16="http://schemas.microsoft.com/office/drawing/2014/main" id="{8D2DE9A3-71CB-2D42-B8A6-CFADF3DCF4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FF176-C547-7641-A9C8-48F13B239011}"/>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814386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CFFF-E244-9846-A016-E3A8E48F9A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34A35A-59A3-8344-B17D-7B922C892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23E28-085A-2D4C-90F8-98DB75210DF4}"/>
              </a:ext>
            </a:extLst>
          </p:cNvPr>
          <p:cNvSpPr>
            <a:spLocks noGrp="1"/>
          </p:cNvSpPr>
          <p:nvPr>
            <p:ph type="dt" sz="half" idx="10"/>
          </p:nvPr>
        </p:nvSpPr>
        <p:spPr/>
        <p:txBody>
          <a:bodyPr/>
          <a:lstStyle/>
          <a:p>
            <a:fld id="{27774697-6E46-3B4A-B4F6-DAE8F628F701}" type="datetime1">
              <a:rPr lang="en-US" smtClean="0"/>
              <a:t>3/3/24</a:t>
            </a:fld>
            <a:endParaRPr lang="en-US"/>
          </a:p>
        </p:txBody>
      </p:sp>
      <p:sp>
        <p:nvSpPr>
          <p:cNvPr id="5" name="Footer Placeholder 4">
            <a:extLst>
              <a:ext uri="{FF2B5EF4-FFF2-40B4-BE49-F238E27FC236}">
                <a16:creationId xmlns:a16="http://schemas.microsoft.com/office/drawing/2014/main" id="{239EE92C-EED5-F94A-B2D1-BE4AB8491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CC517-0968-F349-8741-10CED7628BB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6468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7C5D9-E6AD-F543-B705-F9E926039A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FA712F-695F-DC48-A229-04E3A0C196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0FC80-C037-CD43-8493-116566D1393E}"/>
              </a:ext>
            </a:extLst>
          </p:cNvPr>
          <p:cNvSpPr>
            <a:spLocks noGrp="1"/>
          </p:cNvSpPr>
          <p:nvPr>
            <p:ph type="dt" sz="half" idx="10"/>
          </p:nvPr>
        </p:nvSpPr>
        <p:spPr/>
        <p:txBody>
          <a:bodyPr/>
          <a:lstStyle/>
          <a:p>
            <a:fld id="{A034C910-2DF9-F141-A7C9-336678CDE083}" type="datetime1">
              <a:rPr lang="en-US" smtClean="0"/>
              <a:t>3/3/24</a:t>
            </a:fld>
            <a:endParaRPr lang="en-US"/>
          </a:p>
        </p:txBody>
      </p:sp>
      <p:sp>
        <p:nvSpPr>
          <p:cNvPr id="5" name="Footer Placeholder 4">
            <a:extLst>
              <a:ext uri="{FF2B5EF4-FFF2-40B4-BE49-F238E27FC236}">
                <a16:creationId xmlns:a16="http://schemas.microsoft.com/office/drawing/2014/main" id="{DC7969A5-A6FC-5648-8EE3-096166036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2A83D-DC6E-FB40-8A48-74586AF71FB4}"/>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351567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D8138-CD82-2D46-85A6-460DC8F625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D3D98-B305-014C-817F-8EEF42DAC9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1548F-1A0A-474D-9681-A9FE21A10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001ECF-21AA-6547-929E-0F24F3C41A39}" type="datetime1">
              <a:rPr lang="en-US" smtClean="0"/>
              <a:t>3/3/24</a:t>
            </a:fld>
            <a:endParaRPr lang="en-US"/>
          </a:p>
        </p:txBody>
      </p:sp>
      <p:sp>
        <p:nvSpPr>
          <p:cNvPr id="5" name="Footer Placeholder 4">
            <a:extLst>
              <a:ext uri="{FF2B5EF4-FFF2-40B4-BE49-F238E27FC236}">
                <a16:creationId xmlns:a16="http://schemas.microsoft.com/office/drawing/2014/main" id="{E7DCD391-7FBD-EA46-9266-5F19F9ADF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B03041-2579-5E4F-8D4A-871D7A43F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97A0ED-0713-854E-AE67-C1B678B4A72A}" type="slidenum">
              <a:rPr lang="en-US" smtClean="0"/>
              <a:t>‹#›</a:t>
            </a:fld>
            <a:endParaRPr lang="en-US"/>
          </a:p>
        </p:txBody>
      </p:sp>
    </p:spTree>
    <p:extLst>
      <p:ext uri="{BB962C8B-B14F-4D97-AF65-F5344CB8AC3E}">
        <p14:creationId xmlns:p14="http://schemas.microsoft.com/office/powerpoint/2010/main" val="1019793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 Id="rId5" Type="http://schemas.openxmlformats.org/officeDocument/2006/relationships/chart" Target="../charts/chart4.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10.bin"/><Relationship Id="rId4" Type="http://schemas.openxmlformats.org/officeDocument/2006/relationships/image" Target="../media/image16.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2.bin"/><Relationship Id="rId4" Type="http://schemas.openxmlformats.org/officeDocument/2006/relationships/image" Target="../media/image11.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oleObject" Target="../embeddings/oleObject14.bin"/><Relationship Id="rId4" Type="http://schemas.openxmlformats.org/officeDocument/2006/relationships/image" Target="../media/image11.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en.wikipedia.org/wiki/Broyden%E2%80%93Fletcher%E2%80%93Goldfarb%E2%80%93Shanno_algorith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FB09-5224-EF4B-A112-FD8314C115F5}"/>
              </a:ext>
            </a:extLst>
          </p:cNvPr>
          <p:cNvSpPr>
            <a:spLocks noGrp="1"/>
          </p:cNvSpPr>
          <p:nvPr>
            <p:ph type="ctrTitle"/>
          </p:nvPr>
        </p:nvSpPr>
        <p:spPr>
          <a:xfrm>
            <a:off x="1524000" y="1421259"/>
            <a:ext cx="9144000" cy="2387600"/>
          </a:xfrm>
        </p:spPr>
        <p:txBody>
          <a:bodyPr>
            <a:normAutofit/>
          </a:bodyPr>
          <a:lstStyle/>
          <a:p>
            <a:r>
              <a:rPr lang="en-US" b="1" dirty="0"/>
              <a:t>Item Parameter Estimation</a:t>
            </a:r>
            <a:br>
              <a:rPr lang="en-US" b="1" dirty="0"/>
            </a:br>
            <a:r>
              <a:rPr lang="en-US" b="1" dirty="0"/>
              <a:t>“Calibration”</a:t>
            </a:r>
          </a:p>
        </p:txBody>
      </p:sp>
      <p:sp>
        <p:nvSpPr>
          <p:cNvPr id="3" name="Subtitle 2">
            <a:extLst>
              <a:ext uri="{FF2B5EF4-FFF2-40B4-BE49-F238E27FC236}">
                <a16:creationId xmlns:a16="http://schemas.microsoft.com/office/drawing/2014/main" id="{39F16454-4B6A-A24A-BFE0-914D927AA55D}"/>
              </a:ext>
            </a:extLst>
          </p:cNvPr>
          <p:cNvSpPr>
            <a:spLocks noGrp="1"/>
          </p:cNvSpPr>
          <p:nvPr>
            <p:ph type="subTitle" idx="1"/>
          </p:nvPr>
        </p:nvSpPr>
        <p:spPr>
          <a:xfrm>
            <a:off x="1524000" y="4505928"/>
            <a:ext cx="9144000" cy="1655762"/>
          </a:xfrm>
        </p:spPr>
        <p:txBody>
          <a:bodyPr/>
          <a:lstStyle/>
          <a:p>
            <a:r>
              <a:rPr lang="en-US" dirty="0"/>
              <a:t>EDUC 8720</a:t>
            </a:r>
          </a:p>
          <a:p>
            <a:r>
              <a:rPr lang="en-US" dirty="0"/>
              <a:t>February 2023</a:t>
            </a:r>
          </a:p>
        </p:txBody>
      </p:sp>
    </p:spTree>
    <p:extLst>
      <p:ext uri="{BB962C8B-B14F-4D97-AF65-F5344CB8AC3E}">
        <p14:creationId xmlns:p14="http://schemas.microsoft.com/office/powerpoint/2010/main" val="4243255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Overview</a:t>
            </a:r>
          </a:p>
        </p:txBody>
      </p:sp>
      <p:sp>
        <p:nvSpPr>
          <p:cNvPr id="6" name="Content Placeholder 5"/>
          <p:cNvSpPr>
            <a:spLocks noGrp="1"/>
          </p:cNvSpPr>
          <p:nvPr>
            <p:ph idx="1"/>
          </p:nvPr>
        </p:nvSpPr>
        <p:spPr/>
        <p:txBody>
          <a:bodyPr>
            <a:normAutofit fontScale="92500"/>
          </a:bodyPr>
          <a:lstStyle/>
          <a:p>
            <a:r>
              <a:rPr lang="en-US" dirty="0"/>
              <a:t>JMLE</a:t>
            </a:r>
          </a:p>
          <a:p>
            <a:pPr lvl="1"/>
            <a:r>
              <a:rPr lang="en-US" dirty="0"/>
              <a:t>Simultaneously estimate person thetas and item parameters.</a:t>
            </a:r>
          </a:p>
          <a:p>
            <a:pPr lvl="1"/>
            <a:r>
              <a:rPr lang="en-US" dirty="0"/>
              <a:t>Works iteratively, going back and forth.</a:t>
            </a:r>
          </a:p>
          <a:p>
            <a:pPr lvl="1"/>
            <a:r>
              <a:rPr lang="en-US" dirty="0"/>
              <a:t>Conceptually simple, has practical problems, no longer widely used.</a:t>
            </a:r>
          </a:p>
          <a:p>
            <a:r>
              <a:rPr lang="en-US" dirty="0"/>
              <a:t>MMLE</a:t>
            </a:r>
          </a:p>
          <a:p>
            <a:pPr lvl="1"/>
            <a:r>
              <a:rPr lang="en-US" dirty="0"/>
              <a:t>Marginal maximum likelihood assumes a particular distribution of theta, then estimates </a:t>
            </a:r>
            <a:r>
              <a:rPr lang="en-US" b="1" u="sng" dirty="0"/>
              <a:t>only</a:t>
            </a:r>
            <a:r>
              <a:rPr lang="en-US" dirty="0"/>
              <a:t> item parameters (no thetas).</a:t>
            </a:r>
          </a:p>
          <a:p>
            <a:pPr lvl="1"/>
            <a:r>
              <a:rPr lang="en-US" dirty="0"/>
              <a:t>More complicated, but has better statistical properties and is now widely used.</a:t>
            </a:r>
          </a:p>
          <a:p>
            <a:r>
              <a:rPr lang="en-US" dirty="0"/>
              <a:t>CMLE</a:t>
            </a:r>
          </a:p>
          <a:p>
            <a:pPr lvl="1"/>
            <a:r>
              <a:rPr lang="en-US" dirty="0"/>
              <a:t>Conditional maximum likelihood also only used to estimate item parameters.</a:t>
            </a:r>
          </a:p>
          <a:p>
            <a:pPr lvl="1"/>
            <a:r>
              <a:rPr lang="en-US" dirty="0"/>
              <a:t>Only works for </a:t>
            </a:r>
            <a:r>
              <a:rPr lang="en-US" dirty="0" err="1"/>
              <a:t>Rasch</a:t>
            </a:r>
            <a:r>
              <a:rPr lang="en-US" dirty="0"/>
              <a:t> models, where total score is a sufficient statistic for theta.</a:t>
            </a:r>
          </a:p>
        </p:txBody>
      </p:sp>
      <p:sp>
        <p:nvSpPr>
          <p:cNvPr id="4" name="Slide Number Placeholder 3"/>
          <p:cNvSpPr>
            <a:spLocks noGrp="1"/>
          </p:cNvSpPr>
          <p:nvPr>
            <p:ph type="sldNum" sz="quarter" idx="12"/>
          </p:nvPr>
        </p:nvSpPr>
        <p:spPr/>
        <p:txBody>
          <a:bodyPr/>
          <a:lstStyle/>
          <a:p>
            <a:fld id="{0B97A0ED-0713-854E-AE67-C1B678B4A72A}" type="slidenum">
              <a:rPr lang="en-US" smtClean="0"/>
              <a:t>2</a:t>
            </a:fld>
            <a:endParaRPr lang="en-US"/>
          </a:p>
        </p:txBody>
      </p:sp>
    </p:spTree>
    <p:extLst>
      <p:ext uri="{BB962C8B-B14F-4D97-AF65-F5344CB8AC3E}">
        <p14:creationId xmlns:p14="http://schemas.microsoft.com/office/powerpoint/2010/main" val="1218882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Joint Maximum Likelihood Estimation (JMLE)</a:t>
            </a:r>
          </a:p>
        </p:txBody>
      </p:sp>
      <p:sp>
        <p:nvSpPr>
          <p:cNvPr id="6" name="Content Placeholder 5"/>
          <p:cNvSpPr>
            <a:spLocks noGrp="1"/>
          </p:cNvSpPr>
          <p:nvPr>
            <p:ph idx="1"/>
          </p:nvPr>
        </p:nvSpPr>
        <p:spPr/>
        <p:txBody>
          <a:bodyPr>
            <a:noAutofit/>
          </a:bodyPr>
          <a:lstStyle/>
          <a:p>
            <a:pPr marL="0" indent="0">
              <a:buNone/>
            </a:pPr>
            <a:r>
              <a:rPr lang="en-US" sz="2000" dirty="0"/>
              <a:t>Conceptual overview:</a:t>
            </a:r>
          </a:p>
          <a:p>
            <a:pPr marL="609600" indent="-609600">
              <a:lnSpc>
                <a:spcPct val="80000"/>
              </a:lnSpc>
              <a:buFontTx/>
              <a:buAutoNum type="arabicPeriod"/>
            </a:pPr>
            <a:r>
              <a:rPr lang="en-US" altLang="en-US" sz="2000" dirty="0">
                <a:latin typeface="Calibri" charset="0"/>
                <a:ea typeface="ＭＳ Ｐゴシック" charset="-128"/>
              </a:rPr>
              <a:t>Specify functional form of ICC.</a:t>
            </a:r>
          </a:p>
          <a:p>
            <a:pPr marL="609600" indent="-609600">
              <a:lnSpc>
                <a:spcPct val="80000"/>
              </a:lnSpc>
              <a:buFontTx/>
              <a:buAutoNum type="arabicPeriod"/>
            </a:pPr>
            <a:r>
              <a:rPr lang="en-US" altLang="en-US" sz="2000" dirty="0">
                <a:latin typeface="Calibri" charset="0"/>
                <a:ea typeface="ＭＳ Ｐゴシック" charset="-128"/>
              </a:rPr>
              <a:t>Write out the Joint Likelihood Function (over both items and persons).</a:t>
            </a:r>
          </a:p>
          <a:p>
            <a:pPr marL="609600" indent="-609600">
              <a:lnSpc>
                <a:spcPct val="80000"/>
              </a:lnSpc>
              <a:buFontTx/>
              <a:buAutoNum type="arabicPeriod"/>
            </a:pPr>
            <a:r>
              <a:rPr lang="en-US" altLang="en-US" sz="2000" dirty="0">
                <a:latin typeface="Calibri" charset="0"/>
                <a:ea typeface="ＭＳ Ｐゴシック" charset="-128"/>
              </a:rPr>
              <a:t>Take the Log of the Likelihood Function.</a:t>
            </a:r>
          </a:p>
          <a:p>
            <a:pPr marL="609600" indent="-609600">
              <a:lnSpc>
                <a:spcPct val="80000"/>
              </a:lnSpc>
              <a:buFontTx/>
              <a:buAutoNum type="arabicPeriod"/>
            </a:pPr>
            <a:r>
              <a:rPr lang="en-US" altLang="en-US" sz="2000" dirty="0">
                <a:latin typeface="Calibri" charset="0"/>
                <a:ea typeface="ＭＳ Ｐゴシック" charset="-128"/>
              </a:rPr>
              <a:t>Establish “</a:t>
            </a:r>
            <a:r>
              <a:rPr lang="en-US" altLang="ja-JP" sz="2000" dirty="0">
                <a:latin typeface="Calibri" charset="0"/>
                <a:ea typeface="ＭＳ Ｐゴシック" charset="-128"/>
              </a:rPr>
              <a:t>Estimating Equations” for Item and Person Parameters respectively. [Take partial derivatives]</a:t>
            </a:r>
          </a:p>
          <a:p>
            <a:pPr marL="609600" indent="-609600">
              <a:lnSpc>
                <a:spcPct val="80000"/>
              </a:lnSpc>
              <a:buFontTx/>
              <a:buAutoNum type="arabicPeriod"/>
            </a:pPr>
            <a:r>
              <a:rPr lang="en-US" altLang="en-US" sz="2000" dirty="0">
                <a:latin typeface="Calibri" charset="0"/>
                <a:ea typeface="ＭＳ Ｐゴシック" charset="-128"/>
              </a:rPr>
              <a:t>Start with provisional theta values and get estimates for item parameters. [Newton-Raphson Algorithm]</a:t>
            </a:r>
          </a:p>
          <a:p>
            <a:pPr marL="609600" indent="-609600">
              <a:lnSpc>
                <a:spcPct val="80000"/>
              </a:lnSpc>
              <a:buFontTx/>
              <a:buAutoNum type="arabicPeriod"/>
            </a:pPr>
            <a:r>
              <a:rPr lang="en-US" altLang="en-US" sz="2000" dirty="0">
                <a:latin typeface="Calibri" charset="0"/>
                <a:ea typeface="ＭＳ Ｐゴシック" charset="-128"/>
              </a:rPr>
              <a:t>Use item parameter estimates to get new estimates of theta’s. [Newton-Raphson Algorithm]</a:t>
            </a:r>
          </a:p>
          <a:p>
            <a:pPr marL="609600" indent="-609600">
              <a:lnSpc>
                <a:spcPct val="80000"/>
              </a:lnSpc>
              <a:buFontTx/>
              <a:buAutoNum type="arabicPeriod"/>
            </a:pPr>
            <a:r>
              <a:rPr lang="en-US" altLang="en-US" sz="2000" dirty="0">
                <a:latin typeface="Calibri" charset="0"/>
                <a:ea typeface="ＭＳ Ｐゴシック" charset="-128"/>
              </a:rPr>
              <a:t>Repeat steps 5 and 6 until convergence criterion is reached (usually something like .01 on logit scale).</a:t>
            </a:r>
          </a:p>
          <a:p>
            <a:pPr marL="0" indent="0">
              <a:lnSpc>
                <a:spcPct val="80000"/>
              </a:lnSpc>
              <a:buNone/>
            </a:pPr>
            <a:r>
              <a:rPr lang="en-US" altLang="en-US" sz="2000" dirty="0">
                <a:latin typeface="Calibri" charset="0"/>
                <a:ea typeface="ＭＳ Ｐゴシック" charset="-128"/>
              </a:rPr>
              <a:t>Iterative process that goes back and forth between items and theta’s. Results in an estimate of theta for each person and item parameters for each item.</a:t>
            </a:r>
          </a:p>
          <a:p>
            <a:pPr marL="609600" indent="-609600">
              <a:lnSpc>
                <a:spcPct val="80000"/>
              </a:lnSpc>
              <a:buFontTx/>
              <a:buAutoNum type="arabicPeriod"/>
            </a:pPr>
            <a:endParaRPr lang="en-US" altLang="en-US" sz="2000" dirty="0">
              <a:ea typeface="ＭＳ Ｐゴシック" charset="-128"/>
            </a:endParaRPr>
          </a:p>
          <a:p>
            <a:pPr marL="514350" indent="-514350">
              <a:buFont typeface="+mj-lt"/>
              <a:buAutoNum type="arabicPeriod"/>
            </a:pPr>
            <a:endParaRPr lang="en-US" sz="2000" dirty="0"/>
          </a:p>
        </p:txBody>
      </p:sp>
      <p:sp>
        <p:nvSpPr>
          <p:cNvPr id="4" name="Slide Number Placeholder 3"/>
          <p:cNvSpPr>
            <a:spLocks noGrp="1"/>
          </p:cNvSpPr>
          <p:nvPr>
            <p:ph type="sldNum" sz="quarter" idx="12"/>
          </p:nvPr>
        </p:nvSpPr>
        <p:spPr/>
        <p:txBody>
          <a:bodyPr/>
          <a:lstStyle/>
          <a:p>
            <a:fld id="{0B97A0ED-0713-854E-AE67-C1B678B4A72A}" type="slidenum">
              <a:rPr lang="en-US" smtClean="0"/>
              <a:t>3</a:t>
            </a:fld>
            <a:endParaRPr lang="en-US"/>
          </a:p>
        </p:txBody>
      </p:sp>
    </p:spTree>
    <p:extLst>
      <p:ext uri="{BB962C8B-B14F-4D97-AF65-F5344CB8AC3E}">
        <p14:creationId xmlns:p14="http://schemas.microsoft.com/office/powerpoint/2010/main" val="1483800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5"/>
          <p:cNvSpPr>
            <a:spLocks noGrp="1" noChangeArrowheads="1"/>
          </p:cNvSpPr>
          <p:nvPr>
            <p:ph type="title"/>
          </p:nvPr>
        </p:nvSpPr>
        <p:spPr/>
        <p:txBody>
          <a:bodyPr>
            <a:normAutofit/>
          </a:bodyPr>
          <a:lstStyle/>
          <a:p>
            <a:pPr eaLnBrk="1" hangingPunct="1"/>
            <a:r>
              <a:rPr lang="en-US" altLang="en-US" b="1" dirty="0">
                <a:ea typeface="ＭＳ Ｐゴシック" charset="-128"/>
              </a:rPr>
              <a:t>Log of Joint Likelihood Function</a:t>
            </a:r>
          </a:p>
        </p:txBody>
      </p:sp>
      <p:sp>
        <p:nvSpPr>
          <p:cNvPr id="2052" name="Text Box 7"/>
          <p:cNvSpPr txBox="1">
            <a:spLocks noChangeArrowheads="1"/>
          </p:cNvSpPr>
          <p:nvPr/>
        </p:nvSpPr>
        <p:spPr bwMode="auto">
          <a:xfrm>
            <a:off x="838200" y="3155950"/>
            <a:ext cx="10515600" cy="2708434"/>
          </a:xfrm>
          <a:prstGeom prst="rect">
            <a:avLst/>
          </a:prstGeom>
          <a:noFill/>
          <a:ln w="9525">
            <a:solidFill>
              <a:schemeClr val="tx1"/>
            </a:solidFill>
            <a:miter lim="800000"/>
            <a:headEnd/>
            <a:tailEnd/>
          </a:ln>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defRPr/>
            </a:pPr>
            <a:r>
              <a:rPr lang="en-US" sz="2000" dirty="0">
                <a:latin typeface="Calibri"/>
                <a:cs typeface="Calibri"/>
              </a:rPr>
              <a:t>Next step would be to take the partial derivatives of the log-likelihood function above with respect to (a) each item parameter and (b) each person parameter, and set these equations equal to 0. Then need to solve all equations simultaneously.</a:t>
            </a:r>
          </a:p>
          <a:p>
            <a:pPr eaLnBrk="1" hangingPunct="1">
              <a:spcBef>
                <a:spcPct val="50000"/>
              </a:spcBef>
              <a:defRPr/>
            </a:pPr>
            <a:r>
              <a:rPr lang="en-US" sz="2000" dirty="0">
                <a:latin typeface="Calibri"/>
                <a:cs typeface="Calibri"/>
              </a:rPr>
              <a:t>Say we have 10 items. </a:t>
            </a:r>
          </a:p>
          <a:p>
            <a:pPr marL="342900" indent="-342900" eaLnBrk="1" hangingPunct="1">
              <a:spcBef>
                <a:spcPct val="50000"/>
              </a:spcBef>
              <a:buFontTx/>
              <a:buAutoNum type="arabicParenR"/>
              <a:defRPr/>
            </a:pPr>
            <a:r>
              <a:rPr lang="en-US" sz="2000" dirty="0">
                <a:latin typeface="Calibri"/>
                <a:cs typeface="Calibri"/>
              </a:rPr>
              <a:t>If you specified a 1PL model, how many estimating equations would you have to solve? 2PL? 3PL?</a:t>
            </a:r>
          </a:p>
          <a:p>
            <a:pPr marL="342900" indent="-342900" eaLnBrk="1" hangingPunct="1">
              <a:spcBef>
                <a:spcPct val="50000"/>
              </a:spcBef>
              <a:buFontTx/>
              <a:buAutoNum type="arabicParenR"/>
              <a:defRPr/>
            </a:pPr>
            <a:r>
              <a:rPr lang="en-US" sz="2000" dirty="0">
                <a:latin typeface="Calibri"/>
                <a:cs typeface="Calibri"/>
              </a:rPr>
              <a:t>How many equations in total if you have 1000 respondents? 2000?</a:t>
            </a:r>
          </a:p>
        </p:txBody>
      </p:sp>
      <mc:AlternateContent xmlns:mc="http://schemas.openxmlformats.org/markup-compatibility/2006" xmlns:a14="http://schemas.microsoft.com/office/drawing/2010/main">
        <mc:Choice Requires="a14">
          <p:sp>
            <p:nvSpPr>
              <p:cNvPr id="2" name="TextBox 1"/>
              <p:cNvSpPr txBox="1"/>
              <p:nvPr/>
            </p:nvSpPr>
            <p:spPr>
              <a:xfrm>
                <a:off x="1590920" y="1690688"/>
                <a:ext cx="9274783" cy="11308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𝑙</m:t>
                      </m:r>
                      <m:r>
                        <a:rPr lang="en-US" sz="2400" b="0" i="1" smtClean="0">
                          <a:latin typeface="Cambria Math" charset="0"/>
                        </a:rPr>
                        <m:t>=</m:t>
                      </m:r>
                      <m:func>
                        <m:funcPr>
                          <m:ctrlPr>
                            <a:rPr lang="en-US" sz="2400" b="0" i="1" smtClean="0">
                              <a:latin typeface="Cambria Math" panose="02040503050406030204" pitchFamily="18" charset="0"/>
                            </a:rPr>
                          </m:ctrlPr>
                        </m:funcPr>
                        <m:fName>
                          <m:r>
                            <m:rPr>
                              <m:sty m:val="p"/>
                            </m:rPr>
                            <a:rPr lang="en-US" sz="2400" b="0" i="0" smtClean="0">
                              <a:latin typeface="Cambria Math" charset="0"/>
                            </a:rPr>
                            <m:t>ln</m:t>
                          </m:r>
                        </m:fName>
                        <m:e>
                          <m:d>
                            <m:dPr>
                              <m:ctrlPr>
                                <a:rPr lang="en-US" sz="2400" b="0" i="1" smtClean="0">
                                  <a:latin typeface="Cambria Math" panose="02040503050406030204" pitchFamily="18" charset="0"/>
                                </a:rPr>
                              </m:ctrlPr>
                            </m:dPr>
                            <m:e>
                              <m:r>
                                <a:rPr lang="en-US" sz="2400" b="0" i="1" smtClean="0">
                                  <a:latin typeface="Cambria Math" charset="0"/>
                                </a:rPr>
                                <m:t>𝑃</m:t>
                              </m:r>
                              <m:d>
                                <m:dPr>
                                  <m:ctrlPr>
                                    <a:rPr lang="en-US" sz="2400" b="0" i="1" smtClean="0">
                                      <a:latin typeface="Cambria Math" panose="02040503050406030204" pitchFamily="18" charset="0"/>
                                    </a:rPr>
                                  </m:ctrlPr>
                                </m:dPr>
                                <m:e>
                                  <m:r>
                                    <a:rPr lang="en-US" sz="2400" b="1" i="0" smtClean="0">
                                      <a:latin typeface="Cambria Math" charset="0"/>
                                    </a:rPr>
                                    <m:t>𝐗</m:t>
                                  </m:r>
                                </m:e>
                                <m:e>
                                  <m:r>
                                    <a:rPr lang="en-US" sz="2400" b="1" i="1" smtClean="0">
                                      <a:latin typeface="Cambria Math" charset="0"/>
                                    </a:rPr>
                                    <m:t>𝜽</m:t>
                                  </m:r>
                                  <m:r>
                                    <a:rPr lang="en-US" sz="2400" b="0" i="1" smtClean="0">
                                      <a:latin typeface="Cambria Math" charset="0"/>
                                    </a:rPr>
                                    <m:t>, </m:t>
                                  </m:r>
                                  <m:r>
                                    <a:rPr lang="en-US" sz="2400" b="1" i="1" smtClean="0">
                                      <a:latin typeface="Cambria Math" charset="0"/>
                                    </a:rPr>
                                    <m:t>𝒂</m:t>
                                  </m:r>
                                  <m:r>
                                    <a:rPr lang="en-US" sz="2400" b="1" i="1" smtClean="0">
                                      <a:latin typeface="Cambria Math" charset="0"/>
                                    </a:rPr>
                                    <m:t>, </m:t>
                                  </m:r>
                                  <m:r>
                                    <a:rPr lang="en-US" sz="2400" b="1" i="1" smtClean="0">
                                      <a:latin typeface="Cambria Math" charset="0"/>
                                    </a:rPr>
                                    <m:t>𝒃</m:t>
                                  </m:r>
                                  <m:r>
                                    <a:rPr lang="en-US" sz="2400" b="1" i="1" smtClean="0">
                                      <a:latin typeface="Cambria Math" charset="0"/>
                                    </a:rPr>
                                    <m:t>,</m:t>
                                  </m:r>
                                  <m:r>
                                    <a:rPr lang="en-US" sz="2400" b="1" i="1" smtClean="0">
                                      <a:latin typeface="Cambria Math" charset="0"/>
                                    </a:rPr>
                                    <m:t>𝒄</m:t>
                                  </m:r>
                                </m:e>
                              </m:d>
                            </m:e>
                          </m:d>
                        </m:e>
                      </m:func>
                      <m:r>
                        <a:rPr lang="en-US" sz="2400" b="0" i="1" smtClean="0">
                          <a:latin typeface="Cambria Math" charset="0"/>
                        </a:rPr>
                        <m:t>=</m:t>
                      </m:r>
                      <m:nary>
                        <m:naryPr>
                          <m:chr m:val="∑"/>
                          <m:ctrlPr>
                            <a:rPr lang="is-IS" sz="2400" b="0" i="1" smtClean="0">
                              <a:latin typeface="Cambria Math" panose="02040503050406030204" pitchFamily="18" charset="0"/>
                            </a:rPr>
                          </m:ctrlPr>
                        </m:naryPr>
                        <m:sub>
                          <m:r>
                            <m:rPr>
                              <m:brk m:alnAt="23"/>
                            </m:rPr>
                            <a:rPr lang="en-US" sz="2400" b="0" i="1" smtClean="0">
                              <a:latin typeface="Cambria Math" charset="0"/>
                            </a:rPr>
                            <m:t>𝑠</m:t>
                          </m:r>
                          <m:r>
                            <a:rPr lang="en-US" sz="2400" b="0" i="1" smtClean="0">
                              <a:latin typeface="Cambria Math" charset="0"/>
                            </a:rPr>
                            <m:t>=1</m:t>
                          </m:r>
                        </m:sub>
                        <m:sup>
                          <m:r>
                            <a:rPr lang="en-US" sz="2400" b="0" i="1" smtClean="0">
                              <a:latin typeface="Cambria Math" charset="0"/>
                            </a:rPr>
                            <m:t>𝑁</m:t>
                          </m:r>
                        </m:sup>
                        <m:e>
                          <m:nary>
                            <m:naryPr>
                              <m:chr m:val="∑"/>
                              <m:ctrlPr>
                                <a:rPr lang="is-IS" sz="2400" b="0" i="1" smtClean="0">
                                  <a:latin typeface="Cambria Math" panose="02040503050406030204" pitchFamily="18" charset="0"/>
                                </a:rPr>
                              </m:ctrlPr>
                            </m:naryPr>
                            <m:sub>
                              <m:r>
                                <m:rPr>
                                  <m:brk m:alnAt="23"/>
                                </m:rPr>
                                <a:rPr lang="en-US" sz="2400" b="0" i="1" smtClean="0">
                                  <a:latin typeface="Cambria Math" charset="0"/>
                                </a:rPr>
                                <m:t>𝑖</m:t>
                              </m:r>
                              <m:r>
                                <a:rPr lang="en-US" sz="2400" b="0" i="1" smtClean="0">
                                  <a:latin typeface="Cambria Math" charset="0"/>
                                </a:rPr>
                                <m:t>=1</m:t>
                              </m:r>
                            </m:sub>
                            <m:sup>
                              <m:r>
                                <a:rPr lang="en-US" sz="2400" b="0" i="1" smtClean="0">
                                  <a:latin typeface="Cambria Math" charset="0"/>
                                </a:rPr>
                                <m:t>𝑛</m:t>
                              </m:r>
                            </m:sup>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𝑢</m:t>
                                      </m:r>
                                    </m:e>
                                    <m:sub>
                                      <m:r>
                                        <a:rPr lang="en-US" sz="2400" b="0" i="1" smtClean="0">
                                          <a:latin typeface="Cambria Math" charset="0"/>
                                        </a:rPr>
                                        <m:t>𝑖𝑠</m:t>
                                      </m:r>
                                    </m:sub>
                                  </m:sSub>
                                  <m:func>
                                    <m:funcPr>
                                      <m:ctrlPr>
                                        <a:rPr lang="en-US" sz="2400" b="0" i="1" smtClean="0">
                                          <a:latin typeface="Cambria Math" panose="02040503050406030204" pitchFamily="18" charset="0"/>
                                        </a:rPr>
                                      </m:ctrlPr>
                                    </m:funcPr>
                                    <m:fName>
                                      <m:r>
                                        <m:rPr>
                                          <m:sty m:val="p"/>
                                        </m:rPr>
                                        <a:rPr lang="en-US" sz="2400" b="0" i="0" smtClean="0">
                                          <a:latin typeface="Cambria Math" charset="0"/>
                                        </a:rPr>
                                        <m:t>ln</m:t>
                                      </m:r>
                                    </m:fName>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𝑃</m:t>
                                              </m:r>
                                            </m:e>
                                            <m:sub>
                                              <m:r>
                                                <a:rPr lang="en-US" sz="2400" b="0" i="1" smtClean="0">
                                                  <a:latin typeface="Cambria Math" charset="0"/>
                                                </a:rPr>
                                                <m:t>𝑖𝑠</m:t>
                                              </m:r>
                                            </m:sub>
                                          </m:sSub>
                                          <m:d>
                                            <m:dPr>
                                              <m:ctrlPr>
                                                <a:rPr lang="en-US" sz="2400" b="0" i="1" smtClean="0">
                                                  <a:latin typeface="Cambria Math" panose="02040503050406030204" pitchFamily="18" charset="0"/>
                                                </a:rPr>
                                              </m:ctrlPr>
                                            </m:dPr>
                                            <m:e>
                                              <m:r>
                                                <a:rPr lang="en-US" sz="2400" b="0" i="1" smtClean="0">
                                                  <a:latin typeface="Cambria Math" charset="0"/>
                                                </a:rPr>
                                                <m:t>𝜃</m:t>
                                              </m:r>
                                            </m:e>
                                          </m:d>
                                        </m:e>
                                      </m:d>
                                    </m:e>
                                  </m:func>
                                  <m:r>
                                    <a:rPr lang="en-US" sz="2400" b="0" i="1" smtClean="0">
                                      <a:latin typeface="Cambria Math" charset="0"/>
                                    </a:rPr>
                                    <m:t>+</m:t>
                                  </m:r>
                                  <m:d>
                                    <m:dPr>
                                      <m:ctrlPr>
                                        <a:rPr lang="en-US" sz="2400" b="0" i="1" smtClean="0">
                                          <a:latin typeface="Cambria Math" panose="02040503050406030204" pitchFamily="18" charset="0"/>
                                        </a:rPr>
                                      </m:ctrlPr>
                                    </m:dPr>
                                    <m:e>
                                      <m:r>
                                        <a:rPr lang="en-US" sz="2400" b="0" i="1" smtClean="0">
                                          <a:latin typeface="Cambria Math" charset="0"/>
                                        </a:rPr>
                                        <m:t>1−</m:t>
                                      </m:r>
                                      <m:sSub>
                                        <m:sSubPr>
                                          <m:ctrlPr>
                                            <a:rPr lang="en-US" sz="2400" b="0" i="1" smtClean="0">
                                              <a:latin typeface="Cambria Math" panose="02040503050406030204" pitchFamily="18" charset="0"/>
                                            </a:rPr>
                                          </m:ctrlPr>
                                        </m:sSubPr>
                                        <m:e>
                                          <m:r>
                                            <a:rPr lang="en-US" sz="2400" b="0" i="1" smtClean="0">
                                              <a:latin typeface="Cambria Math" charset="0"/>
                                            </a:rPr>
                                            <m:t>𝑢</m:t>
                                          </m:r>
                                        </m:e>
                                        <m:sub>
                                          <m:r>
                                            <a:rPr lang="en-US" sz="2400" b="0" i="1" smtClean="0">
                                              <a:latin typeface="Cambria Math" charset="0"/>
                                            </a:rPr>
                                            <m:t>𝑖𝑠</m:t>
                                          </m:r>
                                        </m:sub>
                                      </m:sSub>
                                    </m:e>
                                  </m:d>
                                  <m:func>
                                    <m:funcPr>
                                      <m:ctrlPr>
                                        <a:rPr lang="en-US" sz="2400" b="0" i="1" smtClean="0">
                                          <a:latin typeface="Cambria Math" panose="02040503050406030204" pitchFamily="18" charset="0"/>
                                        </a:rPr>
                                      </m:ctrlPr>
                                    </m:funcPr>
                                    <m:fName>
                                      <m:r>
                                        <m:rPr>
                                          <m:sty m:val="p"/>
                                        </m:rPr>
                                        <a:rPr lang="en-US" sz="2400" b="0" i="0" smtClean="0">
                                          <a:latin typeface="Cambria Math" charset="0"/>
                                        </a:rPr>
                                        <m:t>ln</m:t>
                                      </m:r>
                                    </m:fName>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𝑄</m:t>
                                              </m:r>
                                            </m:e>
                                            <m:sub>
                                              <m:r>
                                                <a:rPr lang="en-US" sz="2400" b="0" i="1" smtClean="0">
                                                  <a:latin typeface="Cambria Math" charset="0"/>
                                                </a:rPr>
                                                <m:t>𝑖𝑠</m:t>
                                              </m:r>
                                            </m:sub>
                                          </m:sSub>
                                          <m:d>
                                            <m:dPr>
                                              <m:ctrlPr>
                                                <a:rPr lang="en-US" sz="2400" i="1">
                                                  <a:latin typeface="Cambria Math" panose="02040503050406030204" pitchFamily="18" charset="0"/>
                                                </a:rPr>
                                              </m:ctrlPr>
                                            </m:dPr>
                                            <m:e>
                                              <m:r>
                                                <a:rPr lang="en-US" sz="2400" i="1">
                                                  <a:latin typeface="Cambria Math" charset="0"/>
                                                </a:rPr>
                                                <m:t>𝜃</m:t>
                                              </m:r>
                                            </m:e>
                                          </m:d>
                                        </m:e>
                                      </m:d>
                                    </m:e>
                                  </m:func>
                                </m:e>
                              </m:d>
                            </m:e>
                          </m:nary>
                        </m:e>
                      </m:nary>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590920" y="1690688"/>
                <a:ext cx="9274783" cy="1130822"/>
              </a:xfrm>
              <a:prstGeom prst="rect">
                <a:avLst/>
              </a:prstGeom>
              <a:blipFill rotWithShape="0">
                <a:blip r:embed="rId3"/>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0B97A0ED-0713-854E-AE67-C1B678B4A72A}" type="slidenum">
              <a:rPr lang="en-US" smtClean="0"/>
              <a:t>4</a:t>
            </a:fld>
            <a:endParaRPr lang="en-US"/>
          </a:p>
        </p:txBody>
      </p:sp>
    </p:spTree>
    <p:extLst>
      <p:ext uri="{BB962C8B-B14F-4D97-AF65-F5344CB8AC3E}">
        <p14:creationId xmlns:p14="http://schemas.microsoft.com/office/powerpoint/2010/main" val="189327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p:txBody>
          <a:bodyPr>
            <a:normAutofit/>
          </a:bodyPr>
          <a:lstStyle/>
          <a:p>
            <a:pPr eaLnBrk="1" hangingPunct="1"/>
            <a:r>
              <a:rPr lang="en-US" altLang="en-US" sz="4000" b="1">
                <a:ea typeface="ＭＳ Ｐゴシック" charset="-128"/>
              </a:rPr>
              <a:t>JML Estimation Eqns for Item Difficulty</a:t>
            </a:r>
          </a:p>
        </p:txBody>
      </p:sp>
      <p:sp>
        <p:nvSpPr>
          <p:cNvPr id="72709" name="Line 10"/>
          <p:cNvSpPr>
            <a:spLocks noChangeShapeType="1"/>
          </p:cNvSpPr>
          <p:nvPr/>
        </p:nvSpPr>
        <p:spPr bwMode="auto">
          <a:xfrm flipH="1">
            <a:off x="5791200" y="20574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2710" name="Text Box 11"/>
          <p:cNvSpPr txBox="1">
            <a:spLocks noChangeArrowheads="1"/>
          </p:cNvSpPr>
          <p:nvPr/>
        </p:nvSpPr>
        <p:spPr bwMode="auto">
          <a:xfrm>
            <a:off x="6477000" y="1752600"/>
            <a:ext cx="26670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400" dirty="0"/>
              <a:t>Observed Item Response</a:t>
            </a:r>
          </a:p>
        </p:txBody>
      </p:sp>
      <p:sp>
        <p:nvSpPr>
          <p:cNvPr id="72711" name="Line 13"/>
          <p:cNvSpPr>
            <a:spLocks noChangeShapeType="1"/>
          </p:cNvSpPr>
          <p:nvPr/>
        </p:nvSpPr>
        <p:spPr bwMode="auto">
          <a:xfrm flipH="1">
            <a:off x="6400800" y="2209800"/>
            <a:ext cx="457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2712" name="Text Box 14"/>
          <p:cNvSpPr txBox="1">
            <a:spLocks noChangeArrowheads="1"/>
          </p:cNvSpPr>
          <p:nvPr/>
        </p:nvSpPr>
        <p:spPr bwMode="auto">
          <a:xfrm>
            <a:off x="6858000" y="2057400"/>
            <a:ext cx="22860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400"/>
              <a:t>Expected Item Response</a:t>
            </a:r>
          </a:p>
        </p:txBody>
      </p:sp>
      <p:sp>
        <p:nvSpPr>
          <p:cNvPr id="72713" name="Text Box 15"/>
          <p:cNvSpPr txBox="1">
            <a:spLocks noChangeArrowheads="1"/>
          </p:cNvSpPr>
          <p:nvPr/>
        </p:nvSpPr>
        <p:spPr bwMode="auto">
          <a:xfrm>
            <a:off x="965128" y="5497853"/>
            <a:ext cx="9652143" cy="1015663"/>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000">
                <a:latin typeface="Calibri" charset="0"/>
              </a:rPr>
              <a:t>The task is to solve these equations for the value of b</a:t>
            </a:r>
            <a:r>
              <a:rPr lang="en-US" altLang="en-US" sz="2000" i="1" baseline="-25000">
                <a:latin typeface="Calibri" charset="0"/>
                <a:sym typeface="Symbol" charset="2"/>
              </a:rPr>
              <a:t>i  </a:t>
            </a:r>
            <a:r>
              <a:rPr lang="en-US" altLang="en-US" sz="2000">
                <a:latin typeface="Calibri" charset="0"/>
                <a:sym typeface="Symbol" charset="2"/>
              </a:rPr>
              <a:t>that that gets the difference between expected and observed item responses over all respondents as small as possible. Notice increase in complexity from 1PL to 3PL, and the involvement is other item parameters.</a:t>
            </a:r>
          </a:p>
        </p:txBody>
      </p:sp>
      <p:sp>
        <p:nvSpPr>
          <p:cNvPr id="72714"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F816FAC0-CB1E-3844-9369-1EEDC5827167}" type="slidenum">
              <a:rPr lang="en-US" altLang="en-US" sz="1400"/>
              <a:pPr>
                <a:spcBef>
                  <a:spcPct val="0"/>
                </a:spcBef>
                <a:buFontTx/>
                <a:buNone/>
              </a:pPr>
              <a:t>5</a:t>
            </a:fld>
            <a:endParaRPr lang="en-US" altLang="en-US" sz="140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21203CC-E621-DB45-A4A7-69F1E1E1D6E6}"/>
                  </a:ext>
                </a:extLst>
              </p:cNvPr>
              <p:cNvSpPr txBox="1"/>
              <p:nvPr/>
            </p:nvSpPr>
            <p:spPr>
              <a:xfrm>
                <a:off x="3109430" y="2491960"/>
                <a:ext cx="5096410" cy="683457"/>
              </a:xfrm>
              <a:prstGeom prst="rect">
                <a:avLst/>
              </a:prstGeom>
              <a:noFill/>
            </p:spPr>
            <p:txBody>
              <a:bodyPr wrap="square" rtlCol="0">
                <a:spAutoFit/>
              </a:bodyPr>
              <a:lstStyle/>
              <a:p>
                <a:r>
                  <a:rPr lang="en-US" sz="2400" b="0">
                    <a:ea typeface="Cambria Math" panose="02040503050406030204" pitchFamily="18" charset="0"/>
                  </a:rPr>
                  <a:t>1PL:  </a:t>
                </a:r>
                <a14:m>
                  <m:oMath xmlns:m="http://schemas.openxmlformats.org/officeDocument/2006/math">
                    <m:f>
                      <m:fPr>
                        <m:ctrlPr>
                          <a:rPr lang="en-US" sz="2400" b="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𝑙𝑛𝐿</m:t>
                        </m:r>
                      </m:num>
                      <m:den>
                        <m:r>
                          <a:rPr lang="en-US" sz="240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𝑏</m:t>
                            </m:r>
                          </m:e>
                          <m:sub>
                            <m:r>
                              <a:rPr lang="en-US" sz="2400" b="0" i="1">
                                <a:latin typeface="Cambria Math" panose="02040503050406030204" pitchFamily="18" charset="0"/>
                                <a:ea typeface="Cambria Math" panose="02040503050406030204" pitchFamily="18" charset="0"/>
                              </a:rPr>
                              <m:t>𝑖</m:t>
                            </m:r>
                          </m:sub>
                        </m:sSub>
                      </m:den>
                    </m:f>
                    <m:r>
                      <a:rPr lang="en-US" sz="2400" b="0" i="1">
                        <a:latin typeface="Cambria Math" panose="02040503050406030204" pitchFamily="18" charset="0"/>
                        <a:ea typeface="Cambria Math" panose="02040503050406030204" pitchFamily="18" charset="0"/>
                      </a:rPr>
                      <m:t>=−</m:t>
                    </m:r>
                    <m:nary>
                      <m:naryPr>
                        <m:chr m:val="∑"/>
                        <m:limLoc m:val="subSup"/>
                        <m:supHide m:val="on"/>
                        <m:ctrlPr>
                          <a:rPr lang="en-US" sz="2400" b="0" i="1">
                            <a:latin typeface="Cambria Math" panose="02040503050406030204" pitchFamily="18" charset="0"/>
                            <a:ea typeface="Cambria Math" panose="02040503050406030204" pitchFamily="18" charset="0"/>
                          </a:rPr>
                        </m:ctrlPr>
                      </m:naryPr>
                      <m:sub>
                        <m:r>
                          <m:rPr>
                            <m:brk m:alnAt="9"/>
                          </m:rPr>
                          <a:rPr lang="en-US" sz="2400" b="0" i="1">
                            <a:latin typeface="Cambria Math" panose="02040503050406030204" pitchFamily="18" charset="0"/>
                            <a:ea typeface="Cambria Math" panose="02040503050406030204" pitchFamily="18" charset="0"/>
                          </a:rPr>
                          <m:t>𝑠</m:t>
                        </m:r>
                      </m:sub>
                      <m:sup/>
                      <m:e>
                        <m:d>
                          <m:dPr>
                            <m:begChr m:val="["/>
                            <m:endChr m:val="]"/>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𝑢</m:t>
                                </m:r>
                              </m:e>
                              <m:sub>
                                <m:r>
                                  <a:rPr lang="en-US" sz="2400" b="0" i="1">
                                    <a:latin typeface="Cambria Math" panose="02040503050406030204" pitchFamily="18" charset="0"/>
                                    <a:ea typeface="Cambria Math" panose="02040503050406030204" pitchFamily="18" charset="0"/>
                                  </a:rPr>
                                  <m:t>𝑖𝑠</m:t>
                                </m:r>
                              </m:sub>
                            </m:sSub>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𝑃</m:t>
                                </m:r>
                              </m:e>
                              <m:sub>
                                <m:r>
                                  <a:rPr lang="en-US" sz="2400" b="0" i="1">
                                    <a:latin typeface="Cambria Math" panose="02040503050406030204" pitchFamily="18" charset="0"/>
                                    <a:ea typeface="Cambria Math" panose="02040503050406030204" pitchFamily="18" charset="0"/>
                                  </a:rPr>
                                  <m:t>𝑖𝑠</m:t>
                                </m:r>
                              </m:sub>
                            </m:sSub>
                          </m:e>
                        </m:d>
                        <m:r>
                          <a:rPr lang="en-US" sz="2400" b="0" i="1">
                            <a:latin typeface="Cambria Math" panose="02040503050406030204" pitchFamily="18" charset="0"/>
                            <a:ea typeface="Cambria Math" panose="02040503050406030204" pitchFamily="18" charset="0"/>
                          </a:rPr>
                          <m:t>=0</m:t>
                        </m:r>
                      </m:e>
                    </m:nary>
                  </m:oMath>
                </a14:m>
                <a:endParaRPr lang="en-US" sz="2400"/>
              </a:p>
            </p:txBody>
          </p:sp>
        </mc:Choice>
        <mc:Fallback xmlns="">
          <p:sp>
            <p:nvSpPr>
              <p:cNvPr id="2" name="TextBox 1">
                <a:extLst>
                  <a:ext uri="{FF2B5EF4-FFF2-40B4-BE49-F238E27FC236}">
                    <a16:creationId xmlns:a16="http://schemas.microsoft.com/office/drawing/2014/main" id="{621203CC-E621-DB45-A4A7-69F1E1E1D6E6}"/>
                  </a:ext>
                </a:extLst>
              </p:cNvPr>
              <p:cNvSpPr txBox="1">
                <a:spLocks noRot="1" noChangeAspect="1" noMove="1" noResize="1" noEditPoints="1" noAdjustHandles="1" noChangeArrowheads="1" noChangeShapeType="1" noTextEdit="1"/>
              </p:cNvSpPr>
              <p:nvPr/>
            </p:nvSpPr>
            <p:spPr>
              <a:xfrm>
                <a:off x="3109430" y="2491960"/>
                <a:ext cx="5096410" cy="683457"/>
              </a:xfrm>
              <a:prstGeom prst="rect">
                <a:avLst/>
              </a:prstGeom>
              <a:blipFill>
                <a:blip r:embed="rId3"/>
                <a:stretch>
                  <a:fillRect l="-1741" t="-70909" b="-1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07F961C-F1C0-2149-9130-A5A3E4F40A91}"/>
                  </a:ext>
                </a:extLst>
              </p:cNvPr>
              <p:cNvSpPr txBox="1"/>
              <p:nvPr/>
            </p:nvSpPr>
            <p:spPr>
              <a:xfrm>
                <a:off x="3109430" y="3394908"/>
                <a:ext cx="5096410" cy="683457"/>
              </a:xfrm>
              <a:prstGeom prst="rect">
                <a:avLst/>
              </a:prstGeom>
              <a:noFill/>
            </p:spPr>
            <p:txBody>
              <a:bodyPr wrap="square" rtlCol="0">
                <a:spAutoFit/>
              </a:bodyPr>
              <a:lstStyle/>
              <a:p>
                <a:r>
                  <a:rPr lang="en-US" sz="2400">
                    <a:ea typeface="Cambria Math" panose="02040503050406030204" pitchFamily="18" charset="0"/>
                  </a:rPr>
                  <a:t>2</a:t>
                </a:r>
                <a:r>
                  <a:rPr lang="en-US" sz="2400" b="0">
                    <a:ea typeface="Cambria Math" panose="02040503050406030204" pitchFamily="18" charset="0"/>
                  </a:rPr>
                  <a:t>PL:  </a:t>
                </a:r>
                <a14:m>
                  <m:oMath xmlns:m="http://schemas.openxmlformats.org/officeDocument/2006/math">
                    <m:f>
                      <m:fPr>
                        <m:ctrlPr>
                          <a:rPr lang="en-US" sz="2400" b="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𝑙𝑛𝐿</m:t>
                        </m:r>
                      </m:num>
                      <m:den>
                        <m:r>
                          <a:rPr lang="en-US" sz="240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𝑏</m:t>
                            </m:r>
                          </m:e>
                          <m:sub>
                            <m:r>
                              <a:rPr lang="en-US" sz="2400" b="0" i="1">
                                <a:latin typeface="Cambria Math" panose="02040503050406030204" pitchFamily="18" charset="0"/>
                                <a:ea typeface="Cambria Math" panose="02040503050406030204" pitchFamily="18" charset="0"/>
                              </a:rPr>
                              <m:t>𝑖</m:t>
                            </m:r>
                          </m:sub>
                        </m:sSub>
                      </m:den>
                    </m:f>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𝑎</m:t>
                        </m:r>
                      </m:e>
                      <m:sub>
                        <m:r>
                          <a:rPr lang="en-US" sz="2400" b="0" i="1">
                            <a:latin typeface="Cambria Math" panose="02040503050406030204" pitchFamily="18" charset="0"/>
                            <a:ea typeface="Cambria Math" panose="02040503050406030204" pitchFamily="18" charset="0"/>
                          </a:rPr>
                          <m:t>𝑖</m:t>
                        </m:r>
                      </m:sub>
                    </m:sSub>
                    <m:nary>
                      <m:naryPr>
                        <m:chr m:val="∑"/>
                        <m:limLoc m:val="subSup"/>
                        <m:supHide m:val="on"/>
                        <m:ctrlPr>
                          <a:rPr lang="en-US" sz="2400" b="0" i="1">
                            <a:latin typeface="Cambria Math" panose="02040503050406030204" pitchFamily="18" charset="0"/>
                            <a:ea typeface="Cambria Math" panose="02040503050406030204" pitchFamily="18" charset="0"/>
                          </a:rPr>
                        </m:ctrlPr>
                      </m:naryPr>
                      <m:sub>
                        <m:r>
                          <m:rPr>
                            <m:brk m:alnAt="9"/>
                          </m:rPr>
                          <a:rPr lang="en-US" sz="2400" b="0" i="1">
                            <a:latin typeface="Cambria Math" panose="02040503050406030204" pitchFamily="18" charset="0"/>
                            <a:ea typeface="Cambria Math" panose="02040503050406030204" pitchFamily="18" charset="0"/>
                          </a:rPr>
                          <m:t>𝑠</m:t>
                        </m:r>
                      </m:sub>
                      <m:sup/>
                      <m:e>
                        <m:d>
                          <m:dPr>
                            <m:begChr m:val="["/>
                            <m:endChr m:val="]"/>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𝑢</m:t>
                                </m:r>
                              </m:e>
                              <m:sub>
                                <m:r>
                                  <a:rPr lang="en-US" sz="2400" b="0" i="1">
                                    <a:latin typeface="Cambria Math" panose="02040503050406030204" pitchFamily="18" charset="0"/>
                                    <a:ea typeface="Cambria Math" panose="02040503050406030204" pitchFamily="18" charset="0"/>
                                  </a:rPr>
                                  <m:t>𝑖𝑠</m:t>
                                </m:r>
                              </m:sub>
                            </m:sSub>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𝑃</m:t>
                                </m:r>
                              </m:e>
                              <m:sub>
                                <m:r>
                                  <a:rPr lang="en-US" sz="2400" b="0" i="1">
                                    <a:latin typeface="Cambria Math" panose="02040503050406030204" pitchFamily="18" charset="0"/>
                                    <a:ea typeface="Cambria Math" panose="02040503050406030204" pitchFamily="18" charset="0"/>
                                  </a:rPr>
                                  <m:t>𝑖𝑠</m:t>
                                </m:r>
                              </m:sub>
                            </m:sSub>
                          </m:e>
                        </m:d>
                        <m:r>
                          <a:rPr lang="en-US" sz="2400" b="0" i="1">
                            <a:latin typeface="Cambria Math" panose="02040503050406030204" pitchFamily="18" charset="0"/>
                            <a:ea typeface="Cambria Math" panose="02040503050406030204" pitchFamily="18" charset="0"/>
                          </a:rPr>
                          <m:t>=0</m:t>
                        </m:r>
                      </m:e>
                    </m:nary>
                  </m:oMath>
                </a14:m>
                <a:endParaRPr lang="en-US" sz="2400"/>
              </a:p>
            </p:txBody>
          </p:sp>
        </mc:Choice>
        <mc:Fallback xmlns="">
          <p:sp>
            <p:nvSpPr>
              <p:cNvPr id="13" name="TextBox 12">
                <a:extLst>
                  <a:ext uri="{FF2B5EF4-FFF2-40B4-BE49-F238E27FC236}">
                    <a16:creationId xmlns:a16="http://schemas.microsoft.com/office/drawing/2014/main" id="{707F961C-F1C0-2149-9130-A5A3E4F40A91}"/>
                  </a:ext>
                </a:extLst>
              </p:cNvPr>
              <p:cNvSpPr txBox="1">
                <a:spLocks noRot="1" noChangeAspect="1" noMove="1" noResize="1" noEditPoints="1" noAdjustHandles="1" noChangeArrowheads="1" noChangeShapeType="1" noTextEdit="1"/>
              </p:cNvSpPr>
              <p:nvPr/>
            </p:nvSpPr>
            <p:spPr>
              <a:xfrm>
                <a:off x="3109430" y="3394908"/>
                <a:ext cx="5096410" cy="683457"/>
              </a:xfrm>
              <a:prstGeom prst="rect">
                <a:avLst/>
              </a:prstGeom>
              <a:blipFill>
                <a:blip r:embed="rId4"/>
                <a:stretch>
                  <a:fillRect l="-1741" t="-70909" b="-1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0230AA-F3E2-944E-9A7C-B654DF8A4693}"/>
                  </a:ext>
                </a:extLst>
              </p:cNvPr>
              <p:cNvSpPr txBox="1"/>
              <p:nvPr/>
            </p:nvSpPr>
            <p:spPr>
              <a:xfrm>
                <a:off x="3109430" y="4379836"/>
                <a:ext cx="7781177" cy="683457"/>
              </a:xfrm>
              <a:prstGeom prst="rect">
                <a:avLst/>
              </a:prstGeom>
              <a:noFill/>
            </p:spPr>
            <p:txBody>
              <a:bodyPr wrap="square" rtlCol="0">
                <a:spAutoFit/>
              </a:bodyPr>
              <a:lstStyle/>
              <a:p>
                <a:r>
                  <a:rPr lang="en-US" sz="2400">
                    <a:ea typeface="Cambria Math" panose="02040503050406030204" pitchFamily="18" charset="0"/>
                  </a:rPr>
                  <a:t>3</a:t>
                </a:r>
                <a:r>
                  <a:rPr lang="en-US" sz="2400" b="0">
                    <a:ea typeface="Cambria Math" panose="02040503050406030204" pitchFamily="18" charset="0"/>
                  </a:rPr>
                  <a:t>PL:  </a:t>
                </a:r>
                <a14:m>
                  <m:oMath xmlns:m="http://schemas.openxmlformats.org/officeDocument/2006/math">
                    <m:f>
                      <m:fPr>
                        <m:ctrlPr>
                          <a:rPr lang="en-US" sz="2400" b="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𝑙𝑛𝐿</m:t>
                        </m:r>
                      </m:num>
                      <m:den>
                        <m:r>
                          <a:rPr lang="en-US" sz="240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𝑏</m:t>
                            </m:r>
                          </m:e>
                          <m:sub>
                            <m:r>
                              <a:rPr lang="en-US" sz="2400" b="0" i="1">
                                <a:latin typeface="Cambria Math" panose="02040503050406030204" pitchFamily="18" charset="0"/>
                                <a:ea typeface="Cambria Math" panose="02040503050406030204" pitchFamily="18" charset="0"/>
                              </a:rPr>
                              <m:t>𝑖</m:t>
                            </m:r>
                          </m:sub>
                        </m:sSub>
                      </m:den>
                    </m:f>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𝑎</m:t>
                        </m:r>
                      </m:e>
                      <m:sub>
                        <m:r>
                          <a:rPr lang="en-US" sz="2400" b="0" i="1">
                            <a:latin typeface="Cambria Math" panose="02040503050406030204" pitchFamily="18" charset="0"/>
                            <a:ea typeface="Cambria Math" panose="02040503050406030204" pitchFamily="18" charset="0"/>
                          </a:rPr>
                          <m:t>𝑖</m:t>
                        </m:r>
                      </m:sub>
                    </m:sSub>
                    <m:sSup>
                      <m:sSupPr>
                        <m:ctrlPr>
                          <a:rPr lang="en-US" sz="2400" b="0" i="1">
                            <a:latin typeface="Cambria Math" panose="02040503050406030204" pitchFamily="18" charset="0"/>
                            <a:ea typeface="Cambria Math" panose="02040503050406030204" pitchFamily="18" charset="0"/>
                          </a:rPr>
                        </m:ctrlPr>
                      </m:sSupPr>
                      <m:e>
                        <m:d>
                          <m:dPr>
                            <m:ctrlPr>
                              <a:rPr lang="en-US" sz="2400" b="0" i="1">
                                <a:latin typeface="Cambria Math" panose="02040503050406030204" pitchFamily="18" charset="0"/>
                                <a:ea typeface="Cambria Math" panose="02040503050406030204" pitchFamily="18" charset="0"/>
                              </a:rPr>
                            </m:ctrlPr>
                          </m:dPr>
                          <m:e>
                            <m:r>
                              <a:rPr lang="en-US" sz="2400" b="0" i="1">
                                <a:latin typeface="Cambria Math" panose="02040503050406030204" pitchFamily="18" charset="0"/>
                                <a:ea typeface="Cambria Math" panose="02040503050406030204" pitchFamily="18" charset="0"/>
                              </a:rPr>
                              <m:t>1−</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𝑐</m:t>
                                </m:r>
                              </m:e>
                              <m:sub>
                                <m:r>
                                  <a:rPr lang="en-US" sz="2400" b="0" i="1">
                                    <a:latin typeface="Cambria Math" panose="02040503050406030204" pitchFamily="18" charset="0"/>
                                    <a:ea typeface="Cambria Math" panose="02040503050406030204" pitchFamily="18" charset="0"/>
                                  </a:rPr>
                                  <m:t>𝑖</m:t>
                                </m:r>
                              </m:sub>
                            </m:sSub>
                          </m:e>
                        </m:d>
                      </m:e>
                      <m:sup>
                        <m:r>
                          <a:rPr lang="en-US" sz="2400" b="0" i="1">
                            <a:latin typeface="Cambria Math" panose="02040503050406030204" pitchFamily="18" charset="0"/>
                            <a:ea typeface="Cambria Math" panose="02040503050406030204" pitchFamily="18" charset="0"/>
                          </a:rPr>
                          <m:t>−1</m:t>
                        </m:r>
                      </m:sup>
                    </m:sSup>
                    <m:nary>
                      <m:naryPr>
                        <m:chr m:val="∑"/>
                        <m:limLoc m:val="subSup"/>
                        <m:supHide m:val="on"/>
                        <m:ctrlPr>
                          <a:rPr lang="en-US" sz="2400" b="0" i="1">
                            <a:latin typeface="Cambria Math" panose="02040503050406030204" pitchFamily="18" charset="0"/>
                            <a:ea typeface="Cambria Math" panose="02040503050406030204" pitchFamily="18" charset="0"/>
                          </a:rPr>
                        </m:ctrlPr>
                      </m:naryPr>
                      <m:sub>
                        <m:r>
                          <m:rPr>
                            <m:brk m:alnAt="9"/>
                          </m:rPr>
                          <a:rPr lang="en-US" sz="2400" b="0" i="1">
                            <a:latin typeface="Cambria Math" panose="02040503050406030204" pitchFamily="18" charset="0"/>
                            <a:ea typeface="Cambria Math" panose="02040503050406030204" pitchFamily="18" charset="0"/>
                          </a:rPr>
                          <m:t>𝑠</m:t>
                        </m:r>
                      </m:sub>
                      <m:sup/>
                      <m:e>
                        <m:d>
                          <m:dPr>
                            <m:begChr m:val="["/>
                            <m:endChr m:val="]"/>
                            <m:ctrlPr>
                              <a:rPr lang="en-US" sz="2400" b="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ea typeface="Cambria Math" panose="02040503050406030204" pitchFamily="18" charset="0"/>
                                  </a:rPr>
                                </m:ctrlPr>
                              </m:fPr>
                              <m:num>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𝑃</m:t>
                                    </m:r>
                                  </m:e>
                                  <m:sub>
                                    <m:r>
                                      <a:rPr lang="en-US" sz="2400" i="1">
                                        <a:latin typeface="Cambria Math" panose="02040503050406030204" pitchFamily="18" charset="0"/>
                                        <a:ea typeface="Cambria Math" panose="02040503050406030204" pitchFamily="18" charset="0"/>
                                      </a:rPr>
                                      <m:t>𝑖𝑠</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𝑐</m:t>
                                    </m:r>
                                  </m:e>
                                  <m:sub>
                                    <m:r>
                                      <a:rPr lang="en-US" sz="2400" i="1">
                                        <a:latin typeface="Cambria Math" panose="02040503050406030204" pitchFamily="18" charset="0"/>
                                        <a:ea typeface="Cambria Math" panose="02040503050406030204" pitchFamily="18" charset="0"/>
                                      </a:rPr>
                                      <m:t>𝑖</m:t>
                                    </m:r>
                                  </m:sub>
                                </m:sSub>
                              </m:num>
                              <m:den>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𝑃</m:t>
                                    </m:r>
                                  </m:e>
                                  <m:sub>
                                    <m:r>
                                      <a:rPr lang="en-US" sz="2400" i="1">
                                        <a:latin typeface="Cambria Math" panose="02040503050406030204" pitchFamily="18" charset="0"/>
                                        <a:ea typeface="Cambria Math" panose="02040503050406030204" pitchFamily="18" charset="0"/>
                                      </a:rPr>
                                      <m:t>𝑖𝑠</m:t>
                                    </m:r>
                                  </m:sub>
                                </m:sSub>
                              </m:den>
                            </m:f>
                          </m:e>
                        </m:d>
                        <m:d>
                          <m:dPr>
                            <m:begChr m:val="["/>
                            <m:endChr m:val="]"/>
                            <m:ctrlPr>
                              <a:rPr lang="en-US" sz="2400" b="0" i="1">
                                <a:latin typeface="Cambria Math" panose="02040503050406030204" pitchFamily="18" charset="0"/>
                                <a:ea typeface="Cambria Math" panose="02040503050406030204" pitchFamily="18" charset="0"/>
                              </a:rPr>
                            </m:ctrlPr>
                          </m:dPr>
                          <m:e>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𝑢</m:t>
                                </m:r>
                              </m:e>
                              <m:sub>
                                <m:r>
                                  <a:rPr lang="en-US" sz="2400" b="0" i="1">
                                    <a:latin typeface="Cambria Math" panose="02040503050406030204" pitchFamily="18" charset="0"/>
                                    <a:ea typeface="Cambria Math" panose="02040503050406030204" pitchFamily="18" charset="0"/>
                                  </a:rPr>
                                  <m:t>𝑖𝑠</m:t>
                                </m:r>
                              </m:sub>
                            </m:sSub>
                            <m:r>
                              <a:rPr lang="en-US" sz="2400" b="0" i="1">
                                <a:latin typeface="Cambria Math" panose="02040503050406030204" pitchFamily="18" charset="0"/>
                                <a:ea typeface="Cambria Math" panose="02040503050406030204" pitchFamily="18" charset="0"/>
                              </a:rPr>
                              <m:t>−</m:t>
                            </m:r>
                            <m:sSub>
                              <m:sSubPr>
                                <m:ctrlPr>
                                  <a:rPr lang="en-US" sz="2400" b="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𝑃</m:t>
                                </m:r>
                              </m:e>
                              <m:sub>
                                <m:r>
                                  <a:rPr lang="en-US" sz="2400" b="0" i="1">
                                    <a:latin typeface="Cambria Math" panose="02040503050406030204" pitchFamily="18" charset="0"/>
                                    <a:ea typeface="Cambria Math" panose="02040503050406030204" pitchFamily="18" charset="0"/>
                                  </a:rPr>
                                  <m:t>𝑖𝑠</m:t>
                                </m:r>
                              </m:sub>
                            </m:sSub>
                          </m:e>
                        </m:d>
                        <m:r>
                          <a:rPr lang="en-US" sz="2400" b="0" i="1">
                            <a:latin typeface="Cambria Math" panose="02040503050406030204" pitchFamily="18" charset="0"/>
                            <a:ea typeface="Cambria Math" panose="02040503050406030204" pitchFamily="18" charset="0"/>
                          </a:rPr>
                          <m:t>=0</m:t>
                        </m:r>
                      </m:e>
                    </m:nary>
                  </m:oMath>
                </a14:m>
                <a:endParaRPr lang="en-US" sz="2400"/>
              </a:p>
            </p:txBody>
          </p:sp>
        </mc:Choice>
        <mc:Fallback xmlns="">
          <p:sp>
            <p:nvSpPr>
              <p:cNvPr id="16" name="TextBox 15">
                <a:extLst>
                  <a:ext uri="{FF2B5EF4-FFF2-40B4-BE49-F238E27FC236}">
                    <a16:creationId xmlns:a16="http://schemas.microsoft.com/office/drawing/2014/main" id="{3B0230AA-F3E2-944E-9A7C-B654DF8A4693}"/>
                  </a:ext>
                </a:extLst>
              </p:cNvPr>
              <p:cNvSpPr txBox="1">
                <a:spLocks noRot="1" noChangeAspect="1" noMove="1" noResize="1" noEditPoints="1" noAdjustHandles="1" noChangeArrowheads="1" noChangeShapeType="1" noTextEdit="1"/>
              </p:cNvSpPr>
              <p:nvPr/>
            </p:nvSpPr>
            <p:spPr>
              <a:xfrm>
                <a:off x="3109430" y="4379836"/>
                <a:ext cx="7781177" cy="683457"/>
              </a:xfrm>
              <a:prstGeom prst="rect">
                <a:avLst/>
              </a:prstGeom>
              <a:blipFill>
                <a:blip r:embed="rId5"/>
                <a:stretch>
                  <a:fillRect l="-1140" t="-70909" b="-109091"/>
                </a:stretch>
              </a:blipFill>
            </p:spPr>
            <p:txBody>
              <a:bodyPr/>
              <a:lstStyle/>
              <a:p>
                <a:r>
                  <a:rPr lang="en-US">
                    <a:noFill/>
                  </a:rPr>
                  <a:t> </a:t>
                </a:r>
              </a:p>
            </p:txBody>
          </p:sp>
        </mc:Fallback>
      </mc:AlternateContent>
    </p:spTree>
    <p:extLst>
      <p:ext uri="{BB962C8B-B14F-4D97-AF65-F5344CB8AC3E}">
        <p14:creationId xmlns:p14="http://schemas.microsoft.com/office/powerpoint/2010/main" val="261263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additive="base">
                                        <p:cTn id="7" dur="500" fill="hold"/>
                                        <p:tgtEl>
                                          <p:spTgt spid="72709"/>
                                        </p:tgtEl>
                                        <p:attrNameLst>
                                          <p:attrName>ppt_x</p:attrName>
                                        </p:attrNameLst>
                                      </p:cBhvr>
                                      <p:tavLst>
                                        <p:tav tm="0">
                                          <p:val>
                                            <p:strVal val="#ppt_x"/>
                                          </p:val>
                                        </p:tav>
                                        <p:tav tm="100000">
                                          <p:val>
                                            <p:strVal val="#ppt_x"/>
                                          </p:val>
                                        </p:tav>
                                      </p:tavLst>
                                    </p:anim>
                                    <p:anim calcmode="lin" valueType="num">
                                      <p:cBhvr additive="base">
                                        <p:cTn id="8" dur="500" fill="hold"/>
                                        <p:tgtEl>
                                          <p:spTgt spid="7270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2711"/>
                                        </p:tgtEl>
                                        <p:attrNameLst>
                                          <p:attrName>style.visibility</p:attrName>
                                        </p:attrNameLst>
                                      </p:cBhvr>
                                      <p:to>
                                        <p:strVal val="visible"/>
                                      </p:to>
                                    </p:set>
                                    <p:anim calcmode="lin" valueType="num">
                                      <p:cBhvr additive="base">
                                        <p:cTn id="11" dur="500" fill="hold"/>
                                        <p:tgtEl>
                                          <p:spTgt spid="72711"/>
                                        </p:tgtEl>
                                        <p:attrNameLst>
                                          <p:attrName>ppt_x</p:attrName>
                                        </p:attrNameLst>
                                      </p:cBhvr>
                                      <p:tavLst>
                                        <p:tav tm="0">
                                          <p:val>
                                            <p:strVal val="#ppt_x"/>
                                          </p:val>
                                        </p:tav>
                                        <p:tav tm="100000">
                                          <p:val>
                                            <p:strVal val="#ppt_x"/>
                                          </p:val>
                                        </p:tav>
                                      </p:tavLst>
                                    </p:anim>
                                    <p:anim calcmode="lin" valueType="num">
                                      <p:cBhvr additive="base">
                                        <p:cTn id="12" dur="500" fill="hold"/>
                                        <p:tgtEl>
                                          <p:spTgt spid="727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2710"/>
                                        </p:tgtEl>
                                        <p:attrNameLst>
                                          <p:attrName>style.visibility</p:attrName>
                                        </p:attrNameLst>
                                      </p:cBhvr>
                                      <p:to>
                                        <p:strVal val="visible"/>
                                      </p:to>
                                    </p:set>
                                    <p:anim calcmode="lin" valueType="num">
                                      <p:cBhvr additive="base">
                                        <p:cTn id="15" dur="500" fill="hold"/>
                                        <p:tgtEl>
                                          <p:spTgt spid="72710"/>
                                        </p:tgtEl>
                                        <p:attrNameLst>
                                          <p:attrName>ppt_x</p:attrName>
                                        </p:attrNameLst>
                                      </p:cBhvr>
                                      <p:tavLst>
                                        <p:tav tm="0">
                                          <p:val>
                                            <p:strVal val="#ppt_x"/>
                                          </p:val>
                                        </p:tav>
                                        <p:tav tm="100000">
                                          <p:val>
                                            <p:strVal val="#ppt_x"/>
                                          </p:val>
                                        </p:tav>
                                      </p:tavLst>
                                    </p:anim>
                                    <p:anim calcmode="lin" valueType="num">
                                      <p:cBhvr additive="base">
                                        <p:cTn id="16" dur="500" fill="hold"/>
                                        <p:tgtEl>
                                          <p:spTgt spid="727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2712"/>
                                        </p:tgtEl>
                                        <p:attrNameLst>
                                          <p:attrName>style.visibility</p:attrName>
                                        </p:attrNameLst>
                                      </p:cBhvr>
                                      <p:to>
                                        <p:strVal val="visible"/>
                                      </p:to>
                                    </p:set>
                                    <p:anim calcmode="lin" valueType="num">
                                      <p:cBhvr additive="base">
                                        <p:cTn id="19" dur="500" fill="hold"/>
                                        <p:tgtEl>
                                          <p:spTgt spid="72712"/>
                                        </p:tgtEl>
                                        <p:attrNameLst>
                                          <p:attrName>ppt_x</p:attrName>
                                        </p:attrNameLst>
                                      </p:cBhvr>
                                      <p:tavLst>
                                        <p:tav tm="0">
                                          <p:val>
                                            <p:strVal val="#ppt_x"/>
                                          </p:val>
                                        </p:tav>
                                        <p:tav tm="100000">
                                          <p:val>
                                            <p:strVal val="#ppt_x"/>
                                          </p:val>
                                        </p:tav>
                                      </p:tavLst>
                                    </p:anim>
                                    <p:anim calcmode="lin" valueType="num">
                                      <p:cBhvr additive="base">
                                        <p:cTn id="20" dur="500" fill="hold"/>
                                        <p:tgtEl>
                                          <p:spTgt spid="727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2713"/>
                                        </p:tgtEl>
                                        <p:attrNameLst>
                                          <p:attrName>style.visibility</p:attrName>
                                        </p:attrNameLst>
                                      </p:cBhvr>
                                      <p:to>
                                        <p:strVal val="visible"/>
                                      </p:to>
                                    </p:set>
                                    <p:anim calcmode="lin" valueType="num">
                                      <p:cBhvr additive="base">
                                        <p:cTn id="37" dur="500" fill="hold"/>
                                        <p:tgtEl>
                                          <p:spTgt spid="72713"/>
                                        </p:tgtEl>
                                        <p:attrNameLst>
                                          <p:attrName>ppt_x</p:attrName>
                                        </p:attrNameLst>
                                      </p:cBhvr>
                                      <p:tavLst>
                                        <p:tav tm="0">
                                          <p:val>
                                            <p:strVal val="#ppt_x"/>
                                          </p:val>
                                        </p:tav>
                                        <p:tav tm="100000">
                                          <p:val>
                                            <p:strVal val="#ppt_x"/>
                                          </p:val>
                                        </p:tav>
                                      </p:tavLst>
                                    </p:anim>
                                    <p:anim calcmode="lin" valueType="num">
                                      <p:cBhvr additive="base">
                                        <p:cTn id="38" dur="500" fill="hold"/>
                                        <p:tgtEl>
                                          <p:spTgt spid="727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p:bldP spid="72710" grpId="0"/>
      <p:bldP spid="72711" grpId="0" animBg="1"/>
      <p:bldP spid="72712" grpId="0"/>
      <p:bldP spid="72713" grpId="0" animBg="1"/>
      <p:bldP spid="13"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p:txBody>
          <a:bodyPr/>
          <a:lstStyle/>
          <a:p>
            <a:r>
              <a:rPr lang="en-US" altLang="en-US" b="1">
                <a:ea typeface="ＭＳ Ｐゴシック" charset="-128"/>
              </a:rPr>
              <a:t>Complications</a:t>
            </a:r>
          </a:p>
        </p:txBody>
      </p:sp>
      <p:sp>
        <p:nvSpPr>
          <p:cNvPr id="74754" name="Content Placeholder 2"/>
          <p:cNvSpPr>
            <a:spLocks noGrp="1"/>
          </p:cNvSpPr>
          <p:nvPr>
            <p:ph idx="1"/>
          </p:nvPr>
        </p:nvSpPr>
        <p:spPr/>
        <p:txBody>
          <a:bodyPr/>
          <a:lstStyle/>
          <a:p>
            <a:r>
              <a:rPr lang="en-US" altLang="en-US">
                <a:latin typeface="Calibri" charset="0"/>
                <a:ea typeface="ＭＳ Ｐゴシック" charset="-128"/>
              </a:rPr>
              <a:t>For 2PL estimation eqns there will be</a:t>
            </a:r>
          </a:p>
          <a:p>
            <a:pPr lvl="1"/>
            <a:r>
              <a:rPr lang="en-US" altLang="en-US">
                <a:latin typeface="Calibri" charset="0"/>
                <a:ea typeface="ＭＳ Ｐゴシック" charset="-128"/>
              </a:rPr>
              <a:t>3 first partial derivatives (a, b, theta)</a:t>
            </a:r>
          </a:p>
          <a:p>
            <a:pPr lvl="1"/>
            <a:r>
              <a:rPr lang="en-US" altLang="en-US">
                <a:latin typeface="Calibri" charset="0"/>
                <a:ea typeface="ＭＳ Ｐゴシック" charset="-128"/>
              </a:rPr>
              <a:t>6 second order partial derivatives (a, b, theta and cross-products)</a:t>
            </a:r>
          </a:p>
          <a:p>
            <a:r>
              <a:rPr lang="en-US" altLang="en-US">
                <a:latin typeface="Calibri" charset="0"/>
                <a:ea typeface="ＭＳ Ｐゴシック" charset="-128"/>
              </a:rPr>
              <a:t>Using Newton-Raphson technique becomes more intensive. Here is the expression in matrix format</a:t>
            </a:r>
          </a:p>
          <a:p>
            <a:endParaRPr lang="en-US" altLang="en-US">
              <a:ea typeface="ＭＳ Ｐゴシック" charset="-128"/>
            </a:endParaRPr>
          </a:p>
        </p:txBody>
      </p:sp>
      <p:graphicFrame>
        <p:nvGraphicFramePr>
          <p:cNvPr id="74755" name="Object 3"/>
          <p:cNvGraphicFramePr>
            <a:graphicFrameLocks noChangeAspect="1"/>
          </p:cNvGraphicFramePr>
          <p:nvPr/>
        </p:nvGraphicFramePr>
        <p:xfrm>
          <a:off x="5854700" y="2705100"/>
          <a:ext cx="114300" cy="165100"/>
        </p:xfrm>
        <a:graphic>
          <a:graphicData uri="http://schemas.openxmlformats.org/presentationml/2006/ole">
            <mc:AlternateContent xmlns:mc="http://schemas.openxmlformats.org/markup-compatibility/2006">
              <mc:Choice xmlns:v="urn:schemas-microsoft-com:vml" Requires="v">
                <p:oleObj name="Equation" r:id="rId2" imgW="114300" imgH="165100" progId="Equation.3">
                  <p:embed/>
                </p:oleObj>
              </mc:Choice>
              <mc:Fallback>
                <p:oleObj name="Equation" r:id="rId2" imgW="114300" imgH="165100" progId="Equation.3">
                  <p:embed/>
                  <p:pic>
                    <p:nvPicPr>
                      <p:cNvPr id="7475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4700" y="2705100"/>
                        <a:ext cx="114300" cy="165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74756" name="Object 4"/>
          <p:cNvGraphicFramePr>
            <a:graphicFrameLocks noChangeAspect="1"/>
          </p:cNvGraphicFramePr>
          <p:nvPr/>
        </p:nvGraphicFramePr>
        <p:xfrm>
          <a:off x="3581400" y="4724400"/>
          <a:ext cx="3403600" cy="914400"/>
        </p:xfrm>
        <a:graphic>
          <a:graphicData uri="http://schemas.openxmlformats.org/presentationml/2006/ole">
            <mc:AlternateContent xmlns:mc="http://schemas.openxmlformats.org/markup-compatibility/2006">
              <mc:Choice xmlns:v="urn:schemas-microsoft-com:vml" Requires="v">
                <p:oleObj name="Equation" r:id="rId4" imgW="850900" imgH="228600" progId="Equation.DSMT4">
                  <p:embed/>
                </p:oleObj>
              </mc:Choice>
              <mc:Fallback>
                <p:oleObj name="Equation" r:id="rId4" imgW="850900" imgH="228600" progId="Equation.DSMT4">
                  <p:embed/>
                  <p:pic>
                    <p:nvPicPr>
                      <p:cNvPr id="7475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4724400"/>
                        <a:ext cx="34036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74757" name="TextBox 5"/>
          <p:cNvSpPr txBox="1">
            <a:spLocks noChangeArrowheads="1"/>
          </p:cNvSpPr>
          <p:nvPr/>
        </p:nvSpPr>
        <p:spPr bwMode="auto">
          <a:xfrm>
            <a:off x="4368800" y="5814318"/>
            <a:ext cx="12954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(2n + N)</a:t>
            </a:r>
          </a:p>
        </p:txBody>
      </p:sp>
      <p:cxnSp>
        <p:nvCxnSpPr>
          <p:cNvPr id="8" name="Straight Arrow Connector 7"/>
          <p:cNvCxnSpPr>
            <a:cxnSpLocks/>
          </p:cNvCxnSpPr>
          <p:nvPr/>
        </p:nvCxnSpPr>
        <p:spPr>
          <a:xfrm flipH="1" flipV="1">
            <a:off x="3790950" y="5498405"/>
            <a:ext cx="533400" cy="40947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a:cxnSpLocks/>
          </p:cNvCxnSpPr>
          <p:nvPr/>
        </p:nvCxnSpPr>
        <p:spPr>
          <a:xfrm flipH="1" flipV="1">
            <a:off x="5081035" y="5478601"/>
            <a:ext cx="38100" cy="31591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74760" name="TextBox 12"/>
          <p:cNvSpPr txBox="1">
            <a:spLocks noChangeArrowheads="1"/>
          </p:cNvSpPr>
          <p:nvPr/>
        </p:nvSpPr>
        <p:spPr bwMode="auto">
          <a:xfrm>
            <a:off x="7543800" y="5410200"/>
            <a:ext cx="1295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2n + N</a:t>
            </a:r>
          </a:p>
        </p:txBody>
      </p:sp>
      <p:cxnSp>
        <p:nvCxnSpPr>
          <p:cNvPr id="15" name="Straight Arrow Connector 14"/>
          <p:cNvCxnSpPr/>
          <p:nvPr/>
        </p:nvCxnSpPr>
        <p:spPr>
          <a:xfrm flipH="1" flipV="1">
            <a:off x="7010400" y="5257800"/>
            <a:ext cx="457200" cy="304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74762" name="TextBox 15"/>
          <p:cNvSpPr txBox="1">
            <a:spLocks noChangeArrowheads="1"/>
          </p:cNvSpPr>
          <p:nvPr/>
        </p:nvSpPr>
        <p:spPr bwMode="auto">
          <a:xfrm>
            <a:off x="5334000" y="6204009"/>
            <a:ext cx="2209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(2n + N) x (2n + N)</a:t>
            </a:r>
          </a:p>
        </p:txBody>
      </p:sp>
      <p:cxnSp>
        <p:nvCxnSpPr>
          <p:cNvPr id="18" name="Straight Arrow Connector 17"/>
          <p:cNvCxnSpPr>
            <a:cxnSpLocks/>
          </p:cNvCxnSpPr>
          <p:nvPr/>
        </p:nvCxnSpPr>
        <p:spPr>
          <a:xfrm flipH="1" flipV="1">
            <a:off x="5943600" y="5410200"/>
            <a:ext cx="251717" cy="79380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74764"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10FC171D-1A4A-4C47-9F9C-75B58505E280}" type="slidenum">
              <a:rPr lang="en-US" altLang="en-US" sz="1400"/>
              <a:pPr>
                <a:spcBef>
                  <a:spcPct val="0"/>
                </a:spcBef>
                <a:buFontTx/>
                <a:buNone/>
              </a:pPr>
              <a:t>6</a:t>
            </a:fld>
            <a:endParaRPr lang="en-US" altLang="en-US" sz="1400"/>
          </a:p>
        </p:txBody>
      </p:sp>
      <p:sp>
        <p:nvSpPr>
          <p:cNvPr id="4" name="TextBox 3">
            <a:extLst>
              <a:ext uri="{FF2B5EF4-FFF2-40B4-BE49-F238E27FC236}">
                <a16:creationId xmlns:a16="http://schemas.microsoft.com/office/drawing/2014/main" id="{E8F37DEA-9388-D640-A021-83C06DB228F2}"/>
              </a:ext>
            </a:extLst>
          </p:cNvPr>
          <p:cNvSpPr txBox="1"/>
          <p:nvPr/>
        </p:nvSpPr>
        <p:spPr>
          <a:xfrm>
            <a:off x="5553754" y="4375031"/>
            <a:ext cx="1140431" cy="523220"/>
          </a:xfrm>
          <a:prstGeom prst="rect">
            <a:avLst/>
          </a:prstGeom>
          <a:noFill/>
        </p:spPr>
        <p:txBody>
          <a:bodyPr wrap="square" rtlCol="0">
            <a:spAutoFit/>
          </a:bodyPr>
          <a:lstStyle/>
          <a:p>
            <a:r>
              <a:rPr lang="en-US" sz="1400"/>
              <a:t>2</a:t>
            </a:r>
            <a:r>
              <a:rPr lang="en-US" sz="1400" baseline="30000"/>
              <a:t>nd</a:t>
            </a:r>
            <a:r>
              <a:rPr lang="en-US" sz="1400"/>
              <a:t> Derivative</a:t>
            </a:r>
          </a:p>
        </p:txBody>
      </p:sp>
      <p:sp>
        <p:nvSpPr>
          <p:cNvPr id="17" name="TextBox 16">
            <a:extLst>
              <a:ext uri="{FF2B5EF4-FFF2-40B4-BE49-F238E27FC236}">
                <a16:creationId xmlns:a16="http://schemas.microsoft.com/office/drawing/2014/main" id="{800CCF13-3520-254D-A0A3-FA0D2BFE86C6}"/>
              </a:ext>
            </a:extLst>
          </p:cNvPr>
          <p:cNvSpPr txBox="1"/>
          <p:nvPr/>
        </p:nvSpPr>
        <p:spPr>
          <a:xfrm>
            <a:off x="6560192" y="4349996"/>
            <a:ext cx="1140431" cy="523220"/>
          </a:xfrm>
          <a:prstGeom prst="rect">
            <a:avLst/>
          </a:prstGeom>
          <a:noFill/>
        </p:spPr>
        <p:txBody>
          <a:bodyPr wrap="square" rtlCol="0">
            <a:spAutoFit/>
          </a:bodyPr>
          <a:lstStyle/>
          <a:p>
            <a:r>
              <a:rPr lang="en-US" sz="1400"/>
              <a:t>1st Derivative</a:t>
            </a:r>
          </a:p>
        </p:txBody>
      </p:sp>
    </p:spTree>
    <p:extLst>
      <p:ext uri="{BB962C8B-B14F-4D97-AF65-F5344CB8AC3E}">
        <p14:creationId xmlns:p14="http://schemas.microsoft.com/office/powerpoint/2010/main" val="3235234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p:txBody>
          <a:bodyPr/>
          <a:lstStyle/>
          <a:p>
            <a:r>
              <a:rPr lang="en-US" altLang="en-US" sz="3600" b="1">
                <a:ea typeface="ＭＳ Ｐゴシック" charset="-128"/>
              </a:rPr>
              <a:t>The Full Hessian (i.e., “B”)</a:t>
            </a:r>
            <a:br>
              <a:rPr lang="en-US" altLang="en-US" sz="3600" b="1">
                <a:ea typeface="ＭＳ Ｐゴシック" charset="-128"/>
              </a:rPr>
            </a:br>
            <a:r>
              <a:rPr lang="en-US" altLang="en-US" sz="3600" b="1">
                <a:ea typeface="ＭＳ Ｐゴシック" charset="-128"/>
              </a:rPr>
              <a:t>(Matrix of 2</a:t>
            </a:r>
            <a:r>
              <a:rPr lang="en-US" altLang="en-US" sz="3600" b="1" baseline="30000">
                <a:ea typeface="ＭＳ Ｐゴシック" charset="-128"/>
              </a:rPr>
              <a:t>nd</a:t>
            </a:r>
            <a:r>
              <a:rPr lang="en-US" altLang="en-US" sz="3600" b="1">
                <a:ea typeface="ＭＳ Ｐゴシック" charset="-128"/>
              </a:rPr>
              <a:t> Derivatives)</a:t>
            </a:r>
          </a:p>
        </p:txBody>
      </p:sp>
      <p:pic>
        <p:nvPicPr>
          <p:cNvPr id="75778"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l="11305" r="11305"/>
          <a:stretch>
            <a:fillRect/>
          </a:stretch>
        </p:blipFill>
        <p:spPr>
          <a:xfrm>
            <a:off x="1981200" y="1600200"/>
            <a:ext cx="8313738" cy="4572000"/>
          </a:xfrm>
        </p:spPr>
      </p:pic>
      <p:sp>
        <p:nvSpPr>
          <p:cNvPr id="75779"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BB6A7546-ADDB-4C49-A2D9-7F61BBD48F03}" type="slidenum">
              <a:rPr lang="en-US" altLang="en-US" sz="1400"/>
              <a:pPr>
                <a:spcBef>
                  <a:spcPct val="0"/>
                </a:spcBef>
                <a:buFontTx/>
                <a:buNone/>
              </a:pPr>
              <a:t>7</a:t>
            </a:fld>
            <a:endParaRPr lang="en-US" altLang="en-US" sz="1400"/>
          </a:p>
        </p:txBody>
      </p:sp>
    </p:spTree>
    <p:extLst>
      <p:ext uri="{BB962C8B-B14F-4D97-AF65-F5344CB8AC3E}">
        <p14:creationId xmlns:p14="http://schemas.microsoft.com/office/powerpoint/2010/main" val="107271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p:txBody>
          <a:bodyPr/>
          <a:lstStyle/>
          <a:p>
            <a:r>
              <a:rPr lang="en-US" altLang="en-US" sz="4000" b="1">
                <a:ea typeface="ＭＳ Ｐゴシック" charset="-128"/>
              </a:rPr>
              <a:t>Simplifying Assumptions</a:t>
            </a:r>
          </a:p>
        </p:txBody>
      </p:sp>
      <p:pic>
        <p:nvPicPr>
          <p:cNvPr id="76802"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l="9593" r="9593"/>
          <a:stretch>
            <a:fillRect/>
          </a:stretch>
        </p:blipFill>
        <p:spPr>
          <a:xfrm>
            <a:off x="1905000" y="1752601"/>
            <a:ext cx="8229600" cy="4525963"/>
          </a:xfrm>
        </p:spPr>
      </p:pic>
      <p:sp>
        <p:nvSpPr>
          <p:cNvPr id="76803" name="TextBox 1"/>
          <p:cNvSpPr txBox="1">
            <a:spLocks noChangeArrowheads="1"/>
          </p:cNvSpPr>
          <p:nvPr/>
        </p:nvSpPr>
        <p:spPr bwMode="auto">
          <a:xfrm>
            <a:off x="2743200" y="5943600"/>
            <a:ext cx="6553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AutoNum type="arabicParenR"/>
            </a:pPr>
            <a:r>
              <a:rPr lang="en-US" altLang="en-US" sz="1800"/>
              <a:t>Examinee ability and item parameters are independent</a:t>
            </a:r>
          </a:p>
        </p:txBody>
      </p:sp>
      <p:sp>
        <p:nvSpPr>
          <p:cNvPr id="76804"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00B7CA49-FBBA-4E43-84BC-B693056547ED}" type="slidenum">
              <a:rPr lang="en-US" altLang="en-US" sz="1400"/>
              <a:pPr>
                <a:spcBef>
                  <a:spcPct val="0"/>
                </a:spcBef>
                <a:buFontTx/>
                <a:buNone/>
              </a:pPr>
              <a:t>8</a:t>
            </a:fld>
            <a:endParaRPr lang="en-US" altLang="en-US" sz="1400"/>
          </a:p>
        </p:txBody>
      </p:sp>
    </p:spTree>
    <p:extLst>
      <p:ext uri="{BB962C8B-B14F-4D97-AF65-F5344CB8AC3E}">
        <p14:creationId xmlns:p14="http://schemas.microsoft.com/office/powerpoint/2010/main" val="2323681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p:txBody>
          <a:bodyPr/>
          <a:lstStyle/>
          <a:p>
            <a:r>
              <a:rPr lang="en-US" altLang="en-US" b="1">
                <a:ea typeface="ＭＳ Ｐゴシック" charset="-128"/>
              </a:rPr>
              <a:t>Even Better…</a:t>
            </a:r>
          </a:p>
        </p:txBody>
      </p:sp>
      <p:pic>
        <p:nvPicPr>
          <p:cNvPr id="77826"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l="11237" r="11237"/>
          <a:stretch>
            <a:fillRect/>
          </a:stretch>
        </p:blipFill>
        <p:spPr>
          <a:xfrm>
            <a:off x="1403278" y="1663557"/>
            <a:ext cx="10515600" cy="4351338"/>
          </a:xfrm>
        </p:spPr>
      </p:pic>
      <p:sp>
        <p:nvSpPr>
          <p:cNvPr id="77827" name="TextBox 3"/>
          <p:cNvSpPr txBox="1">
            <a:spLocks noChangeArrowheads="1"/>
          </p:cNvSpPr>
          <p:nvPr/>
        </p:nvSpPr>
        <p:spPr bwMode="auto">
          <a:xfrm>
            <a:off x="2743200" y="5943601"/>
            <a:ext cx="65532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AutoNum type="arabicParenR"/>
            </a:pPr>
            <a:r>
              <a:rPr lang="en-US" altLang="en-US" sz="1800"/>
              <a:t>Examinees are sampled at random</a:t>
            </a:r>
          </a:p>
          <a:p>
            <a:pPr eaLnBrk="1" hangingPunct="1">
              <a:spcBef>
                <a:spcPct val="0"/>
              </a:spcBef>
              <a:buFontTx/>
              <a:buAutoNum type="arabicParenR"/>
            </a:pPr>
            <a:r>
              <a:rPr lang="en-US" altLang="en-US" sz="1800"/>
              <a:t>Local indepedence</a:t>
            </a:r>
          </a:p>
        </p:txBody>
      </p:sp>
      <p:sp>
        <p:nvSpPr>
          <p:cNvPr id="2" name="Rectangle 1"/>
          <p:cNvSpPr/>
          <p:nvPr/>
        </p:nvSpPr>
        <p:spPr>
          <a:xfrm>
            <a:off x="2887038" y="1676399"/>
            <a:ext cx="1532562" cy="87159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77830"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E9DFFAFB-C684-EE44-BEE9-008349E90A35}" type="slidenum">
              <a:rPr lang="en-US" altLang="en-US" sz="1400"/>
              <a:pPr>
                <a:spcBef>
                  <a:spcPct val="0"/>
                </a:spcBef>
                <a:buFontTx/>
                <a:buNone/>
              </a:pPr>
              <a:t>9</a:t>
            </a:fld>
            <a:endParaRPr lang="en-US" altLang="en-US" sz="1400"/>
          </a:p>
        </p:txBody>
      </p:sp>
    </p:spTree>
    <p:extLst>
      <p:ext uri="{BB962C8B-B14F-4D97-AF65-F5344CB8AC3E}">
        <p14:creationId xmlns:p14="http://schemas.microsoft.com/office/powerpoint/2010/main" val="816440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ltLang="en-US" sz="4000" b="1">
                <a:ea typeface="ＭＳ Ｐゴシック" charset="-128"/>
              </a:rPr>
              <a:t> Estimation Challenges: 2PL</a:t>
            </a:r>
          </a:p>
        </p:txBody>
      </p:sp>
      <p:pic>
        <p:nvPicPr>
          <p:cNvPr id="7885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71600"/>
            <a:ext cx="6889750" cy="3676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8851" name="TextBox 3"/>
          <p:cNvSpPr txBox="1">
            <a:spLocks noChangeArrowheads="1"/>
          </p:cNvSpPr>
          <p:nvPr/>
        </p:nvSpPr>
        <p:spPr bwMode="auto">
          <a:xfrm>
            <a:off x="2514600" y="5029201"/>
            <a:ext cx="70866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Notice: Now we are looking for maximum of the function with respect to two parameters along the </a:t>
            </a:r>
            <a:r>
              <a:rPr lang="ja-JP" altLang="en-US" sz="1800"/>
              <a:t>“</a:t>
            </a:r>
            <a:r>
              <a:rPr lang="en-US" altLang="ja-JP" sz="1800"/>
              <a:t>ridge</a:t>
            </a:r>
            <a:r>
              <a:rPr lang="ja-JP" altLang="en-US" sz="1800"/>
              <a:t>”</a:t>
            </a:r>
            <a:r>
              <a:rPr lang="en-US" altLang="ja-JP" sz="1800"/>
              <a:t> above. Which item parameter will be </a:t>
            </a:r>
            <a:r>
              <a:rPr lang="ja-JP" altLang="en-US" sz="1800"/>
              <a:t>“</a:t>
            </a:r>
            <a:r>
              <a:rPr lang="en-US" altLang="ja-JP" sz="1800"/>
              <a:t>easier</a:t>
            </a:r>
            <a:r>
              <a:rPr lang="ja-JP" altLang="en-US" sz="1800"/>
              <a:t>”</a:t>
            </a:r>
            <a:r>
              <a:rPr lang="en-US" altLang="ja-JP" sz="1800"/>
              <a:t> to estimate in the scenario above? </a:t>
            </a:r>
            <a:endParaRPr lang="en-US" altLang="en-US" sz="1800"/>
          </a:p>
        </p:txBody>
      </p:sp>
      <p:sp>
        <p:nvSpPr>
          <p:cNvPr id="5" name="TextBox 4"/>
          <p:cNvSpPr txBox="1"/>
          <p:nvPr/>
        </p:nvSpPr>
        <p:spPr>
          <a:xfrm>
            <a:off x="1752600" y="6324600"/>
            <a:ext cx="3200400" cy="3810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eaLnBrk="1" hangingPunct="1">
              <a:defRPr/>
            </a:pPr>
            <a:r>
              <a:rPr lang="en-US"/>
              <a:t>Source: Baker &amp; Kim, p. 45 </a:t>
            </a:r>
          </a:p>
        </p:txBody>
      </p:sp>
      <p:sp>
        <p:nvSpPr>
          <p:cNvPr id="78853"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CF60031F-B16B-B74B-9877-B630ADBA8A72}" type="slidenum">
              <a:rPr lang="en-US" altLang="en-US" sz="1400"/>
              <a:pPr>
                <a:spcBef>
                  <a:spcPct val="0"/>
                </a:spcBef>
                <a:buFontTx/>
                <a:buNone/>
              </a:pPr>
              <a:t>10</a:t>
            </a:fld>
            <a:endParaRPr lang="en-US" altLang="en-US" sz="1400"/>
          </a:p>
        </p:txBody>
      </p:sp>
    </p:spTree>
    <p:extLst>
      <p:ext uri="{BB962C8B-B14F-4D97-AF65-F5344CB8AC3E}">
        <p14:creationId xmlns:p14="http://schemas.microsoft.com/office/powerpoint/2010/main" val="840074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28600"/>
            <a:ext cx="5105400" cy="6680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pic>
      <p:sp>
        <p:nvSpPr>
          <p:cNvPr id="79874" name="TextBox 4"/>
          <p:cNvSpPr txBox="1">
            <a:spLocks noChangeArrowheads="1"/>
          </p:cNvSpPr>
          <p:nvPr/>
        </p:nvSpPr>
        <p:spPr bwMode="auto">
          <a:xfrm>
            <a:off x="5943600" y="685800"/>
            <a:ext cx="39624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2000">
                <a:latin typeface="Calibri" charset="0"/>
              </a:rPr>
              <a:t>Things Get Even More Complicated when the </a:t>
            </a:r>
            <a:r>
              <a:rPr lang="ja-JP" altLang="en-US" sz="2000">
                <a:latin typeface="Calibri" charset="0"/>
              </a:rPr>
              <a:t>“</a:t>
            </a:r>
            <a:r>
              <a:rPr lang="en-US" altLang="ja-JP" sz="2000">
                <a:latin typeface="Calibri" charset="0"/>
              </a:rPr>
              <a:t>Guessing</a:t>
            </a:r>
            <a:r>
              <a:rPr lang="ja-JP" altLang="en-US" sz="2000">
                <a:latin typeface="Calibri" charset="0"/>
              </a:rPr>
              <a:t>”</a:t>
            </a:r>
            <a:r>
              <a:rPr lang="en-US" altLang="ja-JP" sz="2000">
                <a:latin typeface="Calibri" charset="0"/>
              </a:rPr>
              <a:t> Parameter is Introduced. </a:t>
            </a:r>
            <a:endParaRPr lang="en-US" altLang="en-US" sz="2000">
              <a:latin typeface="Calibri" charset="0"/>
            </a:endParaRPr>
          </a:p>
        </p:txBody>
      </p:sp>
      <p:sp>
        <p:nvSpPr>
          <p:cNvPr id="79875" name="TextBox 5"/>
          <p:cNvSpPr txBox="1">
            <a:spLocks noChangeArrowheads="1"/>
          </p:cNvSpPr>
          <p:nvPr/>
        </p:nvSpPr>
        <p:spPr bwMode="auto">
          <a:xfrm>
            <a:off x="6096000" y="2209800"/>
            <a:ext cx="40386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2000">
                <a:latin typeface="Calibri" charset="0"/>
              </a:rPr>
              <a:t>NR does not converge rapidly and solution can be very dependent on starting values. </a:t>
            </a:r>
          </a:p>
        </p:txBody>
      </p:sp>
      <p:sp>
        <p:nvSpPr>
          <p:cNvPr id="79876" name="TextBox 6"/>
          <p:cNvSpPr txBox="1">
            <a:spLocks noChangeArrowheads="1"/>
          </p:cNvSpPr>
          <p:nvPr/>
        </p:nvSpPr>
        <p:spPr bwMode="auto">
          <a:xfrm>
            <a:off x="6096000" y="4038600"/>
            <a:ext cx="4038600"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latin typeface="Calibri" charset="0"/>
              </a:rPr>
              <a:t>Finding the maximum wrt to c parameter is very hard, and including c parameter has impact on estimation equations for a and b as well.</a:t>
            </a:r>
          </a:p>
        </p:txBody>
      </p:sp>
      <p:sp>
        <p:nvSpPr>
          <p:cNvPr id="8" name="TextBox 7"/>
          <p:cNvSpPr txBox="1"/>
          <p:nvPr/>
        </p:nvSpPr>
        <p:spPr>
          <a:xfrm>
            <a:off x="7315200" y="5486400"/>
            <a:ext cx="3200400" cy="3810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eaLnBrk="1" hangingPunct="1">
              <a:defRPr/>
            </a:pPr>
            <a:r>
              <a:rPr lang="en-US"/>
              <a:t>Source: Baker &amp; Kim, p. 54 </a:t>
            </a:r>
          </a:p>
        </p:txBody>
      </p:sp>
      <p:sp>
        <p:nvSpPr>
          <p:cNvPr id="79878"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CD96B6F0-71E7-5747-B184-46655B20C48F}" type="slidenum">
              <a:rPr lang="en-US" altLang="en-US" sz="1400"/>
              <a:pPr>
                <a:spcBef>
                  <a:spcPct val="0"/>
                </a:spcBef>
                <a:buFontTx/>
                <a:buNone/>
              </a:pPr>
              <a:t>11</a:t>
            </a:fld>
            <a:endParaRPr lang="en-US" altLang="en-US" sz="1400"/>
          </a:p>
        </p:txBody>
      </p:sp>
      <p:sp>
        <p:nvSpPr>
          <p:cNvPr id="9" name="Title 1">
            <a:extLst>
              <a:ext uri="{FF2B5EF4-FFF2-40B4-BE49-F238E27FC236}">
                <a16:creationId xmlns:a16="http://schemas.microsoft.com/office/drawing/2014/main" id="{F22F8D4F-81DC-F541-96A6-F68D7C70CE38}"/>
              </a:ext>
            </a:extLst>
          </p:cNvPr>
          <p:cNvSpPr>
            <a:spLocks noGrp="1"/>
          </p:cNvSpPr>
          <p:nvPr>
            <p:ph type="title"/>
          </p:nvPr>
        </p:nvSpPr>
        <p:spPr>
          <a:xfrm>
            <a:off x="433250" y="116931"/>
            <a:ext cx="2614749" cy="4716326"/>
          </a:xfrm>
        </p:spPr>
        <p:txBody>
          <a:bodyPr>
            <a:normAutofit/>
          </a:bodyPr>
          <a:lstStyle/>
          <a:p>
            <a:r>
              <a:rPr lang="en-US" altLang="en-US" sz="2800" b="1">
                <a:ea typeface="ＭＳ Ｐゴシック" charset="-128"/>
              </a:rPr>
              <a:t>Estimation Challenges: 3PL</a:t>
            </a:r>
          </a:p>
        </p:txBody>
      </p:sp>
    </p:spTree>
    <p:extLst>
      <p:ext uri="{BB962C8B-B14F-4D97-AF65-F5344CB8AC3E}">
        <p14:creationId xmlns:p14="http://schemas.microsoft.com/office/powerpoint/2010/main" val="398459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b="1" dirty="0"/>
              <a:t>JMLE Notes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Results in </a:t>
                </a:r>
                <a14:m>
                  <m:oMath xmlns:m="http://schemas.openxmlformats.org/officeDocument/2006/math">
                    <m:r>
                      <a:rPr lang="en-US" b="0" i="1" smtClean="0">
                        <a:latin typeface="Cambria Math" charset="0"/>
                      </a:rPr>
                      <m:t>2</m:t>
                    </m:r>
                    <m:r>
                      <a:rPr lang="en-US" b="0" i="1" smtClean="0">
                        <a:latin typeface="Cambria Math" charset="0"/>
                      </a:rPr>
                      <m:t>𝑛</m:t>
                    </m:r>
                    <m:r>
                      <a:rPr lang="en-US" b="0" i="1" smtClean="0">
                        <a:latin typeface="Cambria Math" charset="0"/>
                      </a:rPr>
                      <m:t>+</m:t>
                    </m:r>
                    <m:r>
                      <a:rPr lang="en-US" b="0" i="1" smtClean="0">
                        <a:latin typeface="Cambria Math" charset="0"/>
                      </a:rPr>
                      <m:t>𝑁</m:t>
                    </m:r>
                  </m:oMath>
                </a14:m>
                <a:r>
                  <a:rPr lang="en-US" dirty="0"/>
                  <a:t> equations to solve (for 2PL).</a:t>
                </a:r>
              </a:p>
              <a:p>
                <a:r>
                  <a:rPr lang="en-US" dirty="0"/>
                  <a:t>Simplifying assumptions:</a:t>
                </a:r>
              </a:p>
              <a:p>
                <a:pPr lvl="1"/>
                <a:r>
                  <a:rPr lang="en-US" dirty="0"/>
                  <a:t>Examinees randomly sampled, so their theta estimates independent.</a:t>
                </a:r>
              </a:p>
              <a:p>
                <a:pPr lvl="1"/>
                <a:r>
                  <a:rPr lang="en-US" dirty="0"/>
                  <a:t>Examinees and items assumed independent.</a:t>
                </a:r>
              </a:p>
              <a:p>
                <a:pPr lvl="1"/>
                <a:r>
                  <a:rPr lang="en-US" dirty="0"/>
                  <a:t>Assume items are independent (covariance between a and b for one item, but not between items).</a:t>
                </a:r>
              </a:p>
              <a:p>
                <a:r>
                  <a:rPr lang="en-US" dirty="0"/>
                  <a:t>Pros</a:t>
                </a:r>
              </a:p>
              <a:p>
                <a:pPr lvl="1"/>
                <a:r>
                  <a:rPr lang="en-US" dirty="0"/>
                  <a:t>Conceptually simple.</a:t>
                </a:r>
              </a:p>
              <a:p>
                <a:pPr lvl="1"/>
                <a:r>
                  <a:rPr lang="en-US" dirty="0"/>
                  <a:t>Works for many models.</a:t>
                </a:r>
              </a:p>
              <a:p>
                <a:r>
                  <a:rPr lang="en-US" dirty="0"/>
                  <a:t>Cons</a:t>
                </a:r>
              </a:p>
              <a:p>
                <a:pPr lvl="1"/>
                <a:r>
                  <a:rPr lang="en-US" dirty="0"/>
                  <a:t>Item parameter estimates can be biased and are not consistent.</a:t>
                </a:r>
              </a:p>
              <a:p>
                <a:pPr lvl="1"/>
                <a:r>
                  <a:rPr lang="en-US" dirty="0"/>
                  <a:t>Likelihoods and SEs may not factor in all uncertainty.</a:t>
                </a:r>
              </a:p>
              <a:p>
                <a:pPr lvl="1"/>
                <a:r>
                  <a:rPr lang="en-US" dirty="0"/>
                  <a:t>No estimates for perfect/0 scores or items.</a:t>
                </a:r>
              </a:p>
              <a:p>
                <a:pPr lvl="1"/>
                <a:r>
                  <a:rPr lang="en-US" dirty="0"/>
                  <a:t>3PL can be particularly difficult.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44" t="-319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12</a:t>
            </a:fld>
            <a:endParaRPr lang="en-US"/>
          </a:p>
        </p:txBody>
      </p:sp>
    </p:spTree>
    <p:extLst>
      <p:ext uri="{BB962C8B-B14F-4D97-AF65-F5344CB8AC3E}">
        <p14:creationId xmlns:p14="http://schemas.microsoft.com/office/powerpoint/2010/main" val="304671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Marginal Maximum Likelihood Estimation (MMLE)</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Conceptual overview:</a:t>
            </a:r>
          </a:p>
          <a:p>
            <a:pPr marL="609600" indent="-609600">
              <a:buFontTx/>
              <a:buAutoNum type="arabicPeriod"/>
            </a:pPr>
            <a:r>
              <a:rPr lang="en-US" altLang="en-US" dirty="0">
                <a:latin typeface="Calibri" charset="0"/>
                <a:ea typeface="ＭＳ Ｐゴシック" charset="-128"/>
              </a:rPr>
              <a:t>Specify functional form of ICC.</a:t>
            </a:r>
          </a:p>
          <a:p>
            <a:pPr marL="609600" indent="-609600">
              <a:buFontTx/>
              <a:buAutoNum type="arabicPeriod"/>
            </a:pPr>
            <a:r>
              <a:rPr lang="en-US" altLang="en-US" dirty="0">
                <a:latin typeface="Calibri" charset="0"/>
                <a:ea typeface="ＭＳ Ｐゴシック" charset="-128"/>
              </a:rPr>
              <a:t>Compute the Joint Likelihood Function (over persons and items) and combine with a pdf (like a prior) for theta.</a:t>
            </a:r>
          </a:p>
          <a:p>
            <a:pPr marL="609600" indent="-609600">
              <a:buFontTx/>
              <a:buAutoNum type="arabicPeriod"/>
            </a:pPr>
            <a:r>
              <a:rPr lang="en-US" altLang="en-US" dirty="0">
                <a:latin typeface="Calibri" charset="0"/>
                <a:ea typeface="ＭＳ Ｐゴシック" charset="-128"/>
              </a:rPr>
              <a:t>Integrate (i.e., take average) over theta to get </a:t>
            </a:r>
            <a:r>
              <a:rPr lang="en-US" altLang="en-US" b="1" u="sng" dirty="0">
                <a:latin typeface="Calibri" charset="0"/>
                <a:ea typeface="ＭＳ Ｐゴシック" charset="-128"/>
              </a:rPr>
              <a:t>marginal</a:t>
            </a:r>
            <a:r>
              <a:rPr lang="en-US" altLang="en-US" dirty="0">
                <a:latin typeface="Calibri" charset="0"/>
                <a:ea typeface="ＭＳ Ｐゴシック" charset="-128"/>
              </a:rPr>
              <a:t> likelihood function.</a:t>
            </a:r>
          </a:p>
          <a:p>
            <a:pPr marL="609600" indent="-609600">
              <a:buFontTx/>
              <a:buAutoNum type="arabicPeriod"/>
            </a:pPr>
            <a:r>
              <a:rPr lang="en-US" altLang="en-US" dirty="0">
                <a:latin typeface="Calibri" charset="0"/>
                <a:ea typeface="ＭＳ Ｐゴシック" charset="-128"/>
              </a:rPr>
              <a:t>Take the Log of the Marginal Likelihood Function.</a:t>
            </a:r>
          </a:p>
          <a:p>
            <a:pPr marL="609600" indent="-609600">
              <a:buFontTx/>
              <a:buAutoNum type="arabicPeriod"/>
            </a:pPr>
            <a:r>
              <a:rPr lang="en-US" altLang="en-US" dirty="0">
                <a:latin typeface="Calibri" charset="0"/>
                <a:ea typeface="ＭＳ Ｐゴシック" charset="-128"/>
              </a:rPr>
              <a:t>Establish set of estimating equations by item for each item parameter of interest. [Partial Derivatives]</a:t>
            </a:r>
          </a:p>
          <a:p>
            <a:pPr marL="609600" indent="-609600">
              <a:buFontTx/>
              <a:buAutoNum type="arabicPeriod"/>
            </a:pPr>
            <a:r>
              <a:rPr lang="en-US" altLang="en-US" dirty="0">
                <a:latin typeface="Calibri" charset="0"/>
                <a:ea typeface="ＭＳ Ｐゴシック" charset="-128"/>
              </a:rPr>
              <a:t>Numerical Integration using Quadrature points.</a:t>
            </a:r>
          </a:p>
          <a:p>
            <a:pPr marL="609600" indent="-609600">
              <a:buFontTx/>
              <a:buAutoNum type="arabicPeriod"/>
            </a:pPr>
            <a:r>
              <a:rPr lang="en-US" altLang="en-US" dirty="0">
                <a:latin typeface="Calibri" charset="0"/>
                <a:ea typeface="ＭＳ Ｐゴシック" charset="-128"/>
              </a:rPr>
              <a:t>EM (“expectation maximization”) Algorithm to find maximums.</a:t>
            </a:r>
          </a:p>
          <a:p>
            <a:pPr marL="0" indent="0">
              <a:buNone/>
            </a:pPr>
            <a:r>
              <a:rPr lang="en-US" altLang="en-US" dirty="0">
                <a:latin typeface="Calibri" charset="0"/>
                <a:ea typeface="ＭＳ Ｐゴシック" charset="-128"/>
              </a:rPr>
              <a:t>This is also an iterative procedure to find best set of item parameter estimates, but it never produces person theta estimates.</a:t>
            </a:r>
          </a:p>
        </p:txBody>
      </p:sp>
      <p:sp>
        <p:nvSpPr>
          <p:cNvPr id="4" name="Slide Number Placeholder 3"/>
          <p:cNvSpPr>
            <a:spLocks noGrp="1"/>
          </p:cNvSpPr>
          <p:nvPr>
            <p:ph type="sldNum" sz="quarter" idx="12"/>
          </p:nvPr>
        </p:nvSpPr>
        <p:spPr/>
        <p:txBody>
          <a:bodyPr/>
          <a:lstStyle/>
          <a:p>
            <a:fld id="{0B97A0ED-0713-854E-AE67-C1B678B4A72A}" type="slidenum">
              <a:rPr lang="en-US" smtClean="0"/>
              <a:t>13</a:t>
            </a:fld>
            <a:endParaRPr lang="en-US"/>
          </a:p>
        </p:txBody>
      </p:sp>
    </p:spTree>
    <p:extLst>
      <p:ext uri="{BB962C8B-B14F-4D97-AF65-F5344CB8AC3E}">
        <p14:creationId xmlns:p14="http://schemas.microsoft.com/office/powerpoint/2010/main" val="318743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Pieces Needed to Understand MMLE</a:t>
            </a:r>
          </a:p>
        </p:txBody>
      </p:sp>
      <p:sp>
        <p:nvSpPr>
          <p:cNvPr id="3" name="Content Placeholder 2"/>
          <p:cNvSpPr>
            <a:spLocks noGrp="1"/>
          </p:cNvSpPr>
          <p:nvPr>
            <p:ph idx="1"/>
          </p:nvPr>
        </p:nvSpPr>
        <p:spPr/>
        <p:txBody>
          <a:bodyPr/>
          <a:lstStyle/>
          <a:p>
            <a:r>
              <a:rPr lang="en-US" dirty="0"/>
              <a:t>Marginal likelihood</a:t>
            </a:r>
          </a:p>
          <a:p>
            <a:r>
              <a:rPr lang="en-US" dirty="0"/>
              <a:t>Using quadrature to approximate an integral</a:t>
            </a:r>
          </a:p>
          <a:p>
            <a:r>
              <a:rPr lang="en-US" dirty="0"/>
              <a:t>Quadrature form of posterior distribution</a:t>
            </a:r>
          </a:p>
          <a:p>
            <a:r>
              <a:rPr lang="en-US" dirty="0"/>
              <a:t>Quadrature form of estimating equations</a:t>
            </a:r>
          </a:p>
        </p:txBody>
      </p:sp>
      <p:sp>
        <p:nvSpPr>
          <p:cNvPr id="4" name="Slide Number Placeholder 3"/>
          <p:cNvSpPr>
            <a:spLocks noGrp="1"/>
          </p:cNvSpPr>
          <p:nvPr>
            <p:ph type="sldNum" sz="quarter" idx="12"/>
          </p:nvPr>
        </p:nvSpPr>
        <p:spPr/>
        <p:txBody>
          <a:bodyPr/>
          <a:lstStyle/>
          <a:p>
            <a:fld id="{0B97A0ED-0713-854E-AE67-C1B678B4A72A}" type="slidenum">
              <a:rPr lang="en-US" smtClean="0"/>
              <a:t>14</a:t>
            </a:fld>
            <a:endParaRPr lang="en-US"/>
          </a:p>
        </p:txBody>
      </p:sp>
    </p:spTree>
    <p:extLst>
      <p:ext uri="{BB962C8B-B14F-4D97-AF65-F5344CB8AC3E}">
        <p14:creationId xmlns:p14="http://schemas.microsoft.com/office/powerpoint/2010/main" val="1442690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Marginal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Already know how to compute </a:t>
                </a:r>
                <a14:m>
                  <m:oMath xmlns:m="http://schemas.openxmlformats.org/officeDocument/2006/math">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𝑢</m:t>
                            </m:r>
                          </m:e>
                          <m:sub>
                            <m:r>
                              <a:rPr lang="en-US" b="0" i="1" smtClean="0">
                                <a:latin typeface="Cambria Math" charset="0"/>
                              </a:rPr>
                              <m:t>𝑖𝑠</m:t>
                            </m:r>
                          </m:sub>
                        </m:sSub>
                        <m:r>
                          <a:rPr lang="en-US" b="0" i="1" smtClean="0">
                            <a:latin typeface="Cambria Math" charset="0"/>
                          </a:rPr>
                          <m:t>=1|</m:t>
                        </m:r>
                        <m:r>
                          <a:rPr lang="en-US" b="0" i="1" smtClean="0">
                            <a:latin typeface="Cambria Math" charset="0"/>
                          </a:rPr>
                          <m:t>𝜃</m:t>
                        </m:r>
                        <m:r>
                          <a:rPr lang="en-US" b="0" i="1" smtClean="0">
                            <a:latin typeface="Cambria Math" charset="0"/>
                          </a:rPr>
                          <m:t>,</m:t>
                        </m:r>
                        <m:r>
                          <a:rPr lang="en-US" b="0" i="1" smtClean="0">
                            <a:latin typeface="Cambria Math" charset="0"/>
                          </a:rPr>
                          <m:t>𝑎</m:t>
                        </m:r>
                        <m:r>
                          <a:rPr lang="en-US" b="0" i="1" smtClean="0">
                            <a:latin typeface="Cambria Math" charset="0"/>
                          </a:rPr>
                          <m:t>,</m:t>
                        </m:r>
                        <m:r>
                          <a:rPr lang="en-US" b="0" i="1" smtClean="0">
                            <a:latin typeface="Cambria Math" charset="0"/>
                          </a:rPr>
                          <m:t>𝑏</m:t>
                        </m:r>
                        <m:r>
                          <a:rPr lang="en-US" b="0" i="1" smtClean="0">
                            <a:latin typeface="Cambria Math" charset="0"/>
                          </a:rPr>
                          <m:t>,</m:t>
                        </m:r>
                        <m:r>
                          <a:rPr lang="en-US" b="0" i="1" smtClean="0">
                            <a:latin typeface="Cambria Math" charset="0"/>
                          </a:rPr>
                          <m:t>𝑐</m:t>
                        </m:r>
                      </m:e>
                    </m:d>
                  </m:oMath>
                </a14:m>
                <a:r>
                  <a:rPr lang="en-US" dirty="0"/>
                  <a:t> for a set theta, a, b, and c.</a:t>
                </a:r>
              </a:p>
              <a:p>
                <a:r>
                  <a:rPr lang="en-US" dirty="0"/>
                  <a:t>But, what is the probability across an entire population with </a:t>
                </a:r>
                <a14:m>
                  <m:oMath xmlns:m="http://schemas.openxmlformats.org/officeDocument/2006/math">
                    <m:r>
                      <a:rPr lang="en-US" b="0" i="1" smtClean="0">
                        <a:latin typeface="Cambria Math" charset="0"/>
                      </a:rPr>
                      <m:t>𝜃</m:t>
                    </m:r>
                    <m:r>
                      <a:rPr lang="en-US" b="0" i="1" smtClean="0">
                        <a:latin typeface="Cambria Math" charset="0"/>
                      </a:rPr>
                      <m:t>~</m:t>
                    </m:r>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r>
                  <a:rPr lang="en-US" dirty="0"/>
                  <a:t>This is referred to as the </a:t>
                </a:r>
                <a:r>
                  <a:rPr lang="en-US" b="1" u="sng" dirty="0"/>
                  <a:t>marginal</a:t>
                </a:r>
                <a:r>
                  <a:rPr lang="en-US" dirty="0"/>
                  <a:t> or </a:t>
                </a:r>
                <a:r>
                  <a:rPr lang="en-US" b="1" u="sng" dirty="0"/>
                  <a:t>unconditional</a:t>
                </a:r>
                <a:r>
                  <a:rPr lang="en-US" dirty="0"/>
                  <a:t> probability.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𝑢</m:t>
                              </m:r>
                            </m:e>
                            <m:sub>
                              <m:r>
                                <a:rPr lang="en-US" b="0" i="1" smtClean="0">
                                  <a:latin typeface="Cambria Math" charset="0"/>
                                </a:rPr>
                                <m:t>𝑖𝑠</m:t>
                              </m:r>
                            </m:sub>
                          </m:sSub>
                          <m:r>
                            <a:rPr lang="en-US" b="0" i="1" smtClean="0">
                              <a:latin typeface="Cambria Math" charset="0"/>
                            </a:rPr>
                            <m:t>=1</m:t>
                          </m:r>
                        </m:e>
                        <m:e>
                          <m:r>
                            <a:rPr lang="en-US" b="0" i="1" smtClean="0">
                              <a:latin typeface="Cambria Math" charset="0"/>
                            </a:rPr>
                            <m:t>𝑎</m:t>
                          </m:r>
                          <m:r>
                            <a:rPr lang="en-US" b="0" i="1" smtClean="0">
                              <a:latin typeface="Cambria Math" charset="0"/>
                            </a:rPr>
                            <m:t>,</m:t>
                          </m:r>
                          <m:r>
                            <a:rPr lang="en-US" b="0" i="1" smtClean="0">
                              <a:latin typeface="Cambria Math" charset="0"/>
                            </a:rPr>
                            <m:t>𝑏</m:t>
                          </m:r>
                          <m:r>
                            <a:rPr lang="en-US" b="0" i="1" smtClean="0">
                              <a:latin typeface="Cambria Math" charset="0"/>
                            </a:rPr>
                            <m:t>,</m:t>
                          </m:r>
                          <m:r>
                            <a:rPr lang="en-US" b="0" i="1" smtClean="0">
                              <a:latin typeface="Cambria Math" charset="0"/>
                            </a:rPr>
                            <m:t>𝑐</m:t>
                          </m:r>
                        </m:e>
                      </m:d>
                      <m:r>
                        <a:rPr lang="en-US" b="0" i="1" smtClean="0">
                          <a:latin typeface="Cambria Math" charset="0"/>
                        </a:rPr>
                        <m:t>=</m:t>
                      </m:r>
                      <m:nary>
                        <m:naryPr>
                          <m:ctrlPr>
                            <a:rPr lang="is-IS" b="0" i="1" smtClean="0">
                              <a:latin typeface="Cambria Math" panose="02040503050406030204" pitchFamily="18" charset="0"/>
                            </a:rPr>
                          </m:ctrlPr>
                        </m:naryPr>
                        <m:sub>
                          <m:r>
                            <m:rPr>
                              <m:brk m:alnAt="23"/>
                            </m:rPr>
                            <a:rPr lang="en-US" b="0" i="1" smtClean="0">
                              <a:latin typeface="Cambria Math" charset="0"/>
                            </a:rPr>
                            <m:t>−</m:t>
                          </m:r>
                          <m:r>
                            <a:rPr lang="en-US" b="0" i="1" smtClean="0">
                              <a:latin typeface="Cambria Math" charset="0"/>
                            </a:rPr>
                            <m:t>∞</m:t>
                          </m:r>
                        </m:sub>
                        <m:sup>
                          <m:r>
                            <a:rPr lang="en-US" b="0" i="1" smtClean="0">
                              <a:latin typeface="Cambria Math" charset="0"/>
                            </a:rPr>
                            <m:t>∞</m:t>
                          </m:r>
                        </m:sup>
                        <m:e>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𝑢</m:t>
                                  </m:r>
                                </m:e>
                                <m:sub>
                                  <m:r>
                                    <a:rPr lang="en-US" i="1">
                                      <a:latin typeface="Cambria Math" charset="0"/>
                                    </a:rPr>
                                    <m:t>𝑖𝑠</m:t>
                                  </m:r>
                                </m:sub>
                              </m:sSub>
                              <m:r>
                                <a:rPr lang="en-US" i="1">
                                  <a:latin typeface="Cambria Math" charset="0"/>
                                </a:rPr>
                                <m:t>=1</m:t>
                              </m:r>
                            </m:e>
                            <m:e>
                              <m:r>
                                <a:rPr lang="en-US" b="0" i="1" smtClean="0">
                                  <a:latin typeface="Cambria Math" charset="0"/>
                                </a:rPr>
                                <m:t>𝜃</m:t>
                              </m:r>
                              <m:r>
                                <a:rPr lang="en-US" b="0" i="1" smtClean="0">
                                  <a:latin typeface="Cambria Math" charset="0"/>
                                </a:rPr>
                                <m:t>,</m:t>
                              </m:r>
                              <m:r>
                                <a:rPr lang="en-US" i="1">
                                  <a:latin typeface="Cambria Math" charset="0"/>
                                </a:rPr>
                                <m:t>𝑎</m:t>
                              </m:r>
                              <m:r>
                                <a:rPr lang="en-US" i="1">
                                  <a:latin typeface="Cambria Math" charset="0"/>
                                </a:rPr>
                                <m:t>,</m:t>
                              </m:r>
                              <m:r>
                                <a:rPr lang="en-US" i="1">
                                  <a:latin typeface="Cambria Math" charset="0"/>
                                </a:rPr>
                                <m:t>𝑏</m:t>
                              </m:r>
                              <m:r>
                                <a:rPr lang="en-US" i="1">
                                  <a:latin typeface="Cambria Math" charset="0"/>
                                </a:rPr>
                                <m:t>,</m:t>
                              </m:r>
                              <m:r>
                                <a:rPr lang="en-US" i="1">
                                  <a:latin typeface="Cambria Math" charset="0"/>
                                </a:rPr>
                                <m:t>𝑐</m:t>
                              </m:r>
                            </m:e>
                          </m:d>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𝑑</m:t>
                          </m:r>
                          <m:r>
                            <a:rPr lang="en-US" b="0" i="1" smtClean="0">
                              <a:latin typeface="Cambria Math" charset="0"/>
                            </a:rPr>
                            <m:t>𝜃</m:t>
                          </m:r>
                        </m:e>
                      </m:nary>
                    </m:oMath>
                  </m:oMathPara>
                </a14:m>
                <a:endParaRPr lang="en-US" dirty="0"/>
              </a:p>
              <a:p>
                <a:r>
                  <a:rPr lang="en-US" dirty="0"/>
                  <a:t>This is a weighted average across all possible values of </a:t>
                </a:r>
                <a14:m>
                  <m:oMath xmlns:m="http://schemas.openxmlformats.org/officeDocument/2006/math">
                    <m:r>
                      <a:rPr lang="en-US" b="0" i="1" smtClean="0">
                        <a:latin typeface="Cambria Math" charset="0"/>
                      </a:rPr>
                      <m:t>𝜃</m:t>
                    </m:r>
                  </m:oMath>
                </a14:m>
                <a:r>
                  <a:rPr lang="en-US" dirty="0"/>
                  <a:t>, weighted by the relative frequency of each </a:t>
                </a:r>
                <a14:m>
                  <m:oMath xmlns:m="http://schemas.openxmlformats.org/officeDocument/2006/math">
                    <m:r>
                      <a:rPr lang="en-US" b="0" i="1" smtClean="0">
                        <a:latin typeface="Cambria Math" charset="0"/>
                      </a:rPr>
                      <m:t>𝜃</m:t>
                    </m:r>
                  </m:oMath>
                </a14:m>
                <a:r>
                  <a:rPr lang="en-US" dirty="0"/>
                  <a:t> value, as defined by the pdf </a:t>
                </a:r>
                <a14:m>
                  <m:oMath xmlns:m="http://schemas.openxmlformats.org/officeDocument/2006/math">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r="-110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15</a:t>
            </a:fld>
            <a:endParaRPr lang="en-US"/>
          </a:p>
        </p:txBody>
      </p:sp>
    </p:spTree>
    <p:extLst>
      <p:ext uri="{BB962C8B-B14F-4D97-AF65-F5344CB8AC3E}">
        <p14:creationId xmlns:p14="http://schemas.microsoft.com/office/powerpoint/2010/main" val="281301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3440876-4E49-2294-18EA-A92275CBCB7C}"/>
                  </a:ext>
                </a:extLst>
              </p:cNvPr>
              <p:cNvSpPr>
                <a:spLocks noGrp="1"/>
              </p:cNvSpPr>
              <p:nvPr>
                <p:ph type="title"/>
              </p:nvPr>
            </p:nvSpPr>
            <p:spPr/>
            <p:txBody>
              <a:bodyPr>
                <a:normAutofit/>
              </a:bodyPr>
              <a:lstStyle/>
              <a:p>
                <a:r>
                  <a:rPr lang="en-US" sz="3600" b="1"/>
                  <a:t>Specification of Probability Distribution Function</a:t>
                </a:r>
                <a:r>
                  <a:rPr lang="en-US" sz="3600"/>
                  <a:t>: </a:t>
                </a:r>
                <a14:m>
                  <m:oMath xmlns:m="http://schemas.openxmlformats.org/officeDocument/2006/math">
                    <m:r>
                      <a:rPr lang="en-US" sz="3600" b="0" i="1" smtClean="0">
                        <a:latin typeface="Cambria Math" charset="0"/>
                      </a:rPr>
                      <m:t>𝑔</m:t>
                    </m:r>
                    <m:d>
                      <m:dPr>
                        <m:ctrlPr>
                          <a:rPr lang="en-US" sz="3600" b="0" i="1" smtClean="0">
                            <a:latin typeface="Cambria Math" panose="02040503050406030204" pitchFamily="18" charset="0"/>
                          </a:rPr>
                        </m:ctrlPr>
                      </m:dPr>
                      <m:e>
                        <m:r>
                          <a:rPr lang="en-US" sz="3600" b="0" i="1" smtClean="0">
                            <a:latin typeface="Cambria Math" charset="0"/>
                          </a:rPr>
                          <m:t>𝜃</m:t>
                        </m:r>
                      </m:e>
                    </m:d>
                  </m:oMath>
                </a14:m>
                <a:r>
                  <a:rPr lang="en-US" sz="3600"/>
                  <a:t> </a:t>
                </a:r>
                <a:r>
                  <a:rPr lang="en-US" sz="3600" b="1"/>
                  <a:t>(“The Population Model”)</a:t>
                </a:r>
              </a:p>
            </p:txBody>
          </p:sp>
        </mc:Choice>
        <mc:Fallback xmlns="">
          <p:sp>
            <p:nvSpPr>
              <p:cNvPr id="2" name="Title 1">
                <a:extLst>
                  <a:ext uri="{FF2B5EF4-FFF2-40B4-BE49-F238E27FC236}">
                    <a16:creationId xmlns:a16="http://schemas.microsoft.com/office/drawing/2014/main" id="{53440876-4E49-2294-18EA-A92275CBCB7C}"/>
                  </a:ext>
                </a:extLst>
              </p:cNvPr>
              <p:cNvSpPr>
                <a:spLocks noGrp="1" noRot="1" noChangeAspect="1" noMove="1" noResize="1" noEditPoints="1" noAdjustHandles="1" noChangeArrowheads="1" noChangeShapeType="1" noTextEdit="1"/>
              </p:cNvSpPr>
              <p:nvPr>
                <p:ph type="title"/>
              </p:nvPr>
            </p:nvSpPr>
            <p:spPr>
              <a:blipFill>
                <a:blip r:embed="rId2"/>
                <a:stretch>
                  <a:fillRect l="-1809" t="-2857" b="-857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5E11575A-5715-1CEF-B83E-0FCE16582CC4}"/>
              </a:ext>
            </a:extLst>
          </p:cNvPr>
          <p:cNvSpPr>
            <a:spLocks noGrp="1"/>
          </p:cNvSpPr>
          <p:nvPr>
            <p:ph idx="1"/>
          </p:nvPr>
        </p:nvSpPr>
        <p:spPr/>
        <p:txBody>
          <a:bodyPr/>
          <a:lstStyle/>
          <a:p>
            <a:r>
              <a:rPr lang="en-US"/>
              <a:t>The default convention is to specify a normal pdf</a:t>
            </a:r>
          </a:p>
          <a:p>
            <a:r>
              <a:rPr lang="en-US"/>
              <a:t>Hence there are now just two parameters specific to the distribution of ability: the mean and variance</a:t>
            </a:r>
          </a:p>
          <a:p>
            <a:r>
              <a:rPr lang="en-US"/>
              <a:t>But even this is typically “hidden” because when N ~ (0,1) this serves to identify the scale for the a and b item parameters (default in </a:t>
            </a:r>
            <a:r>
              <a:rPr lang="en-US">
                <a:latin typeface="Courier New" panose="02070309020205020404" pitchFamily="49" charset="0"/>
                <a:cs typeface="Courier New" panose="02070309020205020404" pitchFamily="49" charset="0"/>
              </a:rPr>
              <a:t>mirt</a:t>
            </a:r>
            <a:r>
              <a:rPr lang="en-US"/>
              <a:t>)</a:t>
            </a:r>
          </a:p>
          <a:p>
            <a:r>
              <a:rPr lang="en-US"/>
              <a:t>MMLE tends to be relatively robust to mild to moderate violations of the normality assumption</a:t>
            </a:r>
          </a:p>
          <a:p>
            <a:r>
              <a:rPr lang="en-US"/>
              <a:t>It is also possible to specific a different pdf </a:t>
            </a:r>
          </a:p>
        </p:txBody>
      </p:sp>
      <p:sp>
        <p:nvSpPr>
          <p:cNvPr id="4" name="Slide Number Placeholder 3">
            <a:extLst>
              <a:ext uri="{FF2B5EF4-FFF2-40B4-BE49-F238E27FC236}">
                <a16:creationId xmlns:a16="http://schemas.microsoft.com/office/drawing/2014/main" id="{6B9AD6DA-B489-1221-DD90-96D3EA6AE7B6}"/>
              </a:ext>
            </a:extLst>
          </p:cNvPr>
          <p:cNvSpPr>
            <a:spLocks noGrp="1"/>
          </p:cNvSpPr>
          <p:nvPr>
            <p:ph type="sldNum" sz="quarter" idx="12"/>
          </p:nvPr>
        </p:nvSpPr>
        <p:spPr/>
        <p:txBody>
          <a:bodyPr/>
          <a:lstStyle/>
          <a:p>
            <a:fld id="{0B97A0ED-0713-854E-AE67-C1B678B4A72A}" type="slidenum">
              <a:rPr lang="en-US" smtClean="0"/>
              <a:t>16</a:t>
            </a:fld>
            <a:endParaRPr lang="en-US"/>
          </a:p>
        </p:txBody>
      </p:sp>
    </p:spTree>
    <p:extLst>
      <p:ext uri="{BB962C8B-B14F-4D97-AF65-F5344CB8AC3E}">
        <p14:creationId xmlns:p14="http://schemas.microsoft.com/office/powerpoint/2010/main" val="3997887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Marginal Likelihood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Assume a particular distribution for </a:t>
                </a:r>
                <a14:m>
                  <m:oMath xmlns:m="http://schemas.openxmlformats.org/officeDocument/2006/math">
                    <m:r>
                      <a:rPr lang="en-US" b="0" i="1" smtClean="0">
                        <a:latin typeface="Cambria Math" charset="0"/>
                      </a:rPr>
                      <m:t>𝜃</m:t>
                    </m:r>
                  </m:oMath>
                </a14:m>
                <a:r>
                  <a:rPr lang="en-US" dirty="0"/>
                  <a:t>, </a:t>
                </a:r>
                <a14:m>
                  <m:oMath xmlns:m="http://schemas.openxmlformats.org/officeDocument/2006/math">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r>
                  <a:rPr lang="en-US" dirty="0"/>
                  <a:t>Then the log likelihood function for a particular response vector gets marginalized, or averaged, over a population with </a:t>
                </a:r>
                <a14:m>
                  <m:oMath xmlns:m="http://schemas.openxmlformats.org/officeDocument/2006/math">
                    <m:r>
                      <a:rPr lang="en-US" i="1">
                        <a:latin typeface="Cambria Math" charset="0"/>
                      </a:rPr>
                      <m:t>𝑔</m:t>
                    </m:r>
                    <m:d>
                      <m:dPr>
                        <m:ctrlPr>
                          <a:rPr lang="en-US" i="1">
                            <a:latin typeface="Cambria Math" panose="02040503050406030204" pitchFamily="18" charset="0"/>
                          </a:rPr>
                        </m:ctrlPr>
                      </m:dPr>
                      <m:e>
                        <m:r>
                          <a:rPr lang="en-US" i="1">
                            <a:latin typeface="Cambria Math" charset="0"/>
                          </a:rPr>
                          <m:t>𝜃</m:t>
                        </m:r>
                      </m:e>
                    </m:d>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𝑙</m:t>
                      </m:r>
                      <m:r>
                        <a:rPr lang="en-US" b="0" i="1" smtClean="0">
                          <a:latin typeface="Cambria Math" charset="0"/>
                        </a:rPr>
                        <m:t>=</m:t>
                      </m:r>
                      <m:func>
                        <m:funcPr>
                          <m:ctrlPr>
                            <a:rPr lang="en-US" b="0" i="1" smtClean="0">
                              <a:latin typeface="Cambria Math" panose="02040503050406030204" pitchFamily="18" charset="0"/>
                            </a:rPr>
                          </m:ctrlPr>
                        </m:funcPr>
                        <m:fName>
                          <m:r>
                            <m:rPr>
                              <m:sty m:val="p"/>
                            </m:rPr>
                            <a:rPr lang="en-US" b="0" i="0" smtClean="0">
                              <a:latin typeface="Cambria Math" charset="0"/>
                            </a:rPr>
                            <m:t>ln</m:t>
                          </m:r>
                        </m:fName>
                        <m:e>
                          <m:d>
                            <m:dPr>
                              <m:ctrlPr>
                                <a:rPr lang="en-US" b="0" i="1" smtClean="0">
                                  <a:latin typeface="Cambria Math" panose="02040503050406030204" pitchFamily="18" charset="0"/>
                                </a:rPr>
                              </m:ctrlPr>
                            </m:dPr>
                            <m:e>
                              <m:r>
                                <a:rPr lang="en-US" b="0" i="1" smtClean="0">
                                  <a:latin typeface="Cambria Math" charset="0"/>
                                </a:rPr>
                                <m:t>𝑃</m:t>
                              </m:r>
                              <m:d>
                                <m:dPr>
                                  <m:ctrlPr>
                                    <a:rPr lang="en-US" b="0" i="1" smtClean="0">
                                      <a:latin typeface="Cambria Math" panose="02040503050406030204" pitchFamily="18" charset="0"/>
                                    </a:rPr>
                                  </m:ctrlPr>
                                </m:dPr>
                                <m:e>
                                  <m:r>
                                    <a:rPr lang="en-US" b="1" i="0" smtClean="0">
                                      <a:latin typeface="Cambria Math" charset="0"/>
                                    </a:rPr>
                                    <m:t>𝐗</m:t>
                                  </m:r>
                                </m:e>
                                <m:e>
                                  <m:r>
                                    <a:rPr lang="en-US" b="1" i="1" smtClean="0">
                                      <a:latin typeface="Cambria Math" charset="0"/>
                                    </a:rPr>
                                    <m:t>𝒂</m:t>
                                  </m:r>
                                  <m:r>
                                    <a:rPr lang="en-US" b="1" i="1" smtClean="0">
                                      <a:latin typeface="Cambria Math" charset="0"/>
                                    </a:rPr>
                                    <m:t>,</m:t>
                                  </m:r>
                                  <m:r>
                                    <a:rPr lang="en-US" b="1" i="1" smtClean="0">
                                      <a:latin typeface="Cambria Math" charset="0"/>
                                    </a:rPr>
                                    <m:t>𝒃</m:t>
                                  </m:r>
                                  <m:r>
                                    <a:rPr lang="en-US" b="1" i="1" smtClean="0">
                                      <a:latin typeface="Cambria Math" charset="0"/>
                                    </a:rPr>
                                    <m:t>,</m:t>
                                  </m:r>
                                  <m:r>
                                    <a:rPr lang="en-US" b="1" i="1" smtClean="0">
                                      <a:latin typeface="Cambria Math" charset="0"/>
                                    </a:rPr>
                                    <m:t>𝒄</m:t>
                                  </m:r>
                                </m:e>
                              </m:d>
                            </m:e>
                          </m:d>
                        </m:e>
                      </m:func>
                      <m:r>
                        <a:rPr lang="en-US" b="0" i="1" smtClean="0">
                          <a:latin typeface="Cambria Math" charset="0"/>
                        </a:rPr>
                        <m:t>=</m:t>
                      </m:r>
                      <m:nary>
                        <m:naryPr>
                          <m:chr m:val="∑"/>
                          <m:ctrlPr>
                            <a:rPr lang="is-IS" b="0" i="1" smtClean="0">
                              <a:latin typeface="Cambria Math" panose="02040503050406030204" pitchFamily="18" charset="0"/>
                            </a:rPr>
                          </m:ctrlPr>
                        </m:naryPr>
                        <m:sub>
                          <m:r>
                            <m:rPr>
                              <m:brk m:alnAt="23"/>
                            </m:rPr>
                            <a:rPr lang="en-US" b="0" i="1" smtClean="0">
                              <a:latin typeface="Cambria Math" charset="0"/>
                            </a:rPr>
                            <m:t>𝑖</m:t>
                          </m:r>
                          <m:r>
                            <a:rPr lang="en-US" b="0" i="1" smtClean="0">
                              <a:latin typeface="Cambria Math" charset="0"/>
                            </a:rPr>
                            <m:t>=1</m:t>
                          </m:r>
                        </m:sub>
                        <m:sup>
                          <m:r>
                            <a:rPr lang="en-US" b="0" i="1" smtClean="0">
                              <a:latin typeface="Cambria Math" charset="0"/>
                            </a:rPr>
                            <m:t>𝑛</m:t>
                          </m:r>
                        </m:sup>
                        <m:e>
                          <m:func>
                            <m:funcPr>
                              <m:ctrlPr>
                                <a:rPr lang="en-US" b="0" i="1" smtClean="0">
                                  <a:latin typeface="Cambria Math" panose="02040503050406030204" pitchFamily="18" charset="0"/>
                                </a:rPr>
                              </m:ctrlPr>
                            </m:funcPr>
                            <m:fName>
                              <m:r>
                                <m:rPr>
                                  <m:sty m:val="p"/>
                                </m:rPr>
                                <a:rPr lang="en-US" b="0" i="0" smtClean="0">
                                  <a:latin typeface="Cambria Math" charset="0"/>
                                </a:rPr>
                                <m:t>ln</m:t>
                              </m:r>
                            </m:fName>
                            <m:e>
                              <m:d>
                                <m:dPr>
                                  <m:ctrlPr>
                                    <a:rPr lang="en-US" b="0" i="1" smtClean="0">
                                      <a:latin typeface="Cambria Math" panose="02040503050406030204" pitchFamily="18" charset="0"/>
                                    </a:rPr>
                                  </m:ctrlPr>
                                </m:dPr>
                                <m:e>
                                  <m:nary>
                                    <m:naryPr>
                                      <m:ctrlPr>
                                        <a:rPr lang="is-IS" b="0" i="1" smtClean="0">
                                          <a:latin typeface="Cambria Math" panose="02040503050406030204" pitchFamily="18" charset="0"/>
                                        </a:rPr>
                                      </m:ctrlPr>
                                    </m:naryPr>
                                    <m:sub>
                                      <m:r>
                                        <m:rPr>
                                          <m:brk m:alnAt="23"/>
                                        </m:rPr>
                                        <a:rPr lang="en-US" b="0" i="1" smtClean="0">
                                          <a:latin typeface="Cambria Math" charset="0"/>
                                        </a:rPr>
                                        <m:t>−</m:t>
                                      </m:r>
                                      <m:r>
                                        <a:rPr lang="en-US" b="0" i="1" smtClean="0">
                                          <a:latin typeface="Cambria Math" charset="0"/>
                                        </a:rPr>
                                        <m:t>∞</m:t>
                                      </m:r>
                                    </m:sub>
                                    <m:sup>
                                      <m:r>
                                        <a:rPr lang="en-US" b="0" i="1" smtClean="0">
                                          <a:latin typeface="Cambria Math" charset="0"/>
                                        </a:rPr>
                                        <m:t>∞</m:t>
                                      </m:r>
                                    </m:sup>
                                    <m:e>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𝑢</m:t>
                                              </m:r>
                                            </m:e>
                                            <m:sub>
                                              <m:r>
                                                <a:rPr lang="en-US" b="0" i="1" smtClean="0">
                                                  <a:latin typeface="Cambria Math" charset="0"/>
                                                </a:rPr>
                                                <m:t>𝑖</m:t>
                                              </m:r>
                                            </m:sub>
                                          </m:sSub>
                                        </m:e>
                                        <m:e>
                                          <m:r>
                                            <a:rPr lang="en-US" b="0" i="1" smtClean="0">
                                              <a:latin typeface="Cambria Math" charset="0"/>
                                            </a:rPr>
                                            <m:t>𝜃</m:t>
                                          </m:r>
                                          <m:r>
                                            <a:rPr lang="en-US" b="0" i="1" smtClean="0">
                                              <a:latin typeface="Cambria Math" charset="0"/>
                                            </a:rPr>
                                            <m:t>,</m:t>
                                          </m:r>
                                          <m:r>
                                            <a:rPr lang="en-US" b="1" i="1" smtClean="0">
                                              <a:latin typeface="Cambria Math" charset="0"/>
                                            </a:rPr>
                                            <m:t>𝒂</m:t>
                                          </m:r>
                                          <m:r>
                                            <a:rPr lang="en-US" b="1" i="1" smtClean="0">
                                              <a:latin typeface="Cambria Math" charset="0"/>
                                            </a:rPr>
                                            <m:t>,</m:t>
                                          </m:r>
                                          <m:r>
                                            <a:rPr lang="en-US" b="1" i="1" smtClean="0">
                                              <a:latin typeface="Cambria Math" charset="0"/>
                                            </a:rPr>
                                            <m:t>𝒃</m:t>
                                          </m:r>
                                          <m:r>
                                            <a:rPr lang="en-US" b="1" i="1" smtClean="0">
                                              <a:latin typeface="Cambria Math" charset="0"/>
                                            </a:rPr>
                                            <m:t>,</m:t>
                                          </m:r>
                                          <m:r>
                                            <a:rPr lang="en-US" b="1" i="1" smtClean="0">
                                              <a:latin typeface="Cambria Math" charset="0"/>
                                            </a:rPr>
                                            <m:t>𝒄</m:t>
                                          </m:r>
                                        </m:e>
                                      </m:d>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𝑑</m:t>
                                      </m:r>
                                      <m:r>
                                        <a:rPr lang="en-US" b="0" i="1" smtClean="0">
                                          <a:latin typeface="Cambria Math" charset="0"/>
                                        </a:rPr>
                                        <m:t>𝜃</m:t>
                                      </m:r>
                                    </m:e>
                                  </m:nary>
                                </m:e>
                              </m:d>
                            </m:e>
                          </m:func>
                        </m:e>
                      </m:nary>
                    </m:oMath>
                  </m:oMathPara>
                </a14:m>
                <a:endParaRPr lang="en-US" dirty="0"/>
              </a:p>
              <a:p>
                <a:r>
                  <a:rPr lang="en-US" dirty="0"/>
                  <a:t>This expresses the likelihood of a particular response vector as a function of item parameters </a:t>
                </a:r>
                <a:r>
                  <a:rPr lang="en-US" dirty="0" err="1"/>
                  <a:t>a, b</a:t>
                </a:r>
                <a:r>
                  <a:rPr lang="en-US" dirty="0"/>
                  <a:t>, and c, averaged across all possible theta values.</a:t>
                </a:r>
              </a:p>
              <a:p>
                <a:r>
                  <a:rPr lang="en-US" dirty="0"/>
                  <a:t>n is the number of items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10174" b="-125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17</a:t>
            </a:fld>
            <a:endParaRPr lang="en-US"/>
          </a:p>
        </p:txBody>
      </p:sp>
    </p:spTree>
    <p:extLst>
      <p:ext uri="{BB962C8B-B14F-4D97-AF65-F5344CB8AC3E}">
        <p14:creationId xmlns:p14="http://schemas.microsoft.com/office/powerpoint/2010/main" val="91561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Approximating Integrals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Sometimes it is difficult to compute the integral in:</a:t>
                </a:r>
              </a:p>
              <a:p>
                <a:pPr marL="0" indent="0">
                  <a:buNone/>
                </a:pPr>
                <a14:m>
                  <m:oMathPara xmlns:m="http://schemas.openxmlformats.org/officeDocument/2006/math">
                    <m:oMathParaPr>
                      <m:jc m:val="centerGroup"/>
                    </m:oMathParaPr>
                    <m:oMath xmlns:m="http://schemas.openxmlformats.org/officeDocument/2006/math">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𝑢</m:t>
                              </m:r>
                            </m:e>
                            <m:sub>
                              <m:r>
                                <a:rPr lang="en-US" i="1">
                                  <a:latin typeface="Cambria Math" charset="0"/>
                                </a:rPr>
                                <m:t>𝑖𝑠</m:t>
                              </m:r>
                            </m:sub>
                          </m:sSub>
                          <m:r>
                            <a:rPr lang="en-US" i="1">
                              <a:latin typeface="Cambria Math" charset="0"/>
                            </a:rPr>
                            <m:t>=1</m:t>
                          </m:r>
                        </m:e>
                        <m:e>
                          <m:r>
                            <a:rPr lang="en-US" i="1">
                              <a:latin typeface="Cambria Math" charset="0"/>
                            </a:rPr>
                            <m:t>𝑎</m:t>
                          </m:r>
                          <m:r>
                            <a:rPr lang="en-US" i="1">
                              <a:latin typeface="Cambria Math" charset="0"/>
                            </a:rPr>
                            <m:t>,</m:t>
                          </m:r>
                          <m:r>
                            <a:rPr lang="en-US" i="1">
                              <a:latin typeface="Cambria Math" charset="0"/>
                            </a:rPr>
                            <m:t>𝑏</m:t>
                          </m:r>
                          <m:r>
                            <a:rPr lang="en-US" i="1">
                              <a:latin typeface="Cambria Math" charset="0"/>
                            </a:rPr>
                            <m:t>,</m:t>
                          </m:r>
                          <m:r>
                            <a:rPr lang="en-US" i="1">
                              <a:latin typeface="Cambria Math" charset="0"/>
                            </a:rPr>
                            <m:t>𝑐</m:t>
                          </m:r>
                        </m:e>
                      </m:d>
                      <m:r>
                        <a:rPr lang="en-US" i="1">
                          <a:latin typeface="Cambria Math" charset="0"/>
                        </a:rPr>
                        <m:t>=</m:t>
                      </m:r>
                      <m:nary>
                        <m:naryPr>
                          <m:ctrlPr>
                            <a:rPr lang="is-IS" i="1">
                              <a:latin typeface="Cambria Math" panose="02040503050406030204" pitchFamily="18" charset="0"/>
                            </a:rPr>
                          </m:ctrlPr>
                        </m:naryPr>
                        <m:sub>
                          <m:r>
                            <m:rPr>
                              <m:brk m:alnAt="23"/>
                            </m:rPr>
                            <a:rPr lang="en-US" i="1">
                              <a:latin typeface="Cambria Math" charset="0"/>
                            </a:rPr>
                            <m:t>−</m:t>
                          </m:r>
                          <m:r>
                            <a:rPr lang="en-US" i="1">
                              <a:latin typeface="Cambria Math" charset="0"/>
                            </a:rPr>
                            <m:t>∞</m:t>
                          </m:r>
                        </m:sub>
                        <m:sup>
                          <m:r>
                            <a:rPr lang="en-US" i="1">
                              <a:latin typeface="Cambria Math" charset="0"/>
                            </a:rPr>
                            <m:t>∞</m:t>
                          </m:r>
                        </m:sup>
                        <m:e>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𝑢</m:t>
                                  </m:r>
                                </m:e>
                                <m:sub>
                                  <m:r>
                                    <a:rPr lang="en-US" i="1">
                                      <a:latin typeface="Cambria Math" charset="0"/>
                                    </a:rPr>
                                    <m:t>𝑖𝑠</m:t>
                                  </m:r>
                                </m:sub>
                              </m:sSub>
                              <m:r>
                                <a:rPr lang="en-US" i="1">
                                  <a:latin typeface="Cambria Math" charset="0"/>
                                </a:rPr>
                                <m:t>=1</m:t>
                              </m:r>
                            </m:e>
                            <m:e>
                              <m:r>
                                <a:rPr lang="en-US" i="1">
                                  <a:latin typeface="Cambria Math" charset="0"/>
                                </a:rPr>
                                <m:t>𝜃</m:t>
                              </m:r>
                              <m:r>
                                <a:rPr lang="en-US" i="1">
                                  <a:latin typeface="Cambria Math" charset="0"/>
                                </a:rPr>
                                <m:t>,</m:t>
                              </m:r>
                              <m:r>
                                <a:rPr lang="en-US" i="1">
                                  <a:latin typeface="Cambria Math" charset="0"/>
                                </a:rPr>
                                <m:t>𝑎</m:t>
                              </m:r>
                              <m:r>
                                <a:rPr lang="en-US" i="1">
                                  <a:latin typeface="Cambria Math" charset="0"/>
                                </a:rPr>
                                <m:t>,</m:t>
                              </m:r>
                              <m:r>
                                <a:rPr lang="en-US" i="1">
                                  <a:latin typeface="Cambria Math" charset="0"/>
                                </a:rPr>
                                <m:t>𝑏</m:t>
                              </m:r>
                              <m:r>
                                <a:rPr lang="en-US" i="1">
                                  <a:latin typeface="Cambria Math" charset="0"/>
                                </a:rPr>
                                <m:t>,</m:t>
                              </m:r>
                              <m:r>
                                <a:rPr lang="en-US" i="1">
                                  <a:latin typeface="Cambria Math" charset="0"/>
                                </a:rPr>
                                <m:t>𝑐</m:t>
                              </m:r>
                            </m:e>
                          </m:d>
                          <m:r>
                            <a:rPr lang="en-US" i="1">
                              <a:latin typeface="Cambria Math" charset="0"/>
                            </a:rPr>
                            <m:t>𝑔</m:t>
                          </m:r>
                          <m:d>
                            <m:dPr>
                              <m:ctrlPr>
                                <a:rPr lang="en-US" i="1">
                                  <a:latin typeface="Cambria Math" panose="02040503050406030204" pitchFamily="18" charset="0"/>
                                </a:rPr>
                              </m:ctrlPr>
                            </m:dPr>
                            <m:e>
                              <m:r>
                                <a:rPr lang="en-US" i="1">
                                  <a:latin typeface="Cambria Math" charset="0"/>
                                </a:rPr>
                                <m:t>𝜃</m:t>
                              </m:r>
                            </m:e>
                          </m:d>
                          <m:r>
                            <a:rPr lang="en-US" i="1">
                              <a:latin typeface="Cambria Math" charset="0"/>
                            </a:rPr>
                            <m:t>𝑑</m:t>
                          </m:r>
                          <m:r>
                            <a:rPr lang="en-US" i="1">
                              <a:latin typeface="Cambria Math" charset="0"/>
                            </a:rPr>
                            <m:t>𝜃</m:t>
                          </m:r>
                        </m:e>
                      </m:nary>
                    </m:oMath>
                  </m:oMathPara>
                </a14:m>
                <a:endParaRPr lang="en-US" dirty="0"/>
              </a:p>
              <a:p>
                <a:r>
                  <a:rPr lang="en-US" dirty="0"/>
                  <a:t>Can use </a:t>
                </a:r>
                <a:r>
                  <a:rPr lang="en-US" b="1" dirty="0"/>
                  <a:t>quadrature</a:t>
                </a:r>
                <a:r>
                  <a:rPr lang="en-US" dirty="0"/>
                  <a:t> to approximate the integral by taking a weighted sum for a (small) finite number of </a:t>
                </a:r>
                <a14:m>
                  <m:oMath xmlns:m="http://schemas.openxmlformats.org/officeDocument/2006/math">
                    <m:r>
                      <a:rPr lang="en-US" b="0" i="1" smtClean="0">
                        <a:latin typeface="Cambria Math" charset="0"/>
                      </a:rPr>
                      <m:t>𝑄</m:t>
                    </m:r>
                  </m:oMath>
                </a14:m>
                <a:r>
                  <a:rPr lang="en-US" dirty="0"/>
                  <a:t> systematic points:</a:t>
                </a:r>
              </a:p>
              <a:p>
                <a:pPr marL="0" indent="0">
                  <a:buNone/>
                </a:pPr>
                <a14:m>
                  <m:oMathPara xmlns:m="http://schemas.openxmlformats.org/officeDocument/2006/math">
                    <m:oMathParaPr>
                      <m:jc m:val="centerGroup"/>
                    </m:oMathParaPr>
                    <m:oMath xmlns:m="http://schemas.openxmlformats.org/officeDocument/2006/math">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𝑢</m:t>
                              </m:r>
                            </m:e>
                            <m:sub>
                              <m:r>
                                <a:rPr lang="en-US" i="1">
                                  <a:latin typeface="Cambria Math" charset="0"/>
                                </a:rPr>
                                <m:t>𝑖𝑠</m:t>
                              </m:r>
                            </m:sub>
                          </m:sSub>
                          <m:r>
                            <a:rPr lang="en-US" i="1">
                              <a:latin typeface="Cambria Math" charset="0"/>
                            </a:rPr>
                            <m:t>=1</m:t>
                          </m:r>
                        </m:e>
                        <m:e>
                          <m:r>
                            <a:rPr lang="en-US" i="1">
                              <a:latin typeface="Cambria Math" charset="0"/>
                            </a:rPr>
                            <m:t>𝑎</m:t>
                          </m:r>
                          <m:r>
                            <a:rPr lang="en-US" i="1">
                              <a:latin typeface="Cambria Math" charset="0"/>
                            </a:rPr>
                            <m:t>,</m:t>
                          </m:r>
                          <m:r>
                            <a:rPr lang="en-US" i="1">
                              <a:latin typeface="Cambria Math" charset="0"/>
                            </a:rPr>
                            <m:t>𝑏</m:t>
                          </m:r>
                          <m:r>
                            <a:rPr lang="en-US" i="1">
                              <a:latin typeface="Cambria Math" charset="0"/>
                            </a:rPr>
                            <m:t>,</m:t>
                          </m:r>
                          <m:r>
                            <a:rPr lang="en-US" i="1">
                              <a:latin typeface="Cambria Math" charset="0"/>
                            </a:rPr>
                            <m:t>𝑐</m:t>
                          </m:r>
                        </m:e>
                      </m:d>
                      <m:r>
                        <a:rPr lang="en-US" b="0" i="1" smtClean="0">
                          <a:latin typeface="Cambria Math" charset="0"/>
                        </a:rPr>
                        <m:t>≈</m:t>
                      </m:r>
                      <m:nary>
                        <m:naryPr>
                          <m:chr m:val="∑"/>
                          <m:ctrlPr>
                            <a:rPr lang="is-IS" b="0" i="1" smtClean="0">
                              <a:latin typeface="Cambria Math" panose="02040503050406030204" pitchFamily="18" charset="0"/>
                            </a:rPr>
                          </m:ctrlPr>
                        </m:naryPr>
                        <m:sub>
                          <m:r>
                            <m:rPr>
                              <m:brk m:alnAt="23"/>
                            </m:rPr>
                            <a:rPr lang="en-US" b="0" i="1" smtClean="0">
                              <a:latin typeface="Cambria Math" charset="0"/>
                            </a:rPr>
                            <m:t>𝑞</m:t>
                          </m:r>
                          <m:r>
                            <a:rPr lang="en-US" b="0" i="1" smtClean="0">
                              <a:latin typeface="Cambria Math" charset="0"/>
                            </a:rPr>
                            <m:t>=1</m:t>
                          </m:r>
                        </m:sub>
                        <m:sup>
                          <m:r>
                            <a:rPr lang="en-US" b="0" i="1" smtClean="0">
                              <a:latin typeface="Cambria Math" charset="0"/>
                            </a:rPr>
                            <m:t>𝑄</m:t>
                          </m:r>
                        </m:sup>
                        <m:e>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𝑢</m:t>
                                  </m:r>
                                </m:e>
                                <m:sub>
                                  <m:r>
                                    <a:rPr lang="en-US" i="1">
                                      <a:latin typeface="Cambria Math" charset="0"/>
                                    </a:rPr>
                                    <m:t>𝑖𝑠</m:t>
                                  </m:r>
                                </m:sub>
                              </m:sSub>
                              <m:r>
                                <a:rPr lang="en-US" i="1">
                                  <a:latin typeface="Cambria Math" charset="0"/>
                                </a:rPr>
                                <m:t>=1</m:t>
                              </m:r>
                            </m:e>
                            <m:e>
                              <m:r>
                                <a:rPr lang="en-US" i="1">
                                  <a:latin typeface="Cambria Math" charset="0"/>
                                </a:rPr>
                                <m:t>𝜃</m:t>
                              </m:r>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𝑞</m:t>
                                  </m:r>
                                </m:sub>
                              </m:sSub>
                              <m:r>
                                <a:rPr lang="en-US" i="1">
                                  <a:latin typeface="Cambria Math" charset="0"/>
                                </a:rPr>
                                <m:t>,</m:t>
                              </m:r>
                              <m:r>
                                <a:rPr lang="en-US" i="1">
                                  <a:latin typeface="Cambria Math" charset="0"/>
                                </a:rPr>
                                <m:t>𝑎</m:t>
                              </m:r>
                              <m:r>
                                <a:rPr lang="en-US" i="1">
                                  <a:latin typeface="Cambria Math" charset="0"/>
                                </a:rPr>
                                <m:t>,</m:t>
                              </m:r>
                              <m:r>
                                <a:rPr lang="en-US" i="1">
                                  <a:latin typeface="Cambria Math" charset="0"/>
                                </a:rPr>
                                <m:t>𝑏</m:t>
                              </m:r>
                              <m:r>
                                <a:rPr lang="en-US" i="1">
                                  <a:latin typeface="Cambria Math" charset="0"/>
                                </a:rPr>
                                <m:t>,</m:t>
                              </m:r>
                              <m:r>
                                <a:rPr lang="en-US" i="1">
                                  <a:latin typeface="Cambria Math" charset="0"/>
                                </a:rPr>
                                <m:t>𝑐</m:t>
                              </m:r>
                            </m:e>
                          </m:d>
                          <m:sSub>
                            <m:sSubPr>
                              <m:ctrlPr>
                                <a:rPr lang="en-US" b="0" i="1" smtClean="0">
                                  <a:latin typeface="Cambria Math" panose="02040503050406030204" pitchFamily="18" charset="0"/>
                                </a:rPr>
                              </m:ctrlPr>
                            </m:sSubPr>
                            <m:e>
                              <m:r>
                                <a:rPr lang="en-US" b="0" i="1" smtClean="0">
                                  <a:latin typeface="Cambria Math" charset="0"/>
                                </a:rPr>
                                <m:t>𝑊</m:t>
                              </m:r>
                            </m:e>
                            <m:sub>
                              <m:r>
                                <a:rPr lang="en-US" b="0" i="1" smtClean="0">
                                  <a:latin typeface="Cambria Math" charset="0"/>
                                </a:rPr>
                                <m:t>𝑞</m:t>
                              </m:r>
                            </m:sub>
                          </m:sSub>
                        </m:e>
                      </m:nary>
                    </m:oMath>
                  </m:oMathPara>
                </a14:m>
                <a:endParaRPr lang="en-US" dirty="0"/>
              </a:p>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𝑊</m:t>
                        </m:r>
                      </m:e>
                      <m:sub>
                        <m:r>
                          <a:rPr lang="en-US" b="0" i="1" smtClean="0">
                            <a:latin typeface="Cambria Math" charset="0"/>
                          </a:rPr>
                          <m:t>𝑞</m:t>
                        </m:r>
                      </m:sub>
                    </m:sSub>
                  </m:oMath>
                </a14:m>
                <a:r>
                  <a:rPr lang="en-US" dirty="0"/>
                  <a:t> are the weights at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𝑞</m:t>
                        </m:r>
                      </m:sub>
                    </m:sSub>
                  </m:oMath>
                </a14:m>
                <a:r>
                  <a:rPr lang="en-US" dirty="0"/>
                  <a:t>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5" t="-33333" r="-483" b="-2397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18</a:t>
            </a:fld>
            <a:endParaRPr lang="en-US"/>
          </a:p>
        </p:txBody>
      </p:sp>
    </p:spTree>
    <p:extLst>
      <p:ext uri="{BB962C8B-B14F-4D97-AF65-F5344CB8AC3E}">
        <p14:creationId xmlns:p14="http://schemas.microsoft.com/office/powerpoint/2010/main" val="3866814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p:nvPr>
        </p:nvSpPr>
        <p:spPr/>
        <p:txBody>
          <a:bodyPr/>
          <a:lstStyle/>
          <a:p>
            <a:pPr eaLnBrk="1" hangingPunct="1"/>
            <a:r>
              <a:rPr lang="en-US" altLang="en-US" b="1">
                <a:ea typeface="ＭＳ Ｐゴシック" charset="-128"/>
              </a:rPr>
              <a:t>Gaussian Quadrature</a:t>
            </a:r>
          </a:p>
        </p:txBody>
      </p:sp>
      <p:pic>
        <p:nvPicPr>
          <p:cNvPr id="90114" name="Picture 4" descr="Quadra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55764"/>
            <a:ext cx="4651775" cy="46450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0115" name="Oval 5"/>
          <p:cNvSpPr>
            <a:spLocks noChangeArrowheads="1"/>
          </p:cNvSpPr>
          <p:nvPr/>
        </p:nvSpPr>
        <p:spPr bwMode="auto">
          <a:xfrm>
            <a:off x="4140200" y="5686426"/>
            <a:ext cx="381000" cy="304800"/>
          </a:xfrm>
          <a:prstGeom prst="ellipse">
            <a:avLst/>
          </a:prstGeom>
          <a:noFill/>
          <a:ln w="9525">
            <a:solidFill>
              <a:srgbClr val="FF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endParaRPr lang="en-US" altLang="en-US" sz="1800"/>
          </a:p>
        </p:txBody>
      </p:sp>
      <p:sp>
        <p:nvSpPr>
          <p:cNvPr id="90116" name="Line 6"/>
          <p:cNvSpPr>
            <a:spLocks noChangeShapeType="1"/>
          </p:cNvSpPr>
          <p:nvPr/>
        </p:nvSpPr>
        <p:spPr bwMode="auto">
          <a:xfrm flipH="1">
            <a:off x="4688087" y="5478464"/>
            <a:ext cx="833438" cy="384175"/>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90117" name="Text Box 7"/>
              <p:cNvSpPr txBox="1">
                <a:spLocks noChangeArrowheads="1"/>
              </p:cNvSpPr>
              <p:nvPr/>
            </p:nvSpPr>
            <p:spPr bwMode="auto">
              <a:xfrm>
                <a:off x="5602486" y="5253038"/>
                <a:ext cx="2220714" cy="539828"/>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400" dirty="0"/>
                  <a:t>Discrete Node on Latent Continuum, </a:t>
                </a:r>
                <a14:m>
                  <m:oMath xmlns:m="http://schemas.openxmlformats.org/officeDocument/2006/math">
                    <m:sSub>
                      <m:sSubPr>
                        <m:ctrlPr>
                          <a:rPr lang="en-US" altLang="en-US" sz="1400" b="0" i="1" smtClean="0">
                            <a:latin typeface="Cambria Math" panose="02040503050406030204" pitchFamily="18" charset="0"/>
                          </a:rPr>
                        </m:ctrlPr>
                      </m:sSubPr>
                      <m:e>
                        <m:r>
                          <a:rPr lang="en-US" altLang="en-US" sz="1400" b="0" i="1" smtClean="0">
                            <a:latin typeface="Cambria Math" charset="0"/>
                          </a:rPr>
                          <m:t>𝜃</m:t>
                        </m:r>
                      </m:e>
                      <m:sub>
                        <m:r>
                          <a:rPr lang="en-US" altLang="en-US" sz="1400" b="0" i="1" smtClean="0">
                            <a:latin typeface="Cambria Math" charset="0"/>
                          </a:rPr>
                          <m:t>𝑞</m:t>
                        </m:r>
                      </m:sub>
                    </m:sSub>
                  </m:oMath>
                </a14:m>
                <a:r>
                  <a:rPr lang="en-US" altLang="en-US" sz="1400" i="1" baseline="-25000" dirty="0">
                    <a:sym typeface="Symbol" charset="2"/>
                  </a:rPr>
                  <a:t>.</a:t>
                </a:r>
              </a:p>
            </p:txBody>
          </p:sp>
        </mc:Choice>
        <mc:Fallback xmlns="">
          <p:sp>
            <p:nvSpPr>
              <p:cNvPr id="90117" name="Text Box 7"/>
              <p:cNvSpPr txBox="1">
                <a:spLocks noRot="1" noChangeAspect="1" noMove="1" noResize="1" noEditPoints="1" noAdjustHandles="1" noChangeArrowheads="1" noChangeShapeType="1" noTextEdit="1"/>
              </p:cNvSpPr>
              <p:nvPr/>
            </p:nvSpPr>
            <p:spPr bwMode="auto">
              <a:xfrm>
                <a:off x="5602486" y="5253038"/>
                <a:ext cx="2220714" cy="539828"/>
              </a:xfrm>
              <a:prstGeom prst="rect">
                <a:avLst/>
              </a:prstGeom>
              <a:blipFill rotWithShape="0">
                <a:blip r:embed="rId4"/>
                <a:stretch>
                  <a:fillRect l="-824" t="-2273" b="-795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0118" name="Line 8"/>
          <p:cNvSpPr>
            <a:spLocks noChangeShapeType="1"/>
          </p:cNvSpPr>
          <p:nvPr/>
        </p:nvSpPr>
        <p:spPr bwMode="auto">
          <a:xfrm flipH="1">
            <a:off x="4268987" y="4049715"/>
            <a:ext cx="457200" cy="9906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90119" name="Text Box 9"/>
              <p:cNvSpPr txBox="1">
                <a:spLocks noChangeArrowheads="1"/>
              </p:cNvSpPr>
              <p:nvPr/>
            </p:nvSpPr>
            <p:spPr bwMode="auto">
              <a:xfrm>
                <a:off x="4649986" y="3744916"/>
                <a:ext cx="2462013" cy="539828"/>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400" dirty="0"/>
                  <a:t>Weight = Density at Discrete node </a:t>
                </a:r>
                <a14:m>
                  <m:oMath xmlns:m="http://schemas.openxmlformats.org/officeDocument/2006/math">
                    <m:r>
                      <a:rPr lang="en-US" altLang="en-US" sz="1400" b="0" i="1" smtClean="0">
                        <a:latin typeface="Cambria Math" charset="0"/>
                      </a:rPr>
                      <m:t>𝜃</m:t>
                    </m:r>
                    <m:r>
                      <a:rPr lang="en-US" altLang="en-US" sz="1400" b="0" i="1" smtClean="0">
                        <a:latin typeface="Cambria Math" charset="0"/>
                      </a:rPr>
                      <m:t>=</m:t>
                    </m:r>
                    <m:sSub>
                      <m:sSubPr>
                        <m:ctrlPr>
                          <a:rPr lang="en-US" altLang="en-US" sz="1400" b="0" i="1" smtClean="0">
                            <a:latin typeface="Cambria Math" panose="02040503050406030204" pitchFamily="18" charset="0"/>
                          </a:rPr>
                        </m:ctrlPr>
                      </m:sSubPr>
                      <m:e>
                        <m:r>
                          <a:rPr lang="en-US" altLang="en-US" sz="1400" b="0" i="1" smtClean="0">
                            <a:latin typeface="Cambria Math" charset="0"/>
                          </a:rPr>
                          <m:t>𝜃</m:t>
                        </m:r>
                      </m:e>
                      <m:sub>
                        <m:r>
                          <a:rPr lang="en-US" altLang="en-US" sz="1400" b="0" i="1" smtClean="0">
                            <a:latin typeface="Cambria Math" charset="0"/>
                          </a:rPr>
                          <m:t>𝑞</m:t>
                        </m:r>
                      </m:sub>
                    </m:sSub>
                  </m:oMath>
                </a14:m>
                <a:r>
                  <a:rPr lang="en-US" altLang="en-US" sz="1400" dirty="0"/>
                  <a:t> is </a:t>
                </a:r>
                <a14:m>
                  <m:oMath xmlns:m="http://schemas.openxmlformats.org/officeDocument/2006/math">
                    <m:sSub>
                      <m:sSubPr>
                        <m:ctrlPr>
                          <a:rPr lang="en-US" altLang="en-US" sz="1400" b="0" i="1" smtClean="0">
                            <a:latin typeface="Cambria Math" panose="02040503050406030204" pitchFamily="18" charset="0"/>
                          </a:rPr>
                        </m:ctrlPr>
                      </m:sSubPr>
                      <m:e>
                        <m:r>
                          <a:rPr lang="en-US" altLang="en-US" sz="1400" b="0" i="1" smtClean="0">
                            <a:latin typeface="Cambria Math" charset="0"/>
                          </a:rPr>
                          <m:t>𝑊</m:t>
                        </m:r>
                      </m:e>
                      <m:sub>
                        <m:r>
                          <a:rPr lang="en-US" altLang="en-US" sz="1400" b="0" i="1" smtClean="0">
                            <a:latin typeface="Cambria Math" charset="0"/>
                          </a:rPr>
                          <m:t>𝑞</m:t>
                        </m:r>
                      </m:sub>
                    </m:sSub>
                  </m:oMath>
                </a14:m>
                <a:r>
                  <a:rPr lang="en-US" altLang="en-US" sz="1400" dirty="0"/>
                  <a:t>.</a:t>
                </a:r>
              </a:p>
            </p:txBody>
          </p:sp>
        </mc:Choice>
        <mc:Fallback xmlns="">
          <p:sp>
            <p:nvSpPr>
              <p:cNvPr id="90119" name="Text Box 9"/>
              <p:cNvSpPr txBox="1">
                <a:spLocks noRot="1" noChangeAspect="1" noMove="1" noResize="1" noEditPoints="1" noAdjustHandles="1" noChangeArrowheads="1" noChangeShapeType="1" noTextEdit="1"/>
              </p:cNvSpPr>
              <p:nvPr/>
            </p:nvSpPr>
            <p:spPr bwMode="auto">
              <a:xfrm>
                <a:off x="4649986" y="3744916"/>
                <a:ext cx="2462013" cy="539828"/>
              </a:xfrm>
              <a:prstGeom prst="rect">
                <a:avLst/>
              </a:prstGeom>
              <a:blipFill rotWithShape="0">
                <a:blip r:embed="rId5"/>
                <a:stretch>
                  <a:fillRect l="-743" t="-1124" r="-1238" b="-786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0120" name="Text Box 10"/>
          <p:cNvSpPr txBox="1">
            <a:spLocks noChangeArrowheads="1"/>
          </p:cNvSpPr>
          <p:nvPr/>
        </p:nvSpPr>
        <p:spPr bwMode="auto">
          <a:xfrm>
            <a:off x="6554986" y="1647826"/>
            <a:ext cx="5090913" cy="18158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600" dirty="0"/>
              <a:t>A strategy for finding the area under a curve when the integral has no closed form solution. Instead of taking integral of this curve, we sum the areas of the rectangles.</a:t>
            </a:r>
          </a:p>
          <a:p>
            <a:pPr eaLnBrk="1" hangingPunct="1">
              <a:spcBef>
                <a:spcPct val="50000"/>
              </a:spcBef>
              <a:buFontTx/>
              <a:buNone/>
            </a:pPr>
            <a:endParaRPr lang="en-US" altLang="en-US" sz="1600" dirty="0"/>
          </a:p>
          <a:p>
            <a:pPr eaLnBrk="1" hangingPunct="1">
              <a:spcBef>
                <a:spcPct val="50000"/>
              </a:spcBef>
              <a:buFontTx/>
              <a:buNone/>
            </a:pPr>
            <a:r>
              <a:rPr lang="en-US" altLang="en-US" sz="1600" dirty="0"/>
              <a:t>More nodes yields better approximation.</a:t>
            </a:r>
          </a:p>
        </p:txBody>
      </p:sp>
      <p:sp>
        <p:nvSpPr>
          <p:cNvPr id="2" name="Slide Number Placeholder 1"/>
          <p:cNvSpPr>
            <a:spLocks noGrp="1"/>
          </p:cNvSpPr>
          <p:nvPr>
            <p:ph type="sldNum" sz="quarter" idx="12"/>
          </p:nvPr>
        </p:nvSpPr>
        <p:spPr/>
        <p:txBody>
          <a:bodyPr/>
          <a:lstStyle/>
          <a:p>
            <a:fld id="{0B97A0ED-0713-854E-AE67-C1B678B4A72A}" type="slidenum">
              <a:rPr lang="en-US" smtClean="0"/>
              <a:t>19</a:t>
            </a:fld>
            <a:endParaRPr lang="en-US"/>
          </a:p>
        </p:txBody>
      </p:sp>
    </p:spTree>
    <p:extLst>
      <p:ext uri="{BB962C8B-B14F-4D97-AF65-F5344CB8AC3E}">
        <p14:creationId xmlns:p14="http://schemas.microsoft.com/office/powerpoint/2010/main" val="130007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p:txBody>
          <a:bodyPr/>
          <a:lstStyle/>
          <a:p>
            <a:pPr eaLnBrk="1" hangingPunct="1"/>
            <a:r>
              <a:rPr lang="en-US" altLang="en-US" sz="4000">
                <a:latin typeface="Calibri" charset="0"/>
                <a:ea typeface="ＭＳ Ｐゴシック" charset="-128"/>
              </a:rPr>
              <a:t>Applying Quadrature to Marginal Likelihood Fcn</a:t>
            </a:r>
          </a:p>
        </p:txBody>
      </p:sp>
      <p:sp>
        <p:nvSpPr>
          <p:cNvPr id="92162" name="Text Box 4"/>
          <p:cNvSpPr txBox="1">
            <a:spLocks noChangeArrowheads="1"/>
          </p:cNvSpPr>
          <p:nvPr/>
        </p:nvSpPr>
        <p:spPr bwMode="auto">
          <a:xfrm>
            <a:off x="2362200" y="1828801"/>
            <a:ext cx="6858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Say we have 5 items and the response pattern {1,1,0,1,0} = </a:t>
            </a:r>
            <a:r>
              <a:rPr lang="en-US" altLang="en-US" sz="1800" b="1"/>
              <a:t>X</a:t>
            </a:r>
            <a:r>
              <a:rPr lang="en-US" altLang="en-US" sz="1800" i="1" baseline="-25000"/>
              <a:t>p</a:t>
            </a:r>
          </a:p>
        </p:txBody>
      </p:sp>
      <p:graphicFrame>
        <p:nvGraphicFramePr>
          <p:cNvPr id="92163" name="Object 2"/>
          <p:cNvGraphicFramePr>
            <a:graphicFrameLocks noChangeAspect="1"/>
          </p:cNvGraphicFramePr>
          <p:nvPr/>
        </p:nvGraphicFramePr>
        <p:xfrm>
          <a:off x="2286001" y="2590801"/>
          <a:ext cx="7694613" cy="1249363"/>
        </p:xfrm>
        <a:graphic>
          <a:graphicData uri="http://schemas.openxmlformats.org/presentationml/2006/ole">
            <mc:AlternateContent xmlns:mc="http://schemas.openxmlformats.org/markup-compatibility/2006">
              <mc:Choice xmlns:v="urn:schemas-microsoft-com:vml" Requires="v">
                <p:oleObj name="Equation" r:id="rId3" imgW="4381500" imgH="711200" progId="Equation.DSMT4">
                  <p:embed/>
                </p:oleObj>
              </mc:Choice>
              <mc:Fallback>
                <p:oleObj name="Equation" r:id="rId3" imgW="4381500" imgH="711200" progId="Equation.DSMT4">
                  <p:embed/>
                  <p:pic>
                    <p:nvPicPr>
                      <p:cNvPr id="9216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1" y="2590801"/>
                        <a:ext cx="7694613" cy="1249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2164" name="Text Box 6"/>
          <p:cNvSpPr txBox="1">
            <a:spLocks noChangeArrowheads="1"/>
          </p:cNvSpPr>
          <p:nvPr/>
        </p:nvSpPr>
        <p:spPr bwMode="auto">
          <a:xfrm>
            <a:off x="2362200" y="4038600"/>
            <a:ext cx="65532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So we can use quadrature to approximate integration over the population distribution of ability, and then compute</a:t>
            </a:r>
          </a:p>
        </p:txBody>
      </p:sp>
      <p:graphicFrame>
        <p:nvGraphicFramePr>
          <p:cNvPr id="92165" name="Object 3"/>
          <p:cNvGraphicFramePr>
            <a:graphicFrameLocks noChangeAspect="1"/>
          </p:cNvGraphicFramePr>
          <p:nvPr/>
        </p:nvGraphicFramePr>
        <p:xfrm>
          <a:off x="2286000" y="4800601"/>
          <a:ext cx="4114800" cy="1323975"/>
        </p:xfrm>
        <a:graphic>
          <a:graphicData uri="http://schemas.openxmlformats.org/presentationml/2006/ole">
            <mc:AlternateContent xmlns:mc="http://schemas.openxmlformats.org/markup-compatibility/2006">
              <mc:Choice xmlns:v="urn:schemas-microsoft-com:vml" Requires="v">
                <p:oleObj name="Equation" r:id="rId5" imgW="1815312" imgH="583947" progId="Equation.DSMT4">
                  <p:embed/>
                </p:oleObj>
              </mc:Choice>
              <mc:Fallback>
                <p:oleObj name="Equation" r:id="rId5" imgW="1815312" imgH="583947" progId="Equation.DSMT4">
                  <p:embed/>
                  <p:pic>
                    <p:nvPicPr>
                      <p:cNvPr id="9216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4800601"/>
                        <a:ext cx="4114800" cy="1323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2166" name="Text Box 8"/>
          <p:cNvSpPr txBox="1">
            <a:spLocks noChangeArrowheads="1"/>
          </p:cNvSpPr>
          <p:nvPr/>
        </p:nvSpPr>
        <p:spPr bwMode="auto">
          <a:xfrm>
            <a:off x="6019800" y="4876801"/>
            <a:ext cx="3352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Likelihood Function</a:t>
            </a:r>
          </a:p>
        </p:txBody>
      </p:sp>
      <p:sp>
        <p:nvSpPr>
          <p:cNvPr id="92167" name="Text Box 9"/>
          <p:cNvSpPr txBox="1">
            <a:spLocks noChangeArrowheads="1"/>
          </p:cNvSpPr>
          <p:nvPr/>
        </p:nvSpPr>
        <p:spPr bwMode="auto">
          <a:xfrm>
            <a:off x="6477000" y="5562601"/>
            <a:ext cx="3352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Log Likelihood Function</a:t>
            </a:r>
          </a:p>
        </p:txBody>
      </p:sp>
      <p:sp>
        <p:nvSpPr>
          <p:cNvPr id="92168" name="Text Box 10"/>
          <p:cNvSpPr txBox="1">
            <a:spLocks noChangeArrowheads="1"/>
          </p:cNvSpPr>
          <p:nvPr/>
        </p:nvSpPr>
        <p:spPr bwMode="auto">
          <a:xfrm>
            <a:off x="2209800" y="6096000"/>
            <a:ext cx="71628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Where </a:t>
            </a:r>
            <a:r>
              <a:rPr lang="en-US" altLang="en-US" sz="1800" i="1"/>
              <a:t>N</a:t>
            </a:r>
            <a:r>
              <a:rPr lang="en-US" altLang="en-US" sz="1800" i="1" baseline="-25000"/>
              <a:t>p</a:t>
            </a:r>
            <a:r>
              <a:rPr lang="en-US" altLang="en-US" sz="1800"/>
              <a:t> represents the number of respondents with each response pattern.</a:t>
            </a:r>
          </a:p>
        </p:txBody>
      </p:sp>
      <p:sp>
        <p:nvSpPr>
          <p:cNvPr id="92169"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06DB7C59-880A-7B40-9469-F3CFAEF27AE3}" type="slidenum">
              <a:rPr lang="en-US" altLang="en-US" sz="1400"/>
              <a:pPr>
                <a:spcBef>
                  <a:spcPct val="0"/>
                </a:spcBef>
                <a:buFontTx/>
                <a:buNone/>
              </a:pPr>
              <a:t>20</a:t>
            </a:fld>
            <a:endParaRPr lang="en-US" altLang="en-US" sz="1400"/>
          </a:p>
        </p:txBody>
      </p:sp>
    </p:spTree>
    <p:extLst>
      <p:ext uri="{BB962C8B-B14F-4D97-AF65-F5344CB8AC3E}">
        <p14:creationId xmlns:p14="http://schemas.microsoft.com/office/powerpoint/2010/main" val="244648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p:txBody>
          <a:bodyPr/>
          <a:lstStyle/>
          <a:p>
            <a:pPr eaLnBrk="1" hangingPunct="1"/>
            <a:r>
              <a:rPr lang="en-US" altLang="en-US" sz="4000">
                <a:latin typeface="Calibri" charset="0"/>
                <a:ea typeface="ＭＳ Ｐゴシック" charset="-128"/>
              </a:rPr>
              <a:t>MMLE/EM Estimation Equations</a:t>
            </a:r>
          </a:p>
        </p:txBody>
      </p:sp>
      <p:sp>
        <p:nvSpPr>
          <p:cNvPr id="94210" name="Rectangle 3"/>
          <p:cNvSpPr>
            <a:spLocks noGrp="1" noChangeArrowheads="1"/>
          </p:cNvSpPr>
          <p:nvPr>
            <p:ph type="body" idx="1"/>
          </p:nvPr>
        </p:nvSpPr>
        <p:spPr/>
        <p:txBody>
          <a:bodyPr/>
          <a:lstStyle/>
          <a:p>
            <a:pPr eaLnBrk="1" hangingPunct="1">
              <a:buFontTx/>
              <a:buNone/>
            </a:pPr>
            <a:r>
              <a:rPr lang="en-US" altLang="en-US">
                <a:ea typeface="ＭＳ Ｐゴシック" charset="-128"/>
              </a:rPr>
              <a:t>Ex: Estimation Equation for Item Difficulty in 1PL</a:t>
            </a:r>
          </a:p>
          <a:p>
            <a:pPr eaLnBrk="1" hangingPunct="1">
              <a:buFontTx/>
              <a:buNone/>
            </a:pPr>
            <a:endParaRPr lang="en-US" altLang="en-US">
              <a:ea typeface="ＭＳ Ｐゴシック" charset="-128"/>
            </a:endParaRPr>
          </a:p>
          <a:p>
            <a:pPr eaLnBrk="1" hangingPunct="1">
              <a:buFontTx/>
              <a:buNone/>
            </a:pPr>
            <a:endParaRPr lang="en-US" altLang="en-US">
              <a:ea typeface="ＭＳ Ｐゴシック" charset="-128"/>
            </a:endParaRPr>
          </a:p>
          <a:p>
            <a:pPr eaLnBrk="1" hangingPunct="1">
              <a:buFontTx/>
              <a:buNone/>
            </a:pPr>
            <a:endParaRPr lang="en-US" altLang="en-US">
              <a:ea typeface="ＭＳ Ｐゴシック" charset="-128"/>
            </a:endParaRPr>
          </a:p>
        </p:txBody>
      </p:sp>
      <p:graphicFrame>
        <p:nvGraphicFramePr>
          <p:cNvPr id="94211" name="Object 2"/>
          <p:cNvGraphicFramePr>
            <a:graphicFrameLocks noChangeAspect="1"/>
          </p:cNvGraphicFramePr>
          <p:nvPr/>
        </p:nvGraphicFramePr>
        <p:xfrm>
          <a:off x="5613400" y="2163764"/>
          <a:ext cx="914400" cy="198437"/>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9421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2163764"/>
                        <a:ext cx="914400" cy="198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94212" name="Object 3"/>
          <p:cNvGraphicFramePr>
            <a:graphicFrameLocks noChangeAspect="1"/>
          </p:cNvGraphicFramePr>
          <p:nvPr/>
        </p:nvGraphicFramePr>
        <p:xfrm>
          <a:off x="2225676" y="2559050"/>
          <a:ext cx="6194425" cy="2871788"/>
        </p:xfrm>
        <a:graphic>
          <a:graphicData uri="http://schemas.openxmlformats.org/presentationml/2006/ole">
            <mc:AlternateContent xmlns:mc="http://schemas.openxmlformats.org/markup-compatibility/2006">
              <mc:Choice xmlns:v="urn:schemas-microsoft-com:vml" Requires="v">
                <p:oleObj name="Equation" r:id="rId5" imgW="2413000" imgH="1117600" progId="Equation.3">
                  <p:embed/>
                </p:oleObj>
              </mc:Choice>
              <mc:Fallback>
                <p:oleObj name="Equation" r:id="rId5" imgW="2413000" imgH="1117600" progId="Equation.3">
                  <p:embed/>
                  <p:pic>
                    <p:nvPicPr>
                      <p:cNvPr id="94212"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5676" y="2559050"/>
                        <a:ext cx="6194425" cy="2871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1141" name="Line 6"/>
          <p:cNvSpPr>
            <a:spLocks noChangeShapeType="1"/>
          </p:cNvSpPr>
          <p:nvPr/>
        </p:nvSpPr>
        <p:spPr bwMode="auto">
          <a:xfrm flipV="1">
            <a:off x="4572000" y="5334000"/>
            <a:ext cx="228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1142" name="Text Box 7"/>
          <p:cNvSpPr txBox="1">
            <a:spLocks noChangeArrowheads="1"/>
          </p:cNvSpPr>
          <p:nvPr/>
        </p:nvSpPr>
        <p:spPr bwMode="auto">
          <a:xfrm>
            <a:off x="2667000" y="5835650"/>
            <a:ext cx="73914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000">
                <a:latin typeface="Calibri" charset="0"/>
              </a:rPr>
              <a:t>Term in Brackets: Posterior Probability of being at discrete node q on theta distribution given observed response pattern on test and parameters of item i.</a:t>
            </a:r>
          </a:p>
        </p:txBody>
      </p:sp>
      <p:sp>
        <p:nvSpPr>
          <p:cNvPr id="2" name="Rectangle 1"/>
          <p:cNvSpPr/>
          <p:nvPr/>
        </p:nvSpPr>
        <p:spPr>
          <a:xfrm>
            <a:off x="4191000" y="4724400"/>
            <a:ext cx="381000" cy="609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cxnSp>
        <p:nvCxnSpPr>
          <p:cNvPr id="4" name="Straight Arrow Connector 3"/>
          <p:cNvCxnSpPr/>
          <p:nvPr/>
        </p:nvCxnSpPr>
        <p:spPr>
          <a:xfrm flipH="1">
            <a:off x="4572000" y="4724400"/>
            <a:ext cx="2971800" cy="0"/>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5" name="TextBox 4"/>
          <p:cNvSpPr txBox="1">
            <a:spLocks noChangeArrowheads="1"/>
          </p:cNvSpPr>
          <p:nvPr/>
        </p:nvSpPr>
        <p:spPr bwMode="auto">
          <a:xfrm>
            <a:off x="7543799" y="4114801"/>
            <a:ext cx="3810001" cy="1477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latin typeface="Calibri" panose="020F0502020204030204" pitchFamily="34" charset="0"/>
                <a:cs typeface="Calibri" panose="020F0502020204030204" pitchFamily="34" charset="0"/>
              </a:rPr>
              <a:t>The observed response of person with pattern ”p” to item i. (Since this is for one item, there are only two possible values either a 0 or 1 response, 0 responses don’t contribute) </a:t>
            </a:r>
          </a:p>
        </p:txBody>
      </p:sp>
      <p:sp>
        <p:nvSpPr>
          <p:cNvPr id="94218"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36265FC0-1D05-EB49-B4D8-8C604CF66C13}" type="slidenum">
              <a:rPr lang="en-US" altLang="en-US" sz="1400"/>
              <a:pPr>
                <a:spcBef>
                  <a:spcPct val="0"/>
                </a:spcBef>
                <a:buFontTx/>
                <a:buNone/>
              </a:pPr>
              <a:t>21</a:t>
            </a:fld>
            <a:endParaRPr lang="en-US" altLang="en-US" sz="1400"/>
          </a:p>
        </p:txBody>
      </p:sp>
      <p:sp>
        <p:nvSpPr>
          <p:cNvPr id="3" name="TextBox 2">
            <a:extLst>
              <a:ext uri="{FF2B5EF4-FFF2-40B4-BE49-F238E27FC236}">
                <a16:creationId xmlns:a16="http://schemas.microsoft.com/office/drawing/2014/main" id="{7D28F41A-99D7-6B4D-AF68-269D74081D40}"/>
              </a:ext>
            </a:extLst>
          </p:cNvPr>
          <p:cNvSpPr txBox="1"/>
          <p:nvPr/>
        </p:nvSpPr>
        <p:spPr>
          <a:xfrm>
            <a:off x="9483047" y="1972638"/>
            <a:ext cx="2416510" cy="1846659"/>
          </a:xfrm>
          <a:prstGeom prst="rect">
            <a:avLst/>
          </a:prstGeom>
          <a:noFill/>
          <a:ln>
            <a:solidFill>
              <a:schemeClr val="accent1"/>
            </a:solidFill>
          </a:ln>
        </p:spPr>
        <p:txBody>
          <a:bodyPr wrap="square" rtlCol="0">
            <a:spAutoFit/>
          </a:bodyPr>
          <a:lstStyle/>
          <a:p>
            <a:r>
              <a:rPr lang="en-US" altLang="en-US" sz="1600" i="1"/>
              <a:t>N</a:t>
            </a:r>
            <a:r>
              <a:rPr lang="en-US" altLang="en-US" sz="1600" i="1" baseline="-25000"/>
              <a:t>p</a:t>
            </a:r>
            <a:r>
              <a:rPr lang="en-US" altLang="en-US" sz="1600"/>
              <a:t> = number of respondents with each response pattern, </a:t>
            </a:r>
          </a:p>
          <a:p>
            <a:r>
              <a:rPr lang="en-US" altLang="en-US" sz="1600" i="1"/>
              <a:t>N</a:t>
            </a:r>
            <a:r>
              <a:rPr lang="en-US" altLang="en-US" sz="1600" i="1" baseline="-25000"/>
              <a:t>q </a:t>
            </a:r>
            <a:r>
              <a:rPr lang="en-US" altLang="en-US" sz="1600"/>
              <a:t>= </a:t>
            </a:r>
            <a:r>
              <a:rPr lang="en-US" altLang="en-US" sz="1600" b="1"/>
              <a:t>expected</a:t>
            </a:r>
            <a:r>
              <a:rPr lang="en-US" altLang="en-US" sz="1600"/>
              <a:t> number at discrete location on theta distribution</a:t>
            </a:r>
          </a:p>
          <a:p>
            <a:endParaRPr lang="en-US"/>
          </a:p>
        </p:txBody>
      </p:sp>
    </p:spTree>
    <p:extLst>
      <p:ext uri="{BB962C8B-B14F-4D97-AF65-F5344CB8AC3E}">
        <p14:creationId xmlns:p14="http://schemas.microsoft.com/office/powerpoint/2010/main" val="2837805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1141"/>
                                        </p:tgtEl>
                                        <p:attrNameLst>
                                          <p:attrName>style.visibility</p:attrName>
                                        </p:attrNameLst>
                                      </p:cBhvr>
                                      <p:to>
                                        <p:strVal val="visible"/>
                                      </p:to>
                                    </p:set>
                                    <p:anim calcmode="lin" valueType="num">
                                      <p:cBhvr additive="base">
                                        <p:cTn id="21" dur="500" fill="hold"/>
                                        <p:tgtEl>
                                          <p:spTgt spid="91141"/>
                                        </p:tgtEl>
                                        <p:attrNameLst>
                                          <p:attrName>ppt_x</p:attrName>
                                        </p:attrNameLst>
                                      </p:cBhvr>
                                      <p:tavLst>
                                        <p:tav tm="0">
                                          <p:val>
                                            <p:strVal val="#ppt_x"/>
                                          </p:val>
                                        </p:tav>
                                        <p:tav tm="100000">
                                          <p:val>
                                            <p:strVal val="#ppt_x"/>
                                          </p:val>
                                        </p:tav>
                                      </p:tavLst>
                                    </p:anim>
                                    <p:anim calcmode="lin" valueType="num">
                                      <p:cBhvr additive="base">
                                        <p:cTn id="22" dur="500" fill="hold"/>
                                        <p:tgtEl>
                                          <p:spTgt spid="9114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1142"/>
                                        </p:tgtEl>
                                        <p:attrNameLst>
                                          <p:attrName>style.visibility</p:attrName>
                                        </p:attrNameLst>
                                      </p:cBhvr>
                                      <p:to>
                                        <p:strVal val="visible"/>
                                      </p:to>
                                    </p:set>
                                    <p:anim calcmode="lin" valueType="num">
                                      <p:cBhvr additive="base">
                                        <p:cTn id="25" dur="500" fill="hold"/>
                                        <p:tgtEl>
                                          <p:spTgt spid="91142"/>
                                        </p:tgtEl>
                                        <p:attrNameLst>
                                          <p:attrName>ppt_x</p:attrName>
                                        </p:attrNameLst>
                                      </p:cBhvr>
                                      <p:tavLst>
                                        <p:tav tm="0">
                                          <p:val>
                                            <p:strVal val="#ppt_x"/>
                                          </p:val>
                                        </p:tav>
                                        <p:tav tm="100000">
                                          <p:val>
                                            <p:strVal val="#ppt_x"/>
                                          </p:val>
                                        </p:tav>
                                      </p:tavLst>
                                    </p:anim>
                                    <p:anim calcmode="lin" valueType="num">
                                      <p:cBhvr additive="base">
                                        <p:cTn id="26" dur="500" fill="hold"/>
                                        <p:tgtEl>
                                          <p:spTgt spid="91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nimBg="1"/>
      <p:bldP spid="91142" grpId="0"/>
      <p:bldP spid="2"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p:txBody>
          <a:bodyPr/>
          <a:lstStyle/>
          <a:p>
            <a:pPr eaLnBrk="1" hangingPunct="1"/>
            <a:r>
              <a:rPr lang="en-US" altLang="en-US" b="1">
                <a:ea typeface="ＭＳ Ｐゴシック" charset="-128"/>
              </a:rPr>
              <a:t>Interpretation</a:t>
            </a:r>
          </a:p>
        </p:txBody>
      </p:sp>
      <p:pic>
        <p:nvPicPr>
          <p:cNvPr id="9625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752601"/>
            <a:ext cx="4419600" cy="784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6259" name="Text Box 6"/>
          <p:cNvSpPr txBox="1">
            <a:spLocks noChangeArrowheads="1"/>
          </p:cNvSpPr>
          <p:nvPr/>
        </p:nvSpPr>
        <p:spPr bwMode="auto">
          <a:xfrm>
            <a:off x="1383957" y="2971801"/>
            <a:ext cx="4102443" cy="1477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The </a:t>
            </a:r>
            <a:r>
              <a:rPr lang="en-US" altLang="en-US" sz="1800" u="sng"/>
              <a:t>expected</a:t>
            </a:r>
            <a:r>
              <a:rPr lang="en-US" altLang="en-US" sz="1800"/>
              <a:t> number of respondents in the population distribution of ability at discrete node q who respond correctly to item i (based on actual data)</a:t>
            </a:r>
          </a:p>
        </p:txBody>
      </p:sp>
      <p:sp>
        <p:nvSpPr>
          <p:cNvPr id="96260" name="Text Box 7"/>
          <p:cNvSpPr txBox="1">
            <a:spLocks noChangeArrowheads="1"/>
          </p:cNvSpPr>
          <p:nvPr/>
        </p:nvSpPr>
        <p:spPr bwMode="auto">
          <a:xfrm>
            <a:off x="6019800" y="2971801"/>
            <a:ext cx="434340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The </a:t>
            </a:r>
            <a:r>
              <a:rPr lang="en-US" altLang="en-US" sz="1800" u="sng"/>
              <a:t>expected</a:t>
            </a:r>
            <a:r>
              <a:rPr lang="en-US" altLang="en-US" sz="1800"/>
              <a:t> number of respondents in the population of ability at discrete node q on the theta distribution (based on model and prior distribution)</a:t>
            </a:r>
          </a:p>
        </p:txBody>
      </p:sp>
      <p:sp>
        <p:nvSpPr>
          <p:cNvPr id="96261" name="Line 8"/>
          <p:cNvSpPr>
            <a:spLocks noChangeShapeType="1"/>
          </p:cNvSpPr>
          <p:nvPr/>
        </p:nvSpPr>
        <p:spPr bwMode="auto">
          <a:xfrm flipV="1">
            <a:off x="4038600" y="2514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6262" name="Line 9"/>
          <p:cNvSpPr>
            <a:spLocks noChangeShapeType="1"/>
          </p:cNvSpPr>
          <p:nvPr/>
        </p:nvSpPr>
        <p:spPr bwMode="auto">
          <a:xfrm flipH="1" flipV="1">
            <a:off x="5791200" y="2438400"/>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6263" name="Text Box 10"/>
          <p:cNvSpPr txBox="1">
            <a:spLocks noChangeArrowheads="1"/>
          </p:cNvSpPr>
          <p:nvPr/>
        </p:nvSpPr>
        <p:spPr bwMode="auto">
          <a:xfrm>
            <a:off x="2286000" y="4648201"/>
            <a:ext cx="68580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000" b="1"/>
              <a:t>Compare to Analogous JML Estimation Equation</a:t>
            </a:r>
            <a:r>
              <a:rPr lang="en-US" altLang="en-US" sz="1800"/>
              <a:t> </a:t>
            </a:r>
          </a:p>
        </p:txBody>
      </p:sp>
      <p:graphicFrame>
        <p:nvGraphicFramePr>
          <p:cNvPr id="96264" name="Object 3"/>
          <p:cNvGraphicFramePr>
            <a:graphicFrameLocks noChangeAspect="1"/>
          </p:cNvGraphicFramePr>
          <p:nvPr/>
        </p:nvGraphicFramePr>
        <p:xfrm>
          <a:off x="3276601" y="5181601"/>
          <a:ext cx="3579813" cy="917575"/>
        </p:xfrm>
        <a:graphic>
          <a:graphicData uri="http://schemas.openxmlformats.org/presentationml/2006/ole">
            <mc:AlternateContent xmlns:mc="http://schemas.openxmlformats.org/markup-compatibility/2006">
              <mc:Choice xmlns:v="urn:schemas-microsoft-com:vml" Requires="v">
                <p:oleObj name="Equation" r:id="rId4" imgW="1040948" imgH="266584" progId="Equation.DSMT4">
                  <p:embed/>
                </p:oleObj>
              </mc:Choice>
              <mc:Fallback>
                <p:oleObj name="Equation" r:id="rId4" imgW="1040948" imgH="266584" progId="Equation.DSMT4">
                  <p:embed/>
                  <p:pic>
                    <p:nvPicPr>
                      <p:cNvPr id="9626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1" y="5181601"/>
                        <a:ext cx="3579813" cy="917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96265" name="Line 14"/>
          <p:cNvSpPr>
            <a:spLocks noChangeShapeType="1"/>
          </p:cNvSpPr>
          <p:nvPr/>
        </p:nvSpPr>
        <p:spPr bwMode="auto">
          <a:xfrm flipH="1" flipV="1">
            <a:off x="6934200" y="2438400"/>
            <a:ext cx="9906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6266" name="Text Box 15"/>
          <p:cNvSpPr txBox="1">
            <a:spLocks noChangeArrowheads="1"/>
          </p:cNvSpPr>
          <p:nvPr/>
        </p:nvSpPr>
        <p:spPr bwMode="auto">
          <a:xfrm>
            <a:off x="8001000" y="2057400"/>
            <a:ext cx="23622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The IRF for item </a:t>
            </a:r>
            <a:r>
              <a:rPr lang="en-US" altLang="en-US" sz="1800" i="1"/>
              <a:t>i</a:t>
            </a:r>
            <a:r>
              <a:rPr lang="en-US" altLang="en-US" sz="1800"/>
              <a:t> evaluated at point </a:t>
            </a:r>
            <a:r>
              <a:rPr lang="en-US" altLang="en-US" sz="1800" i="1"/>
              <a:t>q</a:t>
            </a:r>
          </a:p>
        </p:txBody>
      </p:sp>
      <p:sp>
        <p:nvSpPr>
          <p:cNvPr id="96267" name="TextBox 11"/>
          <p:cNvSpPr txBox="1">
            <a:spLocks noChangeArrowheads="1"/>
          </p:cNvSpPr>
          <p:nvPr/>
        </p:nvSpPr>
        <p:spPr bwMode="auto">
          <a:xfrm>
            <a:off x="3581400" y="6172201"/>
            <a:ext cx="13716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Observed Response</a:t>
            </a:r>
          </a:p>
        </p:txBody>
      </p:sp>
      <p:sp>
        <p:nvSpPr>
          <p:cNvPr id="96268" name="TextBox 12"/>
          <p:cNvSpPr txBox="1">
            <a:spLocks noChangeArrowheads="1"/>
          </p:cNvSpPr>
          <p:nvPr/>
        </p:nvSpPr>
        <p:spPr bwMode="auto">
          <a:xfrm>
            <a:off x="5334000" y="6172201"/>
            <a:ext cx="48768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1800"/>
              <a:t>Expected item response given provisional value for Theta </a:t>
            </a:r>
          </a:p>
        </p:txBody>
      </p:sp>
      <p:cxnSp>
        <p:nvCxnSpPr>
          <p:cNvPr id="15" name="Straight Arrow Connector 14"/>
          <p:cNvCxnSpPr>
            <a:cxnSpLocks noChangeShapeType="1"/>
          </p:cNvCxnSpPr>
          <p:nvPr/>
        </p:nvCxnSpPr>
        <p:spPr bwMode="auto">
          <a:xfrm rot="5400000" flipH="1" flipV="1">
            <a:off x="4381500" y="6057900"/>
            <a:ext cx="304800" cy="76200"/>
          </a:xfrm>
          <a:prstGeom prst="straightConnector1">
            <a:avLst/>
          </a:prstGeom>
          <a:noFill/>
          <a:ln w="25400">
            <a:solidFill>
              <a:schemeClr val="tx1"/>
            </a:solidFill>
            <a:round/>
            <a:headEnd/>
            <a:tailEnd type="arrow" w="med" len="med"/>
          </a:ln>
          <a:effectLst>
            <a:outerShdw blurRad="63500" dist="20000" dir="5400000" rotWithShape="0">
              <a:srgbClr val="000000">
                <a:alpha val="37999"/>
              </a:srgbClr>
            </a:outerShdw>
          </a:effectLst>
        </p:spPr>
      </p:cxnSp>
      <p:cxnSp>
        <p:nvCxnSpPr>
          <p:cNvPr id="16" name="Straight Arrow Connector 15"/>
          <p:cNvCxnSpPr>
            <a:cxnSpLocks noChangeShapeType="1"/>
          </p:cNvCxnSpPr>
          <p:nvPr/>
        </p:nvCxnSpPr>
        <p:spPr bwMode="auto">
          <a:xfrm rot="5400000" flipH="1" flipV="1">
            <a:off x="5372100" y="6057900"/>
            <a:ext cx="304800" cy="76200"/>
          </a:xfrm>
          <a:prstGeom prst="straightConnector1">
            <a:avLst/>
          </a:prstGeom>
          <a:noFill/>
          <a:ln w="25400">
            <a:solidFill>
              <a:schemeClr val="tx1"/>
            </a:solidFill>
            <a:round/>
            <a:headEnd/>
            <a:tailEnd type="arrow" w="med" len="med"/>
          </a:ln>
          <a:effectLst>
            <a:outerShdw blurRad="63500" dist="20000" dir="5400000" rotWithShape="0">
              <a:srgbClr val="000000">
                <a:alpha val="37999"/>
              </a:srgbClr>
            </a:outerShdw>
          </a:effectLst>
        </p:spPr>
      </p:cxnSp>
      <p:sp>
        <p:nvSpPr>
          <p:cNvPr id="96271"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98B1120F-6EB9-244D-BEF8-5A07B8D17151}" type="slidenum">
              <a:rPr lang="en-US" altLang="en-US" sz="1400"/>
              <a:pPr>
                <a:spcBef>
                  <a:spcPct val="0"/>
                </a:spcBef>
                <a:buFontTx/>
                <a:buNone/>
              </a:pPr>
              <a:t>22</a:t>
            </a:fld>
            <a:endParaRPr lang="en-US" altLang="en-US" sz="1400"/>
          </a:p>
        </p:txBody>
      </p:sp>
    </p:spTree>
    <p:extLst>
      <p:ext uri="{BB962C8B-B14F-4D97-AF65-F5344CB8AC3E}">
        <p14:creationId xmlns:p14="http://schemas.microsoft.com/office/powerpoint/2010/main" val="4015365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p:txBody>
          <a:bodyPr/>
          <a:lstStyle/>
          <a:p>
            <a:pPr eaLnBrk="1" hangingPunct="1"/>
            <a:r>
              <a:rPr lang="en-US" altLang="en-US" b="1">
                <a:ea typeface="ＭＳ Ｐゴシック" charset="-128"/>
              </a:rPr>
              <a:t>Posterior Probabilities?</a:t>
            </a:r>
          </a:p>
        </p:txBody>
      </p:sp>
      <p:graphicFrame>
        <p:nvGraphicFramePr>
          <p:cNvPr id="98306" name="Object 2"/>
          <p:cNvGraphicFramePr>
            <a:graphicFrameLocks noGrp="1" noChangeAspect="1"/>
          </p:cNvGraphicFramePr>
          <p:nvPr>
            <p:ph idx="1"/>
          </p:nvPr>
        </p:nvGraphicFramePr>
        <p:xfrm>
          <a:off x="4191000" y="1752601"/>
          <a:ext cx="2497138" cy="765175"/>
        </p:xfrm>
        <a:graphic>
          <a:graphicData uri="http://schemas.openxmlformats.org/presentationml/2006/ole">
            <mc:AlternateContent xmlns:mc="http://schemas.openxmlformats.org/markup-compatibility/2006">
              <mc:Choice xmlns:v="urn:schemas-microsoft-com:vml" Requires="v">
                <p:oleObj name="Equation" r:id="rId3" imgW="787400" imgH="241300" progId="Equation.DSMT4">
                  <p:embed/>
                </p:oleObj>
              </mc:Choice>
              <mc:Fallback>
                <p:oleObj name="Equation" r:id="rId3" imgW="787400" imgH="241300" progId="Equation.DSMT4">
                  <p:embed/>
                  <p:pic>
                    <p:nvPicPr>
                      <p:cNvPr id="983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752601"/>
                        <a:ext cx="2497138" cy="765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98307" name="Text Box 6"/>
          <p:cNvSpPr txBox="1">
            <a:spLocks noChangeArrowheads="1"/>
          </p:cNvSpPr>
          <p:nvPr/>
        </p:nvSpPr>
        <p:spPr bwMode="auto">
          <a:xfrm>
            <a:off x="2438400" y="2895600"/>
            <a:ext cx="6781800" cy="1938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400">
                <a:latin typeface="Calibri" charset="0"/>
              </a:rPr>
              <a:t>The MML/EM estimation equations all depend upon this term, the posterior probability of a respondent at a discrete point on the theta continuum conditional on a given response pattern and set of item parameters.</a:t>
            </a:r>
          </a:p>
        </p:txBody>
      </p:sp>
      <p:sp>
        <p:nvSpPr>
          <p:cNvPr id="98308" name="Text Box 7"/>
          <p:cNvSpPr txBox="1">
            <a:spLocks noChangeArrowheads="1"/>
          </p:cNvSpPr>
          <p:nvPr/>
        </p:nvSpPr>
        <p:spPr bwMode="auto">
          <a:xfrm>
            <a:off x="2362200" y="5181600"/>
            <a:ext cx="670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400">
                <a:latin typeface="Calibri" charset="0"/>
              </a:rPr>
              <a:t>Where does this come from?</a:t>
            </a:r>
          </a:p>
        </p:txBody>
      </p:sp>
      <p:sp>
        <p:nvSpPr>
          <p:cNvPr id="98309"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186AABC1-8391-6041-ADE6-D482BFA7A2E3}" type="slidenum">
              <a:rPr lang="en-US" altLang="en-US" sz="1400"/>
              <a:pPr>
                <a:spcBef>
                  <a:spcPct val="0"/>
                </a:spcBef>
                <a:buFontTx/>
                <a:buNone/>
              </a:pPr>
              <a:t>23</a:t>
            </a:fld>
            <a:endParaRPr lang="en-US" altLang="en-US" sz="1400"/>
          </a:p>
        </p:txBody>
      </p:sp>
    </p:spTree>
    <p:extLst>
      <p:ext uri="{BB962C8B-B14F-4D97-AF65-F5344CB8AC3E}">
        <p14:creationId xmlns:p14="http://schemas.microsoft.com/office/powerpoint/2010/main" val="1090569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4200" y="-6350"/>
            <a:ext cx="10985500" cy="1325563"/>
          </a:xfrm>
        </p:spPr>
        <p:txBody>
          <a:bodyPr>
            <a:normAutofit/>
          </a:bodyPr>
          <a:lstStyle/>
          <a:p>
            <a:r>
              <a:rPr lang="en-US" b="1" dirty="0"/>
              <a:t>Recall Thor</a:t>
            </a:r>
          </a:p>
        </p:txBody>
      </p:sp>
      <p:sp>
        <p:nvSpPr>
          <p:cNvPr id="2" name="Slide Number Placeholder 1"/>
          <p:cNvSpPr>
            <a:spLocks noGrp="1"/>
          </p:cNvSpPr>
          <p:nvPr>
            <p:ph type="sldNum" sz="quarter" idx="12"/>
          </p:nvPr>
        </p:nvSpPr>
        <p:spPr/>
        <p:txBody>
          <a:bodyPr/>
          <a:lstStyle/>
          <a:p>
            <a:fld id="{0B97A0ED-0713-854E-AE67-C1B678B4A72A}" type="slidenum">
              <a:rPr lang="en-US" smtClean="0"/>
              <a:t>24</a:t>
            </a:fld>
            <a:endParaRPr lang="en-US"/>
          </a:p>
        </p:txBody>
      </p:sp>
      <p:graphicFrame>
        <p:nvGraphicFramePr>
          <p:cNvPr id="11" name="Chart 10"/>
          <p:cNvGraphicFramePr>
            <a:graphicFrameLocks/>
          </p:cNvGraphicFramePr>
          <p:nvPr/>
        </p:nvGraphicFramePr>
        <p:xfrm>
          <a:off x="584200" y="2926556"/>
          <a:ext cx="3194050" cy="18224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p:cNvGraphicFramePr>
            <a:graphicFrameLocks/>
          </p:cNvGraphicFramePr>
          <p:nvPr/>
        </p:nvGraphicFramePr>
        <p:xfrm>
          <a:off x="4165600" y="1089819"/>
          <a:ext cx="3206750" cy="18319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p:cNvGraphicFramePr>
            <a:graphicFrameLocks/>
          </p:cNvGraphicFramePr>
          <p:nvPr/>
        </p:nvGraphicFramePr>
        <p:xfrm>
          <a:off x="4165600" y="2926556"/>
          <a:ext cx="3206750" cy="183673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p:cNvGraphicFramePr>
            <a:graphicFrameLocks/>
          </p:cNvGraphicFramePr>
          <p:nvPr/>
        </p:nvGraphicFramePr>
        <p:xfrm>
          <a:off x="4165600" y="4763294"/>
          <a:ext cx="3206750" cy="1831975"/>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p:cNvSpPr txBox="1"/>
          <p:nvPr/>
        </p:nvSpPr>
        <p:spPr>
          <a:xfrm>
            <a:off x="7861300" y="1243012"/>
            <a:ext cx="3886200" cy="5632311"/>
          </a:xfrm>
          <a:prstGeom prst="rect">
            <a:avLst/>
          </a:prstGeom>
          <a:noFill/>
        </p:spPr>
        <p:txBody>
          <a:bodyPr wrap="square" rtlCol="0">
            <a:spAutoFit/>
          </a:bodyPr>
          <a:lstStyle/>
          <a:p>
            <a:r>
              <a:rPr lang="en-US" dirty="0"/>
              <a:t>We start with a prior distribution (here, standard normal).</a:t>
            </a:r>
          </a:p>
          <a:p>
            <a:endParaRPr lang="en-US" dirty="0"/>
          </a:p>
          <a:p>
            <a:endParaRPr lang="en-US" dirty="0"/>
          </a:p>
          <a:p>
            <a:endParaRPr lang="en-US" dirty="0"/>
          </a:p>
          <a:p>
            <a:endParaRPr lang="en-US" dirty="0"/>
          </a:p>
          <a:p>
            <a:r>
              <a:rPr lang="en-US" dirty="0"/>
              <a:t>We compute the likelihood based on probability of getting first item right and second wrong, as before.</a:t>
            </a:r>
          </a:p>
          <a:p>
            <a:endParaRPr lang="en-US" dirty="0"/>
          </a:p>
          <a:p>
            <a:endParaRPr lang="en-US" dirty="0"/>
          </a:p>
          <a:p>
            <a:endParaRPr lang="en-US" dirty="0"/>
          </a:p>
          <a:p>
            <a:r>
              <a:rPr lang="en-US" dirty="0"/>
              <a:t>Now, we combine these two functions (multiply them) to get a weighted combination </a:t>
            </a:r>
            <a:r>
              <a:rPr lang="mr-IN" dirty="0"/>
              <a:t>–</a:t>
            </a:r>
            <a:r>
              <a:rPr lang="en-US" dirty="0"/>
              <a:t> the posterior distribution of theta. We now find the max of the posterior, which is close to 1 again, but now a little lower because it is brought in towards the mean 0 of the prior.</a:t>
            </a:r>
          </a:p>
        </p:txBody>
      </p:sp>
    </p:spTree>
    <p:extLst>
      <p:ext uri="{BB962C8B-B14F-4D97-AF65-F5344CB8AC3E}">
        <p14:creationId xmlns:p14="http://schemas.microsoft.com/office/powerpoint/2010/main" val="1819601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p:txBody>
          <a:bodyPr/>
          <a:lstStyle/>
          <a:p>
            <a:pPr eaLnBrk="1" hangingPunct="1"/>
            <a:r>
              <a:rPr lang="en-US" altLang="en-US" b="1">
                <a:ea typeface="ＭＳ Ｐゴシック" charset="-128"/>
              </a:rPr>
              <a:t>Bayes Theorem</a:t>
            </a:r>
          </a:p>
        </p:txBody>
      </p:sp>
      <p:sp>
        <p:nvSpPr>
          <p:cNvPr id="102402" name="Rectangle 3"/>
          <p:cNvSpPr>
            <a:spLocks noGrp="1" noChangeArrowheads="1"/>
          </p:cNvSpPr>
          <p:nvPr>
            <p:ph type="body" idx="1"/>
          </p:nvPr>
        </p:nvSpPr>
        <p:spPr/>
        <p:txBody>
          <a:bodyPr/>
          <a:lstStyle/>
          <a:p>
            <a:pPr algn="ctr" eaLnBrk="1" hangingPunct="1">
              <a:buFontTx/>
              <a:buNone/>
            </a:pPr>
            <a:r>
              <a:rPr lang="en-US" altLang="en-US">
                <a:ea typeface="ＭＳ Ｐゴシック" charset="-128"/>
              </a:rPr>
              <a:t>P(A|B) = P(B|A)*P(A) / P(B) </a:t>
            </a:r>
          </a:p>
          <a:p>
            <a:pPr eaLnBrk="1" hangingPunct="1">
              <a:buFontTx/>
              <a:buNone/>
            </a:pPr>
            <a:endParaRPr lang="en-US" altLang="en-US" sz="2400">
              <a:ea typeface="ＭＳ Ｐゴシック" charset="-128"/>
            </a:endParaRPr>
          </a:p>
          <a:p>
            <a:pPr eaLnBrk="1" hangingPunct="1">
              <a:buFontTx/>
              <a:buNone/>
            </a:pPr>
            <a:r>
              <a:rPr lang="en-US" altLang="en-US" sz="2400">
                <a:ea typeface="ＭＳ Ｐゴシック" charset="-128"/>
              </a:rPr>
              <a:t>Say A = data likelihood and B = theta. Then,</a:t>
            </a:r>
            <a:r>
              <a:rPr lang="en-US" altLang="en-US">
                <a:ea typeface="ＭＳ Ｐゴシック" charset="-128"/>
              </a:rPr>
              <a:t> </a:t>
            </a:r>
          </a:p>
          <a:p>
            <a:pPr eaLnBrk="1" hangingPunct="1"/>
            <a:endParaRPr lang="en-US" altLang="en-US">
              <a:ea typeface="ＭＳ Ｐゴシック" charset="-128"/>
            </a:endParaRPr>
          </a:p>
          <a:p>
            <a:pPr eaLnBrk="1" hangingPunct="1">
              <a:buFontTx/>
              <a:buNone/>
            </a:pPr>
            <a:endParaRPr lang="en-US" altLang="en-US">
              <a:ea typeface="ＭＳ Ｐゴシック" charset="-128"/>
            </a:endParaRPr>
          </a:p>
          <a:p>
            <a:pPr eaLnBrk="1" hangingPunct="1">
              <a:buFontTx/>
              <a:buNone/>
            </a:pPr>
            <a:endParaRPr lang="en-US" altLang="en-US" sz="1600">
              <a:ea typeface="ＭＳ Ｐゴシック" charset="-128"/>
            </a:endParaRPr>
          </a:p>
          <a:p>
            <a:pPr eaLnBrk="1" hangingPunct="1">
              <a:buFontTx/>
              <a:buNone/>
            </a:pPr>
            <a:r>
              <a:rPr lang="en-US" altLang="en-US" sz="2400">
                <a:ea typeface="ＭＳ Ｐゴシック" charset="-128"/>
              </a:rPr>
              <a:t>Using Bayes Thm an equivalent expression is</a:t>
            </a:r>
          </a:p>
          <a:p>
            <a:pPr eaLnBrk="1" hangingPunct="1">
              <a:buFontTx/>
              <a:buNone/>
            </a:pPr>
            <a:endParaRPr lang="en-US" altLang="en-US" sz="2400">
              <a:ea typeface="ＭＳ Ｐゴシック" charset="-128"/>
            </a:endParaRPr>
          </a:p>
        </p:txBody>
      </p:sp>
      <p:graphicFrame>
        <p:nvGraphicFramePr>
          <p:cNvPr id="102403" name="Object 2"/>
          <p:cNvGraphicFramePr>
            <a:graphicFrameLocks noChangeAspect="1"/>
          </p:cNvGraphicFramePr>
          <p:nvPr/>
        </p:nvGraphicFramePr>
        <p:xfrm>
          <a:off x="3513139" y="3352801"/>
          <a:ext cx="4173537" cy="835025"/>
        </p:xfrm>
        <a:graphic>
          <a:graphicData uri="http://schemas.openxmlformats.org/presentationml/2006/ole">
            <mc:AlternateContent xmlns:mc="http://schemas.openxmlformats.org/markup-compatibility/2006">
              <mc:Choice xmlns:v="urn:schemas-microsoft-com:vml" Requires="v">
                <p:oleObj name="Equation" r:id="rId3" imgW="2095500" imgH="419100" progId="Equation.DSMT4">
                  <p:embed/>
                </p:oleObj>
              </mc:Choice>
              <mc:Fallback>
                <p:oleObj name="Equation" r:id="rId3" imgW="2095500" imgH="419100" progId="Equation.DSMT4">
                  <p:embed/>
                  <p:pic>
                    <p:nvPicPr>
                      <p:cNvPr id="10240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139" y="3352801"/>
                        <a:ext cx="4173537" cy="835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102404" name="Object 3"/>
          <p:cNvGraphicFramePr>
            <a:graphicFrameLocks noChangeAspect="1"/>
          </p:cNvGraphicFramePr>
          <p:nvPr/>
        </p:nvGraphicFramePr>
        <p:xfrm>
          <a:off x="3865564" y="5029201"/>
          <a:ext cx="4003675" cy="841375"/>
        </p:xfrm>
        <a:graphic>
          <a:graphicData uri="http://schemas.openxmlformats.org/presentationml/2006/ole">
            <mc:AlternateContent xmlns:mc="http://schemas.openxmlformats.org/markup-compatibility/2006">
              <mc:Choice xmlns:v="urn:schemas-microsoft-com:vml" Requires="v">
                <p:oleObj name="Equation" r:id="rId5" imgW="1993900" imgH="419100" progId="Equation.DSMT4">
                  <p:embed/>
                </p:oleObj>
              </mc:Choice>
              <mc:Fallback>
                <p:oleObj name="Equation" r:id="rId5" imgW="1993900" imgH="419100" progId="Equation.DSMT4">
                  <p:embed/>
                  <p:pic>
                    <p:nvPicPr>
                      <p:cNvPr id="10240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5564" y="5029201"/>
                        <a:ext cx="4003675" cy="841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102405" name="Text Box 6"/>
          <p:cNvSpPr txBox="1">
            <a:spLocks noChangeArrowheads="1"/>
          </p:cNvSpPr>
          <p:nvPr/>
        </p:nvSpPr>
        <p:spPr bwMode="auto">
          <a:xfrm>
            <a:off x="3581400" y="6019800"/>
            <a:ext cx="14478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Posterior Distribution</a:t>
            </a:r>
          </a:p>
        </p:txBody>
      </p:sp>
      <p:sp>
        <p:nvSpPr>
          <p:cNvPr id="102406" name="Line 7"/>
          <p:cNvSpPr>
            <a:spLocks noChangeShapeType="1"/>
          </p:cNvSpPr>
          <p:nvPr/>
        </p:nvSpPr>
        <p:spPr bwMode="auto">
          <a:xfrm flipV="1">
            <a:off x="3886200" y="57150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2407" name="Rectangle 8"/>
          <p:cNvSpPr>
            <a:spLocks noChangeArrowheads="1"/>
          </p:cNvSpPr>
          <p:nvPr/>
        </p:nvSpPr>
        <p:spPr bwMode="auto">
          <a:xfrm>
            <a:off x="3810000" y="5029200"/>
            <a:ext cx="1447800" cy="6858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endParaRPr lang="en-US" altLang="en-US" sz="1800"/>
          </a:p>
        </p:txBody>
      </p:sp>
      <p:sp>
        <p:nvSpPr>
          <p:cNvPr id="102408" name="Rectangle 9"/>
          <p:cNvSpPr>
            <a:spLocks noChangeArrowheads="1"/>
          </p:cNvSpPr>
          <p:nvPr/>
        </p:nvSpPr>
        <p:spPr bwMode="auto">
          <a:xfrm>
            <a:off x="5486400" y="4953000"/>
            <a:ext cx="1447800" cy="4572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endParaRPr lang="en-US" altLang="en-US" sz="1800"/>
          </a:p>
        </p:txBody>
      </p:sp>
      <p:sp>
        <p:nvSpPr>
          <p:cNvPr id="102409" name="Line 10"/>
          <p:cNvSpPr>
            <a:spLocks noChangeShapeType="1"/>
          </p:cNvSpPr>
          <p:nvPr/>
        </p:nvSpPr>
        <p:spPr bwMode="auto">
          <a:xfrm flipV="1">
            <a:off x="5562600" y="5410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2410" name="Text Box 11"/>
          <p:cNvSpPr txBox="1">
            <a:spLocks noChangeArrowheads="1"/>
          </p:cNvSpPr>
          <p:nvPr/>
        </p:nvSpPr>
        <p:spPr bwMode="auto">
          <a:xfrm>
            <a:off x="5334000" y="6019800"/>
            <a:ext cx="20574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Data Likelihood given Theta</a:t>
            </a:r>
          </a:p>
        </p:txBody>
      </p:sp>
      <p:sp>
        <p:nvSpPr>
          <p:cNvPr id="102411" name="Rectangle 12"/>
          <p:cNvSpPr>
            <a:spLocks noChangeArrowheads="1"/>
          </p:cNvSpPr>
          <p:nvPr/>
        </p:nvSpPr>
        <p:spPr bwMode="auto">
          <a:xfrm>
            <a:off x="7010400" y="4953000"/>
            <a:ext cx="609600" cy="457200"/>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endParaRPr lang="en-US" altLang="en-US" sz="1800"/>
          </a:p>
        </p:txBody>
      </p:sp>
      <p:sp>
        <p:nvSpPr>
          <p:cNvPr id="102412" name="Line 13"/>
          <p:cNvSpPr>
            <a:spLocks noChangeShapeType="1"/>
          </p:cNvSpPr>
          <p:nvPr/>
        </p:nvSpPr>
        <p:spPr bwMode="auto">
          <a:xfrm flipH="1" flipV="1">
            <a:off x="7772400" y="5334000"/>
            <a:ext cx="609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2413" name="Text Box 15"/>
          <p:cNvSpPr txBox="1">
            <a:spLocks noChangeArrowheads="1"/>
          </p:cNvSpPr>
          <p:nvPr/>
        </p:nvSpPr>
        <p:spPr bwMode="auto">
          <a:xfrm>
            <a:off x="8382000" y="5562601"/>
            <a:ext cx="1905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Prior Distribution</a:t>
            </a:r>
          </a:p>
        </p:txBody>
      </p:sp>
      <p:sp>
        <p:nvSpPr>
          <p:cNvPr id="102414" name="Line 16"/>
          <p:cNvSpPr>
            <a:spLocks noChangeShapeType="1"/>
          </p:cNvSpPr>
          <p:nvPr/>
        </p:nvSpPr>
        <p:spPr bwMode="auto">
          <a:xfrm flipH="1" flipV="1">
            <a:off x="7162800" y="5867400"/>
            <a:ext cx="457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2415" name="Text Box 17"/>
          <p:cNvSpPr txBox="1">
            <a:spLocks noChangeArrowheads="1"/>
          </p:cNvSpPr>
          <p:nvPr/>
        </p:nvSpPr>
        <p:spPr bwMode="auto">
          <a:xfrm>
            <a:off x="7620000" y="6096001"/>
            <a:ext cx="2667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1800"/>
              <a:t>Marginal Likelihood Fcn</a:t>
            </a:r>
          </a:p>
        </p:txBody>
      </p:sp>
      <p:sp>
        <p:nvSpPr>
          <p:cNvPr id="102416"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1280C313-0A5E-7C42-843C-FC5417DF1B57}" type="slidenum">
              <a:rPr lang="en-US" altLang="en-US" sz="1400"/>
              <a:pPr>
                <a:spcBef>
                  <a:spcPct val="0"/>
                </a:spcBef>
                <a:buFontTx/>
                <a:buNone/>
              </a:pPr>
              <a:t>25</a:t>
            </a:fld>
            <a:endParaRPr lang="en-US" altLang="en-US" sz="1400"/>
          </a:p>
        </p:txBody>
      </p:sp>
    </p:spTree>
    <p:extLst>
      <p:ext uri="{BB962C8B-B14F-4D97-AF65-F5344CB8AC3E}">
        <p14:creationId xmlns:p14="http://schemas.microsoft.com/office/powerpoint/2010/main" val="125391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p:txBody>
          <a:bodyPr/>
          <a:lstStyle/>
          <a:p>
            <a:pPr eaLnBrk="1" hangingPunct="1"/>
            <a:r>
              <a:rPr lang="en-US" altLang="en-US" b="1" dirty="0">
                <a:ea typeface="ＭＳ Ｐゴシック" charset="-128"/>
              </a:rPr>
              <a:t>Posterior Distribution Function</a:t>
            </a:r>
          </a:p>
        </p:txBody>
      </p:sp>
      <p:graphicFrame>
        <p:nvGraphicFramePr>
          <p:cNvPr id="104450" name="Object 2"/>
          <p:cNvGraphicFramePr>
            <a:graphicFrameLocks noChangeAspect="1"/>
          </p:cNvGraphicFramePr>
          <p:nvPr/>
        </p:nvGraphicFramePr>
        <p:xfrm>
          <a:off x="5613400" y="2163764"/>
          <a:ext cx="914400" cy="198437"/>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1044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2163764"/>
                        <a:ext cx="914400" cy="198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104451" name="Object 3"/>
          <p:cNvGraphicFramePr>
            <a:graphicFrameLocks noChangeAspect="1"/>
          </p:cNvGraphicFramePr>
          <p:nvPr/>
        </p:nvGraphicFramePr>
        <p:xfrm>
          <a:off x="2590801" y="3429000"/>
          <a:ext cx="5707063" cy="1239838"/>
        </p:xfrm>
        <a:graphic>
          <a:graphicData uri="http://schemas.openxmlformats.org/presentationml/2006/ole">
            <mc:AlternateContent xmlns:mc="http://schemas.openxmlformats.org/markup-compatibility/2006">
              <mc:Choice xmlns:v="urn:schemas-microsoft-com:vml" Requires="v">
                <p:oleObj name="Equation" r:id="rId5" imgW="2222500" imgH="482600" progId="Equation.DSMT4">
                  <p:embed/>
                </p:oleObj>
              </mc:Choice>
              <mc:Fallback>
                <p:oleObj name="Equation" r:id="rId5" imgW="2222500" imgH="482600" progId="Equation.DSMT4">
                  <p:embed/>
                  <p:pic>
                    <p:nvPicPr>
                      <p:cNvPr id="1044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1" y="3429000"/>
                        <a:ext cx="5707063" cy="1239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104455"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11F4D237-CC09-5A47-8A02-C5777C31DF1D}" type="slidenum">
              <a:rPr lang="en-US" altLang="en-US" sz="1400"/>
              <a:pPr>
                <a:spcBef>
                  <a:spcPct val="0"/>
                </a:spcBef>
                <a:buFontTx/>
                <a:buNone/>
              </a:pPr>
              <a:t>26</a:t>
            </a:fld>
            <a:endParaRPr lang="en-US" altLang="en-US" sz="1400" dirty="0"/>
          </a:p>
        </p:txBody>
      </p:sp>
      <p:cxnSp>
        <p:nvCxnSpPr>
          <p:cNvPr id="4" name="Straight Arrow Connector 3"/>
          <p:cNvCxnSpPr/>
          <p:nvPr/>
        </p:nvCxnSpPr>
        <p:spPr>
          <a:xfrm>
            <a:off x="5029200" y="2819400"/>
            <a:ext cx="304800" cy="533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5" name="TextBox 4"/>
          <p:cNvSpPr txBox="1"/>
          <p:nvPr/>
        </p:nvSpPr>
        <p:spPr>
          <a:xfrm>
            <a:off x="3581400" y="1752600"/>
            <a:ext cx="3048000" cy="923330"/>
          </a:xfrm>
          <a:prstGeom prst="rect">
            <a:avLst/>
          </a:prstGeom>
          <a:noFill/>
        </p:spPr>
        <p:txBody>
          <a:bodyPr wrap="square" rtlCol="0">
            <a:spAutoFit/>
          </a:bodyPr>
          <a:lstStyle/>
          <a:p>
            <a:r>
              <a:rPr lang="en-US" dirty="0"/>
              <a:t>Likelihood Function </a:t>
            </a:r>
            <a:r>
              <a:rPr lang="en-US" b="1" dirty="0"/>
              <a:t>for a given person </a:t>
            </a:r>
            <a:r>
              <a:rPr lang="en-US" dirty="0"/>
              <a:t>across all items on a test (response vector)</a:t>
            </a:r>
          </a:p>
        </p:txBody>
      </p:sp>
      <p:sp>
        <p:nvSpPr>
          <p:cNvPr id="13" name="TextBox 12"/>
          <p:cNvSpPr txBox="1"/>
          <p:nvPr/>
        </p:nvSpPr>
        <p:spPr>
          <a:xfrm>
            <a:off x="6934200" y="1752600"/>
            <a:ext cx="3429000" cy="923330"/>
          </a:xfrm>
          <a:prstGeom prst="rect">
            <a:avLst/>
          </a:prstGeom>
          <a:noFill/>
        </p:spPr>
        <p:txBody>
          <a:bodyPr wrap="square" rtlCol="0">
            <a:spAutoFit/>
          </a:bodyPr>
          <a:lstStyle/>
          <a:p>
            <a:r>
              <a:rPr lang="en-US" dirty="0"/>
              <a:t>Probability density function of ability in the population of respondents (“prior distribution”)</a:t>
            </a:r>
          </a:p>
        </p:txBody>
      </p:sp>
      <p:cxnSp>
        <p:nvCxnSpPr>
          <p:cNvPr id="7" name="Straight Arrow Connector 6"/>
          <p:cNvCxnSpPr>
            <a:stCxn id="13" idx="2"/>
          </p:cNvCxnSpPr>
          <p:nvPr/>
        </p:nvCxnSpPr>
        <p:spPr>
          <a:xfrm flipH="1">
            <a:off x="7772400" y="2675930"/>
            <a:ext cx="876300" cy="67687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 name="TextBox 7"/>
          <p:cNvSpPr txBox="1"/>
          <p:nvPr/>
        </p:nvSpPr>
        <p:spPr>
          <a:xfrm>
            <a:off x="3200400" y="5181601"/>
            <a:ext cx="6705600" cy="646331"/>
          </a:xfrm>
          <a:prstGeom prst="rect">
            <a:avLst/>
          </a:prstGeom>
          <a:noFill/>
        </p:spPr>
        <p:txBody>
          <a:bodyPr wrap="square" rtlCol="0">
            <a:spAutoFit/>
          </a:bodyPr>
          <a:lstStyle/>
          <a:p>
            <a:r>
              <a:rPr lang="en-US" dirty="0"/>
              <a:t>Marginal (unconditional) probability of item response vector (averaged over population of respondents)</a:t>
            </a:r>
          </a:p>
        </p:txBody>
      </p:sp>
      <p:cxnSp>
        <p:nvCxnSpPr>
          <p:cNvPr id="11" name="Straight Arrow Connector 10"/>
          <p:cNvCxnSpPr>
            <a:stCxn id="8" idx="0"/>
          </p:cNvCxnSpPr>
          <p:nvPr/>
        </p:nvCxnSpPr>
        <p:spPr>
          <a:xfrm flipH="1" flipV="1">
            <a:off x="6400800" y="4724400"/>
            <a:ext cx="152400" cy="457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793751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p:txBody>
          <a:bodyPr>
            <a:normAutofit fontScale="90000"/>
          </a:bodyPr>
          <a:lstStyle/>
          <a:p>
            <a:pPr eaLnBrk="1" hangingPunct="1"/>
            <a:br>
              <a:rPr lang="en-US" altLang="en-US" b="1" dirty="0">
                <a:latin typeface="Calibri" charset="0"/>
                <a:ea typeface="ＭＳ Ｐゴシック" charset="-128"/>
              </a:rPr>
            </a:br>
            <a:r>
              <a:rPr lang="en-US" altLang="en-US" b="1" dirty="0">
                <a:ea typeface="ＭＳ Ｐゴシック" charset="-128"/>
              </a:rPr>
              <a:t>Quadrature Form of Posterior Distribution </a:t>
            </a:r>
            <a:br>
              <a:rPr lang="en-US" altLang="en-US" b="1" dirty="0">
                <a:latin typeface="Calibri" charset="0"/>
                <a:ea typeface="ＭＳ Ｐゴシック" charset="-128"/>
              </a:rPr>
            </a:br>
            <a:endParaRPr lang="en-US" altLang="en-US" b="1" dirty="0">
              <a:latin typeface="Calibri" charset="0"/>
              <a:ea typeface="ＭＳ Ｐゴシック" charset="-128"/>
            </a:endParaRPr>
          </a:p>
        </p:txBody>
      </p:sp>
      <p:graphicFrame>
        <p:nvGraphicFramePr>
          <p:cNvPr id="104450" name="Object 2"/>
          <p:cNvGraphicFramePr>
            <a:graphicFrameLocks noChangeAspect="1"/>
          </p:cNvGraphicFramePr>
          <p:nvPr/>
        </p:nvGraphicFramePr>
        <p:xfrm>
          <a:off x="5613400" y="2163764"/>
          <a:ext cx="914400" cy="198437"/>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1044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400" y="2163764"/>
                        <a:ext cx="914400" cy="198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graphicFrame>
        <p:nvGraphicFramePr>
          <p:cNvPr id="104452" name="Object 4"/>
          <p:cNvGraphicFramePr>
            <a:graphicFrameLocks noChangeAspect="1"/>
          </p:cNvGraphicFramePr>
          <p:nvPr/>
        </p:nvGraphicFramePr>
        <p:xfrm>
          <a:off x="2362200" y="1960564"/>
          <a:ext cx="6281738" cy="1392237"/>
        </p:xfrm>
        <a:graphic>
          <a:graphicData uri="http://schemas.openxmlformats.org/presentationml/2006/ole">
            <mc:AlternateContent xmlns:mc="http://schemas.openxmlformats.org/markup-compatibility/2006">
              <mc:Choice xmlns:v="urn:schemas-microsoft-com:vml" Requires="v">
                <p:oleObj name="Equation" r:id="rId5" imgW="2349500" imgH="520700" progId="Equation.3">
                  <p:embed/>
                </p:oleObj>
              </mc:Choice>
              <mc:Fallback>
                <p:oleObj name="Equation" r:id="rId5" imgW="2349500" imgH="520700" progId="Equation.3">
                  <p:embed/>
                  <p:pic>
                    <p:nvPicPr>
                      <p:cNvPr id="10445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1960564"/>
                        <a:ext cx="6281738" cy="139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104453" name="Text Box 8"/>
          <p:cNvSpPr txBox="1">
            <a:spLocks noChangeArrowheads="1"/>
          </p:cNvSpPr>
          <p:nvPr/>
        </p:nvSpPr>
        <p:spPr bwMode="auto">
          <a:xfrm>
            <a:off x="2286000" y="3784600"/>
            <a:ext cx="7010400" cy="10160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50000"/>
              </a:spcBef>
              <a:buFontTx/>
              <a:buNone/>
            </a:pPr>
            <a:r>
              <a:rPr lang="en-US" altLang="en-US" sz="2000" dirty="0">
                <a:latin typeface="Calibri" charset="0"/>
              </a:rPr>
              <a:t>Approximate integration using quadrature approach, condition on discrete values from quadrature nodes, and replace subject specific response </a:t>
            </a:r>
            <a:r>
              <a:rPr lang="en-US" altLang="en-US" sz="2000" b="1" dirty="0">
                <a:latin typeface="Calibri" charset="0"/>
              </a:rPr>
              <a:t>vectors</a:t>
            </a:r>
            <a:r>
              <a:rPr lang="en-US" altLang="en-US" sz="2000" dirty="0">
                <a:latin typeface="Calibri" charset="0"/>
              </a:rPr>
              <a:t> with all unique response </a:t>
            </a:r>
            <a:r>
              <a:rPr lang="en-US" altLang="en-US" sz="2000" b="1" dirty="0">
                <a:latin typeface="Calibri" charset="0"/>
              </a:rPr>
              <a:t>patterns</a:t>
            </a:r>
            <a:r>
              <a:rPr lang="en-US" altLang="en-US" sz="2000" dirty="0">
                <a:latin typeface="Calibri" charset="0"/>
              </a:rPr>
              <a:t>.</a:t>
            </a:r>
          </a:p>
        </p:txBody>
      </p:sp>
      <p:sp>
        <p:nvSpPr>
          <p:cNvPr id="104454" name="TextBox 1"/>
          <p:cNvSpPr txBox="1">
            <a:spLocks noChangeArrowheads="1"/>
          </p:cNvSpPr>
          <p:nvPr/>
        </p:nvSpPr>
        <p:spPr bwMode="auto">
          <a:xfrm>
            <a:off x="2286000" y="5105401"/>
            <a:ext cx="7315200"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eaLnBrk="1" hangingPunct="1">
              <a:spcBef>
                <a:spcPct val="0"/>
              </a:spcBef>
              <a:buFontTx/>
              <a:buNone/>
            </a:pPr>
            <a:r>
              <a:rPr lang="en-US" altLang="en-US" sz="2000" dirty="0">
                <a:latin typeface="Calibri" charset="0"/>
              </a:rPr>
              <a:t>This gets used to determine the expected number of examinees at each point along the ability distribution</a:t>
            </a:r>
            <a:r>
              <a:rPr lang="is-IS" altLang="en-US" sz="2000" dirty="0">
                <a:latin typeface="Calibri" charset="0"/>
              </a:rPr>
              <a:t>…”artificial data”</a:t>
            </a:r>
            <a:endParaRPr lang="en-US" altLang="en-US" sz="2000" dirty="0">
              <a:latin typeface="Calibri" charset="0"/>
            </a:endParaRPr>
          </a:p>
        </p:txBody>
      </p:sp>
      <p:sp>
        <p:nvSpPr>
          <p:cNvPr id="104455"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11F4D237-CC09-5A47-8A02-C5777C31DF1D}" type="slidenum">
              <a:rPr lang="en-US" altLang="en-US" sz="1400"/>
              <a:pPr>
                <a:spcBef>
                  <a:spcPct val="0"/>
                </a:spcBef>
                <a:buFontTx/>
                <a:buNone/>
              </a:pPr>
              <a:t>27</a:t>
            </a:fld>
            <a:endParaRPr lang="en-US" altLang="en-US" sz="1400"/>
          </a:p>
        </p:txBody>
      </p:sp>
    </p:spTree>
    <p:extLst>
      <p:ext uri="{BB962C8B-B14F-4D97-AF65-F5344CB8AC3E}">
        <p14:creationId xmlns:p14="http://schemas.microsoft.com/office/powerpoint/2010/main" val="489072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p:txBody>
          <a:bodyPr/>
          <a:lstStyle/>
          <a:p>
            <a:r>
              <a:rPr lang="en-US" b="1" dirty="0"/>
              <a:t>Expectation-Maximization Algorithm 1</a:t>
            </a:r>
            <a:endParaRPr lang="en-US" altLang="en-US" b="1">
              <a:latin typeface="Calibri" charset="0"/>
              <a:ea typeface="ＭＳ Ｐゴシック" charset="-128"/>
            </a:endParaRPr>
          </a:p>
        </p:txBody>
      </p:sp>
      <p:sp>
        <p:nvSpPr>
          <p:cNvPr id="106498" name="Rectangle 3"/>
          <p:cNvSpPr>
            <a:spLocks noGrp="1" noChangeArrowheads="1"/>
          </p:cNvSpPr>
          <p:nvPr>
            <p:ph type="body" idx="1"/>
          </p:nvPr>
        </p:nvSpPr>
        <p:spPr/>
        <p:txBody>
          <a:bodyPr/>
          <a:lstStyle/>
          <a:p>
            <a:pPr eaLnBrk="1" hangingPunct="1">
              <a:buFontTx/>
              <a:buNone/>
            </a:pPr>
            <a:r>
              <a:rPr lang="en-US" altLang="en-US" sz="2400">
                <a:latin typeface="Calibri" charset="0"/>
                <a:ea typeface="ＭＳ Ｐゴシック" charset="-128"/>
              </a:rPr>
              <a:t>The E Step (</a:t>
            </a:r>
            <a:r>
              <a:rPr lang="en-US" altLang="en-US" sz="2400" b="1">
                <a:latin typeface="Calibri" charset="0"/>
                <a:ea typeface="ＭＳ Ｐゴシック" charset="-128"/>
              </a:rPr>
              <a:t>for each item</a:t>
            </a:r>
            <a:r>
              <a:rPr lang="en-US" altLang="en-US" sz="2400">
                <a:latin typeface="Calibri" charset="0"/>
                <a:ea typeface="ＭＳ Ｐゴシック" charset="-128"/>
              </a:rPr>
              <a:t>)</a:t>
            </a:r>
          </a:p>
          <a:p>
            <a:pPr eaLnBrk="1" hangingPunct="1"/>
            <a:r>
              <a:rPr lang="en-US" altLang="en-US" sz="1800">
                <a:latin typeface="Calibri" charset="0"/>
                <a:ea typeface="ＭＳ Ｐゴシック" charset="-128"/>
              </a:rPr>
              <a:t>Uses Bayes Thm to compute posterior prob distribution for each quadrature node.</a:t>
            </a:r>
          </a:p>
          <a:p>
            <a:pPr eaLnBrk="1" hangingPunct="1"/>
            <a:r>
              <a:rPr lang="en-US" altLang="en-US" sz="1800">
                <a:latin typeface="Calibri" charset="0"/>
                <a:ea typeface="ＭＳ Ｐゴシック" charset="-128"/>
              </a:rPr>
              <a:t>Use posterior distribution to predict the expected number of respondents at each theta level (quadrature node/point). [Analogous to that which is predicted by model]</a:t>
            </a:r>
          </a:p>
          <a:p>
            <a:pPr eaLnBrk="1" hangingPunct="1"/>
            <a:r>
              <a:rPr lang="en-US" altLang="en-US" sz="1800">
                <a:latin typeface="Calibri" charset="0"/>
                <a:ea typeface="ＭＳ Ｐゴシック" charset="-128"/>
              </a:rPr>
              <a:t>Use posterior distribution and observed item response for each person in sample to predict the expected number of respondents at each theta level (quadrature node/point) that get the item correct. [Analogous to that which is observed in the data]</a:t>
            </a:r>
          </a:p>
          <a:p>
            <a:pPr eaLnBrk="1" hangingPunct="1">
              <a:buFontTx/>
              <a:buNone/>
            </a:pPr>
            <a:r>
              <a:rPr lang="en-US" altLang="en-US" sz="2400">
                <a:latin typeface="Calibri" charset="0"/>
                <a:ea typeface="ＭＳ Ｐゴシック" charset="-128"/>
              </a:rPr>
              <a:t>The M Step (</a:t>
            </a:r>
            <a:r>
              <a:rPr lang="en-US" altLang="en-US" sz="2400" b="1">
                <a:latin typeface="Calibri" charset="0"/>
                <a:ea typeface="ＭＳ Ｐゴシック" charset="-128"/>
              </a:rPr>
              <a:t>for each item</a:t>
            </a:r>
            <a:r>
              <a:rPr lang="en-US" altLang="en-US" sz="2400">
                <a:latin typeface="Calibri" charset="0"/>
                <a:ea typeface="ＭＳ Ｐゴシック" charset="-128"/>
              </a:rPr>
              <a:t>)</a:t>
            </a:r>
          </a:p>
          <a:p>
            <a:pPr eaLnBrk="1" hangingPunct="1"/>
            <a:r>
              <a:rPr lang="en-US" altLang="en-US" sz="2000">
                <a:latin typeface="Calibri" charset="0"/>
                <a:ea typeface="ＭＳ Ｐゴシック" charset="-128"/>
              </a:rPr>
              <a:t>Now solve the estimation equations for each item parameter combination.</a:t>
            </a:r>
          </a:p>
          <a:p>
            <a:pPr eaLnBrk="1" hangingPunct="1"/>
            <a:r>
              <a:rPr lang="en-US" altLang="en-US" sz="2000">
                <a:latin typeface="Calibri" charset="0"/>
                <a:ea typeface="ＭＳ Ｐゴシック" charset="-128"/>
              </a:rPr>
              <a:t>Use Newton-Raphson algorithm.</a:t>
            </a:r>
          </a:p>
          <a:p>
            <a:pPr eaLnBrk="1" hangingPunct="1">
              <a:buFontTx/>
              <a:buNone/>
            </a:pPr>
            <a:endParaRPr lang="en-US" altLang="en-US" sz="2400">
              <a:ea typeface="ＭＳ Ｐゴシック" charset="-128"/>
            </a:endParaRPr>
          </a:p>
          <a:p>
            <a:pPr eaLnBrk="1" hangingPunct="1"/>
            <a:endParaRPr lang="en-US" altLang="en-US" sz="2400">
              <a:ea typeface="ＭＳ Ｐゴシック" charset="-128"/>
            </a:endParaRPr>
          </a:p>
        </p:txBody>
      </p:sp>
      <p:sp>
        <p:nvSpPr>
          <p:cNvPr id="106500" name="Slide Number Placeholder 1"/>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20000"/>
              </a:spcBef>
              <a:buChar char="•"/>
              <a:defRPr sz="3200">
                <a:solidFill>
                  <a:schemeClr val="tx1"/>
                </a:solidFill>
                <a:latin typeface="Arial" charset="0"/>
                <a:ea typeface="ＭＳ Ｐゴシック" charset="-128"/>
              </a:defRPr>
            </a:lvl1pPr>
            <a:lvl2pPr marL="742950" indent="-285750">
              <a:spcBef>
                <a:spcPct val="20000"/>
              </a:spcBef>
              <a:buChar char="–"/>
              <a:defRPr sz="2800">
                <a:solidFill>
                  <a:schemeClr val="tx1"/>
                </a:solidFill>
                <a:latin typeface="Arial" charset="0"/>
                <a:ea typeface="ＭＳ Ｐゴシック" charset="-128"/>
              </a:defRPr>
            </a:lvl2pPr>
            <a:lvl3pPr marL="1143000" indent="-228600">
              <a:spcBef>
                <a:spcPct val="20000"/>
              </a:spcBef>
              <a:buChar char="•"/>
              <a:defRPr sz="2400">
                <a:solidFill>
                  <a:schemeClr val="tx1"/>
                </a:solidFill>
                <a:latin typeface="Arial" charset="0"/>
                <a:ea typeface="ＭＳ Ｐゴシック" charset="-128"/>
              </a:defRPr>
            </a:lvl3pPr>
            <a:lvl4pPr marL="1600200" indent="-228600">
              <a:spcBef>
                <a:spcPct val="20000"/>
              </a:spcBef>
              <a:buChar char="–"/>
              <a:defRPr sz="2000">
                <a:solidFill>
                  <a:schemeClr val="tx1"/>
                </a:solidFill>
                <a:latin typeface="Arial" charset="0"/>
                <a:ea typeface="ＭＳ Ｐゴシック" charset="-128"/>
              </a:defRPr>
            </a:lvl4pPr>
            <a:lvl5pPr marL="2057400" indent="-228600">
              <a:spcBef>
                <a:spcPct val="20000"/>
              </a:spcBef>
              <a:buChar char="»"/>
              <a:defRPr sz="20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Arial" charset="0"/>
                <a:ea typeface="ＭＳ Ｐゴシック" charset="-128"/>
              </a:defRPr>
            </a:lvl9pPr>
          </a:lstStyle>
          <a:p>
            <a:pPr>
              <a:spcBef>
                <a:spcPct val="0"/>
              </a:spcBef>
              <a:buFontTx/>
              <a:buNone/>
            </a:pPr>
            <a:fld id="{DF10E4D4-8869-254E-96F0-841086834570}" type="slidenum">
              <a:rPr lang="en-US" altLang="en-US" sz="1400"/>
              <a:pPr>
                <a:spcBef>
                  <a:spcPct val="0"/>
                </a:spcBef>
                <a:buFontTx/>
                <a:buNone/>
              </a:pPr>
              <a:t>28</a:t>
            </a:fld>
            <a:endParaRPr lang="en-US" altLang="en-US" sz="1400"/>
          </a:p>
        </p:txBody>
      </p:sp>
    </p:spTree>
    <p:extLst>
      <p:ext uri="{BB962C8B-B14F-4D97-AF65-F5344CB8AC3E}">
        <p14:creationId xmlns:p14="http://schemas.microsoft.com/office/powerpoint/2010/main" val="1384133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Expectation-Maximization Algorithm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Pick initial parameter estimates and define </a:t>
                </a:r>
                <a14:m>
                  <m:oMath xmlns:m="http://schemas.openxmlformats.org/officeDocument/2006/math">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r>
                  <a:rPr lang="en-US" dirty="0"/>
                  <a:t>The Expectation (E) step:</a:t>
                </a:r>
              </a:p>
              <a:p>
                <a:pPr lvl="1"/>
                <a:r>
                  <a:rPr lang="en-US" dirty="0"/>
                  <a:t>Using the item parameters at step </a:t>
                </a:r>
                <a14:m>
                  <m:oMath xmlns:m="http://schemas.openxmlformats.org/officeDocument/2006/math">
                    <m:r>
                      <a:rPr lang="en-US" b="0" i="1" smtClean="0">
                        <a:latin typeface="Cambria Math" charset="0"/>
                      </a:rPr>
                      <m:t>𝑡</m:t>
                    </m:r>
                  </m:oMath>
                </a14:m>
                <a:r>
                  <a:rPr lang="en-US" dirty="0"/>
                  <a:t>, prior theta distribution, and observed data, calculated the expected number of people at 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𝑞</m:t>
                        </m:r>
                      </m:sub>
                    </m:sSub>
                  </m:oMath>
                </a14:m>
                <a:r>
                  <a:rPr lang="en-US" dirty="0"/>
                  <a:t> node and expected number of correct responses.</a:t>
                </a:r>
              </a:p>
              <a:p>
                <a:pPr lvl="1"/>
                <a:r>
                  <a:rPr lang="en-US" dirty="0"/>
                  <a:t>Pretend these expected frequencies are the actual observed frequencies.</a:t>
                </a:r>
              </a:p>
              <a:p>
                <a:r>
                  <a:rPr lang="en-US" dirty="0"/>
                  <a:t>The Maximization (M) step:</a:t>
                </a:r>
              </a:p>
              <a:p>
                <a:pPr lvl="1"/>
                <a:r>
                  <a:rPr lang="en-US" dirty="0"/>
                  <a:t>Using the “data” from the E-step, solve for new item parameters using marginal likelihood equations. Call these estimates at step </a:t>
                </a:r>
                <a14:m>
                  <m:oMath xmlns:m="http://schemas.openxmlformats.org/officeDocument/2006/math">
                    <m:r>
                      <a:rPr lang="en-US" b="0" i="1" smtClean="0">
                        <a:latin typeface="Cambria Math" charset="0"/>
                      </a:rPr>
                      <m:t>𝑡</m:t>
                    </m:r>
                    <m:r>
                      <a:rPr lang="en-US" b="0" i="1" smtClean="0">
                        <a:latin typeface="Cambria Math" charset="0"/>
                      </a:rPr>
                      <m:t>+1</m:t>
                    </m:r>
                  </m:oMath>
                </a14:m>
                <a:r>
                  <a:rPr lang="en-US" dirty="0"/>
                  <a:t>.</a:t>
                </a:r>
              </a:p>
              <a:p>
                <a:pPr lvl="1"/>
                <a:r>
                  <a:rPr lang="en-US" dirty="0"/>
                  <a:t>Compute marginal likelihood.</a:t>
                </a:r>
              </a:p>
              <a:p>
                <a:r>
                  <a:rPr lang="en-US" dirty="0"/>
                  <a:t>If the overall likelihood doesn’t change (much) from </a:t>
                </a:r>
                <a14:m>
                  <m:oMath xmlns:m="http://schemas.openxmlformats.org/officeDocument/2006/math">
                    <m:r>
                      <a:rPr lang="en-US" b="0" i="1" smtClean="0">
                        <a:latin typeface="Cambria Math" charset="0"/>
                      </a:rPr>
                      <m:t>𝑡</m:t>
                    </m:r>
                  </m:oMath>
                </a14:m>
                <a:r>
                  <a:rPr lang="en-US" dirty="0"/>
                  <a:t> to </a:t>
                </a:r>
                <a14:m>
                  <m:oMath xmlns:m="http://schemas.openxmlformats.org/officeDocument/2006/math">
                    <m:r>
                      <a:rPr lang="en-US" b="0" i="1" smtClean="0">
                        <a:latin typeface="Cambria Math" charset="0"/>
                      </a:rPr>
                      <m:t>𝑡</m:t>
                    </m:r>
                    <m:r>
                      <a:rPr lang="en-US" b="0" i="1" smtClean="0">
                        <a:latin typeface="Cambria Math" charset="0"/>
                      </a:rPr>
                      <m:t>+1</m:t>
                    </m:r>
                  </m:oMath>
                </a14:m>
                <a:r>
                  <a:rPr lang="en-US" dirty="0"/>
                  <a:t>, stop. If it does change, then repeat the E-M process again until it doesn’t.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28" t="-2801" r="-58" b="-7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29</a:t>
            </a:fld>
            <a:endParaRPr lang="en-US"/>
          </a:p>
        </p:txBody>
      </p:sp>
    </p:spTree>
    <p:extLst>
      <p:ext uri="{BB962C8B-B14F-4D97-AF65-F5344CB8AC3E}">
        <p14:creationId xmlns:p14="http://schemas.microsoft.com/office/powerpoint/2010/main" val="40534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MMLE Notes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t>Technical decisions:</a:t>
                </a:r>
                <a:endParaRPr lang="en-US" dirty="0"/>
              </a:p>
              <a:p>
                <a:pPr lvl="1"/>
                <a:r>
                  <a:rPr lang="en-US" dirty="0"/>
                  <a:t>Distribution of </a:t>
                </a:r>
                <a14:m>
                  <m:oMath xmlns:m="http://schemas.openxmlformats.org/officeDocument/2006/math">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pPr lvl="1"/>
                <a:r>
                  <a:rPr lang="en-US" dirty="0"/>
                  <a:t>Using </a:t>
                </a:r>
                <a14:m>
                  <m:oMath xmlns:m="http://schemas.openxmlformats.org/officeDocument/2006/math">
                    <m:r>
                      <a:rPr lang="en-US" b="0" i="1" smtClean="0">
                        <a:latin typeface="Cambria Math" charset="0"/>
                      </a:rPr>
                      <m:t>𝑔</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 to set scale of parameter estimates.</a:t>
                </a:r>
              </a:p>
              <a:p>
                <a:pPr lvl="1"/>
                <a:r>
                  <a:rPr lang="en-US" dirty="0"/>
                  <a:t>Number of quadrature points used (more is better, but slower).</a:t>
                </a:r>
              </a:p>
              <a:p>
                <a:pPr lvl="1"/>
                <a:r>
                  <a:rPr lang="en-US" dirty="0"/>
                  <a:t>Will need to choose a method to estimate </a:t>
                </a:r>
                <a14:m>
                  <m:oMath xmlns:m="http://schemas.openxmlformats.org/officeDocument/2006/math">
                    <m:r>
                      <a:rPr lang="en-US" b="0" i="1" smtClean="0">
                        <a:latin typeface="Cambria Math" charset="0"/>
                      </a:rPr>
                      <m:t>𝜃</m:t>
                    </m:r>
                  </m:oMath>
                </a14:m>
                <a:r>
                  <a:rPr lang="en-US" dirty="0"/>
                  <a:t> for each person in second step.</a:t>
                </a:r>
              </a:p>
              <a:p>
                <a:pPr lvl="1"/>
                <a:r>
                  <a:rPr lang="en-US" dirty="0"/>
                  <a:t>Convergence criteria?</a:t>
                </a:r>
              </a:p>
              <a:p>
                <a:pPr lvl="1"/>
                <a:r>
                  <a:rPr lang="en-US" dirty="0"/>
                  <a:t>If use prior distributions for item parameters too, then switch to full Bayes estimation.</a:t>
                </a:r>
              </a:p>
              <a:p>
                <a:pPr lvl="1"/>
                <a:r>
                  <a:rPr lang="en-US" dirty="0"/>
                  <a:t>Harwell et al. (1988) or Baker and Kim (2004) for more details.</a:t>
                </a:r>
              </a:p>
              <a:p>
                <a:pPr lvl="1"/>
                <a:r>
                  <a:rPr lang="en-US" dirty="0"/>
                  <a:t>Need additional work to get SEs at end of 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30</a:t>
            </a:fld>
            <a:endParaRPr lang="en-US"/>
          </a:p>
        </p:txBody>
      </p:sp>
    </p:spTree>
    <p:extLst>
      <p:ext uri="{BB962C8B-B14F-4D97-AF65-F5344CB8AC3E}">
        <p14:creationId xmlns:p14="http://schemas.microsoft.com/office/powerpoint/2010/main" val="931281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MMLE Notes 2</a:t>
            </a:r>
          </a:p>
        </p:txBody>
      </p:sp>
      <p:sp>
        <p:nvSpPr>
          <p:cNvPr id="3" name="Content Placeholder 2"/>
          <p:cNvSpPr>
            <a:spLocks noGrp="1"/>
          </p:cNvSpPr>
          <p:nvPr>
            <p:ph idx="1"/>
          </p:nvPr>
        </p:nvSpPr>
        <p:spPr/>
        <p:txBody>
          <a:bodyPr/>
          <a:lstStyle/>
          <a:p>
            <a:r>
              <a:rPr lang="en-US" dirty="0"/>
              <a:t>Pros</a:t>
            </a:r>
          </a:p>
          <a:p>
            <a:pPr lvl="1"/>
            <a:r>
              <a:rPr lang="en-US" dirty="0"/>
              <a:t>Method can work for many IRT models (including MIRT).</a:t>
            </a:r>
          </a:p>
          <a:p>
            <a:pPr lvl="1"/>
            <a:r>
              <a:rPr lang="en-US" dirty="0"/>
              <a:t>Works for long and short tests; better statistical properties than JML.</a:t>
            </a:r>
          </a:p>
          <a:p>
            <a:pPr lvl="1"/>
            <a:r>
              <a:rPr lang="en-US" dirty="0"/>
              <a:t>SEs and likelihoods have better properties than JML.</a:t>
            </a:r>
          </a:p>
          <a:p>
            <a:r>
              <a:rPr lang="en-US" dirty="0"/>
              <a:t>Cons</a:t>
            </a:r>
          </a:p>
          <a:p>
            <a:pPr lvl="1"/>
            <a:r>
              <a:rPr lang="en-US" dirty="0"/>
              <a:t>Computationally more complex.</a:t>
            </a:r>
          </a:p>
          <a:p>
            <a:pPr lvl="1"/>
            <a:r>
              <a:rPr lang="en-US" dirty="0"/>
              <a:t>Can be slow to converge.</a:t>
            </a:r>
          </a:p>
          <a:p>
            <a:pPr lvl="1"/>
            <a:r>
              <a:rPr lang="en-US" dirty="0"/>
              <a:t>Theta distribution must be pre-specified (though need not be normal).</a:t>
            </a:r>
          </a:p>
          <a:p>
            <a:pPr lvl="1"/>
            <a:r>
              <a:rPr lang="en-US" dirty="0"/>
              <a:t>Need additional techniques to get standard errors.</a:t>
            </a:r>
          </a:p>
        </p:txBody>
      </p:sp>
      <p:sp>
        <p:nvSpPr>
          <p:cNvPr id="4" name="Slide Number Placeholder 3"/>
          <p:cNvSpPr>
            <a:spLocks noGrp="1"/>
          </p:cNvSpPr>
          <p:nvPr>
            <p:ph type="sldNum" sz="quarter" idx="12"/>
          </p:nvPr>
        </p:nvSpPr>
        <p:spPr/>
        <p:txBody>
          <a:bodyPr/>
          <a:lstStyle/>
          <a:p>
            <a:fld id="{0B97A0ED-0713-854E-AE67-C1B678B4A72A}" type="slidenum">
              <a:rPr lang="en-US" smtClean="0"/>
              <a:t>31</a:t>
            </a:fld>
            <a:endParaRPr lang="en-US"/>
          </a:p>
        </p:txBody>
      </p:sp>
    </p:spTree>
    <p:extLst>
      <p:ext uri="{BB962C8B-B14F-4D97-AF65-F5344CB8AC3E}">
        <p14:creationId xmlns:p14="http://schemas.microsoft.com/office/powerpoint/2010/main" val="1292711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Maximum Likelihood</a:t>
            </a:r>
          </a:p>
        </p:txBody>
      </p:sp>
      <p:sp>
        <p:nvSpPr>
          <p:cNvPr id="3" name="Content Placeholder 2"/>
          <p:cNvSpPr>
            <a:spLocks noGrp="1"/>
          </p:cNvSpPr>
          <p:nvPr>
            <p:ph idx="1"/>
          </p:nvPr>
        </p:nvSpPr>
        <p:spPr/>
        <p:txBody>
          <a:bodyPr/>
          <a:lstStyle/>
          <a:p>
            <a:r>
              <a:rPr lang="en-US" dirty="0"/>
              <a:t>Works only for </a:t>
            </a:r>
            <a:r>
              <a:rPr lang="en-US" dirty="0" err="1"/>
              <a:t>Rasch</a:t>
            </a:r>
            <a:r>
              <a:rPr lang="en-US" dirty="0"/>
              <a:t> models (in fact, it is sort of inextricable from Rasch’s derivation of his model)</a:t>
            </a:r>
          </a:p>
          <a:p>
            <a:r>
              <a:rPr lang="en-US" dirty="0"/>
              <a:t>Relies on the fact that there is a 1:1 correspondence between total score and theta score for ALL </a:t>
            </a:r>
            <a:r>
              <a:rPr lang="en-US" dirty="0" err="1"/>
              <a:t>Rasch</a:t>
            </a:r>
            <a:r>
              <a:rPr lang="en-US" dirty="0"/>
              <a:t> models.</a:t>
            </a:r>
          </a:p>
          <a:p>
            <a:r>
              <a:rPr lang="en-US" dirty="0"/>
              <a:t>See Baker and Kim (2004) for details along with my separate ppt presentation.</a:t>
            </a:r>
          </a:p>
          <a:p>
            <a:r>
              <a:rPr lang="en-US" dirty="0"/>
              <a:t>The </a:t>
            </a:r>
            <a:r>
              <a:rPr lang="en-US" dirty="0" err="1"/>
              <a:t>eRm</a:t>
            </a:r>
            <a:r>
              <a:rPr lang="en-US" dirty="0"/>
              <a:t>() package can do CMLE for </a:t>
            </a:r>
            <a:r>
              <a:rPr lang="en-US" dirty="0" err="1"/>
              <a:t>Rasch</a:t>
            </a:r>
            <a:r>
              <a:rPr lang="en-US" dirty="0"/>
              <a:t> models.</a:t>
            </a:r>
          </a:p>
        </p:txBody>
      </p:sp>
      <p:sp>
        <p:nvSpPr>
          <p:cNvPr id="4" name="Slide Number Placeholder 3"/>
          <p:cNvSpPr>
            <a:spLocks noGrp="1"/>
          </p:cNvSpPr>
          <p:nvPr>
            <p:ph type="sldNum" sz="quarter" idx="12"/>
          </p:nvPr>
        </p:nvSpPr>
        <p:spPr/>
        <p:txBody>
          <a:bodyPr/>
          <a:lstStyle/>
          <a:p>
            <a:fld id="{0B97A0ED-0713-854E-AE67-C1B678B4A72A}" type="slidenum">
              <a:rPr lang="en-US" smtClean="0"/>
              <a:t>32</a:t>
            </a:fld>
            <a:endParaRPr lang="en-US"/>
          </a:p>
        </p:txBody>
      </p:sp>
    </p:spTree>
    <p:extLst>
      <p:ext uri="{BB962C8B-B14F-4D97-AF65-F5344CB8AC3E}">
        <p14:creationId xmlns:p14="http://schemas.microsoft.com/office/powerpoint/2010/main" val="242091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Default Estimation in </a:t>
            </a:r>
            <a:r>
              <a:rPr lang="en-US" b="1" dirty="0" err="1">
                <a:latin typeface="Courier New" panose="02070309020205020404" pitchFamily="49" charset="0"/>
                <a:cs typeface="Courier New" panose="02070309020205020404" pitchFamily="49" charset="0"/>
              </a:rPr>
              <a:t>mirt</a:t>
            </a:r>
            <a:endParaRPr lang="en-US"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p:txBody>
          <a:bodyPr>
            <a:normAutofit fontScale="92500" lnSpcReduction="10000"/>
          </a:bodyPr>
          <a:lstStyle/>
          <a:p>
            <a:r>
              <a:rPr lang="en-US" sz="2400" dirty="0"/>
              <a:t>The default estimation method in </a:t>
            </a:r>
            <a:r>
              <a:rPr lang="en-US" sz="2400" dirty="0" err="1"/>
              <a:t>mirt</a:t>
            </a:r>
            <a:r>
              <a:rPr lang="en-US" sz="2400" dirty="0"/>
              <a:t> is to use MMLE via the EM algorithm.</a:t>
            </a:r>
          </a:p>
          <a:p>
            <a:r>
              <a:rPr lang="en-US" sz="2400" dirty="0"/>
              <a:t> Default is to use 61 quadrature points (for any 1-dimensional model). This could be changed using the “</a:t>
            </a:r>
            <a:r>
              <a:rPr lang="en-US" sz="2400"/>
              <a:t>quadpts” option (usually best to accept default unless specifying a multidimensional model)</a:t>
            </a:r>
            <a:endParaRPr lang="en-US" sz="2400" dirty="0"/>
          </a:p>
          <a:p>
            <a:r>
              <a:rPr lang="en-US" sz="2400" dirty="0"/>
              <a:t>The </a:t>
            </a:r>
            <a:r>
              <a:rPr lang="en-US" sz="2400"/>
              <a:t>prior distribution of theta is normal, with mean 0 and SD of 1.</a:t>
            </a:r>
          </a:p>
          <a:p>
            <a:r>
              <a:rPr lang="en-US" sz="2400"/>
              <a:t>Convergence threshold default is set at .0001 (see “TOL”) or 500 iterations (see “NCYCLE” under “technical”), whichever comes first.</a:t>
            </a:r>
          </a:p>
          <a:p>
            <a:pPr lvl="1"/>
            <a:r>
              <a:rPr lang="en-US" sz="1700" b="0" i="0">
                <a:effectLst/>
                <a:latin typeface="Calibri" panose="020F0502020204030204" pitchFamily="34" charset="0"/>
                <a:cs typeface="Calibri" panose="020F0502020204030204" pitchFamily="34" charset="0"/>
              </a:rPr>
              <a:t>Ex: mod3 &lt;- mirt(cde, 1,  itemtype=“3PL”, technical = list(NCYCLES = 2000))</a:t>
            </a:r>
            <a:endParaRPr lang="en-US" sz="1700">
              <a:latin typeface="Calibri" panose="020F0502020204030204" pitchFamily="34" charset="0"/>
              <a:cs typeface="Calibri" panose="020F0502020204030204" pitchFamily="34" charset="0"/>
            </a:endParaRPr>
          </a:p>
          <a:p>
            <a:r>
              <a:rPr lang="en-US" sz="2400" dirty="0"/>
              <a:t>Newton-Raphson (as described in ER) is not the default method for “optimization” (a different “hill-climbing” method (“</a:t>
            </a:r>
            <a:r>
              <a:rPr lang="en-US" sz="2400" dirty="0">
                <a:hlinkClick r:id="rId2"/>
              </a:rPr>
              <a:t>BFGS</a:t>
            </a:r>
            <a:r>
              <a:rPr lang="en-US" sz="2400" dirty="0"/>
              <a:t>”) that works better for surfaces that aren’t necessarily smooth is used. Doesn’t require computation of a second derivative. If you wanted to use NR, specify optimizer=“NR”</a:t>
            </a:r>
          </a:p>
          <a:p>
            <a:r>
              <a:rPr lang="en-US" sz="2400" dirty="0"/>
              <a:t>See ?</a:t>
            </a:r>
            <a:r>
              <a:rPr lang="en-US" sz="2400" dirty="0" err="1"/>
              <a:t>mirt</a:t>
            </a:r>
            <a:r>
              <a:rPr lang="en-US" sz="2400" dirty="0"/>
              <a:t> for many more details.</a:t>
            </a:r>
            <a:endParaRPr lang="en-US" dirty="0"/>
          </a:p>
        </p:txBody>
      </p:sp>
      <p:sp>
        <p:nvSpPr>
          <p:cNvPr id="4" name="Slide Number Placeholder 3"/>
          <p:cNvSpPr>
            <a:spLocks noGrp="1"/>
          </p:cNvSpPr>
          <p:nvPr>
            <p:ph type="sldNum" sz="quarter" idx="12"/>
          </p:nvPr>
        </p:nvSpPr>
        <p:spPr/>
        <p:txBody>
          <a:bodyPr/>
          <a:lstStyle/>
          <a:p>
            <a:fld id="{0B97A0ED-0713-854E-AE67-C1B678B4A72A}" type="slidenum">
              <a:rPr lang="en-US" smtClean="0"/>
              <a:t>33</a:t>
            </a:fld>
            <a:endParaRPr lang="en-US"/>
          </a:p>
        </p:txBody>
      </p:sp>
    </p:spTree>
    <p:extLst>
      <p:ext uri="{BB962C8B-B14F-4D97-AF65-F5344CB8AC3E}">
        <p14:creationId xmlns:p14="http://schemas.microsoft.com/office/powerpoint/2010/main" val="668656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5E7D-F684-1545-8C16-C8F0C6C7E2AE}"/>
              </a:ext>
            </a:extLst>
          </p:cNvPr>
          <p:cNvSpPr>
            <a:spLocks noGrp="1"/>
          </p:cNvSpPr>
          <p:nvPr>
            <p:ph type="title"/>
          </p:nvPr>
        </p:nvSpPr>
        <p:spPr/>
        <p:txBody>
          <a:bodyPr/>
          <a:lstStyle/>
          <a:p>
            <a:r>
              <a:rPr lang="en-US" b="1"/>
              <a:t>MHRM Estimation</a:t>
            </a:r>
          </a:p>
        </p:txBody>
      </p:sp>
      <p:pic>
        <p:nvPicPr>
          <p:cNvPr id="6" name="Content Placeholder 5">
            <a:extLst>
              <a:ext uri="{FF2B5EF4-FFF2-40B4-BE49-F238E27FC236}">
                <a16:creationId xmlns:a16="http://schemas.microsoft.com/office/drawing/2014/main" id="{8E16C678-1AE4-5141-9BBF-86EED2211E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9144" y="1847850"/>
            <a:ext cx="4946846" cy="4351338"/>
          </a:xfrm>
        </p:spPr>
      </p:pic>
      <p:sp>
        <p:nvSpPr>
          <p:cNvPr id="4" name="Slide Number Placeholder 3">
            <a:extLst>
              <a:ext uri="{FF2B5EF4-FFF2-40B4-BE49-F238E27FC236}">
                <a16:creationId xmlns:a16="http://schemas.microsoft.com/office/drawing/2014/main" id="{E16DF46E-1ACF-754F-940F-774A0E08FDEF}"/>
              </a:ext>
            </a:extLst>
          </p:cNvPr>
          <p:cNvSpPr>
            <a:spLocks noGrp="1"/>
          </p:cNvSpPr>
          <p:nvPr>
            <p:ph type="sldNum" sz="quarter" idx="12"/>
          </p:nvPr>
        </p:nvSpPr>
        <p:spPr/>
        <p:txBody>
          <a:bodyPr/>
          <a:lstStyle/>
          <a:p>
            <a:fld id="{0B97A0ED-0713-854E-AE67-C1B678B4A72A}" type="slidenum">
              <a:rPr lang="en-US" smtClean="0"/>
              <a:t>34</a:t>
            </a:fld>
            <a:endParaRPr lang="en-US"/>
          </a:p>
        </p:txBody>
      </p:sp>
      <p:sp>
        <p:nvSpPr>
          <p:cNvPr id="3" name="TextBox 2">
            <a:extLst>
              <a:ext uri="{FF2B5EF4-FFF2-40B4-BE49-F238E27FC236}">
                <a16:creationId xmlns:a16="http://schemas.microsoft.com/office/drawing/2014/main" id="{1126E21D-13B2-A649-971A-3373CADBFA6E}"/>
              </a:ext>
            </a:extLst>
          </p:cNvPr>
          <p:cNvSpPr txBox="1"/>
          <p:nvPr/>
        </p:nvSpPr>
        <p:spPr>
          <a:xfrm>
            <a:off x="8229600" y="2986088"/>
            <a:ext cx="2914650" cy="1200329"/>
          </a:xfrm>
          <a:prstGeom prst="rect">
            <a:avLst/>
          </a:prstGeom>
          <a:noFill/>
        </p:spPr>
        <p:txBody>
          <a:bodyPr wrap="square" rtlCol="0">
            <a:spAutoFit/>
          </a:bodyPr>
          <a:lstStyle/>
          <a:p>
            <a:r>
              <a:rPr lang="en-US"/>
              <a:t>Where this becomes especially relevant is for the estimation of complex multidimensional models.</a:t>
            </a:r>
          </a:p>
        </p:txBody>
      </p:sp>
    </p:spTree>
    <p:extLst>
      <p:ext uri="{BB962C8B-B14F-4D97-AF65-F5344CB8AC3E}">
        <p14:creationId xmlns:p14="http://schemas.microsoft.com/office/powerpoint/2010/main" val="3150464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52632-8EA2-CE44-86EA-3EA34ED9FF4F}"/>
              </a:ext>
            </a:extLst>
          </p:cNvPr>
          <p:cNvSpPr>
            <a:spLocks noGrp="1"/>
          </p:cNvSpPr>
          <p:nvPr>
            <p:ph type="title"/>
          </p:nvPr>
        </p:nvSpPr>
        <p:spPr/>
        <p:txBody>
          <a:bodyPr/>
          <a:lstStyle/>
          <a:p>
            <a:r>
              <a:rPr lang="en-US" b="1"/>
              <a:t>Estimating Item Parameter SEs</a:t>
            </a:r>
          </a:p>
        </p:txBody>
      </p:sp>
      <p:pic>
        <p:nvPicPr>
          <p:cNvPr id="6" name="Content Placeholder 5">
            <a:extLst>
              <a:ext uri="{FF2B5EF4-FFF2-40B4-BE49-F238E27FC236}">
                <a16:creationId xmlns:a16="http://schemas.microsoft.com/office/drawing/2014/main" id="{54F5D783-C04D-2F47-92AD-04859CAEB4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4671" y="2266087"/>
            <a:ext cx="6591300" cy="3848100"/>
          </a:xfrm>
        </p:spPr>
      </p:pic>
      <p:sp>
        <p:nvSpPr>
          <p:cNvPr id="4" name="Slide Number Placeholder 3">
            <a:extLst>
              <a:ext uri="{FF2B5EF4-FFF2-40B4-BE49-F238E27FC236}">
                <a16:creationId xmlns:a16="http://schemas.microsoft.com/office/drawing/2014/main" id="{8F706290-8E45-5343-B914-EA98EA0CC01F}"/>
              </a:ext>
            </a:extLst>
          </p:cNvPr>
          <p:cNvSpPr>
            <a:spLocks noGrp="1"/>
          </p:cNvSpPr>
          <p:nvPr>
            <p:ph type="sldNum" sz="quarter" idx="12"/>
          </p:nvPr>
        </p:nvSpPr>
        <p:spPr/>
        <p:txBody>
          <a:bodyPr/>
          <a:lstStyle/>
          <a:p>
            <a:fld id="{0B97A0ED-0713-854E-AE67-C1B678B4A72A}" type="slidenum">
              <a:rPr lang="en-US" smtClean="0"/>
              <a:t>35</a:t>
            </a:fld>
            <a:endParaRPr lang="en-US"/>
          </a:p>
        </p:txBody>
      </p:sp>
      <p:sp>
        <p:nvSpPr>
          <p:cNvPr id="7" name="TextBox 6">
            <a:extLst>
              <a:ext uri="{FF2B5EF4-FFF2-40B4-BE49-F238E27FC236}">
                <a16:creationId xmlns:a16="http://schemas.microsoft.com/office/drawing/2014/main" id="{308CBAAD-0C02-2741-8379-76ACB66D2422}"/>
              </a:ext>
            </a:extLst>
          </p:cNvPr>
          <p:cNvSpPr txBox="1"/>
          <p:nvPr/>
        </p:nvSpPr>
        <p:spPr>
          <a:xfrm>
            <a:off x="8610600" y="2987213"/>
            <a:ext cx="2985052" cy="1938992"/>
          </a:xfrm>
          <a:prstGeom prst="rect">
            <a:avLst/>
          </a:prstGeom>
          <a:noFill/>
        </p:spPr>
        <p:txBody>
          <a:bodyPr wrap="square" rtlCol="0">
            <a:spAutoFit/>
          </a:bodyPr>
          <a:lstStyle/>
          <a:p>
            <a:r>
              <a:rPr lang="en-US" sz="2000"/>
              <a:t>Estimation issues provide an active area of ongoing research. (Though how much this matters to practice is sometimes debateable)</a:t>
            </a:r>
          </a:p>
        </p:txBody>
      </p:sp>
    </p:spTree>
    <p:extLst>
      <p:ext uri="{BB962C8B-B14F-4D97-AF65-F5344CB8AC3E}">
        <p14:creationId xmlns:p14="http://schemas.microsoft.com/office/powerpoint/2010/main" val="4079548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B359046-2168-ED44-952F-7B596DD8F321}" vid="{82B8B6F5-78C7-3441-B43D-E1B51203F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educ8720_template</Template>
  <TotalTime>28275</TotalTime>
  <Words>2747</Words>
  <Application>Microsoft Macintosh PowerPoint</Application>
  <PresentationFormat>Widescreen</PresentationFormat>
  <Paragraphs>289</Paragraphs>
  <Slides>35</Slides>
  <Notes>11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ＭＳ Ｐゴシック</vt:lpstr>
      <vt:lpstr>Arial</vt:lpstr>
      <vt:lpstr>Calibri</vt:lpstr>
      <vt:lpstr>Calibri Light</vt:lpstr>
      <vt:lpstr>Cambria Math</vt:lpstr>
      <vt:lpstr>Courier New</vt:lpstr>
      <vt:lpstr>Symbol</vt:lpstr>
      <vt:lpstr>Office Theme</vt:lpstr>
      <vt:lpstr>Equation</vt:lpstr>
      <vt:lpstr>Item Parameter Estimation “Calibration”</vt:lpstr>
      <vt:lpstr>Overview</vt:lpstr>
      <vt:lpstr>Joint Maximum Likelihood Estimation (JMLE)</vt:lpstr>
      <vt:lpstr>Log of Joint Likelihood Function</vt:lpstr>
      <vt:lpstr>JML Estimation Eqns for Item Difficulty</vt:lpstr>
      <vt:lpstr>Complications</vt:lpstr>
      <vt:lpstr>The Full Hessian (i.e., “B”) (Matrix of 2nd Derivatives)</vt:lpstr>
      <vt:lpstr>Simplifying Assumptions</vt:lpstr>
      <vt:lpstr>Even Better…</vt:lpstr>
      <vt:lpstr> Estimation Challenges: 2PL</vt:lpstr>
      <vt:lpstr>Estimation Challenges: 3PL</vt:lpstr>
      <vt:lpstr>JMLE Notes</vt:lpstr>
      <vt:lpstr>Marginal Maximum Likelihood Estimation (MMLE)</vt:lpstr>
      <vt:lpstr>Key Pieces Needed to Understand MMLE</vt:lpstr>
      <vt:lpstr>Marginal Probability</vt:lpstr>
      <vt:lpstr>Specification of Probability Distribution Function: g(θ) (“The Population Model”)</vt:lpstr>
      <vt:lpstr>Marginal Likelihood</vt:lpstr>
      <vt:lpstr>Approximating Integrals</vt:lpstr>
      <vt:lpstr>Gaussian Quadrature</vt:lpstr>
      <vt:lpstr>Applying Quadrature to Marginal Likelihood Fcn</vt:lpstr>
      <vt:lpstr>MMLE/EM Estimation Equations</vt:lpstr>
      <vt:lpstr>Interpretation</vt:lpstr>
      <vt:lpstr>Posterior Probabilities?</vt:lpstr>
      <vt:lpstr>Recall Thor</vt:lpstr>
      <vt:lpstr>Bayes Theorem</vt:lpstr>
      <vt:lpstr>Posterior Distribution Function</vt:lpstr>
      <vt:lpstr> Quadrature Form of Posterior Distribution  </vt:lpstr>
      <vt:lpstr>Expectation-Maximization Algorithm 1</vt:lpstr>
      <vt:lpstr>Expectation-Maximization Algorithm 2</vt:lpstr>
      <vt:lpstr>MMLE Notes 1</vt:lpstr>
      <vt:lpstr>MMLE Notes 2</vt:lpstr>
      <vt:lpstr>Conditional Maximum Likelihood</vt:lpstr>
      <vt:lpstr>Default Estimation in mirt</vt:lpstr>
      <vt:lpstr>MHRM Estimation</vt:lpstr>
      <vt:lpstr>Estimating Item Parameter 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IRT Parameter Estimation</dc:title>
  <dc:creator>Benjamin Shear</dc:creator>
  <cp:lastModifiedBy>Derek Briggs</cp:lastModifiedBy>
  <cp:revision>111</cp:revision>
  <dcterms:created xsi:type="dcterms:W3CDTF">2018-02-18T18:41:33Z</dcterms:created>
  <dcterms:modified xsi:type="dcterms:W3CDTF">2024-03-04T14:55:09Z</dcterms:modified>
</cp:coreProperties>
</file>