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589"/>
  </p:normalViewPr>
  <p:slideViewPr>
    <p:cSldViewPr snapToGrid="0" snapToObjects="1">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593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for the talk has two halves. "Measuring the user, not the model" is the argument. "The verification frontier" is a result from a simulation. The full argument and the derivations are in the proceedings paper. Today I'll move quickly through the argument and spend most of my time on the measurement model and the simulation.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systems can solve problems that would stump an expert, and then stumble on something a person finds easy. As part of a blog post, channeling a great LLM tutorial by Andrej Karpathy, I asked Claude for a super funny joke about pelicans. Let's just say it's not super funny, even as a dad joke. Minutes later the same system will debug code for a parameter estimation algorithm. The key is in verification and the difference between RL and RLHF.  Code has a check: it runs or it does not. A joke for a dinner party has no check until the party. Keep this distinction in mind.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become common to describe progress along the AI frontier as measuring the intelligence or capability of a model, through benchmarks, arena leaderboards, and Elo-style ratings. Is this measurement in the sense understood in the human and physical sciences? I use the TISM framework: theory, instrumentation, scales and units, and modeling. Instrumentation, scales, and modeling are not out of reach for an LLM benchmark. The problem is theory, and specifically variability. Measurement exists to characterize variation in an attribute: within a person, as in psychophysics, and between people, as in the individual-differences tradition. That variation exists in an LLM, but it does not have the status that measurement requires. Within a model, output varies with temperature, prompt wording, context, and nondeterminism in inference. Across models, systems differ in architecture, data, and configuration. All of these are design parameters under the developer's control. Temperature can be set to zero. Prompt sensitivity is a defect to be engineered away. Frontier systems are optimized to the same benchmarks, which compresses the differences between them. Measurement presupposes variation that is there to be found; LLM development treats variation as something to manage and remove.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think we are pointing measurement at the wrong object. An LLM is better treated as instrumentation, a powerful but non-stationary instrument, than as a person-like object whose latent trait we estimate. The variability that remains abundant, and that matters, is in how people interact with these instruments. Put simply: measure human attributes, evaluate model capabilities. These are different epistemic activities. Evaluation asks whether an AI system's outputs are fit for a use. Measurement asks whether there is a quantitative attribute to be estimated. If there is a human construct worth measuring, a strong candidate is AI literacy: largely domain-general habits of mind, developed in domain-specific ways. I focus on one dimension, critical AI literacy, defined on the slide. </a:t>
            </a:r>
          </a:p>
          <a:p>
            <a:endParaRPr lang="en-US" dirty="0"/>
          </a:p>
          <a:p>
            <a:r>
              <a:rPr lang="en-US" dirty="0"/>
              <a:t>[If asked about Casabianca (2025), "Psychometrics is all you need": She argues that AI development and evaluation should be reimagined within a validity framework, using evidence-centered design and validity evidence for a use. She works in the argument-based validation tradition (Kane). Her "fluency effect," where judges conflate style with correctness, is close to what I call seductiveness. My paper asks a prior question from a measurement-realist tradition: is there a quantitative attribute to be measured at all? For the LLM, I argue there is not. Her work is the rigorous account of evaluating models; mine is about measuring people. What "psychometrics is all you need" supplies is validation, not measurement.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measurement setup. Let's define an item as a single interaction between a person and an LLM. The stimulus is an LLM response to a prompt. Across the bank, some responses are correct and some contain one or more errors. The person decides whether to accept the response or override it. X = 1 if the decision is correct: a correct response accepted, or an erroneous one overridden. Whether a response is erroneous is a property of the item, not the person. </a:t>
            </a:r>
          </a:p>
          <a:p>
            <a:endParaRPr lang="en-US" dirty="0"/>
          </a:p>
          <a:p>
            <a:r>
              <a:rPr lang="en-US" dirty="0"/>
              <a:t>c is the share of correct responses in the bank. Because the model generated the bank, c is the model's capability in that domain. The person's behavior is described by two conditional probabilities, both functions of critical AI literacy theta: h of theta, the probability of catching an erroneous response, and f of theta, the probability of overriding a correct one, a false alarm.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law of total probability over the two states of the response, the first eqn shows the probability of a correct response. This decomposition holds for any h and f. To get a model I make two assumptions. First, f of theta--the prob of an override when a response is correct is zero for all theta: critical AI literacy raises the probability of overriding an error without raising the probability of overriding a correct response. It is a continuum of honed discernment, not some function of ingrained skepticism. Second, h of theta is logistic in the gap between the person's critical AI literacy and the difficulty of overriding the item. The result is the equation in the last box which with a little substitution should look familiar: it's a constrained three-parameter logistic item with fixed discrimination. As theta goes to minus infinity, h goes to zero and the probability goes to c. A person who accepts every response scores c: their accuracy is the model's capability. The lower asymptote here is not a nuisance guessing parameter. It is a substantive parameter of interest. Delta of s is the value of theta at which a person has an even chance of overriding an error; it increases with what I would describe as the "seductiveness" of the response, the degree to which its style makes a flaw harder to see. The model also assumes conditional independence given theta.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an item characteristic curve looks like. The floor is c, here .40: the accuracy of a person who accepts every response. The location is delta of s. A more seductive response shifts the curve to the right, so it takes more critical AI literacy to have an even chance of catching the error. The key point for what follows: as model capability rises, the floor rises, and the room for critical AI literacy to matter shrinks. The measurement value of an item is its Fisher information, averaged over a population with theta distributed standard normal.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 A, f of theta equals zero, is what makes c the lower asymptote, and it may be unrealistic. Some people will override a correct response whatever their critical AI literacy. Signal detection theory makes the alternative precise. Suppose a person overrides when the evidence that a response is erroneous exceeds a criterion k. Erroneous responses generate evidence centered at d-prime, which increases with theta and decreases with seductiveness; correct responses are centered at zero. Then h of theta is Phi of d-prime minus k, and the false-alarm rate f is Phi of minus k. f depends on k alone: it is a disposition to override, not an ability to discriminate. As theta goes to minus infinity, d-prime goes to zero, the person cannot tell erroneous from correct responses, and overrides both at the same rate, so h goes to f. The floor becomes c times one minus f plus one minus c times f. Subtract c and you get f times one minus 2c, which is negative whenever c is above one half. Overriding indiscriminately ruins a share f of the correct responses and, by chance, repairs a share f of the erroneous ones. When the model is usually right, the loss dominates. The figure shows c = .70: the floors are .70, .66, and .62, the same values as Table A1. Note also that under B the curves level off at 1 minus c f, not at 1. The conclusion does not change. f does not depend on theta, so as c goes to 1 the success probability goes to the constant 1 minus f for every person, and the item carries no information about critical AI literacy. Discrimination can be observed only when the bank holds erroneous responses to be discriminated from correct 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how the measurability of critical AI literacy changes as models improve, I trace two domains across model generations. Both start at the same early model, c = .50 and s = .45. With each generation of LLMs the responses, and the errors that remain in them, become subtler, so seductiveness rises the same in both domains, to .62 at the frontier. </a:t>
            </a:r>
          </a:p>
          <a:p>
            <a:endParaRPr lang="en-US" dirty="0"/>
          </a:p>
          <a:p>
            <a:r>
              <a:rPr lang="en-US" dirty="0"/>
              <a:t>Capability diverges. In the verifiable domain, a clean training signal drives c toward a ceiling near 1, here .96. In the unverifiable domain there is no objective signal to optimize against, and capability plateaus at .55. The shading is the expected information per item about critical AI literacy. Information lives on a ridge, the verification frontier, at intermediate seductiveness. The ridge (dashed white line) is the value of s that maximizes information for a given value of c. Information falls toward zero where the model is so capable that it rarely makes an error. The verifiable road, in blue, climbs right into that low-information region. The unverifiable road, in red, stays near the ridge.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For theta with unit variance, a reliability of .80 needs total information 4, and the number of items is 4 divided by the average information per item. Because the average is over the population, this is the number of items a randomly drawn person needs. Both domains start equally measurable: about 30 items. </a:t>
            </a:r>
          </a:p>
          <a:p>
            <a:endParaRPr lang="en-US" dirty="0"/>
          </a:p>
          <a:p>
            <a:r>
              <a:rPr lang="en-US" dirty="0"/>
              <a:t>At the frontier, the verifiable domain yields almost no information per item: you would need about 719 items. The unverifiable domain still needs only about 50. </a:t>
            </a:r>
          </a:p>
          <a:p>
            <a:endParaRPr lang="en-US" dirty="0"/>
          </a:p>
          <a:p>
            <a:r>
              <a:rPr lang="en-US" dirty="0"/>
              <a:t>This is a consequence of the functional form, not an empirical finding. As c goes to 1, the success probability goes to 1 for every theta, and the item stops discriminating among people. The simulation illustrates the mechanism; it does not estimate its size, and the numbers depend on the parameter values. The lesson is counterintuitive: critical AI literacy is most measurable exactly where the AI, on its own, can help the least. Where verification is cheap and the model is strong, the construct collapses to whether the user bothered to check. Where verification is expensive and judgment can't be removed, the construct persists.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critical AI literacy is most measurable where verification is expensive or deferred, and scoring X needs that very verification, is measurement a lost cause? The objection conflates two costs that measurement keeps apart: the one-time cost of calibrating an instrument, and the recurring cost of administering it. We don't verify an examinee's answer as it is given; we compare it to an answer key fixed when the test was built. So: assemble a bank of AI outputs in hard-to-verify domains, each with an expert-validated verdict, and pay the verification cost once, during test construction. The bank has to have both correct and erroneous responses in known proportion; without erroneous responses, critical AI literacy can't be identified. Unverifiable in the wild need not mean unkeyable in the lab. We can build stimuli whose correct judgment is known by design. The surface fluency that hides the flaw is real, but the key is fixed in advance by expert consensus. That clarifies what the measure is for. Its value is predictive: it should forecast the quality of a person's judgments in practice, where verification is absent, since when a professional relies on AI, errors are subtle, and checking is impractical. Showing that lab-measured critical AI literacy predicts real-world success is the central validation task and the natural next study. None of this rescues the genuinely unverifiable extreme. The tractable target is the broad middle: domains with a defensible verdict at a manageable cost.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three takeaways. </a:t>
            </a:r>
          </a:p>
          <a:p>
            <a:endParaRPr lang="en-US" dirty="0"/>
          </a:p>
          <a:p>
            <a:r>
              <a:rPr lang="en-US" dirty="0"/>
              <a:t>First, to speak of measuring an LLM's capability as a latent trait is, absent a substantive theory of the construct, largely a category error. </a:t>
            </a:r>
          </a:p>
          <a:p>
            <a:endParaRPr lang="en-US" dirty="0"/>
          </a:p>
          <a:p>
            <a:r>
              <a:rPr lang="en-US" dirty="0"/>
              <a:t>Second, measurement has not become irrelevant. It has been relocated to the person, and made harder by the very instrument that occasions it. We measure the person through a non-stationary instrument engineered to compress the variance we want to detect. It is like measuring penmanship in the age of the word processor, or navigation in the age of GPS: the tool raises the floor and can erase the differences that once defined the construct. </a:t>
            </a:r>
          </a:p>
          <a:p>
            <a:endParaRPr lang="en-US" dirty="0"/>
          </a:p>
          <a:p>
            <a:r>
              <a:rPr lang="en-US" dirty="0"/>
              <a:t>Third, the AI-literacy constructs that matter now are socially constructed and in flux. By the standards of physical measurement, we are at the thermoscope stage. </a:t>
            </a:r>
          </a:p>
          <a:p>
            <a:endParaRPr lang="en-US" dirty="0"/>
          </a:p>
          <a:p>
            <a:r>
              <a:rPr lang="en-US" dirty="0"/>
              <a:t>The QR code links to the paper on GitHub. Thank you!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1076886"/>
            <a:ext cx="7521050" cy="447020"/>
          </a:xfrm>
          <a:prstGeom prst="rect">
            <a:avLst/>
          </a:prstGeom>
          <a:noFill/>
          <a:ln/>
        </p:spPr>
        <p:txBody>
          <a:bodyPr wrap="square" lIns="0" tIns="0" rIns="0" bIns="0" rtlCol="0" anchor="t"/>
          <a:lstStyle>
            <a:lvl1pPr marL="0" indent="0" algn="l">
              <a:lnSpc>
                <a:spcPct val="115000"/>
              </a:lnSpc>
              <a:buNone/>
              <a:defRPr lang="en-US" sz="3200" dirty="0">
                <a:solidFill>
                  <a:srgbClr val="141414"/>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8" y="1828706"/>
            <a:ext cx="10566412" cy="4216494"/>
          </a:xfrm>
          <a:prstGeom prst="rect">
            <a:avLst/>
          </a:prstGeom>
          <a:noFill/>
          <a:ln/>
        </p:spPr>
        <p:txBody>
          <a:bodyPr wrap="square" lIns="0" tIns="0" rIns="0" bIns="0" rtlCol="0" anchor="t"/>
          <a:lstStyle>
            <a:lvl1pPr marL="0" indent="0" algn="l">
              <a:lnSpc>
                <a:spcPct val="140000"/>
              </a:lnSpc>
              <a:buNone/>
              <a:defRPr lang="en-US" sz="1600" dirty="0">
                <a:solidFill>
                  <a:srgbClr val="141414"/>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1076886"/>
            <a:ext cx="7521050" cy="447020"/>
          </a:xfrm>
          <a:prstGeom prst="rect">
            <a:avLst/>
          </a:prstGeom>
          <a:noFill/>
          <a:ln/>
        </p:spPr>
        <p:txBody>
          <a:bodyPr wrap="square" lIns="0" tIns="0" rIns="0" bIns="0" rtlCol="0" anchor="t"/>
          <a:lstStyle>
            <a:lvl1pPr marL="0" indent="0" algn="l">
              <a:lnSpc>
                <a:spcPct val="115000"/>
              </a:lnSpc>
              <a:buNone/>
              <a:defRPr lang="en-US" sz="3200" dirty="0">
                <a:solidFill>
                  <a:srgbClr val="141414"/>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8" y="1828706"/>
            <a:ext cx="10566412" cy="4216494"/>
          </a:xfrm>
          <a:prstGeom prst="rect">
            <a:avLst/>
          </a:prstGeom>
          <a:noFill/>
          <a:ln/>
        </p:spPr>
        <p:txBody>
          <a:bodyPr wrap="square" lIns="0" tIns="0" rIns="0" bIns="0" rtlCol="0" anchor="t"/>
          <a:lstStyle>
            <a:lvl1pPr marL="0" indent="0" algn="l">
              <a:lnSpc>
                <a:spcPct val="140000"/>
              </a:lnSpc>
              <a:buNone/>
              <a:defRPr lang="en-US" sz="1600" dirty="0">
                <a:solidFill>
                  <a:srgbClr val="141414"/>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hyperlink" Target="https://github.com/DerekCBriggs/Measurement-and-Psychometrics/tree/master/SSM%202026%20Presentation" TargetMode="External"/><Relationship Id="rId5" Type="http://schemas.openxmlformats.org/officeDocument/2006/relationships/hyperlink" Target="https://derekcbriggs.github.io/blo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812788" y="812788"/>
            <a:ext cx="2993694" cy="289497"/>
          </a:xfrm>
          <a:custGeom>
            <a:avLst/>
            <a:gdLst/>
            <a:ahLst/>
            <a:cxnLst/>
            <a:rect l="l" t="t" r="r" b="b"/>
            <a:pathLst>
              <a:path w="2993694" h="289497">
                <a:moveTo>
                  <a:pt x="144748" y="0"/>
                </a:moveTo>
                <a:lnTo>
                  <a:pt x="2848946" y="0"/>
                </a:lnTo>
                <a:arcTo wR="144748" hR="144748" stAng="16200000" swAng="5400000"/>
                <a:lnTo>
                  <a:pt x="2993694"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AIME-CON 2026 · PAPER SESSION</a:t>
            </a:r>
            <a:endParaRPr lang="en-US" sz="1200" dirty="0"/>
          </a:p>
        </p:txBody>
      </p:sp>
      <p:sp>
        <p:nvSpPr>
          <p:cNvPr id="3" name="Text 1"/>
          <p:cNvSpPr>
            <a:spLocks noGrp="1"/>
          </p:cNvSpPr>
          <p:nvPr>
            <p:ph type="title"/>
          </p:nvPr>
        </p:nvSpPr>
        <p:spPr>
          <a:xfrm>
            <a:off x="812788" y="1330870"/>
            <a:ext cx="6553740" cy="1342118"/>
          </a:xfrm>
          <a:prstGeom prst="rect">
            <a:avLst/>
          </a:prstGeom>
          <a:noFill/>
          <a:ln/>
        </p:spPr>
        <p:txBody>
          <a:bodyPr wrap="square" lIns="0" tIns="0" rIns="0" bIns="0" rtlCol="0" anchor="t">
            <a:normAutofit/>
          </a:bodyPr>
          <a:lstStyle/>
          <a:p>
            <a:pPr marL="0" indent="0" algn="l">
              <a:lnSpc>
                <a:spcPts val="5184"/>
              </a:lnSpc>
              <a:buNone/>
            </a:pPr>
            <a:r>
              <a:rPr lang="en-US" sz="4800" b="1" i="0" kern="0" spc="-50" dirty="0">
                <a:solidFill>
                  <a:srgbClr val="FAFAF8"/>
                </a:solidFill>
                <a:latin typeface="Source Serif 4" pitchFamily="18" charset="0"/>
                <a:ea typeface="Source Serif 4" pitchFamily="18" charset="-122"/>
                <a:cs typeface="Source Serif 4" pitchFamily="18" charset="-120"/>
              </a:rPr>
              <a:t>Measuring the User,</a:t>
            </a:r>
            <a:endParaRPr lang="en-US" sz="4800" dirty="0"/>
          </a:p>
          <a:p>
            <a:pPr marL="0" indent="0" algn="l">
              <a:lnSpc>
                <a:spcPts val="5184"/>
              </a:lnSpc>
              <a:buNone/>
            </a:pPr>
            <a:r>
              <a:rPr lang="en-US" sz="4800" b="1" i="0" kern="0" spc="-50" dirty="0">
                <a:solidFill>
                  <a:srgbClr val="FAFAF8"/>
                </a:solidFill>
                <a:latin typeface="Source Serif 4" pitchFamily="18" charset="0"/>
                <a:ea typeface="Source Serif 4" pitchFamily="18" charset="-122"/>
                <a:cs typeface="Source Serif 4" pitchFamily="18" charset="-120"/>
              </a:rPr>
              <a:t>Not the Model</a:t>
            </a:r>
            <a:endParaRPr lang="en-US" sz="4800" dirty="0"/>
          </a:p>
        </p:txBody>
      </p:sp>
      <p:sp>
        <p:nvSpPr>
          <p:cNvPr id="4" name="Text 2"/>
          <p:cNvSpPr/>
          <p:nvPr/>
        </p:nvSpPr>
        <p:spPr>
          <a:xfrm>
            <a:off x="812788" y="2774581"/>
            <a:ext cx="7635426" cy="3746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CFB87C"/>
                </a:solidFill>
                <a:latin typeface="Source Serif 4" pitchFamily="18" charset="0"/>
                <a:ea typeface="Source Serif 4" pitchFamily="18" charset="-122"/>
                <a:cs typeface="Source Serif 4" pitchFamily="18" charset="-120"/>
              </a:rPr>
              <a:t>Critical AI Literacy and the Verification Frontier</a:t>
            </a:r>
            <a:endParaRPr lang="en-US" sz="2200" dirty="0"/>
          </a:p>
        </p:txBody>
      </p:sp>
      <p:sp>
        <p:nvSpPr>
          <p:cNvPr id="5" name="Text 3"/>
          <p:cNvSpPr/>
          <p:nvPr/>
        </p:nvSpPr>
        <p:spPr>
          <a:xfrm>
            <a:off x="812788" y="3736815"/>
            <a:ext cx="10883382" cy="35558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FAFAF8"/>
                </a:solidFill>
                <a:latin typeface="Source Sans 3" pitchFamily="34" charset="0"/>
                <a:ea typeface="Source Sans 3" pitchFamily="34" charset="-122"/>
                <a:cs typeface="Source Sans 3" pitchFamily="34" charset="-120"/>
              </a:rPr>
              <a:t>Derek Briggs</a:t>
            </a:r>
            <a:endParaRPr lang="en-US" sz="2000" dirty="0"/>
          </a:p>
        </p:txBody>
      </p:sp>
      <p:sp>
        <p:nvSpPr>
          <p:cNvPr id="6" name="Text 4"/>
          <p:cNvSpPr/>
          <p:nvPr/>
        </p:nvSpPr>
        <p:spPr>
          <a:xfrm>
            <a:off x="812788" y="4117792"/>
            <a:ext cx="10883382"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D9D4"/>
                </a:solidFill>
                <a:latin typeface="Source Sans 3" pitchFamily="34" charset="0"/>
                <a:ea typeface="Source Sans 3" pitchFamily="34" charset="-122"/>
                <a:cs typeface="Source Sans 3" pitchFamily="34" charset="-120"/>
              </a:rPr>
              <a:t>University of Colorado Boulder</a:t>
            </a:r>
            <a:endParaRPr lang="en-US" sz="1500" dirty="0"/>
          </a:p>
        </p:txBody>
      </p:sp>
      <p:sp>
        <p:nvSpPr>
          <p:cNvPr id="7" name="Text 5"/>
          <p:cNvSpPr/>
          <p:nvPr/>
        </p:nvSpPr>
        <p:spPr>
          <a:xfrm>
            <a:off x="812788" y="4435291"/>
            <a:ext cx="10883382"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D9D4"/>
                </a:solidFill>
                <a:latin typeface="Source Sans 3" pitchFamily="34" charset="0"/>
                <a:ea typeface="Source Sans 3" pitchFamily="34" charset="-122"/>
                <a:cs typeface="Source Sans 3" pitchFamily="34" charset="-120"/>
              </a:rPr>
              <a:t>Wednesday, October 7, 2026 · Pittsburgh</a:t>
            </a:r>
            <a:endParaRPr lang="en-US" sz="1500" dirty="0"/>
          </a:p>
        </p:txBody>
      </p:sp>
      <p:pic>
        <p:nvPicPr>
          <p:cNvPr id="8" name="Image 0" descr="University of Colorado Boulder School of Education logo"/>
          <p:cNvPicPr>
            <a:picLocks noChangeAspect="1"/>
          </p:cNvPicPr>
          <p:nvPr/>
        </p:nvPicPr>
        <p:blipFill>
          <a:blip r:embed="rId3"/>
          <a:srcRect l="-3" r="-3"/>
          <a:stretch/>
        </p:blipFill>
        <p:spPr>
          <a:xfrm>
            <a:off x="812788" y="5375297"/>
            <a:ext cx="2997166" cy="609562"/>
          </a:xfrm>
          <a:prstGeom prst="rect">
            <a:avLst/>
          </a:prstGeom>
        </p:spPr>
      </p:pic>
      <p:sp>
        <p:nvSpPr>
          <p:cNvPr id="9" name="Shape 6"/>
          <p:cNvSpPr/>
          <p:nvPr/>
        </p:nvSpPr>
        <p:spPr>
          <a:xfrm>
            <a:off x="4165532" y="5349899"/>
            <a:ext cx="12680" cy="660397"/>
          </a:xfrm>
          <a:prstGeom prst="rect">
            <a:avLst/>
          </a:prstGeom>
          <a:solidFill>
            <a:srgbClr val="3A3A3A"/>
          </a:solidFill>
          <a:ln/>
        </p:spPr>
        <p:txBody>
          <a:bodyPr/>
          <a:lstStyle/>
          <a:p>
            <a:endParaRPr lang="en-US" dirty="0"/>
          </a:p>
        </p:txBody>
      </p:sp>
      <p:pic>
        <p:nvPicPr>
          <p:cNvPr id="10" name="Image 1" descr="CADRE logo"/>
          <p:cNvPicPr>
            <a:picLocks noChangeAspect="1"/>
          </p:cNvPicPr>
          <p:nvPr/>
        </p:nvPicPr>
        <p:blipFill>
          <a:blip r:embed="rId4"/>
          <a:srcRect l="-36" r="-36"/>
          <a:stretch/>
        </p:blipFill>
        <p:spPr>
          <a:xfrm>
            <a:off x="4533790" y="5314990"/>
            <a:ext cx="1066772" cy="7302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397"/>
            <a:ext cx="1011824" cy="289497"/>
          </a:xfrm>
          <a:custGeom>
            <a:avLst/>
            <a:gdLst/>
            <a:ahLst/>
            <a:cxnLst/>
            <a:rect l="l" t="t" r="r" b="b"/>
            <a:pathLst>
              <a:path w="1011824" h="289497">
                <a:moveTo>
                  <a:pt x="144748" y="0"/>
                </a:moveTo>
                <a:lnTo>
                  <a:pt x="867075" y="0"/>
                </a:lnTo>
                <a:arcTo wR="144748" hR="144748" stAng="16200000" swAng="5400000"/>
                <a:lnTo>
                  <a:pt x="1011824"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OPENING</a:t>
            </a:r>
            <a:endParaRPr lang="en-US" sz="1200" dirty="0"/>
          </a:p>
        </p:txBody>
      </p:sp>
      <p:sp>
        <p:nvSpPr>
          <p:cNvPr id="3" name="Text 1"/>
          <p:cNvSpPr>
            <a:spLocks noGrp="1"/>
          </p:cNvSpPr>
          <p:nvPr>
            <p:ph type="title"/>
          </p:nvPr>
        </p:nvSpPr>
        <p:spPr>
          <a:xfrm>
            <a:off x="812788" y="1076886"/>
            <a:ext cx="6391257"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The Jagged Frontier of LLMs</a:t>
            </a:r>
            <a:endParaRPr lang="en-US" sz="3200" dirty="0"/>
          </a:p>
        </p:txBody>
      </p:sp>
      <p:sp>
        <p:nvSpPr>
          <p:cNvPr id="4" name="Shape 2"/>
          <p:cNvSpPr/>
          <p:nvPr/>
        </p:nvSpPr>
        <p:spPr>
          <a:xfrm>
            <a:off x="815963" y="2473012"/>
            <a:ext cx="6089689" cy="1109370"/>
          </a:xfrm>
          <a:prstGeom prst="roundRect">
            <a:avLst>
              <a:gd name="adj" fmla="val 8872"/>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sp>
        <p:nvSpPr>
          <p:cNvPr id="5" name="Text 3"/>
          <p:cNvSpPr/>
          <p:nvPr/>
        </p:nvSpPr>
        <p:spPr>
          <a:xfrm>
            <a:off x="1122399" y="2728652"/>
            <a:ext cx="5641120"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MY PROMPT</a:t>
            </a:r>
            <a:endParaRPr lang="en-US" sz="1200" dirty="0"/>
          </a:p>
        </p:txBody>
      </p:sp>
      <p:sp>
        <p:nvSpPr>
          <p:cNvPr id="6" name="Text 4"/>
          <p:cNvSpPr/>
          <p:nvPr/>
        </p:nvSpPr>
        <p:spPr>
          <a:xfrm>
            <a:off x="1122399" y="3018186"/>
            <a:ext cx="5641120" cy="333955"/>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1414"/>
                </a:solidFill>
                <a:latin typeface="Source Sans 3" pitchFamily="34" charset="0"/>
                <a:ea typeface="Source Sans 3" pitchFamily="34" charset="-122"/>
                <a:cs typeface="Source Sans 3" pitchFamily="34" charset="-120"/>
              </a:rPr>
              <a:t>Write a super funny joke about pelicans.</a:t>
            </a:r>
            <a:endParaRPr lang="en-US" sz="1800" dirty="0"/>
          </a:p>
        </p:txBody>
      </p:sp>
      <p:sp>
        <p:nvSpPr>
          <p:cNvPr id="7" name="Shape 5"/>
          <p:cNvSpPr/>
          <p:nvPr/>
        </p:nvSpPr>
        <p:spPr>
          <a:xfrm>
            <a:off x="812788" y="3763345"/>
            <a:ext cx="6096039" cy="1437483"/>
          </a:xfrm>
          <a:prstGeom prst="roundRect">
            <a:avLst>
              <a:gd name="adj" fmla="val 7068"/>
            </a:avLst>
          </a:prstGeom>
          <a:solidFill>
            <a:srgbClr val="141414"/>
          </a:solidFill>
          <a:ln/>
        </p:spPr>
        <p:txBody>
          <a:bodyPr/>
          <a:lstStyle/>
          <a:p>
            <a:endParaRPr lang="en-US" dirty="0"/>
          </a:p>
        </p:txBody>
      </p:sp>
      <p:sp>
        <p:nvSpPr>
          <p:cNvPr id="8" name="Text 6"/>
          <p:cNvSpPr/>
          <p:nvPr/>
        </p:nvSpPr>
        <p:spPr>
          <a:xfrm>
            <a:off x="1117569" y="4017330"/>
            <a:ext cx="5651071"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FB87C"/>
                </a:solidFill>
                <a:latin typeface="Source Sans 3" pitchFamily="34" charset="0"/>
                <a:ea typeface="Source Sans 3" pitchFamily="34" charset="-122"/>
                <a:cs typeface="Source Sans 3" pitchFamily="34" charset="-120"/>
              </a:rPr>
              <a:t>CLAUDE (OPUS 4.6)</a:t>
            </a:r>
            <a:endParaRPr lang="en-US" sz="1200" dirty="0"/>
          </a:p>
        </p:txBody>
      </p:sp>
      <p:sp>
        <p:nvSpPr>
          <p:cNvPr id="9" name="Text 7"/>
          <p:cNvSpPr/>
          <p:nvPr/>
        </p:nvSpPr>
        <p:spPr>
          <a:xfrm>
            <a:off x="1117569" y="4306865"/>
            <a:ext cx="5651071" cy="66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AFAF8"/>
                </a:solidFill>
                <a:latin typeface="Source Serif 4" pitchFamily="18" charset="0"/>
                <a:ea typeface="Source Serif 4" pitchFamily="18" charset="-122"/>
                <a:cs typeface="Source Serif 4" pitchFamily="18" charset="-120"/>
              </a:rPr>
              <a:t>A pelican walks into a bar. The bartender says, “Why the big bill?”</a:t>
            </a:r>
            <a:endParaRPr lang="en-US" sz="1800" dirty="0"/>
          </a:p>
        </p:txBody>
      </p:sp>
      <p:sp>
        <p:nvSpPr>
          <p:cNvPr id="10" name="Text 8"/>
          <p:cNvSpPr/>
          <p:nvPr/>
        </p:nvSpPr>
        <p:spPr>
          <a:xfrm>
            <a:off x="7315202" y="2621020"/>
            <a:ext cx="4185895" cy="1422201"/>
          </a:xfrm>
          <a:prstGeom prst="rect">
            <a:avLst/>
          </a:prstGeom>
          <a:noFill/>
          <a:ln/>
        </p:spPr>
        <p:txBody>
          <a:bodyPr wrap="square" lIns="0" tIns="0" rIns="0" bIns="0" rtlCol="0" anchor="t">
            <a:normAutofit/>
          </a:bodyPr>
          <a:lstStyle/>
          <a:p>
            <a:pPr marL="0" indent="0" algn="l">
              <a:lnSpc>
                <a:spcPts val="2750"/>
              </a:lnSpc>
              <a:buNone/>
            </a:pPr>
            <a:r>
              <a:rPr lang="en-US" sz="2200" b="1" dirty="0">
                <a:solidFill>
                  <a:srgbClr val="141414"/>
                </a:solidFill>
                <a:latin typeface="Source Serif 4" pitchFamily="18" charset="0"/>
                <a:ea typeface="Source Serif 4" pitchFamily="18" charset="-122"/>
                <a:cs typeface="Source Serif 4" pitchFamily="18" charset="-120"/>
              </a:rPr>
              <a:t>LLMs can solve problems that would stump an expert, but they struggle to deliver a funny joke.</a:t>
            </a:r>
            <a:endParaRPr lang="en-US" sz="2200" dirty="0"/>
          </a:p>
        </p:txBody>
      </p:sp>
      <p:sp>
        <p:nvSpPr>
          <p:cNvPr id="11" name="Text 9"/>
          <p:cNvSpPr/>
          <p:nvPr/>
        </p:nvSpPr>
        <p:spPr>
          <a:xfrm>
            <a:off x="7315202" y="4221008"/>
            <a:ext cx="4185895" cy="854038"/>
          </a:xfrm>
          <a:prstGeom prst="rect">
            <a:avLst/>
          </a:prstGeom>
          <a:noFill/>
          <a:ln/>
        </p:spPr>
        <p:txBody>
          <a:bodyPr wrap="square" lIns="0" tIns="0" rIns="0" bIns="0" rtlCol="0" anchor="t">
            <a:normAutofit/>
          </a:bodyPr>
          <a:lstStyle/>
          <a:p>
            <a:pPr marL="0" indent="0" algn="l">
              <a:lnSpc>
                <a:spcPts val="2175"/>
              </a:lnSpc>
              <a:buNone/>
            </a:pPr>
            <a:r>
              <a:rPr lang="en-US" sz="2000" dirty="0">
                <a:solidFill>
                  <a:srgbClr val="3A3D40"/>
                </a:solidFill>
                <a:latin typeface="Source Sans 3" pitchFamily="34" charset="0"/>
                <a:ea typeface="Source Sans 3" pitchFamily="34" charset="-122"/>
                <a:cs typeface="Source Sans 3" pitchFamily="34" charset="-120"/>
              </a:rPr>
              <a:t>The same system will, minutes later, debug code that implements a parameter estimation algorithm.</a:t>
            </a:r>
            <a:endParaRPr lang="en-US" sz="2000" dirty="0"/>
          </a:p>
        </p:txBody>
      </p:sp>
      <p:sp>
        <p:nvSpPr>
          <p:cNvPr id="12" name="Text 10"/>
          <p:cNvSpPr/>
          <p:nvPr/>
        </p:nvSpPr>
        <p:spPr>
          <a:xfrm>
            <a:off x="812788" y="6238278"/>
            <a:ext cx="10883382" cy="238739"/>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B6F72"/>
                </a:solidFill>
                <a:latin typeface="Source Sans 3" pitchFamily="34" charset="0"/>
                <a:ea typeface="Source Sans 3" pitchFamily="34" charset="-122"/>
                <a:cs typeface="Source Sans 3" pitchFamily="34" charset="-120"/>
              </a:rPr>
              <a:t>“Jagged technological frontier”: Dell’Acqua et al. (2023)</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397"/>
            <a:ext cx="1424237" cy="289497"/>
          </a:xfrm>
          <a:custGeom>
            <a:avLst/>
            <a:gdLst/>
            <a:ahLst/>
            <a:cxnLst/>
            <a:rect l="l" t="t" r="r" b="b"/>
            <a:pathLst>
              <a:path w="1424237" h="289497">
                <a:moveTo>
                  <a:pt x="144748" y="0"/>
                </a:moveTo>
                <a:lnTo>
                  <a:pt x="1279489" y="0"/>
                </a:lnTo>
                <a:arcTo wR="144748" hR="144748" stAng="16200000" swAng="5400000"/>
                <a:lnTo>
                  <a:pt x="1424237"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PROBLEM</a:t>
            </a:r>
            <a:endParaRPr lang="en-US" sz="1200" dirty="0"/>
          </a:p>
        </p:txBody>
      </p:sp>
      <p:sp>
        <p:nvSpPr>
          <p:cNvPr id="3" name="Text 1"/>
          <p:cNvSpPr>
            <a:spLocks noGrp="1"/>
          </p:cNvSpPr>
          <p:nvPr>
            <p:ph type="title"/>
          </p:nvPr>
        </p:nvSpPr>
        <p:spPr>
          <a:xfrm>
            <a:off x="812788" y="1076886"/>
            <a:ext cx="8868001"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Can We Measure an LLM’s Intelligence?</a:t>
            </a:r>
            <a:endParaRPr lang="en-US" sz="3200" dirty="0"/>
          </a:p>
        </p:txBody>
      </p:sp>
      <p:sp>
        <p:nvSpPr>
          <p:cNvPr id="4" name="Shape 2"/>
          <p:cNvSpPr/>
          <p:nvPr/>
        </p:nvSpPr>
        <p:spPr>
          <a:xfrm>
            <a:off x="815963" y="2044295"/>
            <a:ext cx="4880075" cy="3267180"/>
          </a:xfrm>
          <a:prstGeom prst="roundRect">
            <a:avLst>
              <a:gd name="adj" fmla="val 3013"/>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pic>
        <p:nvPicPr>
          <p:cNvPr id="5" name="Image 0" descr="TISM framework: overlapping ellipses labeled Theory, Instrumentation, Scales and Units, and Modeling"/>
          <p:cNvPicPr>
            <a:picLocks noChangeAspect="1"/>
          </p:cNvPicPr>
          <p:nvPr/>
        </p:nvPicPr>
        <p:blipFill>
          <a:blip r:embed="rId3"/>
          <a:srcRect l="-61" r="-61"/>
          <a:stretch/>
        </p:blipFill>
        <p:spPr>
          <a:xfrm>
            <a:off x="970009" y="2198342"/>
            <a:ext cx="4571982" cy="2959087"/>
          </a:xfrm>
          <a:prstGeom prst="rect">
            <a:avLst/>
          </a:prstGeom>
        </p:spPr>
      </p:pic>
      <p:sp>
        <p:nvSpPr>
          <p:cNvPr id="6" name="Text 3"/>
          <p:cNvSpPr/>
          <p:nvPr/>
        </p:nvSpPr>
        <p:spPr>
          <a:xfrm>
            <a:off x="1308077" y="5465522"/>
            <a:ext cx="3623998" cy="238739"/>
          </a:xfrm>
          <a:prstGeom prst="rect">
            <a:avLst/>
          </a:prstGeom>
          <a:noFill/>
          <a:ln/>
        </p:spPr>
        <p:txBody>
          <a:bodyPr wrap="square" lIns="0" tIns="0" rIns="0" bIns="0" rtlCol="0" anchor="t">
            <a:normAutofit fontScale="85000" lnSpcReduction="10000"/>
          </a:bodyPr>
          <a:lstStyle/>
          <a:p>
            <a:pPr marL="0" indent="0" algn="ctr">
              <a:lnSpc>
                <a:spcPts val="1680"/>
              </a:lnSpc>
              <a:buNone/>
            </a:pPr>
            <a:r>
              <a:rPr lang="en-US" sz="1600" dirty="0">
                <a:solidFill>
                  <a:srgbClr val="6B6F72"/>
                </a:solidFill>
                <a:latin typeface="Source Sans 3" pitchFamily="34" charset="0"/>
                <a:ea typeface="Source Sans 3" pitchFamily="34" charset="-122"/>
                <a:cs typeface="Source Sans 3" pitchFamily="34" charset="-120"/>
              </a:rPr>
              <a:t>TISM framework (Briggs, Maul &amp; McGrane, 2025)</a:t>
            </a:r>
            <a:endParaRPr lang="en-US" sz="1600" dirty="0"/>
          </a:p>
        </p:txBody>
      </p:sp>
      <p:sp>
        <p:nvSpPr>
          <p:cNvPr id="7" name="Text 4"/>
          <p:cNvSpPr/>
          <p:nvPr/>
        </p:nvSpPr>
        <p:spPr>
          <a:xfrm>
            <a:off x="6105587" y="2073915"/>
            <a:ext cx="5431798"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I, S, AND M</a:t>
            </a:r>
            <a:endParaRPr lang="en-US" sz="1200" dirty="0"/>
          </a:p>
        </p:txBody>
      </p:sp>
      <p:sp>
        <p:nvSpPr>
          <p:cNvPr id="8" name="Text 5"/>
          <p:cNvSpPr/>
          <p:nvPr/>
        </p:nvSpPr>
        <p:spPr>
          <a:xfrm>
            <a:off x="6105587" y="2338053"/>
            <a:ext cx="5431798"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Not out of reach for an LLM benchmark</a:t>
            </a:r>
            <a:endParaRPr lang="en-US" sz="1500" dirty="0"/>
          </a:p>
        </p:txBody>
      </p:sp>
      <p:sp>
        <p:nvSpPr>
          <p:cNvPr id="9" name="Text 6"/>
          <p:cNvSpPr/>
          <p:nvPr/>
        </p:nvSpPr>
        <p:spPr>
          <a:xfrm>
            <a:off x="6105587" y="2807942"/>
            <a:ext cx="5431798"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T: THE MISSING PIECE</a:t>
            </a:r>
            <a:endParaRPr lang="en-US" sz="1200" dirty="0"/>
          </a:p>
        </p:txBody>
      </p:sp>
      <p:sp>
        <p:nvSpPr>
          <p:cNvPr id="10" name="Text 7"/>
          <p:cNvSpPr/>
          <p:nvPr/>
        </p:nvSpPr>
        <p:spPr>
          <a:xfrm>
            <a:off x="6105587" y="3072078"/>
            <a:ext cx="5431798"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Measurement presupposes variation that is there to be found</a:t>
            </a:r>
            <a:endParaRPr lang="en-US" sz="1500" dirty="0"/>
          </a:p>
        </p:txBody>
      </p:sp>
      <p:sp>
        <p:nvSpPr>
          <p:cNvPr id="11" name="Shape 8"/>
          <p:cNvSpPr/>
          <p:nvPr/>
        </p:nvSpPr>
        <p:spPr>
          <a:xfrm>
            <a:off x="6105587" y="3541968"/>
            <a:ext cx="5273591" cy="2054782"/>
          </a:xfrm>
          <a:prstGeom prst="roundRect">
            <a:avLst>
              <a:gd name="adj" fmla="val 4945"/>
            </a:avLst>
          </a:prstGeom>
          <a:solidFill>
            <a:srgbClr val="141414"/>
          </a:solidFill>
          <a:ln/>
        </p:spPr>
        <p:txBody>
          <a:bodyPr/>
          <a:lstStyle/>
          <a:p>
            <a:endParaRPr lang="en-US" dirty="0"/>
          </a:p>
        </p:txBody>
      </p:sp>
      <p:sp>
        <p:nvSpPr>
          <p:cNvPr id="12" name="Text 9"/>
          <p:cNvSpPr/>
          <p:nvPr/>
        </p:nvSpPr>
        <p:spPr>
          <a:xfrm>
            <a:off x="6359572" y="3795953"/>
            <a:ext cx="4908590" cy="29210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AFAF8"/>
                </a:solidFill>
                <a:latin typeface="Source Sans 3" pitchFamily="34" charset="0"/>
                <a:ea typeface="Source Sans 3" pitchFamily="34" charset="-122"/>
                <a:cs typeface="Source Sans 3" pitchFamily="34" charset="-120"/>
              </a:rPr>
              <a:t>Within a model:</a:t>
            </a:r>
            <a:r>
              <a:rPr lang="en-US" sz="1500" dirty="0">
                <a:solidFill>
                  <a:srgbClr val="D9D9D4"/>
                </a:solidFill>
                <a:latin typeface="Source Sans 3" pitchFamily="34" charset="0"/>
                <a:ea typeface="Source Sans 3" pitchFamily="34" charset="-122"/>
                <a:cs typeface="Source Sans 3" pitchFamily="34" charset="-120"/>
              </a:rPr>
              <a:t> temperature can be set to zero</a:t>
            </a:r>
            <a:endParaRPr lang="en-US" sz="1500" dirty="0"/>
          </a:p>
        </p:txBody>
      </p:sp>
      <p:sp>
        <p:nvSpPr>
          <p:cNvPr id="13" name="Text 10"/>
          <p:cNvSpPr/>
          <p:nvPr/>
        </p:nvSpPr>
        <p:spPr>
          <a:xfrm>
            <a:off x="6359572" y="4138850"/>
            <a:ext cx="4908590" cy="558805"/>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AFAF8"/>
                </a:solidFill>
                <a:latin typeface="Source Sans 3" pitchFamily="34" charset="0"/>
                <a:ea typeface="Source Sans 3" pitchFamily="34" charset="-122"/>
                <a:cs typeface="Source Sans 3" pitchFamily="34" charset="-120"/>
              </a:rPr>
              <a:t>Between models:</a:t>
            </a:r>
            <a:r>
              <a:rPr lang="en-US" sz="1500" dirty="0">
                <a:solidFill>
                  <a:srgbClr val="D9D9D4"/>
                </a:solidFill>
                <a:latin typeface="Source Sans 3" pitchFamily="34" charset="0"/>
                <a:ea typeface="Source Sans 3" pitchFamily="34" charset="-122"/>
                <a:cs typeface="Source Sans 3" pitchFamily="34" charset="-120"/>
              </a:rPr>
              <a:t> optimizing to the same benchmarks compresses differences</a:t>
            </a:r>
            <a:endParaRPr lang="en-US" sz="1500" dirty="0"/>
          </a:p>
        </p:txBody>
      </p:sp>
      <p:sp>
        <p:nvSpPr>
          <p:cNvPr id="14" name="Text 11"/>
          <p:cNvSpPr/>
          <p:nvPr/>
        </p:nvSpPr>
        <p:spPr>
          <a:xfrm>
            <a:off x="6359572" y="4748450"/>
            <a:ext cx="4908590" cy="619716"/>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CFB87C"/>
                </a:solidFill>
                <a:latin typeface="Source Serif 4" pitchFamily="18" charset="0"/>
                <a:ea typeface="Source Serif 4" pitchFamily="18" charset="-122"/>
                <a:cs typeface="Source Serif 4" pitchFamily="18" charset="-120"/>
              </a:rPr>
              <a:t>LLM variability is designed, not discovered.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812788" y="660397"/>
            <a:ext cx="1424237" cy="289497"/>
          </a:xfrm>
          <a:custGeom>
            <a:avLst/>
            <a:gdLst/>
            <a:ahLst/>
            <a:cxnLst/>
            <a:rect l="l" t="t" r="r" b="b"/>
            <a:pathLst>
              <a:path w="1424237" h="289497">
                <a:moveTo>
                  <a:pt x="144748" y="0"/>
                </a:moveTo>
                <a:lnTo>
                  <a:pt x="1279489" y="0"/>
                </a:lnTo>
                <a:arcTo wR="144748" hR="144748" stAng="16200000" swAng="5400000"/>
                <a:lnTo>
                  <a:pt x="1424237"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PROBLEM</a:t>
            </a:r>
            <a:endParaRPr lang="en-US" sz="1200" dirty="0"/>
          </a:p>
        </p:txBody>
      </p:sp>
      <p:sp>
        <p:nvSpPr>
          <p:cNvPr id="3" name="Text 1"/>
          <p:cNvSpPr>
            <a:spLocks noGrp="1"/>
          </p:cNvSpPr>
          <p:nvPr>
            <p:ph type="title"/>
          </p:nvPr>
        </p:nvSpPr>
        <p:spPr>
          <a:xfrm>
            <a:off x="812788" y="1076886"/>
            <a:ext cx="7541591"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AFAF8"/>
                </a:solidFill>
                <a:latin typeface="Source Serif 4" pitchFamily="18" charset="0"/>
                <a:ea typeface="Source Serif 4" pitchFamily="18" charset="-122"/>
                <a:cs typeface="Source Serif 4" pitchFamily="18" charset="-120"/>
              </a:rPr>
              <a:t>Measure People, Evaluate Models</a:t>
            </a:r>
            <a:endParaRPr lang="en-US" sz="3200" dirty="0"/>
          </a:p>
        </p:txBody>
      </p:sp>
      <p:sp>
        <p:nvSpPr>
          <p:cNvPr id="4" name="Shape 2"/>
          <p:cNvSpPr/>
          <p:nvPr/>
        </p:nvSpPr>
        <p:spPr>
          <a:xfrm>
            <a:off x="819138" y="1835037"/>
            <a:ext cx="5168882" cy="1469278"/>
          </a:xfrm>
          <a:prstGeom prst="roundRect">
            <a:avLst>
              <a:gd name="adj" fmla="val 6483"/>
            </a:avLst>
          </a:prstGeom>
          <a:noFill/>
          <a:ln w="12700">
            <a:solidFill>
              <a:srgbClr val="3A3A3A"/>
            </a:solidFill>
            <a:prstDash val="solid"/>
          </a:ln>
        </p:spPr>
        <p:txBody>
          <a:bodyPr/>
          <a:lstStyle/>
          <a:p>
            <a:endParaRPr lang="en-US" dirty="0"/>
          </a:p>
        </p:txBody>
      </p:sp>
      <p:sp>
        <p:nvSpPr>
          <p:cNvPr id="5" name="Text 3"/>
          <p:cNvSpPr/>
          <p:nvPr/>
        </p:nvSpPr>
        <p:spPr>
          <a:xfrm>
            <a:off x="1129645" y="2094748"/>
            <a:ext cx="4684303"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FB87C"/>
                </a:solidFill>
                <a:latin typeface="Source Sans 3" pitchFamily="34" charset="0"/>
                <a:ea typeface="Source Sans 3" pitchFamily="34" charset="-122"/>
                <a:cs typeface="Source Sans 3" pitchFamily="34" charset="-120"/>
              </a:rPr>
              <a:t>EVALUATION</a:t>
            </a:r>
            <a:endParaRPr lang="en-US" sz="1200" dirty="0"/>
          </a:p>
        </p:txBody>
      </p:sp>
      <p:sp>
        <p:nvSpPr>
          <p:cNvPr id="6" name="Text 4"/>
          <p:cNvSpPr/>
          <p:nvPr/>
        </p:nvSpPr>
        <p:spPr>
          <a:xfrm>
            <a:off x="1129645" y="2409681"/>
            <a:ext cx="4684303" cy="660323"/>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FAFAF8"/>
                </a:solidFill>
                <a:latin typeface="Source Serif 4" pitchFamily="18" charset="0"/>
                <a:ea typeface="Source Serif 4" pitchFamily="18" charset="-122"/>
                <a:cs typeface="Source Serif 4" pitchFamily="18" charset="-120"/>
              </a:rPr>
              <a:t>Are an AI system’s outputs fit for a use?</a:t>
            </a:r>
            <a:endParaRPr lang="en-US" sz="2000" dirty="0"/>
          </a:p>
        </p:txBody>
      </p:sp>
      <p:sp>
        <p:nvSpPr>
          <p:cNvPr id="7" name="Shape 5"/>
          <p:cNvSpPr/>
          <p:nvPr/>
        </p:nvSpPr>
        <p:spPr>
          <a:xfrm>
            <a:off x="6203907" y="1835037"/>
            <a:ext cx="5168920" cy="1469278"/>
          </a:xfrm>
          <a:prstGeom prst="roundRect">
            <a:avLst>
              <a:gd name="adj" fmla="val 6483"/>
            </a:avLst>
          </a:prstGeom>
          <a:noFill/>
          <a:ln w="12700">
            <a:solidFill>
              <a:srgbClr val="3A3A3A"/>
            </a:solidFill>
            <a:prstDash val="solid"/>
          </a:ln>
        </p:spPr>
        <p:txBody>
          <a:bodyPr/>
          <a:lstStyle/>
          <a:p>
            <a:endParaRPr lang="en-US" dirty="0"/>
          </a:p>
        </p:txBody>
      </p:sp>
      <p:sp>
        <p:nvSpPr>
          <p:cNvPr id="8" name="Text 6"/>
          <p:cNvSpPr/>
          <p:nvPr/>
        </p:nvSpPr>
        <p:spPr>
          <a:xfrm>
            <a:off x="6514415" y="2094748"/>
            <a:ext cx="468434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FB87C"/>
                </a:solidFill>
                <a:latin typeface="Source Sans 3" pitchFamily="34" charset="0"/>
                <a:ea typeface="Source Sans 3" pitchFamily="34" charset="-122"/>
                <a:cs typeface="Source Sans 3" pitchFamily="34" charset="-120"/>
              </a:rPr>
              <a:t>MEASUREMENT</a:t>
            </a:r>
            <a:endParaRPr lang="en-US" sz="1200" dirty="0"/>
          </a:p>
        </p:txBody>
      </p:sp>
      <p:sp>
        <p:nvSpPr>
          <p:cNvPr id="9" name="Text 7"/>
          <p:cNvSpPr/>
          <p:nvPr/>
        </p:nvSpPr>
        <p:spPr>
          <a:xfrm>
            <a:off x="6514415" y="2409681"/>
            <a:ext cx="4684342" cy="660323"/>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FAFAF8"/>
                </a:solidFill>
                <a:latin typeface="Source Serif 4" pitchFamily="18" charset="0"/>
                <a:ea typeface="Source Serif 4" pitchFamily="18" charset="-122"/>
                <a:cs typeface="Source Serif 4" pitchFamily="18" charset="-120"/>
              </a:rPr>
              <a:t>Is there a quantitative attribute to be estimated?</a:t>
            </a:r>
            <a:endParaRPr lang="en-US" sz="2000" dirty="0"/>
          </a:p>
        </p:txBody>
      </p:sp>
      <p:sp>
        <p:nvSpPr>
          <p:cNvPr id="10" name="Shape 8"/>
          <p:cNvSpPr/>
          <p:nvPr/>
        </p:nvSpPr>
        <p:spPr>
          <a:xfrm>
            <a:off x="812788" y="4402004"/>
            <a:ext cx="10566390" cy="1440012"/>
          </a:xfrm>
          <a:prstGeom prst="roundRect">
            <a:avLst>
              <a:gd name="adj" fmla="val 7055"/>
            </a:avLst>
          </a:prstGeom>
          <a:solidFill>
            <a:srgbClr val="CFB87C"/>
          </a:solidFill>
          <a:ln/>
        </p:spPr>
        <p:txBody>
          <a:bodyPr/>
          <a:lstStyle/>
          <a:p>
            <a:endParaRPr lang="en-US" dirty="0"/>
          </a:p>
        </p:txBody>
      </p:sp>
      <p:sp>
        <p:nvSpPr>
          <p:cNvPr id="11" name="Text 9"/>
          <p:cNvSpPr/>
          <p:nvPr/>
        </p:nvSpPr>
        <p:spPr>
          <a:xfrm>
            <a:off x="1117569" y="4655989"/>
            <a:ext cx="1025553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CONSTRUCT: CRITICAL AI LITERACY</a:t>
            </a:r>
            <a:endParaRPr lang="en-US" sz="1200" dirty="0"/>
          </a:p>
        </p:txBody>
      </p:sp>
      <p:sp>
        <p:nvSpPr>
          <p:cNvPr id="12" name="Text 10"/>
          <p:cNvSpPr/>
          <p:nvPr/>
        </p:nvSpPr>
        <p:spPr>
          <a:xfrm>
            <a:off x="1117569" y="4970923"/>
            <a:ext cx="10255532" cy="642510"/>
          </a:xfrm>
          <a:prstGeom prst="rect">
            <a:avLst/>
          </a:prstGeom>
          <a:noFill/>
          <a:ln/>
        </p:spPr>
        <p:txBody>
          <a:bodyPr wrap="square" lIns="0" tIns="0" rIns="0" bIns="0" rtlCol="0" anchor="t">
            <a:normAutofit/>
          </a:bodyPr>
          <a:lstStyle/>
          <a:p>
            <a:pPr marL="0" indent="0" algn="l">
              <a:lnSpc>
                <a:spcPts val="2430"/>
              </a:lnSpc>
              <a:buNone/>
            </a:pPr>
            <a:r>
              <a:rPr lang="en-US" sz="1800" b="1" dirty="0">
                <a:solidFill>
                  <a:srgbClr val="141414"/>
                </a:solidFill>
                <a:latin typeface="Source Serif 4" pitchFamily="18" charset="0"/>
                <a:ea typeface="Source Serif 4" pitchFamily="18" charset="-122"/>
                <a:cs typeface="Source Serif 4" pitchFamily="18" charset="-120"/>
              </a:rPr>
              <a:t>The capacity to detect and repair, or where no objective check exists, to appraise and override, a plausible-but-wrong AI output that is not easily verified</a:t>
            </a:r>
            <a:endParaRPr lang="en-US" sz="1800" dirty="0"/>
          </a:p>
        </p:txBody>
      </p:sp>
      <p:sp>
        <p:nvSpPr>
          <p:cNvPr id="13" name="Text 11"/>
          <p:cNvSpPr/>
          <p:nvPr/>
        </p:nvSpPr>
        <p:spPr>
          <a:xfrm>
            <a:off x="812788" y="623827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2A4A3"/>
                </a:solidFill>
                <a:latin typeface="Source Sans 3" pitchFamily="34" charset="0"/>
                <a:ea typeface="Source Sans 3" pitchFamily="34" charset="-122"/>
                <a:cs typeface="Source Sans 3" pitchFamily="34" charset="-120"/>
              </a:rPr>
              <a:t>The LLM is a powerful but non-stationary instrument, not an object of measurement.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397"/>
            <a:ext cx="1206294" cy="289497"/>
          </a:xfrm>
          <a:custGeom>
            <a:avLst/>
            <a:gdLst/>
            <a:ahLst/>
            <a:cxnLst/>
            <a:rect l="l" t="t" r="r" b="b"/>
            <a:pathLst>
              <a:path w="1206294" h="289497">
                <a:moveTo>
                  <a:pt x="144748" y="0"/>
                </a:moveTo>
                <a:lnTo>
                  <a:pt x="1061545" y="0"/>
                </a:lnTo>
                <a:arcTo wR="144748" hR="144748" stAng="16200000" swAng="5400000"/>
                <a:lnTo>
                  <a:pt x="1206294"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MODEL</a:t>
            </a:r>
            <a:endParaRPr lang="en-US" sz="1200" dirty="0"/>
          </a:p>
        </p:txBody>
      </p:sp>
      <p:sp>
        <p:nvSpPr>
          <p:cNvPr id="3" name="Text 1"/>
          <p:cNvSpPr>
            <a:spLocks noGrp="1"/>
          </p:cNvSpPr>
          <p:nvPr>
            <p:ph type="title"/>
          </p:nvPr>
        </p:nvSpPr>
        <p:spPr>
          <a:xfrm>
            <a:off x="812788" y="1076886"/>
            <a:ext cx="10446115"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An Item: Accept or Override an LLM Response</a:t>
            </a:r>
            <a:endParaRPr lang="en-US" sz="3200" dirty="0"/>
          </a:p>
        </p:txBody>
      </p:sp>
      <p:sp>
        <p:nvSpPr>
          <p:cNvPr id="4" name="Text 2"/>
          <p:cNvSpPr/>
          <p:nvPr/>
        </p:nvSpPr>
        <p:spPr>
          <a:xfrm>
            <a:off x="812788" y="2258045"/>
            <a:ext cx="3924291" cy="55880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A bank of LLM responses: some </a:t>
            </a:r>
            <a:r>
              <a:rPr lang="en-US" sz="1500" b="1" dirty="0">
                <a:solidFill>
                  <a:srgbClr val="141414"/>
                </a:solidFill>
                <a:latin typeface="Source Sans 3" pitchFamily="34" charset="0"/>
                <a:ea typeface="Source Sans 3" pitchFamily="34" charset="-122"/>
                <a:cs typeface="Source Sans 3" pitchFamily="34" charset="-120"/>
              </a:rPr>
              <a:t>correct (C)</a:t>
            </a:r>
            <a:r>
              <a:rPr lang="en-US" sz="1500" dirty="0">
                <a:solidFill>
                  <a:srgbClr val="141414"/>
                </a:solidFill>
                <a:latin typeface="Source Sans 3" pitchFamily="34" charset="0"/>
                <a:ea typeface="Source Sans 3" pitchFamily="34" charset="-122"/>
                <a:cs typeface="Source Sans 3" pitchFamily="34" charset="-120"/>
              </a:rPr>
              <a:t>, some </a:t>
            </a:r>
            <a:r>
              <a:rPr lang="en-US" sz="1500" b="1" dirty="0">
                <a:solidFill>
                  <a:srgbClr val="141414"/>
                </a:solidFill>
                <a:latin typeface="Source Sans 3" pitchFamily="34" charset="0"/>
                <a:ea typeface="Source Sans 3" pitchFamily="34" charset="-122"/>
                <a:cs typeface="Source Sans 3" pitchFamily="34" charset="-120"/>
              </a:rPr>
              <a:t>erroneous (E)</a:t>
            </a:r>
            <a:endParaRPr lang="en-US" sz="1500" dirty="0"/>
          </a:p>
        </p:txBody>
      </p:sp>
      <p:sp>
        <p:nvSpPr>
          <p:cNvPr id="5" name="Text 3"/>
          <p:cNvSpPr/>
          <p:nvPr/>
        </p:nvSpPr>
        <p:spPr>
          <a:xfrm>
            <a:off x="812788" y="2969239"/>
            <a:ext cx="3924291" cy="55880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The person accepts each response or overrides it</a:t>
            </a:r>
            <a:endParaRPr lang="en-US" sz="1500" dirty="0"/>
          </a:p>
        </p:txBody>
      </p:sp>
      <p:sp>
        <p:nvSpPr>
          <p:cNvPr id="6" name="Text 4"/>
          <p:cNvSpPr/>
          <p:nvPr/>
        </p:nvSpPr>
        <p:spPr>
          <a:xfrm>
            <a:off x="812788" y="3680433"/>
            <a:ext cx="3924291" cy="292102"/>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141414"/>
                </a:solidFill>
                <a:latin typeface="Source Sans 3" pitchFamily="34" charset="0"/>
                <a:ea typeface="Source Sans 3" pitchFamily="34" charset="-122"/>
                <a:cs typeface="Source Sans 3" pitchFamily="34" charset="-120"/>
              </a:rPr>
              <a:t>X</a:t>
            </a:r>
            <a:r>
              <a:rPr lang="en-US" sz="1500" dirty="0">
                <a:solidFill>
                  <a:srgbClr val="141414"/>
                </a:solidFill>
                <a:latin typeface="Source Sans 3" pitchFamily="34" charset="0"/>
                <a:ea typeface="Source Sans 3" pitchFamily="34" charset="-122"/>
                <a:cs typeface="Source Sans 3" pitchFamily="34" charset="-120"/>
              </a:rPr>
              <a:t> = 1 if and only if the decision is correct</a:t>
            </a:r>
            <a:endParaRPr lang="en-US" sz="1500" dirty="0"/>
          </a:p>
        </p:txBody>
      </p:sp>
      <p:sp>
        <p:nvSpPr>
          <p:cNvPr id="7" name="Shape 5"/>
          <p:cNvSpPr/>
          <p:nvPr/>
        </p:nvSpPr>
        <p:spPr>
          <a:xfrm>
            <a:off x="812788" y="4124923"/>
            <a:ext cx="3809991" cy="1287735"/>
          </a:xfrm>
          <a:prstGeom prst="roundRect">
            <a:avLst>
              <a:gd name="adj" fmla="val 7890"/>
            </a:avLst>
          </a:prstGeom>
          <a:solidFill>
            <a:srgbClr val="141414"/>
          </a:solidFill>
          <a:ln/>
        </p:spPr>
        <p:txBody>
          <a:bodyPr/>
          <a:lstStyle/>
          <a:p>
            <a:endParaRPr lang="en-US" dirty="0"/>
          </a:p>
        </p:txBody>
      </p:sp>
      <p:sp>
        <p:nvSpPr>
          <p:cNvPr id="8" name="Text 6"/>
          <p:cNvSpPr/>
          <p:nvPr/>
        </p:nvSpPr>
        <p:spPr>
          <a:xfrm>
            <a:off x="1066772" y="4328111"/>
            <a:ext cx="3401084" cy="322558"/>
          </a:xfrm>
          <a:prstGeom prst="rect">
            <a:avLst/>
          </a:prstGeom>
          <a:noFill/>
          <a:ln/>
        </p:spPr>
        <p:txBody>
          <a:bodyPr wrap="square" lIns="0" tIns="0" rIns="0" bIns="0" rtlCol="0" anchor="t">
            <a:normAutofit/>
          </a:bodyPr>
          <a:lstStyle/>
          <a:p>
            <a:pPr marL="0" indent="0" algn="l">
              <a:lnSpc>
                <a:spcPts val="2340"/>
              </a:lnSpc>
              <a:buNone/>
            </a:pPr>
            <a:r>
              <a:rPr lang="en-US" sz="1800" b="1" i="1" dirty="0">
                <a:solidFill>
                  <a:srgbClr val="CFB87C"/>
                </a:solidFill>
                <a:latin typeface="Source Serif 4" pitchFamily="18" charset="0"/>
                <a:ea typeface="Source Serif 4" pitchFamily="18" charset="-122"/>
                <a:cs typeface="Source Serif 4" pitchFamily="18" charset="-120"/>
              </a:rPr>
              <a:t>c</a:t>
            </a:r>
            <a:r>
              <a:rPr lang="en-US" sz="1800" b="1" dirty="0">
                <a:solidFill>
                  <a:srgbClr val="CFB87C"/>
                </a:solidFill>
                <a:latin typeface="Source Serif 4" pitchFamily="18" charset="0"/>
                <a:ea typeface="Source Serif 4" pitchFamily="18" charset="-122"/>
                <a:cs typeface="Source Serif 4" pitchFamily="18" charset="-120"/>
              </a:rPr>
              <a:t> = P(C)</a:t>
            </a:r>
            <a:endParaRPr lang="en-US" sz="1800" dirty="0"/>
          </a:p>
        </p:txBody>
      </p:sp>
      <p:sp>
        <p:nvSpPr>
          <p:cNvPr id="9" name="Text 7"/>
          <p:cNvSpPr/>
          <p:nvPr/>
        </p:nvSpPr>
        <p:spPr>
          <a:xfrm>
            <a:off x="1066772" y="4676065"/>
            <a:ext cx="3401084" cy="55880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D9D4"/>
                </a:solidFill>
                <a:latin typeface="Source Sans 3" pitchFamily="34" charset="0"/>
                <a:ea typeface="Source Sans 3" pitchFamily="34" charset="-122"/>
                <a:cs typeface="Source Sans 3" pitchFamily="34" charset="-120"/>
              </a:rPr>
              <a:t>The share of correct responses in the bank, which is the model’s capability</a:t>
            </a:r>
            <a:endParaRPr lang="en-US" sz="1500" dirty="0"/>
          </a:p>
        </p:txBody>
      </p:sp>
      <p:sp>
        <p:nvSpPr>
          <p:cNvPr id="10" name="Text 8"/>
          <p:cNvSpPr/>
          <p:nvPr/>
        </p:nvSpPr>
        <p:spPr>
          <a:xfrm>
            <a:off x="5002484" y="2457081"/>
            <a:ext cx="1831305" cy="539709"/>
          </a:xfrm>
          <a:prstGeom prst="rect">
            <a:avLst/>
          </a:prstGeom>
          <a:noFill/>
          <a:ln/>
        </p:spPr>
        <p:txBody>
          <a:bodyPr wrap="square" lIns="0" tIns="0" rIns="0" bIns="0" rtlCol="0" anchor="t">
            <a:normAutofit/>
          </a:bodyPr>
          <a:lstStyle/>
          <a:p>
            <a:pPr marL="0" indent="0" algn="ctr">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ACCEPT</a:t>
            </a:r>
            <a:endParaRPr lang="en-US" sz="1200" dirty="0"/>
          </a:p>
        </p:txBody>
      </p:sp>
      <p:sp>
        <p:nvSpPr>
          <p:cNvPr id="11" name="Text 9"/>
          <p:cNvSpPr/>
          <p:nvPr/>
        </p:nvSpPr>
        <p:spPr>
          <a:xfrm>
            <a:off x="6875947" y="2457081"/>
            <a:ext cx="2249949" cy="539709"/>
          </a:xfrm>
          <a:prstGeom prst="rect">
            <a:avLst/>
          </a:prstGeom>
          <a:noFill/>
          <a:ln/>
        </p:spPr>
        <p:txBody>
          <a:bodyPr wrap="square" lIns="0" tIns="0" rIns="0" bIns="0" rtlCol="0" anchor="t">
            <a:normAutofit/>
          </a:bodyPr>
          <a:lstStyle/>
          <a:p>
            <a:pPr marL="0" indent="0" algn="ctr">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OVERRIDE</a:t>
            </a:r>
            <a:endParaRPr lang="en-US" sz="1200" dirty="0"/>
          </a:p>
        </p:txBody>
      </p:sp>
      <p:sp>
        <p:nvSpPr>
          <p:cNvPr id="12" name="Text 10"/>
          <p:cNvSpPr/>
          <p:nvPr/>
        </p:nvSpPr>
        <p:spPr>
          <a:xfrm>
            <a:off x="9485429" y="3294994"/>
            <a:ext cx="2249987" cy="299688"/>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4"/>
                </a:solidFill>
                <a:latin typeface="Source Serif 4" pitchFamily="18" charset="0"/>
                <a:ea typeface="Source Serif 4" pitchFamily="18" charset="-122"/>
                <a:cs typeface="Source Serif 4" pitchFamily="18" charset="-120"/>
              </a:rPr>
              <a:t>LLM Correct (C)</a:t>
            </a:r>
            <a:endParaRPr lang="en-US" sz="1800" dirty="0"/>
          </a:p>
        </p:txBody>
      </p:sp>
      <p:sp>
        <p:nvSpPr>
          <p:cNvPr id="13" name="Text 11"/>
          <p:cNvSpPr/>
          <p:nvPr/>
        </p:nvSpPr>
        <p:spPr>
          <a:xfrm>
            <a:off x="9485429" y="3594681"/>
            <a:ext cx="2249987" cy="240022"/>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6B6F72"/>
                </a:solidFill>
                <a:latin typeface="Source Sans 3" pitchFamily="34" charset="0"/>
                <a:ea typeface="Source Sans 3" pitchFamily="34" charset="-122"/>
                <a:cs typeface="Source Sans 3" pitchFamily="34" charset="-120"/>
              </a:rPr>
              <a:t>probability </a:t>
            </a:r>
            <a:r>
              <a:rPr lang="en-US" sz="1300" i="1" dirty="0">
                <a:solidFill>
                  <a:srgbClr val="6B6F72"/>
                </a:solidFill>
                <a:latin typeface="Source Sans 3" pitchFamily="34" charset="0"/>
                <a:ea typeface="Source Sans 3" pitchFamily="34" charset="-122"/>
                <a:cs typeface="Source Sans 3" pitchFamily="34" charset="-120"/>
              </a:rPr>
              <a:t>c</a:t>
            </a:r>
            <a:endParaRPr lang="en-US" sz="1300" dirty="0"/>
          </a:p>
        </p:txBody>
      </p:sp>
      <p:sp>
        <p:nvSpPr>
          <p:cNvPr id="14" name="Shape 12"/>
          <p:cNvSpPr/>
          <p:nvPr/>
        </p:nvSpPr>
        <p:spPr>
          <a:xfrm>
            <a:off x="5035504" y="3079335"/>
            <a:ext cx="1765266" cy="906738"/>
          </a:xfrm>
          <a:prstGeom prst="roundRect">
            <a:avLst>
              <a:gd name="adj" fmla="val 10505"/>
            </a:avLst>
          </a:prstGeom>
          <a:solidFill>
            <a:srgbClr val="F1E9D2"/>
          </a:solidFill>
          <a:ln w="12700">
            <a:solidFill>
              <a:srgbClr val="CFB87C"/>
            </a:solidFill>
            <a:prstDash val="solid"/>
          </a:ln>
        </p:spPr>
        <p:txBody>
          <a:bodyPr/>
          <a:lstStyle/>
          <a:p>
            <a:endParaRPr lang="en-US" dirty="0"/>
          </a:p>
        </p:txBody>
      </p:sp>
      <p:sp>
        <p:nvSpPr>
          <p:cNvPr id="15" name="Text 13"/>
          <p:cNvSpPr/>
          <p:nvPr/>
        </p:nvSpPr>
        <p:spPr>
          <a:xfrm>
            <a:off x="5244418" y="3262849"/>
            <a:ext cx="1398238" cy="299688"/>
          </a:xfrm>
          <a:prstGeom prst="rect">
            <a:avLst/>
          </a:prstGeom>
          <a:noFill/>
          <a:ln/>
        </p:spPr>
        <p:txBody>
          <a:bodyPr wrap="square" lIns="0" tIns="0" rIns="0" bIns="0" rtlCol="0" anchor="t">
            <a:normAutofit/>
          </a:bodyPr>
          <a:lstStyle/>
          <a:p>
            <a:pPr marL="0" indent="0" algn="l">
              <a:lnSpc>
                <a:spcPts val="2160"/>
              </a:lnSpc>
              <a:buNone/>
            </a:pPr>
            <a:r>
              <a:rPr lang="en-US" sz="1800" b="1" i="1" dirty="0">
                <a:solidFill>
                  <a:srgbClr val="141414"/>
                </a:solidFill>
                <a:latin typeface="Source Serif 4" pitchFamily="18" charset="0"/>
                <a:ea typeface="Source Serif 4" pitchFamily="18" charset="-122"/>
                <a:cs typeface="Source Serif 4" pitchFamily="18" charset="-120"/>
              </a:rPr>
              <a:t>X</a:t>
            </a:r>
            <a:r>
              <a:rPr lang="en-US" sz="1800" b="1" dirty="0">
                <a:solidFill>
                  <a:srgbClr val="141414"/>
                </a:solidFill>
                <a:latin typeface="Source Serif 4" pitchFamily="18" charset="0"/>
                <a:ea typeface="Source Serif 4" pitchFamily="18" charset="-122"/>
                <a:cs typeface="Source Serif 4" pitchFamily="18" charset="-120"/>
              </a:rPr>
              <a:t> = 1</a:t>
            </a:r>
            <a:endParaRPr lang="en-US" sz="1800" dirty="0"/>
          </a:p>
        </p:txBody>
      </p:sp>
      <p:sp>
        <p:nvSpPr>
          <p:cNvPr id="16" name="Text 14"/>
          <p:cNvSpPr/>
          <p:nvPr/>
        </p:nvSpPr>
        <p:spPr>
          <a:xfrm>
            <a:off x="5244418" y="3587933"/>
            <a:ext cx="1398238" cy="240022"/>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D40"/>
                </a:solidFill>
                <a:latin typeface="Source Sans 3" pitchFamily="34" charset="0"/>
                <a:ea typeface="Source Sans 3" pitchFamily="34" charset="-122"/>
                <a:cs typeface="Source Sans 3" pitchFamily="34" charset="-120"/>
              </a:rPr>
              <a:t>1 − </a:t>
            </a:r>
            <a:r>
              <a:rPr lang="en-US" sz="1300" i="1" dirty="0">
                <a:solidFill>
                  <a:srgbClr val="3A3D40"/>
                </a:solidFill>
                <a:latin typeface="Source Sans 3" pitchFamily="34" charset="0"/>
                <a:ea typeface="Source Sans 3" pitchFamily="34" charset="-122"/>
                <a:cs typeface="Source Sans 3" pitchFamily="34" charset="-120"/>
              </a:rPr>
              <a:t>f</a:t>
            </a:r>
            <a:r>
              <a:rPr lang="en-US" sz="1300" dirty="0">
                <a:solidFill>
                  <a:srgbClr val="3A3D40"/>
                </a:solidFill>
                <a:latin typeface="Source Sans 3" pitchFamily="34" charset="0"/>
                <a:ea typeface="Source Sans 3" pitchFamily="34" charset="-122"/>
                <a:cs typeface="Source Sans 3" pitchFamily="34" charset="-120"/>
              </a:rPr>
              <a:t>(θ)</a:t>
            </a:r>
            <a:endParaRPr lang="en-US" sz="1300" dirty="0"/>
          </a:p>
        </p:txBody>
      </p:sp>
      <p:sp>
        <p:nvSpPr>
          <p:cNvPr id="17" name="Shape 15"/>
          <p:cNvSpPr/>
          <p:nvPr/>
        </p:nvSpPr>
        <p:spPr>
          <a:xfrm>
            <a:off x="6911888" y="3076160"/>
            <a:ext cx="2178066" cy="913088"/>
          </a:xfrm>
          <a:prstGeom prst="roundRect">
            <a:avLst>
              <a:gd name="adj" fmla="val 10779"/>
            </a:avLst>
          </a:prstGeom>
          <a:solidFill>
            <a:srgbClr val="FFFFFF"/>
          </a:solidFill>
          <a:ln w="6350">
            <a:solidFill>
              <a:srgbClr val="E2E1DC"/>
            </a:solidFill>
            <a:prstDash val="solid"/>
          </a:ln>
        </p:spPr>
        <p:txBody>
          <a:bodyPr/>
          <a:lstStyle/>
          <a:p>
            <a:endParaRPr lang="en-US" dirty="0"/>
          </a:p>
        </p:txBody>
      </p:sp>
      <p:sp>
        <p:nvSpPr>
          <p:cNvPr id="18" name="Text 16"/>
          <p:cNvSpPr/>
          <p:nvPr/>
        </p:nvSpPr>
        <p:spPr>
          <a:xfrm>
            <a:off x="7116731" y="3262849"/>
            <a:ext cx="1821431" cy="299688"/>
          </a:xfrm>
          <a:prstGeom prst="rect">
            <a:avLst/>
          </a:prstGeom>
          <a:noFill/>
          <a:ln/>
        </p:spPr>
        <p:txBody>
          <a:bodyPr wrap="square" lIns="0" tIns="0" rIns="0" bIns="0" rtlCol="0" anchor="t">
            <a:normAutofit/>
          </a:bodyPr>
          <a:lstStyle/>
          <a:p>
            <a:pPr marL="0" indent="0" algn="l">
              <a:lnSpc>
                <a:spcPts val="2160"/>
              </a:lnSpc>
              <a:buNone/>
            </a:pPr>
            <a:r>
              <a:rPr lang="en-US" sz="1800" b="1" i="1" dirty="0">
                <a:solidFill>
                  <a:srgbClr val="141414"/>
                </a:solidFill>
                <a:latin typeface="Source Serif 4" pitchFamily="18" charset="0"/>
                <a:ea typeface="Source Serif 4" pitchFamily="18" charset="-122"/>
                <a:cs typeface="Source Serif 4" pitchFamily="18" charset="-120"/>
              </a:rPr>
              <a:t>X</a:t>
            </a:r>
            <a:r>
              <a:rPr lang="en-US" sz="1800" b="1" dirty="0">
                <a:solidFill>
                  <a:srgbClr val="141414"/>
                </a:solidFill>
                <a:latin typeface="Source Serif 4" pitchFamily="18" charset="0"/>
                <a:ea typeface="Source Serif 4" pitchFamily="18" charset="-122"/>
                <a:cs typeface="Source Serif 4" pitchFamily="18" charset="-120"/>
              </a:rPr>
              <a:t> = 0</a:t>
            </a:r>
            <a:endParaRPr lang="en-US" sz="1800" dirty="0"/>
          </a:p>
        </p:txBody>
      </p:sp>
      <p:sp>
        <p:nvSpPr>
          <p:cNvPr id="19" name="Text 17"/>
          <p:cNvSpPr/>
          <p:nvPr/>
        </p:nvSpPr>
        <p:spPr>
          <a:xfrm>
            <a:off x="7116731" y="3587933"/>
            <a:ext cx="1821431" cy="240022"/>
          </a:xfrm>
          <a:prstGeom prst="rect">
            <a:avLst/>
          </a:prstGeom>
          <a:noFill/>
          <a:ln/>
        </p:spPr>
        <p:txBody>
          <a:bodyPr wrap="square" lIns="0" tIns="0" rIns="0" bIns="0" rtlCol="0" anchor="t">
            <a:normAutofit/>
          </a:bodyPr>
          <a:lstStyle/>
          <a:p>
            <a:pPr marL="0" indent="0" algn="l">
              <a:lnSpc>
                <a:spcPts val="1690"/>
              </a:lnSpc>
              <a:buNone/>
            </a:pPr>
            <a:r>
              <a:rPr lang="en-US" sz="1300" i="1" dirty="0">
                <a:solidFill>
                  <a:srgbClr val="3A3D40"/>
                </a:solidFill>
                <a:latin typeface="Source Sans 3" pitchFamily="34" charset="0"/>
                <a:ea typeface="Source Sans 3" pitchFamily="34" charset="-122"/>
                <a:cs typeface="Source Sans 3" pitchFamily="34" charset="-120"/>
              </a:rPr>
              <a:t>f</a:t>
            </a:r>
            <a:r>
              <a:rPr lang="en-US" sz="1300" dirty="0">
                <a:solidFill>
                  <a:srgbClr val="3A3D40"/>
                </a:solidFill>
                <a:latin typeface="Source Sans 3" pitchFamily="34" charset="0"/>
                <a:ea typeface="Source Sans 3" pitchFamily="34" charset="-122"/>
                <a:cs typeface="Source Sans 3" pitchFamily="34" charset="-120"/>
              </a:rPr>
              <a:t>(θ): false alarm</a:t>
            </a:r>
            <a:endParaRPr lang="en-US" sz="1300" dirty="0"/>
          </a:p>
        </p:txBody>
      </p:sp>
      <p:sp>
        <p:nvSpPr>
          <p:cNvPr id="20" name="Text 18"/>
          <p:cNvSpPr/>
          <p:nvPr/>
        </p:nvSpPr>
        <p:spPr>
          <a:xfrm>
            <a:off x="9485429" y="4383928"/>
            <a:ext cx="2249987" cy="299688"/>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4"/>
                </a:solidFill>
                <a:latin typeface="Source Serif 4" pitchFamily="18" charset="0"/>
                <a:ea typeface="Source Serif 4" pitchFamily="18" charset="-122"/>
                <a:cs typeface="Source Serif 4" pitchFamily="18" charset="-120"/>
              </a:rPr>
              <a:t>LLM Erroneous (E)</a:t>
            </a:r>
            <a:endParaRPr lang="en-US" sz="1800" dirty="0"/>
          </a:p>
        </p:txBody>
      </p:sp>
      <p:sp>
        <p:nvSpPr>
          <p:cNvPr id="21" name="Text 19"/>
          <p:cNvSpPr/>
          <p:nvPr/>
        </p:nvSpPr>
        <p:spPr>
          <a:xfrm>
            <a:off x="9485429" y="4683615"/>
            <a:ext cx="2249987" cy="240022"/>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6B6F72"/>
                </a:solidFill>
                <a:latin typeface="Source Sans 3" pitchFamily="34" charset="0"/>
                <a:ea typeface="Source Sans 3" pitchFamily="34" charset="-122"/>
                <a:cs typeface="Source Sans 3" pitchFamily="34" charset="-120"/>
              </a:rPr>
              <a:t>probability 1 − </a:t>
            </a:r>
            <a:r>
              <a:rPr lang="en-US" sz="1300" i="1" dirty="0">
                <a:solidFill>
                  <a:srgbClr val="6B6F72"/>
                </a:solidFill>
                <a:latin typeface="Source Sans 3" pitchFamily="34" charset="0"/>
                <a:ea typeface="Source Sans 3" pitchFamily="34" charset="-122"/>
                <a:cs typeface="Source Sans 3" pitchFamily="34" charset="-120"/>
              </a:rPr>
              <a:t>c</a:t>
            </a:r>
            <a:endParaRPr lang="en-US" sz="1300" dirty="0"/>
          </a:p>
        </p:txBody>
      </p:sp>
      <p:sp>
        <p:nvSpPr>
          <p:cNvPr id="22" name="Shape 20"/>
          <p:cNvSpPr/>
          <p:nvPr/>
        </p:nvSpPr>
        <p:spPr>
          <a:xfrm>
            <a:off x="5032329" y="4097192"/>
            <a:ext cx="1771616" cy="1113219"/>
          </a:xfrm>
          <a:prstGeom prst="roundRect">
            <a:avLst>
              <a:gd name="adj" fmla="val 8841"/>
            </a:avLst>
          </a:prstGeom>
          <a:solidFill>
            <a:srgbClr val="FFFFFF"/>
          </a:solidFill>
          <a:ln w="6350">
            <a:solidFill>
              <a:srgbClr val="E2E1DC"/>
            </a:solidFill>
            <a:prstDash val="solid"/>
          </a:ln>
        </p:spPr>
        <p:txBody>
          <a:bodyPr/>
          <a:lstStyle/>
          <a:p>
            <a:endParaRPr lang="en-US" dirty="0"/>
          </a:p>
        </p:txBody>
      </p:sp>
      <p:sp>
        <p:nvSpPr>
          <p:cNvPr id="23" name="Text 21"/>
          <p:cNvSpPr/>
          <p:nvPr/>
        </p:nvSpPr>
        <p:spPr>
          <a:xfrm>
            <a:off x="5237172" y="4276635"/>
            <a:ext cx="1412730" cy="299688"/>
          </a:xfrm>
          <a:prstGeom prst="rect">
            <a:avLst/>
          </a:prstGeom>
          <a:noFill/>
          <a:ln/>
        </p:spPr>
        <p:txBody>
          <a:bodyPr wrap="square" lIns="0" tIns="0" rIns="0" bIns="0" rtlCol="0" anchor="t">
            <a:normAutofit/>
          </a:bodyPr>
          <a:lstStyle/>
          <a:p>
            <a:pPr marL="0" indent="0" algn="l">
              <a:lnSpc>
                <a:spcPts val="2160"/>
              </a:lnSpc>
              <a:buNone/>
            </a:pPr>
            <a:r>
              <a:rPr lang="en-US" sz="1800" b="1" i="1" dirty="0">
                <a:solidFill>
                  <a:srgbClr val="141414"/>
                </a:solidFill>
                <a:latin typeface="Source Serif 4" pitchFamily="18" charset="0"/>
                <a:ea typeface="Source Serif 4" pitchFamily="18" charset="-122"/>
                <a:cs typeface="Source Serif 4" pitchFamily="18" charset="-120"/>
              </a:rPr>
              <a:t>X</a:t>
            </a:r>
            <a:r>
              <a:rPr lang="en-US" sz="1800" b="1" dirty="0">
                <a:solidFill>
                  <a:srgbClr val="141414"/>
                </a:solidFill>
                <a:latin typeface="Source Serif 4" pitchFamily="18" charset="0"/>
                <a:ea typeface="Source Serif 4" pitchFamily="18" charset="-122"/>
                <a:cs typeface="Source Serif 4" pitchFamily="18" charset="-120"/>
              </a:rPr>
              <a:t> = 0</a:t>
            </a:r>
            <a:endParaRPr lang="en-US" sz="1800" dirty="0"/>
          </a:p>
        </p:txBody>
      </p:sp>
      <p:sp>
        <p:nvSpPr>
          <p:cNvPr id="24" name="Text 22"/>
          <p:cNvSpPr/>
          <p:nvPr/>
        </p:nvSpPr>
        <p:spPr>
          <a:xfrm>
            <a:off x="5237172" y="4601719"/>
            <a:ext cx="1412730" cy="454645"/>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D40"/>
                </a:solidFill>
                <a:latin typeface="Source Sans 3" pitchFamily="34" charset="0"/>
                <a:ea typeface="Source Sans 3" pitchFamily="34" charset="-122"/>
                <a:cs typeface="Source Sans 3" pitchFamily="34" charset="-120"/>
              </a:rPr>
              <a:t>1 − </a:t>
            </a:r>
            <a:r>
              <a:rPr lang="en-US" sz="1300" i="1" dirty="0">
                <a:solidFill>
                  <a:srgbClr val="3A3D40"/>
                </a:solidFill>
                <a:latin typeface="Source Sans 3" pitchFamily="34" charset="0"/>
                <a:ea typeface="Source Sans 3" pitchFamily="34" charset="-122"/>
                <a:cs typeface="Source Sans 3" pitchFamily="34" charset="-120"/>
              </a:rPr>
              <a:t>h</a:t>
            </a:r>
            <a:r>
              <a:rPr lang="en-US" sz="1300" dirty="0">
                <a:solidFill>
                  <a:srgbClr val="3A3D40"/>
                </a:solidFill>
                <a:latin typeface="Source Sans 3" pitchFamily="34" charset="0"/>
                <a:ea typeface="Source Sans 3" pitchFamily="34" charset="-122"/>
                <a:cs typeface="Source Sans 3" pitchFamily="34" charset="-120"/>
              </a:rPr>
              <a:t>(θ): error missed</a:t>
            </a:r>
            <a:endParaRPr lang="en-US" sz="1300" dirty="0"/>
          </a:p>
        </p:txBody>
      </p:sp>
      <p:sp>
        <p:nvSpPr>
          <p:cNvPr id="25" name="Shape 23"/>
          <p:cNvSpPr/>
          <p:nvPr/>
        </p:nvSpPr>
        <p:spPr>
          <a:xfrm>
            <a:off x="6915063" y="4100367"/>
            <a:ext cx="2171716" cy="1106869"/>
          </a:xfrm>
          <a:prstGeom prst="roundRect">
            <a:avLst>
              <a:gd name="adj" fmla="val 8605"/>
            </a:avLst>
          </a:prstGeom>
          <a:solidFill>
            <a:srgbClr val="F1E9D2"/>
          </a:solidFill>
          <a:ln w="12700">
            <a:solidFill>
              <a:srgbClr val="CFB87C"/>
            </a:solidFill>
            <a:prstDash val="solid"/>
          </a:ln>
        </p:spPr>
        <p:txBody>
          <a:bodyPr/>
          <a:lstStyle/>
          <a:p>
            <a:endParaRPr lang="en-US" dirty="0"/>
          </a:p>
        </p:txBody>
      </p:sp>
      <p:sp>
        <p:nvSpPr>
          <p:cNvPr id="26" name="Text 24"/>
          <p:cNvSpPr/>
          <p:nvPr/>
        </p:nvSpPr>
        <p:spPr>
          <a:xfrm>
            <a:off x="7123978" y="4383928"/>
            <a:ext cx="1806505" cy="299688"/>
          </a:xfrm>
          <a:prstGeom prst="rect">
            <a:avLst/>
          </a:prstGeom>
          <a:noFill/>
          <a:ln/>
        </p:spPr>
        <p:txBody>
          <a:bodyPr wrap="square" lIns="0" tIns="0" rIns="0" bIns="0" rtlCol="0" anchor="t">
            <a:normAutofit/>
          </a:bodyPr>
          <a:lstStyle/>
          <a:p>
            <a:pPr marL="0" indent="0" algn="l">
              <a:lnSpc>
                <a:spcPts val="2160"/>
              </a:lnSpc>
              <a:buNone/>
            </a:pPr>
            <a:r>
              <a:rPr lang="en-US" sz="1800" b="1" i="1" dirty="0">
                <a:solidFill>
                  <a:srgbClr val="141414"/>
                </a:solidFill>
                <a:latin typeface="Source Serif 4" pitchFamily="18" charset="0"/>
                <a:ea typeface="Source Serif 4" pitchFamily="18" charset="-122"/>
                <a:cs typeface="Source Serif 4" pitchFamily="18" charset="-120"/>
              </a:rPr>
              <a:t>X</a:t>
            </a:r>
            <a:r>
              <a:rPr lang="en-US" sz="1800" b="1" dirty="0">
                <a:solidFill>
                  <a:srgbClr val="141414"/>
                </a:solidFill>
                <a:latin typeface="Source Serif 4" pitchFamily="18" charset="0"/>
                <a:ea typeface="Source Serif 4" pitchFamily="18" charset="-122"/>
                <a:cs typeface="Source Serif 4" pitchFamily="18" charset="-120"/>
              </a:rPr>
              <a:t> = 1</a:t>
            </a:r>
            <a:endParaRPr lang="en-US" sz="1800" dirty="0"/>
          </a:p>
        </p:txBody>
      </p:sp>
      <p:sp>
        <p:nvSpPr>
          <p:cNvPr id="27" name="Text 25"/>
          <p:cNvSpPr/>
          <p:nvPr/>
        </p:nvSpPr>
        <p:spPr>
          <a:xfrm>
            <a:off x="7123978" y="4709012"/>
            <a:ext cx="1806505" cy="240022"/>
          </a:xfrm>
          <a:prstGeom prst="rect">
            <a:avLst/>
          </a:prstGeom>
          <a:noFill/>
          <a:ln/>
        </p:spPr>
        <p:txBody>
          <a:bodyPr wrap="square" lIns="0" tIns="0" rIns="0" bIns="0" rtlCol="0" anchor="t">
            <a:normAutofit/>
          </a:bodyPr>
          <a:lstStyle/>
          <a:p>
            <a:pPr marL="0" indent="0" algn="l">
              <a:lnSpc>
                <a:spcPts val="1690"/>
              </a:lnSpc>
              <a:buNone/>
            </a:pPr>
            <a:r>
              <a:rPr lang="en-US" sz="1300" i="1" dirty="0">
                <a:solidFill>
                  <a:srgbClr val="3A3D40"/>
                </a:solidFill>
                <a:latin typeface="Source Sans 3" pitchFamily="34" charset="0"/>
                <a:ea typeface="Source Sans 3" pitchFamily="34" charset="-122"/>
                <a:cs typeface="Source Sans 3" pitchFamily="34" charset="-120"/>
              </a:rPr>
              <a:t>h</a:t>
            </a:r>
            <a:r>
              <a:rPr lang="en-US" sz="1300" dirty="0">
                <a:solidFill>
                  <a:srgbClr val="3A3D40"/>
                </a:solidFill>
                <a:latin typeface="Source Sans 3" pitchFamily="34" charset="0"/>
                <a:ea typeface="Source Sans 3" pitchFamily="34" charset="-122"/>
                <a:cs typeface="Source Sans 3" pitchFamily="34" charset="-120"/>
              </a:rPr>
              <a:t>(θ): error caught</a:t>
            </a:r>
            <a:endParaRPr lang="en-US" sz="1300" dirty="0"/>
          </a:p>
        </p:txBody>
      </p:sp>
      <p:sp>
        <p:nvSpPr>
          <p:cNvPr id="28" name="Text 26"/>
          <p:cNvSpPr/>
          <p:nvPr/>
        </p:nvSpPr>
        <p:spPr>
          <a:xfrm>
            <a:off x="906654" y="5781114"/>
            <a:ext cx="5407649" cy="906739"/>
          </a:xfrm>
          <a:prstGeom prst="rect">
            <a:avLst/>
          </a:prstGeom>
          <a:noFill/>
          <a:ln/>
        </p:spPr>
        <p:txBody>
          <a:bodyPr wrap="square" lIns="0" tIns="0" rIns="0" bIns="0" rtlCol="0" anchor="t">
            <a:normAutofit/>
          </a:bodyPr>
          <a:lstStyle/>
          <a:p>
            <a:pPr marL="0" indent="0" algn="l">
              <a:lnSpc>
                <a:spcPts val="1680"/>
              </a:lnSpc>
              <a:buNone/>
            </a:pPr>
            <a:r>
              <a:rPr lang="en-US" sz="2000" i="1" dirty="0">
                <a:solidFill>
                  <a:srgbClr val="6B6F72"/>
                </a:solidFill>
                <a:latin typeface="Source Sans 3" pitchFamily="34" charset="0"/>
                <a:ea typeface="Source Sans 3" pitchFamily="34" charset="-122"/>
                <a:cs typeface="Source Sans 3" pitchFamily="34" charset="-120"/>
              </a:rPr>
              <a:t>h</a:t>
            </a:r>
            <a:r>
              <a:rPr lang="en-US" sz="2000" dirty="0">
                <a:solidFill>
                  <a:srgbClr val="6B6F72"/>
                </a:solidFill>
                <a:latin typeface="Source Sans 3" pitchFamily="34" charset="0"/>
                <a:ea typeface="Source Sans 3" pitchFamily="34" charset="-122"/>
                <a:cs typeface="Source Sans 3" pitchFamily="34" charset="-120"/>
              </a:rPr>
              <a:t>(θ) = P(override | E, θ)</a:t>
            </a:r>
          </a:p>
          <a:p>
            <a:pPr marL="0" indent="0" algn="l">
              <a:lnSpc>
                <a:spcPts val="1680"/>
              </a:lnSpc>
              <a:buNone/>
            </a:pPr>
            <a:endParaRPr lang="en-US" sz="2000" dirty="0">
              <a:solidFill>
                <a:srgbClr val="6B6F72"/>
              </a:solidFill>
              <a:latin typeface="Source Sans 3" pitchFamily="34" charset="0"/>
              <a:ea typeface="Source Sans 3" pitchFamily="34" charset="-122"/>
              <a:cs typeface="Source Sans 3" pitchFamily="34" charset="-120"/>
            </a:endParaRPr>
          </a:p>
          <a:p>
            <a:pPr marL="0" indent="0" algn="l">
              <a:lnSpc>
                <a:spcPts val="1680"/>
              </a:lnSpc>
              <a:buNone/>
            </a:pPr>
            <a:r>
              <a:rPr lang="en-US" sz="2000" dirty="0">
                <a:solidFill>
                  <a:srgbClr val="6B6F72"/>
                </a:solidFill>
                <a:latin typeface="Source Sans 3" pitchFamily="34" charset="0"/>
                <a:ea typeface="Source Sans 3" pitchFamily="34" charset="-122"/>
                <a:cs typeface="Source Sans 3" pitchFamily="34" charset="-120"/>
              </a:rPr>
              <a:t> </a:t>
            </a:r>
            <a:r>
              <a:rPr lang="en-US" sz="2000" i="1" dirty="0">
                <a:solidFill>
                  <a:srgbClr val="6B6F72"/>
                </a:solidFill>
                <a:latin typeface="Source Sans 3" pitchFamily="34" charset="0"/>
                <a:ea typeface="Source Sans 3" pitchFamily="34" charset="-122"/>
                <a:cs typeface="Source Sans 3" pitchFamily="34" charset="-120"/>
              </a:rPr>
              <a:t>f</a:t>
            </a:r>
            <a:r>
              <a:rPr lang="en-US" sz="2000" dirty="0">
                <a:solidFill>
                  <a:srgbClr val="6B6F72"/>
                </a:solidFill>
                <a:latin typeface="Source Sans 3" pitchFamily="34" charset="0"/>
                <a:ea typeface="Source Sans 3" pitchFamily="34" charset="-122"/>
                <a:cs typeface="Source Sans 3" pitchFamily="34" charset="-120"/>
              </a:rPr>
              <a:t>(θ) = P(override | C, θ)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ppt_x"/>
                                          </p:val>
                                        </p:tav>
                                        <p:tav tm="100000">
                                          <p:val>
                                            <p:strVal val="#ppt_x"/>
                                          </p:val>
                                        </p:tav>
                                      </p:tavLst>
                                    </p:anim>
                                    <p:anim calcmode="lin" valueType="num">
                                      <p:cBhvr additive="base">
                                        <p:cTn id="3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ppt_x</p:attrName>
                                        </p:attrNameLst>
                                      </p:cBhvr>
                                      <p:tavLst>
                                        <p:tav tm="0">
                                          <p:val>
                                            <p:strVal val="#ppt_x"/>
                                          </p:val>
                                        </p:tav>
                                        <p:tav tm="100000">
                                          <p:val>
                                            <p:strVal val="#ppt_x"/>
                                          </p:val>
                                        </p:tav>
                                      </p:tavLst>
                                    </p:anim>
                                    <p:anim calcmode="lin" valueType="num">
                                      <p:cBhvr additive="base">
                                        <p:cTn id="72" dur="500" fill="hold"/>
                                        <p:tgtEl>
                                          <p:spTgt spid="1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ppt_x"/>
                                          </p:val>
                                        </p:tav>
                                        <p:tav tm="100000">
                                          <p:val>
                                            <p:strVal val="#ppt_x"/>
                                          </p:val>
                                        </p:tav>
                                      </p:tavLst>
                                    </p:anim>
                                    <p:anim calcmode="lin" valueType="num">
                                      <p:cBhvr additive="base">
                                        <p:cTn id="80" dur="500" fill="hold"/>
                                        <p:tgtEl>
                                          <p:spTgt spid="2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ppt_x</p:attrName>
                                        </p:attrNameLst>
                                      </p:cBhvr>
                                      <p:tavLst>
                                        <p:tav tm="0">
                                          <p:val>
                                            <p:strVal val="#ppt_x"/>
                                          </p:val>
                                        </p:tav>
                                        <p:tav tm="100000">
                                          <p:val>
                                            <p:strVal val="#ppt_x"/>
                                          </p:val>
                                        </p:tav>
                                      </p:tavLst>
                                    </p:anim>
                                    <p:anim calcmode="lin" valueType="num">
                                      <p:cBhvr additive="base">
                                        <p:cTn id="88" dur="500" fill="hold"/>
                                        <p:tgtEl>
                                          <p:spTgt spid="2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ppt_x</p:attrName>
                                        </p:attrNameLst>
                                      </p:cBhvr>
                                      <p:tavLst>
                                        <p:tav tm="0">
                                          <p:val>
                                            <p:strVal val="#ppt_x"/>
                                          </p:val>
                                        </p:tav>
                                        <p:tav tm="100000">
                                          <p:val>
                                            <p:strVal val="#ppt_x"/>
                                          </p:val>
                                        </p:tav>
                                      </p:tavLst>
                                    </p:anim>
                                    <p:anim calcmode="lin" valueType="num">
                                      <p:cBhvr additive="base">
                                        <p:cTn id="92" dur="500" fill="hold"/>
                                        <p:tgtEl>
                                          <p:spTgt spid="24"/>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00" fill="hold"/>
                                        <p:tgtEl>
                                          <p:spTgt spid="26"/>
                                        </p:tgtEl>
                                        <p:attrNameLst>
                                          <p:attrName>ppt_x</p:attrName>
                                        </p:attrNameLst>
                                      </p:cBhvr>
                                      <p:tavLst>
                                        <p:tav tm="0">
                                          <p:val>
                                            <p:strVal val="#ppt_x"/>
                                          </p:val>
                                        </p:tav>
                                        <p:tav tm="100000">
                                          <p:val>
                                            <p:strVal val="#ppt_x"/>
                                          </p:val>
                                        </p:tav>
                                      </p:tavLst>
                                    </p:anim>
                                    <p:anim calcmode="lin" valueType="num">
                                      <p:cBhvr additive="base">
                                        <p:cTn id="100" dur="500" fill="hold"/>
                                        <p:tgtEl>
                                          <p:spTgt spid="26"/>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ppt_x"/>
                                          </p:val>
                                        </p:tav>
                                        <p:tav tm="100000">
                                          <p:val>
                                            <p:strVal val="#ppt_x"/>
                                          </p:val>
                                        </p:tav>
                                      </p:tavLst>
                                    </p:anim>
                                    <p:anim calcmode="lin" valueType="num">
                                      <p:cBhvr additive="base">
                                        <p:cTn id="10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397"/>
            <a:ext cx="1206294" cy="289497"/>
          </a:xfrm>
          <a:custGeom>
            <a:avLst/>
            <a:gdLst/>
            <a:ahLst/>
            <a:cxnLst/>
            <a:rect l="l" t="t" r="r" b="b"/>
            <a:pathLst>
              <a:path w="1206294" h="289497">
                <a:moveTo>
                  <a:pt x="144748" y="0"/>
                </a:moveTo>
                <a:lnTo>
                  <a:pt x="1061545" y="0"/>
                </a:lnTo>
                <a:arcTo wR="144748" hR="144748" stAng="16200000" swAng="5400000"/>
                <a:lnTo>
                  <a:pt x="1206294"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MODEL</a:t>
            </a:r>
            <a:endParaRPr lang="en-US" sz="1200" dirty="0"/>
          </a:p>
        </p:txBody>
      </p:sp>
      <p:sp>
        <p:nvSpPr>
          <p:cNvPr id="3" name="Text 1"/>
          <p:cNvSpPr>
            <a:spLocks noGrp="1"/>
          </p:cNvSpPr>
          <p:nvPr>
            <p:ph type="title"/>
          </p:nvPr>
        </p:nvSpPr>
        <p:spPr>
          <a:xfrm>
            <a:off x="812788" y="1076886"/>
            <a:ext cx="9958330"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From Total Probability to a Constrained 3PL</a:t>
            </a:r>
            <a:endParaRPr lang="en-US" sz="3200" dirty="0"/>
          </a:p>
        </p:txBody>
      </p:sp>
      <p:sp>
        <p:nvSpPr>
          <p:cNvPr id="4" name="Shape 2"/>
          <p:cNvSpPr/>
          <p:nvPr/>
        </p:nvSpPr>
        <p:spPr>
          <a:xfrm>
            <a:off x="815963" y="1831863"/>
            <a:ext cx="6724688" cy="940487"/>
          </a:xfrm>
          <a:prstGeom prst="roundRect">
            <a:avLst>
              <a:gd name="adj" fmla="val 10465"/>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sp>
        <p:nvSpPr>
          <p:cNvPr id="5" name="Text 3"/>
          <p:cNvSpPr/>
          <p:nvPr/>
        </p:nvSpPr>
        <p:spPr>
          <a:xfrm>
            <a:off x="1071603" y="2011307"/>
            <a:ext cx="6399810"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LAW OF TOTAL PROBABILITY, OVER C AND E</a:t>
            </a:r>
            <a:endParaRPr lang="en-US" sz="1200" dirty="0"/>
          </a:p>
        </p:txBody>
      </p:sp>
      <p:sp>
        <p:nvSpPr>
          <p:cNvPr id="6" name="Text 4"/>
          <p:cNvSpPr/>
          <p:nvPr/>
        </p:nvSpPr>
        <p:spPr>
          <a:xfrm>
            <a:off x="1071603" y="2288124"/>
            <a:ext cx="6399810" cy="330181"/>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414"/>
                </a:solidFill>
                <a:latin typeface="Source Serif 4" pitchFamily="18" charset="0"/>
                <a:ea typeface="Source Serif 4" pitchFamily="18" charset="-122"/>
                <a:cs typeface="Source Serif 4" pitchFamily="18" charset="-120"/>
              </a:rPr>
              <a:t>P(</a:t>
            </a:r>
            <a:r>
              <a:rPr lang="en-US" sz="2000" i="1" dirty="0">
                <a:solidFill>
                  <a:srgbClr val="141414"/>
                </a:solidFill>
                <a:latin typeface="Source Serif 4" pitchFamily="18" charset="0"/>
                <a:ea typeface="Source Serif 4" pitchFamily="18" charset="-122"/>
                <a:cs typeface="Source Serif 4" pitchFamily="18" charset="-120"/>
              </a:rPr>
              <a:t>X</a:t>
            </a:r>
            <a:r>
              <a:rPr lang="en-US" sz="2000" dirty="0">
                <a:solidFill>
                  <a:srgbClr val="141414"/>
                </a:solidFill>
                <a:latin typeface="Source Serif 4" pitchFamily="18" charset="0"/>
                <a:ea typeface="Source Serif 4" pitchFamily="18" charset="-122"/>
                <a:cs typeface="Source Serif 4" pitchFamily="18" charset="-120"/>
              </a:rPr>
              <a:t> = 1 | θ) = </a:t>
            </a:r>
            <a:r>
              <a:rPr lang="en-US" sz="2000" i="1" dirty="0">
                <a:solidFill>
                  <a:srgbClr val="141414"/>
                </a:solidFill>
                <a:latin typeface="Source Serif 4" pitchFamily="18" charset="0"/>
                <a:ea typeface="Source Serif 4" pitchFamily="18" charset="-122"/>
                <a:cs typeface="Source Serif 4" pitchFamily="18" charset="-120"/>
              </a:rPr>
              <a:t>c</a:t>
            </a:r>
            <a:r>
              <a:rPr lang="en-US" sz="2000" dirty="0">
                <a:solidFill>
                  <a:srgbClr val="141414"/>
                </a:solidFill>
                <a:latin typeface="Source Serif 4" pitchFamily="18" charset="0"/>
                <a:ea typeface="Source Serif 4" pitchFamily="18" charset="-122"/>
                <a:cs typeface="Source Serif 4" pitchFamily="18" charset="-120"/>
              </a:rPr>
              <a:t>[1 − </a:t>
            </a:r>
            <a:r>
              <a:rPr lang="en-US" sz="2000" i="1" dirty="0">
                <a:solidFill>
                  <a:srgbClr val="141414"/>
                </a:solidFill>
                <a:latin typeface="Source Serif 4" pitchFamily="18" charset="0"/>
                <a:ea typeface="Source Serif 4" pitchFamily="18" charset="-122"/>
                <a:cs typeface="Source Serif 4" pitchFamily="18" charset="-120"/>
              </a:rPr>
              <a:t>f</a:t>
            </a:r>
            <a:r>
              <a:rPr lang="en-US" sz="2000" dirty="0">
                <a:solidFill>
                  <a:srgbClr val="141414"/>
                </a:solidFill>
                <a:latin typeface="Source Serif 4" pitchFamily="18" charset="0"/>
                <a:ea typeface="Source Serif 4" pitchFamily="18" charset="-122"/>
                <a:cs typeface="Source Serif 4" pitchFamily="18" charset="-120"/>
              </a:rPr>
              <a:t>(θ)] + (1 − </a:t>
            </a:r>
            <a:r>
              <a:rPr lang="en-US" sz="2000" i="1" dirty="0">
                <a:solidFill>
                  <a:srgbClr val="141414"/>
                </a:solidFill>
                <a:latin typeface="Source Serif 4" pitchFamily="18" charset="0"/>
                <a:ea typeface="Source Serif 4" pitchFamily="18" charset="-122"/>
                <a:cs typeface="Source Serif 4" pitchFamily="18" charset="-120"/>
              </a:rPr>
              <a:t>c</a:t>
            </a:r>
            <a:r>
              <a:rPr lang="en-US" sz="2000" dirty="0">
                <a:solidFill>
                  <a:srgbClr val="141414"/>
                </a:solidFill>
                <a:latin typeface="Source Serif 4" pitchFamily="18" charset="0"/>
                <a:ea typeface="Source Serif 4" pitchFamily="18" charset="-122"/>
                <a:cs typeface="Source Serif 4" pitchFamily="18" charset="-120"/>
              </a:rPr>
              <a:t>) </a:t>
            </a:r>
            <a:r>
              <a:rPr lang="en-US" sz="2000" i="1" dirty="0">
                <a:solidFill>
                  <a:srgbClr val="141414"/>
                </a:solidFill>
                <a:latin typeface="Source Serif 4" pitchFamily="18" charset="0"/>
                <a:ea typeface="Source Serif 4" pitchFamily="18" charset="-122"/>
                <a:cs typeface="Source Serif 4" pitchFamily="18" charset="-120"/>
              </a:rPr>
              <a:t>h</a:t>
            </a:r>
            <a:r>
              <a:rPr lang="en-US" sz="2000" dirty="0">
                <a:solidFill>
                  <a:srgbClr val="141414"/>
                </a:solidFill>
                <a:latin typeface="Source Serif 4" pitchFamily="18" charset="0"/>
                <a:ea typeface="Source Serif 4" pitchFamily="18" charset="-122"/>
                <a:cs typeface="Source Serif 4" pitchFamily="18" charset="-120"/>
              </a:rPr>
              <a:t>(θ)</a:t>
            </a:r>
            <a:endParaRPr lang="en-US" sz="2000" dirty="0"/>
          </a:p>
        </p:txBody>
      </p:sp>
      <p:sp>
        <p:nvSpPr>
          <p:cNvPr id="7" name="Shape 5"/>
          <p:cNvSpPr/>
          <p:nvPr/>
        </p:nvSpPr>
        <p:spPr>
          <a:xfrm>
            <a:off x="815963" y="2931089"/>
            <a:ext cx="6724688" cy="1308745"/>
          </a:xfrm>
          <a:prstGeom prst="roundRect">
            <a:avLst>
              <a:gd name="adj" fmla="val 7521"/>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sp>
        <p:nvSpPr>
          <p:cNvPr id="8" name="Text 6"/>
          <p:cNvSpPr/>
          <p:nvPr/>
        </p:nvSpPr>
        <p:spPr>
          <a:xfrm>
            <a:off x="1071603" y="3110536"/>
            <a:ext cx="6399810"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ASSUMPTION A</a:t>
            </a:r>
            <a:endParaRPr lang="en-US" sz="1200" dirty="0"/>
          </a:p>
        </p:txBody>
      </p:sp>
      <p:sp>
        <p:nvSpPr>
          <p:cNvPr id="9" name="Text 7"/>
          <p:cNvSpPr/>
          <p:nvPr/>
        </p:nvSpPr>
        <p:spPr>
          <a:xfrm>
            <a:off x="1071603" y="3387353"/>
            <a:ext cx="6399810" cy="330181"/>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141414"/>
                </a:solidFill>
                <a:latin typeface="Source Serif 4" pitchFamily="18" charset="0"/>
                <a:ea typeface="Source Serif 4" pitchFamily="18" charset="-122"/>
                <a:cs typeface="Source Serif 4" pitchFamily="18" charset="-120"/>
              </a:rPr>
              <a:t>f</a:t>
            </a:r>
            <a:r>
              <a:rPr lang="en-US" sz="2000" dirty="0">
                <a:solidFill>
                  <a:srgbClr val="141414"/>
                </a:solidFill>
                <a:latin typeface="Source Serif 4" pitchFamily="18" charset="0"/>
                <a:ea typeface="Source Serif 4" pitchFamily="18" charset="-122"/>
                <a:cs typeface="Source Serif 4" pitchFamily="18" charset="-120"/>
              </a:rPr>
              <a:t>(θ) = 0 for all θ</a:t>
            </a:r>
            <a:endParaRPr lang="en-US" sz="2000" dirty="0"/>
          </a:p>
        </p:txBody>
      </p:sp>
      <p:sp>
        <p:nvSpPr>
          <p:cNvPr id="10" name="Text 8"/>
          <p:cNvSpPr/>
          <p:nvPr/>
        </p:nvSpPr>
        <p:spPr>
          <a:xfrm>
            <a:off x="1071603" y="3755610"/>
            <a:ext cx="6399810" cy="330181"/>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141414"/>
                </a:solidFill>
                <a:latin typeface="Source Serif 4" pitchFamily="18" charset="0"/>
                <a:ea typeface="Source Serif 4" pitchFamily="18" charset="-122"/>
                <a:cs typeface="Source Serif 4" pitchFamily="18" charset="-120"/>
              </a:rPr>
              <a:t>h</a:t>
            </a:r>
            <a:r>
              <a:rPr lang="en-US" sz="2000" dirty="0">
                <a:solidFill>
                  <a:srgbClr val="141414"/>
                </a:solidFill>
                <a:latin typeface="Source Serif 4" pitchFamily="18" charset="0"/>
                <a:ea typeface="Source Serif 4" pitchFamily="18" charset="-122"/>
                <a:cs typeface="Source Serif 4" pitchFamily="18" charset="-120"/>
              </a:rPr>
              <a:t>(θ) = 1 / {1 + exp[−</a:t>
            </a:r>
            <a:r>
              <a:rPr lang="en-US" sz="2000" i="1" dirty="0">
                <a:solidFill>
                  <a:srgbClr val="141414"/>
                </a:solidFill>
                <a:latin typeface="Source Serif 4" pitchFamily="18" charset="0"/>
                <a:ea typeface="Source Serif 4" pitchFamily="18" charset="-122"/>
                <a:cs typeface="Source Serif 4" pitchFamily="18" charset="-120"/>
              </a:rPr>
              <a:t>a</a:t>
            </a:r>
            <a:r>
              <a:rPr lang="en-US" sz="2000" dirty="0">
                <a:solidFill>
                  <a:srgbClr val="141414"/>
                </a:solidFill>
                <a:latin typeface="Source Serif 4" pitchFamily="18" charset="0"/>
                <a:ea typeface="Source Serif 4" pitchFamily="18" charset="-122"/>
                <a:cs typeface="Source Serif 4" pitchFamily="18" charset="-120"/>
              </a:rPr>
              <a:t>(θ − δ(</a:t>
            </a:r>
            <a:r>
              <a:rPr lang="en-US" sz="2000" i="1" dirty="0">
                <a:solidFill>
                  <a:srgbClr val="141414"/>
                </a:solidFill>
                <a:latin typeface="Source Serif 4" pitchFamily="18" charset="0"/>
                <a:ea typeface="Source Serif 4" pitchFamily="18" charset="-122"/>
                <a:cs typeface="Source Serif 4" pitchFamily="18" charset="-120"/>
              </a:rPr>
              <a:t>s</a:t>
            </a:r>
            <a:r>
              <a:rPr lang="en-US" sz="2000" dirty="0">
                <a:solidFill>
                  <a:srgbClr val="141414"/>
                </a:solidFill>
                <a:latin typeface="Source Serif 4" pitchFamily="18" charset="0"/>
                <a:ea typeface="Source Serif 4" pitchFamily="18" charset="-122"/>
                <a:cs typeface="Source Serif 4" pitchFamily="18" charset="-120"/>
              </a:rPr>
              <a:t>))]}</a:t>
            </a:r>
            <a:endParaRPr lang="en-US" sz="2000" dirty="0"/>
          </a:p>
        </p:txBody>
      </p:sp>
      <p:sp>
        <p:nvSpPr>
          <p:cNvPr id="11" name="Shape 9"/>
          <p:cNvSpPr/>
          <p:nvPr/>
        </p:nvSpPr>
        <p:spPr>
          <a:xfrm>
            <a:off x="819138" y="4401753"/>
            <a:ext cx="6718338" cy="1278808"/>
          </a:xfrm>
          <a:prstGeom prst="roundRect">
            <a:avLst>
              <a:gd name="adj" fmla="val 7448"/>
            </a:avLst>
          </a:prstGeom>
          <a:solidFill>
            <a:srgbClr val="F1E9D2"/>
          </a:solidFill>
          <a:ln w="12700">
            <a:solidFill>
              <a:srgbClr val="CFB87C"/>
            </a:solidFill>
            <a:prstDash val="solid"/>
          </a:ln>
        </p:spPr>
        <p:txBody>
          <a:bodyPr/>
          <a:lstStyle/>
          <a:p>
            <a:endParaRPr lang="en-US" dirty="0"/>
          </a:p>
        </p:txBody>
      </p:sp>
      <p:sp>
        <p:nvSpPr>
          <p:cNvPr id="12" name="Text 10"/>
          <p:cNvSpPr/>
          <p:nvPr/>
        </p:nvSpPr>
        <p:spPr>
          <a:xfrm>
            <a:off x="1078848" y="4585267"/>
            <a:ext cx="6384883"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RESULT</a:t>
            </a:r>
            <a:endParaRPr lang="en-US" sz="1200" dirty="0"/>
          </a:p>
        </p:txBody>
      </p:sp>
      <p:sp>
        <p:nvSpPr>
          <p:cNvPr id="13" name="Text 11"/>
          <p:cNvSpPr/>
          <p:nvPr/>
        </p:nvSpPr>
        <p:spPr>
          <a:xfrm>
            <a:off x="1078848" y="4862085"/>
            <a:ext cx="6384883" cy="330181"/>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1414"/>
                </a:solidFill>
                <a:latin typeface="Source Serif 4" pitchFamily="18" charset="0"/>
                <a:ea typeface="Source Serif 4" pitchFamily="18" charset="-122"/>
                <a:cs typeface="Source Serif 4" pitchFamily="18" charset="-120"/>
              </a:rPr>
              <a:t>P(</a:t>
            </a:r>
            <a:r>
              <a:rPr lang="en-US" sz="2000" b="1" i="1" dirty="0">
                <a:solidFill>
                  <a:srgbClr val="141414"/>
                </a:solidFill>
                <a:latin typeface="Source Serif 4" pitchFamily="18" charset="0"/>
                <a:ea typeface="Source Serif 4" pitchFamily="18" charset="-122"/>
                <a:cs typeface="Source Serif 4" pitchFamily="18" charset="-120"/>
              </a:rPr>
              <a:t>X</a:t>
            </a:r>
            <a:r>
              <a:rPr lang="en-US" sz="2000" b="1" dirty="0">
                <a:solidFill>
                  <a:srgbClr val="141414"/>
                </a:solidFill>
                <a:latin typeface="Source Serif 4" pitchFamily="18" charset="0"/>
                <a:ea typeface="Source Serif 4" pitchFamily="18" charset="-122"/>
                <a:cs typeface="Source Serif 4" pitchFamily="18" charset="-120"/>
              </a:rPr>
              <a:t> = 1 | θ) = </a:t>
            </a:r>
            <a:r>
              <a:rPr lang="en-US" sz="2000" b="1" i="1" dirty="0">
                <a:solidFill>
                  <a:srgbClr val="141414"/>
                </a:solidFill>
                <a:latin typeface="Source Serif 4" pitchFamily="18" charset="0"/>
                <a:ea typeface="Source Serif 4" pitchFamily="18" charset="-122"/>
                <a:cs typeface="Source Serif 4" pitchFamily="18" charset="-120"/>
              </a:rPr>
              <a:t>c</a:t>
            </a:r>
            <a:r>
              <a:rPr lang="en-US" sz="2000" b="1" dirty="0">
                <a:solidFill>
                  <a:srgbClr val="141414"/>
                </a:solidFill>
                <a:latin typeface="Source Serif 4" pitchFamily="18" charset="0"/>
                <a:ea typeface="Source Serif 4" pitchFamily="18" charset="-122"/>
                <a:cs typeface="Source Serif 4" pitchFamily="18" charset="-120"/>
              </a:rPr>
              <a:t> + (1 − </a:t>
            </a:r>
            <a:r>
              <a:rPr lang="en-US" sz="2000" b="1" i="1" dirty="0">
                <a:solidFill>
                  <a:srgbClr val="141414"/>
                </a:solidFill>
                <a:latin typeface="Source Serif 4" pitchFamily="18" charset="0"/>
                <a:ea typeface="Source Serif 4" pitchFamily="18" charset="-122"/>
                <a:cs typeface="Source Serif 4" pitchFamily="18" charset="-120"/>
              </a:rPr>
              <a:t>c</a:t>
            </a:r>
            <a:r>
              <a:rPr lang="en-US" sz="2000" b="1" dirty="0">
                <a:solidFill>
                  <a:srgbClr val="141414"/>
                </a:solidFill>
                <a:latin typeface="Source Serif 4" pitchFamily="18" charset="0"/>
                <a:ea typeface="Source Serif 4" pitchFamily="18" charset="-122"/>
                <a:cs typeface="Source Serif 4" pitchFamily="18" charset="-120"/>
              </a:rPr>
              <a:t>) </a:t>
            </a:r>
            <a:r>
              <a:rPr lang="en-US" sz="2000" b="1" i="1" dirty="0">
                <a:solidFill>
                  <a:srgbClr val="141414"/>
                </a:solidFill>
                <a:latin typeface="Source Serif 4" pitchFamily="18" charset="0"/>
                <a:ea typeface="Source Serif 4" pitchFamily="18" charset="-122"/>
                <a:cs typeface="Source Serif 4" pitchFamily="18" charset="-120"/>
              </a:rPr>
              <a:t>h</a:t>
            </a:r>
            <a:r>
              <a:rPr lang="en-US" sz="2000" b="1" dirty="0">
                <a:solidFill>
                  <a:srgbClr val="141414"/>
                </a:solidFill>
                <a:latin typeface="Source Serif 4" pitchFamily="18" charset="0"/>
                <a:ea typeface="Source Serif 4" pitchFamily="18" charset="-122"/>
                <a:cs typeface="Source Serif 4" pitchFamily="18" charset="-120"/>
              </a:rPr>
              <a:t>(θ)</a:t>
            </a:r>
            <a:endParaRPr lang="en-US" sz="2000" dirty="0"/>
          </a:p>
        </p:txBody>
      </p:sp>
      <p:sp>
        <p:nvSpPr>
          <p:cNvPr id="14" name="Text 12"/>
          <p:cNvSpPr/>
          <p:nvPr/>
        </p:nvSpPr>
        <p:spPr>
          <a:xfrm>
            <a:off x="1078848" y="5230341"/>
            <a:ext cx="6384883"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D40"/>
                </a:solidFill>
                <a:latin typeface="Source Sans 3" pitchFamily="34" charset="0"/>
                <a:ea typeface="Source Sans 3" pitchFamily="34" charset="-122"/>
                <a:cs typeface="Source Sans 3" pitchFamily="34" charset="-120"/>
              </a:rPr>
              <a:t>As θ → −∞, </a:t>
            </a:r>
            <a:r>
              <a:rPr lang="en-US" sz="1500" i="1" dirty="0">
                <a:solidFill>
                  <a:srgbClr val="3A3D40"/>
                </a:solidFill>
                <a:latin typeface="Source Sans 3" pitchFamily="34" charset="0"/>
                <a:ea typeface="Source Sans 3" pitchFamily="34" charset="-122"/>
                <a:cs typeface="Source Sans 3" pitchFamily="34" charset="-120"/>
              </a:rPr>
              <a:t>h</a:t>
            </a:r>
            <a:r>
              <a:rPr lang="en-US" sz="1500" dirty="0">
                <a:solidFill>
                  <a:srgbClr val="3A3D40"/>
                </a:solidFill>
                <a:latin typeface="Source Sans 3" pitchFamily="34" charset="0"/>
                <a:ea typeface="Source Sans 3" pitchFamily="34" charset="-122"/>
                <a:cs typeface="Source Sans 3" pitchFamily="34" charset="-120"/>
              </a:rPr>
              <a:t>(θ) → 0 and P(</a:t>
            </a:r>
            <a:r>
              <a:rPr lang="en-US" sz="1500" i="1" dirty="0">
                <a:solidFill>
                  <a:srgbClr val="3A3D40"/>
                </a:solidFill>
                <a:latin typeface="Source Sans 3" pitchFamily="34" charset="0"/>
                <a:ea typeface="Source Sans 3" pitchFamily="34" charset="-122"/>
                <a:cs typeface="Source Sans 3" pitchFamily="34" charset="-120"/>
              </a:rPr>
              <a:t>X</a:t>
            </a:r>
            <a:r>
              <a:rPr lang="en-US" sz="1500" dirty="0">
                <a:solidFill>
                  <a:srgbClr val="3A3D40"/>
                </a:solidFill>
                <a:latin typeface="Source Sans 3" pitchFamily="34" charset="0"/>
                <a:ea typeface="Source Sans 3" pitchFamily="34" charset="-122"/>
                <a:cs typeface="Source Sans 3" pitchFamily="34" charset="-120"/>
              </a:rPr>
              <a:t> = 1 | θ) → </a:t>
            </a:r>
            <a:r>
              <a:rPr lang="en-US" sz="1500" i="1" dirty="0">
                <a:solidFill>
                  <a:srgbClr val="3A3D40"/>
                </a:solidFill>
                <a:latin typeface="Source Sans 3" pitchFamily="34" charset="0"/>
                <a:ea typeface="Source Sans 3" pitchFamily="34" charset="-122"/>
                <a:cs typeface="Source Sans 3" pitchFamily="34" charset="-120"/>
              </a:rPr>
              <a:t>c</a:t>
            </a:r>
            <a:endParaRPr lang="en-US" sz="1500" dirty="0"/>
          </a:p>
        </p:txBody>
      </p:sp>
      <p:sp>
        <p:nvSpPr>
          <p:cNvPr id="15" name="Shape 13"/>
          <p:cNvSpPr/>
          <p:nvPr/>
        </p:nvSpPr>
        <p:spPr>
          <a:xfrm>
            <a:off x="7950200" y="1828688"/>
            <a:ext cx="3428977" cy="4013330"/>
          </a:xfrm>
          <a:prstGeom prst="roundRect">
            <a:avLst>
              <a:gd name="adj" fmla="val 2963"/>
            </a:avLst>
          </a:prstGeom>
          <a:solidFill>
            <a:srgbClr val="141414"/>
          </a:solidFill>
          <a:ln/>
        </p:spPr>
        <p:txBody>
          <a:bodyPr/>
          <a:lstStyle/>
          <a:p>
            <a:endParaRPr lang="en-US" dirty="0"/>
          </a:p>
        </p:txBody>
      </p:sp>
      <p:sp>
        <p:nvSpPr>
          <p:cNvPr id="16" name="Text 14"/>
          <p:cNvSpPr/>
          <p:nvPr/>
        </p:nvSpPr>
        <p:spPr>
          <a:xfrm>
            <a:off x="8229583" y="2200380"/>
            <a:ext cx="2956318" cy="539709"/>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CFB87C"/>
                </a:solidFill>
                <a:latin typeface="Source Sans 3" pitchFamily="34" charset="0"/>
                <a:ea typeface="Source Sans 3" pitchFamily="34" charset="-122"/>
                <a:cs typeface="Source Sans 3" pitchFamily="34" charset="-120"/>
              </a:rPr>
              <a:t>θ</a:t>
            </a:r>
            <a:r>
              <a:rPr lang="en-US" sz="1500" dirty="0">
                <a:solidFill>
                  <a:srgbClr val="D9D9D4"/>
                </a:solidFill>
                <a:latin typeface="Source Sans 3" pitchFamily="34" charset="0"/>
                <a:ea typeface="Source Sans 3" pitchFamily="34" charset="-122"/>
                <a:cs typeface="Source Sans 3" pitchFamily="34" charset="-120"/>
              </a:rPr>
              <a:t> critical AI literacy, an attribute of the person</a:t>
            </a:r>
            <a:endParaRPr lang="en-US" sz="1500" dirty="0"/>
          </a:p>
        </p:txBody>
      </p:sp>
      <p:sp>
        <p:nvSpPr>
          <p:cNvPr id="17" name="Text 15"/>
          <p:cNvSpPr/>
          <p:nvPr/>
        </p:nvSpPr>
        <p:spPr>
          <a:xfrm>
            <a:off x="8229583" y="2854362"/>
            <a:ext cx="2956318" cy="539709"/>
          </a:xfrm>
          <a:prstGeom prst="rect">
            <a:avLst/>
          </a:prstGeom>
          <a:noFill/>
          <a:ln/>
        </p:spPr>
        <p:txBody>
          <a:bodyPr wrap="square" lIns="0" tIns="0" rIns="0" bIns="0" rtlCol="0" anchor="t">
            <a:normAutofit/>
          </a:bodyPr>
          <a:lstStyle/>
          <a:p>
            <a:pPr marL="0" indent="0" algn="l">
              <a:lnSpc>
                <a:spcPts val="2025"/>
              </a:lnSpc>
              <a:buNone/>
            </a:pPr>
            <a:r>
              <a:rPr lang="en-US" sz="1500" b="1" i="1" dirty="0">
                <a:solidFill>
                  <a:srgbClr val="CFB87C"/>
                </a:solidFill>
                <a:latin typeface="Source Sans 3" pitchFamily="34" charset="0"/>
                <a:ea typeface="Source Sans 3" pitchFamily="34" charset="-122"/>
                <a:cs typeface="Source Sans 3" pitchFamily="34" charset="-120"/>
              </a:rPr>
              <a:t>c</a:t>
            </a:r>
            <a:r>
              <a:rPr lang="en-US" sz="1500" dirty="0">
                <a:solidFill>
                  <a:srgbClr val="D9D9D4"/>
                </a:solidFill>
                <a:latin typeface="Source Sans 3" pitchFamily="34" charset="0"/>
                <a:ea typeface="Source Sans 3" pitchFamily="34" charset="-122"/>
                <a:cs typeface="Source Sans 3" pitchFamily="34" charset="-120"/>
              </a:rPr>
              <a:t> model capability, the lower asymptote</a:t>
            </a:r>
            <a:endParaRPr lang="en-US" sz="1500" dirty="0"/>
          </a:p>
        </p:txBody>
      </p:sp>
      <p:sp>
        <p:nvSpPr>
          <p:cNvPr id="18" name="Text 16"/>
          <p:cNvSpPr/>
          <p:nvPr/>
        </p:nvSpPr>
        <p:spPr>
          <a:xfrm>
            <a:off x="8229583" y="3508344"/>
            <a:ext cx="2956318" cy="282554"/>
          </a:xfrm>
          <a:prstGeom prst="rect">
            <a:avLst/>
          </a:prstGeom>
          <a:noFill/>
          <a:ln/>
        </p:spPr>
        <p:txBody>
          <a:bodyPr wrap="square" lIns="0" tIns="0" rIns="0" bIns="0" rtlCol="0" anchor="t">
            <a:normAutofit/>
          </a:bodyPr>
          <a:lstStyle/>
          <a:p>
            <a:pPr marL="0" indent="0" algn="l">
              <a:lnSpc>
                <a:spcPts val="2025"/>
              </a:lnSpc>
              <a:buNone/>
            </a:pPr>
            <a:r>
              <a:rPr lang="en-US" sz="1500" b="1" i="1" dirty="0">
                <a:solidFill>
                  <a:srgbClr val="CFB87C"/>
                </a:solidFill>
                <a:latin typeface="Source Sans 3" pitchFamily="34" charset="0"/>
                <a:ea typeface="Source Sans 3" pitchFamily="34" charset="-122"/>
                <a:cs typeface="Source Sans 3" pitchFamily="34" charset="-120"/>
              </a:rPr>
              <a:t>s</a:t>
            </a:r>
            <a:r>
              <a:rPr lang="en-US" sz="1500" dirty="0">
                <a:solidFill>
                  <a:srgbClr val="D9D9D4"/>
                </a:solidFill>
                <a:latin typeface="Source Sans 3" pitchFamily="34" charset="0"/>
                <a:ea typeface="Source Sans 3" pitchFamily="34" charset="-122"/>
                <a:cs typeface="Source Sans 3" pitchFamily="34" charset="-120"/>
              </a:rPr>
              <a:t> seductiveness of the response</a:t>
            </a:r>
            <a:endParaRPr lang="en-US" sz="1500" dirty="0"/>
          </a:p>
        </p:txBody>
      </p:sp>
      <p:sp>
        <p:nvSpPr>
          <p:cNvPr id="19" name="Text 17"/>
          <p:cNvSpPr/>
          <p:nvPr/>
        </p:nvSpPr>
        <p:spPr>
          <a:xfrm>
            <a:off x="8229583" y="3905169"/>
            <a:ext cx="2956318" cy="539709"/>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CFB87C"/>
                </a:solidFill>
                <a:latin typeface="Source Sans 3" pitchFamily="34" charset="0"/>
                <a:ea typeface="Source Sans 3" pitchFamily="34" charset="-122"/>
                <a:cs typeface="Source Sans 3" pitchFamily="34" charset="-120"/>
              </a:rPr>
              <a:t>δ(</a:t>
            </a:r>
            <a:r>
              <a:rPr lang="en-US" sz="1500" b="1" i="1" dirty="0">
                <a:solidFill>
                  <a:srgbClr val="CFB87C"/>
                </a:solidFill>
                <a:latin typeface="Source Sans 3" pitchFamily="34" charset="0"/>
                <a:ea typeface="Source Sans 3" pitchFamily="34" charset="-122"/>
                <a:cs typeface="Source Sans 3" pitchFamily="34" charset="-120"/>
              </a:rPr>
              <a:t>s</a:t>
            </a:r>
            <a:r>
              <a:rPr lang="en-US" sz="1500" b="1" dirty="0">
                <a:solidFill>
                  <a:srgbClr val="CFB87C"/>
                </a:solidFill>
                <a:latin typeface="Source Sans 3" pitchFamily="34" charset="0"/>
                <a:ea typeface="Source Sans 3" pitchFamily="34" charset="-122"/>
                <a:cs typeface="Source Sans 3" pitchFamily="34" charset="-120"/>
              </a:rPr>
              <a:t>)</a:t>
            </a:r>
            <a:r>
              <a:rPr lang="en-US" sz="1500" dirty="0">
                <a:solidFill>
                  <a:srgbClr val="D9D9D4"/>
                </a:solidFill>
                <a:latin typeface="Source Sans 3" pitchFamily="34" charset="0"/>
                <a:ea typeface="Source Sans 3" pitchFamily="34" charset="-122"/>
                <a:cs typeface="Source Sans 3" pitchFamily="34" charset="-120"/>
              </a:rPr>
              <a:t> difficulty of overriding, on the θ scale</a:t>
            </a:r>
            <a:endParaRPr lang="en-US" sz="1500" dirty="0"/>
          </a:p>
        </p:txBody>
      </p:sp>
      <p:sp>
        <p:nvSpPr>
          <p:cNvPr id="20" name="Text 18"/>
          <p:cNvSpPr/>
          <p:nvPr/>
        </p:nvSpPr>
        <p:spPr>
          <a:xfrm>
            <a:off x="8229583" y="4559151"/>
            <a:ext cx="3149594" cy="282554"/>
          </a:xfrm>
          <a:prstGeom prst="rect">
            <a:avLst/>
          </a:prstGeom>
          <a:noFill/>
          <a:ln/>
        </p:spPr>
        <p:txBody>
          <a:bodyPr wrap="square" lIns="0" tIns="0" rIns="0" bIns="0" rtlCol="0" anchor="t">
            <a:normAutofit/>
          </a:bodyPr>
          <a:lstStyle/>
          <a:p>
            <a:pPr marL="0" indent="0" algn="l">
              <a:lnSpc>
                <a:spcPts val="2025"/>
              </a:lnSpc>
              <a:buNone/>
            </a:pPr>
            <a:r>
              <a:rPr lang="en-US" sz="1500" b="1" i="1" dirty="0">
                <a:solidFill>
                  <a:srgbClr val="CFB87C"/>
                </a:solidFill>
                <a:latin typeface="Source Sans 3" pitchFamily="34" charset="0"/>
                <a:ea typeface="Source Sans 3" pitchFamily="34" charset="-122"/>
                <a:cs typeface="Source Sans 3" pitchFamily="34" charset="-120"/>
              </a:rPr>
              <a:t>a</a:t>
            </a:r>
            <a:r>
              <a:rPr lang="en-US" sz="1500" dirty="0">
                <a:solidFill>
                  <a:srgbClr val="D9D9D4"/>
                </a:solidFill>
                <a:latin typeface="Source Sans 3" pitchFamily="34" charset="0"/>
                <a:ea typeface="Source Sans 3" pitchFamily="34" charset="-122"/>
                <a:cs typeface="Source Sans 3" pitchFamily="34" charset="-120"/>
              </a:rPr>
              <a:t> discrimination, fixed across items</a:t>
            </a:r>
            <a:endParaRPr lang="en-US" sz="1500" dirty="0"/>
          </a:p>
        </p:txBody>
      </p:sp>
      <p:sp>
        <p:nvSpPr>
          <p:cNvPr id="21" name="Text 19"/>
          <p:cNvSpPr/>
          <p:nvPr/>
        </p:nvSpPr>
        <p:spPr>
          <a:xfrm>
            <a:off x="8229583" y="4955980"/>
            <a:ext cx="2956318" cy="539709"/>
          </a:xfrm>
          <a:prstGeom prst="rect">
            <a:avLst/>
          </a:prstGeom>
          <a:noFill/>
          <a:ln/>
        </p:spPr>
        <p:txBody>
          <a:bodyPr wrap="square" lIns="0" tIns="0" rIns="0" bIns="0" rtlCol="0" anchor="t">
            <a:normAutofit/>
          </a:bodyPr>
          <a:lstStyle/>
          <a:p>
            <a:pPr marL="0" indent="0" algn="l">
              <a:lnSpc>
                <a:spcPts val="2025"/>
              </a:lnSpc>
              <a:buNone/>
            </a:pPr>
            <a:r>
              <a:rPr lang="en-US" sz="1500" b="1" i="1" dirty="0">
                <a:solidFill>
                  <a:srgbClr val="FAFAF8"/>
                </a:solidFill>
                <a:latin typeface="Source Serif 4" pitchFamily="18" charset="0"/>
                <a:ea typeface="Source Serif 4" pitchFamily="18" charset="-122"/>
                <a:cs typeface="Source Serif 4" pitchFamily="18" charset="-120"/>
              </a:rPr>
              <a:t>c</a:t>
            </a:r>
            <a:r>
              <a:rPr lang="en-US" sz="1500" b="1" dirty="0">
                <a:solidFill>
                  <a:srgbClr val="FAFAF8"/>
                </a:solidFill>
                <a:latin typeface="Source Serif 4" pitchFamily="18" charset="0"/>
                <a:ea typeface="Source Serif 4" pitchFamily="18" charset="-122"/>
                <a:cs typeface="Source Serif 4" pitchFamily="18" charset="-120"/>
              </a:rPr>
              <a:t> is a substantive parameter, not a guessing nuisance.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397"/>
            <a:ext cx="1206294" cy="289497"/>
          </a:xfrm>
          <a:custGeom>
            <a:avLst/>
            <a:gdLst/>
            <a:ahLst/>
            <a:cxnLst/>
            <a:rect l="l" t="t" r="r" b="b"/>
            <a:pathLst>
              <a:path w="1206294" h="289497">
                <a:moveTo>
                  <a:pt x="144748" y="0"/>
                </a:moveTo>
                <a:lnTo>
                  <a:pt x="1061545" y="0"/>
                </a:lnTo>
                <a:arcTo wR="144748" hR="144748" stAng="16200000" swAng="5400000"/>
                <a:lnTo>
                  <a:pt x="1206294"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MODEL</a:t>
            </a:r>
            <a:endParaRPr lang="en-US" sz="1200" dirty="0"/>
          </a:p>
        </p:txBody>
      </p:sp>
      <p:sp>
        <p:nvSpPr>
          <p:cNvPr id="3" name="Text 1"/>
          <p:cNvSpPr>
            <a:spLocks noGrp="1"/>
          </p:cNvSpPr>
          <p:nvPr>
            <p:ph type="title"/>
          </p:nvPr>
        </p:nvSpPr>
        <p:spPr>
          <a:xfrm>
            <a:off x="812788" y="1076886"/>
            <a:ext cx="6091322"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Item Characteristic Curves</a:t>
            </a:r>
            <a:endParaRPr lang="en-US" sz="3200" dirty="0"/>
          </a:p>
        </p:txBody>
      </p:sp>
      <p:sp>
        <p:nvSpPr>
          <p:cNvPr id="4" name="Shape 2"/>
          <p:cNvSpPr/>
          <p:nvPr/>
        </p:nvSpPr>
        <p:spPr>
          <a:xfrm>
            <a:off x="815963" y="1935042"/>
            <a:ext cx="5896087" cy="3800585"/>
          </a:xfrm>
          <a:prstGeom prst="roundRect">
            <a:avLst>
              <a:gd name="adj" fmla="val 2590"/>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pic>
        <p:nvPicPr>
          <p:cNvPr id="5" name="Image 0" descr="Two item characteristic curves with floor c = .40. The solid curve has s = .50 and delta = 0; the dashed curve has s = .75 and delta = 1.5, shifted right."/>
          <p:cNvPicPr>
            <a:picLocks noChangeAspect="1"/>
          </p:cNvPicPr>
          <p:nvPr/>
        </p:nvPicPr>
        <p:blipFill>
          <a:blip r:embed="rId3"/>
          <a:srcRect/>
          <a:stretch/>
        </p:blipFill>
        <p:spPr>
          <a:xfrm>
            <a:off x="970009" y="2089088"/>
            <a:ext cx="5587995" cy="3492492"/>
          </a:xfrm>
          <a:prstGeom prst="rect">
            <a:avLst/>
          </a:prstGeom>
        </p:spPr>
      </p:pic>
      <p:sp>
        <p:nvSpPr>
          <p:cNvPr id="6" name="Text 3"/>
          <p:cNvSpPr/>
          <p:nvPr/>
        </p:nvSpPr>
        <p:spPr>
          <a:xfrm>
            <a:off x="7121600" y="2604793"/>
            <a:ext cx="4385305"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FLOOR = </a:t>
            </a:r>
            <a:r>
              <a:rPr lang="en-US" sz="1200" b="1" i="1" kern="0" spc="150" dirty="0">
                <a:solidFill>
                  <a:srgbClr val="565A5C"/>
                </a:solidFill>
                <a:latin typeface="Source Sans 3" pitchFamily="34" charset="0"/>
                <a:ea typeface="Source Sans 3" pitchFamily="34" charset="-122"/>
                <a:cs typeface="Source Sans 3" pitchFamily="34" charset="-120"/>
              </a:rPr>
              <a:t>c</a:t>
            </a:r>
            <a:endParaRPr lang="en-US" sz="1200" dirty="0"/>
          </a:p>
        </p:txBody>
      </p:sp>
      <p:sp>
        <p:nvSpPr>
          <p:cNvPr id="7" name="Text 4"/>
          <p:cNvSpPr/>
          <p:nvPr/>
        </p:nvSpPr>
        <p:spPr>
          <a:xfrm>
            <a:off x="7121600" y="2868929"/>
            <a:ext cx="4385305"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A person who accepts every response scores </a:t>
            </a:r>
            <a:r>
              <a:rPr lang="en-US" sz="1500" i="1" dirty="0">
                <a:solidFill>
                  <a:srgbClr val="141414"/>
                </a:solidFill>
                <a:latin typeface="Source Sans 3" pitchFamily="34" charset="0"/>
                <a:ea typeface="Source Sans 3" pitchFamily="34" charset="-122"/>
                <a:cs typeface="Source Sans 3" pitchFamily="34" charset="-120"/>
              </a:rPr>
              <a:t>c</a:t>
            </a:r>
            <a:endParaRPr lang="en-US" sz="1500" dirty="0"/>
          </a:p>
        </p:txBody>
      </p:sp>
      <p:sp>
        <p:nvSpPr>
          <p:cNvPr id="8" name="Text 5"/>
          <p:cNvSpPr/>
          <p:nvPr/>
        </p:nvSpPr>
        <p:spPr>
          <a:xfrm>
            <a:off x="7121600" y="3364216"/>
            <a:ext cx="4385305"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LOCATION = δ(</a:t>
            </a:r>
            <a:r>
              <a:rPr lang="en-US" sz="1200" b="1" i="1" kern="0" spc="150" dirty="0">
                <a:solidFill>
                  <a:srgbClr val="565A5C"/>
                </a:solidFill>
                <a:latin typeface="Source Sans 3" pitchFamily="34" charset="0"/>
                <a:ea typeface="Source Sans 3" pitchFamily="34" charset="-122"/>
                <a:cs typeface="Source Sans 3" pitchFamily="34" charset="-120"/>
              </a:rPr>
              <a:t>s</a:t>
            </a:r>
            <a:r>
              <a:rPr lang="en-US" sz="1200" b="1" kern="0" spc="150" dirty="0">
                <a:solidFill>
                  <a:srgbClr val="565A5C"/>
                </a:solidFill>
                <a:latin typeface="Source Sans 3" pitchFamily="34" charset="0"/>
                <a:ea typeface="Source Sans 3" pitchFamily="34" charset="-122"/>
                <a:cs typeface="Source Sans 3" pitchFamily="34" charset="-120"/>
              </a:rPr>
              <a:t>)</a:t>
            </a:r>
            <a:endParaRPr lang="en-US" sz="1200" dirty="0"/>
          </a:p>
        </p:txBody>
      </p:sp>
      <p:sp>
        <p:nvSpPr>
          <p:cNvPr id="9" name="Text 6"/>
          <p:cNvSpPr/>
          <p:nvPr/>
        </p:nvSpPr>
        <p:spPr>
          <a:xfrm>
            <a:off x="7121600" y="3628352"/>
            <a:ext cx="5070400"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More seductive responses shift the curve to the right</a:t>
            </a:r>
            <a:endParaRPr lang="en-US" sz="1500" dirty="0"/>
          </a:p>
        </p:txBody>
      </p:sp>
      <p:sp>
        <p:nvSpPr>
          <p:cNvPr id="10" name="Shape 7"/>
          <p:cNvSpPr/>
          <p:nvPr/>
        </p:nvSpPr>
        <p:spPr>
          <a:xfrm>
            <a:off x="7140650" y="4123640"/>
            <a:ext cx="0" cy="942271"/>
          </a:xfrm>
          <a:prstGeom prst="line">
            <a:avLst/>
          </a:prstGeom>
          <a:noFill/>
          <a:ln w="38100">
            <a:solidFill>
              <a:srgbClr val="CFB87C"/>
            </a:solidFill>
            <a:prstDash val="solid"/>
          </a:ln>
        </p:spPr>
        <p:txBody>
          <a:bodyPr/>
          <a:lstStyle/>
          <a:p>
            <a:endParaRPr lang="en-US" dirty="0"/>
          </a:p>
        </p:txBody>
      </p:sp>
      <p:sp>
        <p:nvSpPr>
          <p:cNvPr id="11" name="Text 8"/>
          <p:cNvSpPr/>
          <p:nvPr/>
        </p:nvSpPr>
        <p:spPr>
          <a:xfrm>
            <a:off x="7335619" y="4149040"/>
            <a:ext cx="4164866" cy="916874"/>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41414"/>
                </a:solidFill>
                <a:latin typeface="Source Serif 4" pitchFamily="18" charset="0"/>
                <a:ea typeface="Source Serif 4" pitchFamily="18" charset="-122"/>
                <a:cs typeface="Source Serif 4" pitchFamily="18" charset="-120"/>
              </a:rPr>
              <a:t>As capability rises, the floor rises and the room for critical AI literacy shrinks</a:t>
            </a:r>
            <a:endParaRPr lang="en-US" sz="1800" dirty="0"/>
          </a:p>
        </p:txBody>
      </p:sp>
      <p:sp>
        <p:nvSpPr>
          <p:cNvPr id="12" name="Text 9"/>
          <p:cNvSpPr/>
          <p:nvPr/>
        </p:nvSpPr>
        <p:spPr>
          <a:xfrm>
            <a:off x="812788" y="6238277"/>
            <a:ext cx="10883382" cy="238739"/>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6B6F72"/>
                </a:solidFill>
                <a:latin typeface="Source Sans 3" pitchFamily="34" charset="0"/>
                <a:ea typeface="Source Sans 3" pitchFamily="34" charset="-122"/>
                <a:cs typeface="Source Sans 3" pitchFamily="34" charset="-120"/>
              </a:rPr>
              <a:t>a</a:t>
            </a:r>
            <a:r>
              <a:rPr lang="en-US" sz="1200" dirty="0">
                <a:solidFill>
                  <a:srgbClr val="6B6F72"/>
                </a:solidFill>
                <a:latin typeface="Source Sans 3" pitchFamily="34" charset="0"/>
                <a:ea typeface="Source Sans 3" pitchFamily="34" charset="-122"/>
                <a:cs typeface="Source Sans 3" pitchFamily="34" charset="-120"/>
              </a:rPr>
              <a:t> = 1.5, δ(</a:t>
            </a:r>
            <a:r>
              <a:rPr lang="en-US" sz="1200" i="1" dirty="0">
                <a:solidFill>
                  <a:srgbClr val="6B6F72"/>
                </a:solidFill>
                <a:latin typeface="Source Sans 3" pitchFamily="34" charset="0"/>
                <a:ea typeface="Source Sans 3" pitchFamily="34" charset="-122"/>
                <a:cs typeface="Source Sans 3" pitchFamily="34" charset="-120"/>
              </a:rPr>
              <a:t>s</a:t>
            </a:r>
            <a:r>
              <a:rPr lang="en-US" sz="1200" dirty="0">
                <a:solidFill>
                  <a:srgbClr val="6B6F72"/>
                </a:solidFill>
                <a:latin typeface="Source Sans 3" pitchFamily="34" charset="0"/>
                <a:ea typeface="Source Sans 3" pitchFamily="34" charset="-122"/>
                <a:cs typeface="Source Sans 3" pitchFamily="34" charset="-120"/>
              </a:rPr>
              <a:t>) = −3 + 6</a:t>
            </a:r>
            <a:r>
              <a:rPr lang="en-US" sz="1200" i="1" dirty="0">
                <a:solidFill>
                  <a:srgbClr val="6B6F72"/>
                </a:solidFill>
                <a:latin typeface="Source Sans 3" pitchFamily="34" charset="0"/>
                <a:ea typeface="Source Sans 3" pitchFamily="34" charset="-122"/>
                <a:cs typeface="Source Sans 3" pitchFamily="34" charset="-120"/>
              </a:rPr>
              <a:t>s</a:t>
            </a:r>
            <a:r>
              <a:rPr lang="en-US" sz="1200" dirty="0">
                <a:solidFill>
                  <a:srgbClr val="6B6F72"/>
                </a:solidFill>
                <a:latin typeface="Source Sans 3" pitchFamily="34" charset="0"/>
                <a:ea typeface="Source Sans 3" pitchFamily="34" charset="-122"/>
                <a:cs typeface="Source Sans 3" pitchFamily="34" charset="-120"/>
              </a:rPr>
              <a:t>. Each point marks P(</a:t>
            </a:r>
            <a:r>
              <a:rPr lang="en-US" sz="1200" i="1" dirty="0">
                <a:solidFill>
                  <a:srgbClr val="6B6F72"/>
                </a:solidFill>
                <a:latin typeface="Source Sans 3" pitchFamily="34" charset="0"/>
                <a:ea typeface="Source Sans 3" pitchFamily="34" charset="-122"/>
                <a:cs typeface="Source Sans 3" pitchFamily="34" charset="-120"/>
              </a:rPr>
              <a:t>X</a:t>
            </a:r>
            <a:r>
              <a:rPr lang="en-US" sz="1200" dirty="0">
                <a:solidFill>
                  <a:srgbClr val="6B6F72"/>
                </a:solidFill>
                <a:latin typeface="Source Sans 3" pitchFamily="34" charset="0"/>
                <a:ea typeface="Source Sans 3" pitchFamily="34" charset="-122"/>
                <a:cs typeface="Source Sans 3" pitchFamily="34" charset="-120"/>
              </a:rPr>
              <a:t> = 1 | θ) = (</a:t>
            </a:r>
            <a:r>
              <a:rPr lang="en-US" sz="1200" i="1" dirty="0">
                <a:solidFill>
                  <a:srgbClr val="6B6F72"/>
                </a:solidFill>
                <a:latin typeface="Source Sans 3" pitchFamily="34" charset="0"/>
                <a:ea typeface="Source Sans 3" pitchFamily="34" charset="-122"/>
                <a:cs typeface="Source Sans 3" pitchFamily="34" charset="-120"/>
              </a:rPr>
              <a:t>c</a:t>
            </a:r>
            <a:r>
              <a:rPr lang="en-US" sz="1200" dirty="0">
                <a:solidFill>
                  <a:srgbClr val="6B6F72"/>
                </a:solidFill>
                <a:latin typeface="Source Sans 3" pitchFamily="34" charset="0"/>
                <a:ea typeface="Source Sans 3" pitchFamily="34" charset="-122"/>
                <a:cs typeface="Source Sans 3" pitchFamily="34" charset="-120"/>
              </a:rPr>
              <a:t> + 1) / 2 at θ = δ(</a:t>
            </a:r>
            <a:r>
              <a:rPr lang="en-US" sz="1200" i="1" dirty="0">
                <a:solidFill>
                  <a:srgbClr val="6B6F72"/>
                </a:solidFill>
                <a:latin typeface="Source Sans 3" pitchFamily="34" charset="0"/>
                <a:ea typeface="Source Sans 3" pitchFamily="34" charset="-122"/>
                <a:cs typeface="Source Sans 3" pitchFamily="34" charset="-120"/>
              </a:rPr>
              <a:t>s</a:t>
            </a:r>
            <a:r>
              <a:rPr lang="en-US" sz="1200" dirty="0">
                <a:solidFill>
                  <a:srgbClr val="6B6F72"/>
                </a:solidFill>
                <a:latin typeface="Source Sans 3" pitchFamily="34" charset="0"/>
                <a:ea typeface="Source Sans 3" pitchFamily="34" charset="-122"/>
                <a:cs typeface="Source Sans 3" pitchFamily="34" charset="-120"/>
              </a:rPr>
              <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397"/>
            <a:ext cx="1206294" cy="289497"/>
          </a:xfrm>
          <a:custGeom>
            <a:avLst/>
            <a:gdLst/>
            <a:ahLst/>
            <a:cxnLst/>
            <a:rect l="l" t="t" r="r" b="b"/>
            <a:pathLst>
              <a:path w="1206294" h="289497">
                <a:moveTo>
                  <a:pt x="144748" y="0"/>
                </a:moveTo>
                <a:lnTo>
                  <a:pt x="1061545" y="0"/>
                </a:lnTo>
                <a:arcTo wR="144748" hR="144748" stAng="16200000" swAng="5400000"/>
                <a:lnTo>
                  <a:pt x="1206294"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MODEL</a:t>
            </a:r>
            <a:endParaRPr lang="en-US" sz="1200" dirty="0"/>
          </a:p>
        </p:txBody>
      </p:sp>
      <p:sp>
        <p:nvSpPr>
          <p:cNvPr id="3" name="Text 1"/>
          <p:cNvSpPr>
            <a:spLocks noGrp="1"/>
          </p:cNvSpPr>
          <p:nvPr>
            <p:ph type="title"/>
          </p:nvPr>
        </p:nvSpPr>
        <p:spPr>
          <a:xfrm>
            <a:off x="812788" y="1076886"/>
            <a:ext cx="9468053"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Assumption B: A Fixed Override Criterion</a:t>
            </a:r>
            <a:endParaRPr lang="en-US" sz="3200" dirty="0"/>
          </a:p>
        </p:txBody>
      </p:sp>
      <p:sp>
        <p:nvSpPr>
          <p:cNvPr id="4" name="Shape 2"/>
          <p:cNvSpPr/>
          <p:nvPr/>
        </p:nvSpPr>
        <p:spPr>
          <a:xfrm>
            <a:off x="815963" y="2014444"/>
            <a:ext cx="5642065" cy="3641816"/>
          </a:xfrm>
          <a:prstGeom prst="roundRect">
            <a:avLst>
              <a:gd name="adj" fmla="val 2703"/>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pic>
        <p:nvPicPr>
          <p:cNvPr id="5" name="Image 0" descr="Item characteristic curves at c = .70 for f = 0, .10, and .20. The floors are .70, .66, and .62, and the curves level off below 1 when f is above 0."/>
          <p:cNvPicPr>
            <a:picLocks noChangeAspect="1"/>
          </p:cNvPicPr>
          <p:nvPr/>
        </p:nvPicPr>
        <p:blipFill>
          <a:blip r:embed="rId3"/>
          <a:srcRect/>
          <a:stretch/>
        </p:blipFill>
        <p:spPr>
          <a:xfrm>
            <a:off x="970009" y="2168491"/>
            <a:ext cx="5333973" cy="3333724"/>
          </a:xfrm>
          <a:prstGeom prst="rect">
            <a:avLst/>
          </a:prstGeom>
        </p:spPr>
      </p:pic>
      <p:sp>
        <p:nvSpPr>
          <p:cNvPr id="6" name="Text 3"/>
          <p:cNvSpPr/>
          <p:nvPr/>
        </p:nvSpPr>
        <p:spPr>
          <a:xfrm>
            <a:off x="6816781" y="2029535"/>
            <a:ext cx="4699268"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SIGNAL DETECTION</a:t>
            </a:r>
            <a:endParaRPr lang="en-US" sz="1200" dirty="0"/>
          </a:p>
        </p:txBody>
      </p:sp>
      <p:sp>
        <p:nvSpPr>
          <p:cNvPr id="7" name="Text 4"/>
          <p:cNvSpPr/>
          <p:nvPr/>
        </p:nvSpPr>
        <p:spPr>
          <a:xfrm>
            <a:off x="6816781" y="2293671"/>
            <a:ext cx="4699268"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Override when evidence of error exceeds a criterion </a:t>
            </a:r>
            <a:r>
              <a:rPr lang="en-US" sz="1500" i="1" dirty="0">
                <a:solidFill>
                  <a:srgbClr val="141414"/>
                </a:solidFill>
                <a:latin typeface="Source Sans 3" pitchFamily="34" charset="0"/>
                <a:ea typeface="Source Sans 3" pitchFamily="34" charset="-122"/>
                <a:cs typeface="Source Sans 3" pitchFamily="34" charset="-120"/>
              </a:rPr>
              <a:t>k</a:t>
            </a:r>
            <a:endParaRPr lang="en-US" sz="1500" dirty="0"/>
          </a:p>
        </p:txBody>
      </p:sp>
      <p:sp>
        <p:nvSpPr>
          <p:cNvPr id="8" name="Text 5"/>
          <p:cNvSpPr/>
          <p:nvPr/>
        </p:nvSpPr>
        <p:spPr>
          <a:xfrm>
            <a:off x="6816781" y="2611171"/>
            <a:ext cx="4699268" cy="289536"/>
          </a:xfrm>
          <a:prstGeom prst="rect">
            <a:avLst/>
          </a:prstGeom>
          <a:noFill/>
          <a:ln/>
        </p:spPr>
        <p:txBody>
          <a:bodyPr wrap="square" lIns="0" tIns="0" rIns="0" bIns="0" rtlCol="0" anchor="t">
            <a:normAutofit/>
          </a:bodyPr>
          <a:lstStyle/>
          <a:p>
            <a:pPr marL="0" indent="0" algn="l">
              <a:lnSpc>
                <a:spcPts val="2080"/>
              </a:lnSpc>
              <a:buNone/>
            </a:pPr>
            <a:r>
              <a:rPr lang="en-US" sz="1600" i="1" dirty="0">
                <a:solidFill>
                  <a:srgbClr val="141414"/>
                </a:solidFill>
                <a:latin typeface="Source Serif 4" pitchFamily="18" charset="0"/>
                <a:ea typeface="Source Serif 4" pitchFamily="18" charset="-122"/>
                <a:cs typeface="Source Serif 4" pitchFamily="18" charset="-120"/>
              </a:rPr>
              <a:t>h</a:t>
            </a:r>
            <a:r>
              <a:rPr lang="en-US" sz="1600" dirty="0">
                <a:solidFill>
                  <a:srgbClr val="141414"/>
                </a:solidFill>
                <a:latin typeface="Source Serif 4" pitchFamily="18" charset="0"/>
                <a:ea typeface="Source Serif 4" pitchFamily="18" charset="-122"/>
                <a:cs typeface="Source Serif 4" pitchFamily="18" charset="-120"/>
              </a:rPr>
              <a:t>(θ) = Φ(</a:t>
            </a:r>
            <a:r>
              <a:rPr lang="en-US" sz="1600" i="1" dirty="0">
                <a:solidFill>
                  <a:srgbClr val="141414"/>
                </a:solidFill>
                <a:latin typeface="Source Serif 4" pitchFamily="18" charset="0"/>
                <a:ea typeface="Source Serif 4" pitchFamily="18" charset="-122"/>
                <a:cs typeface="Source Serif 4" pitchFamily="18" charset="-120"/>
              </a:rPr>
              <a:t>d</a:t>
            </a:r>
            <a:r>
              <a:rPr lang="en-US" sz="1600" dirty="0">
                <a:solidFill>
                  <a:srgbClr val="141414"/>
                </a:solidFill>
                <a:latin typeface="Source Serif 4" pitchFamily="18" charset="0"/>
                <a:ea typeface="Source Serif 4" pitchFamily="18" charset="-122"/>
                <a:cs typeface="Source Serif 4" pitchFamily="18" charset="-120"/>
              </a:rPr>
              <a:t>′(θ, </a:t>
            </a:r>
            <a:r>
              <a:rPr lang="en-US" sz="1600" i="1" dirty="0">
                <a:solidFill>
                  <a:srgbClr val="141414"/>
                </a:solidFill>
                <a:latin typeface="Source Serif 4" pitchFamily="18" charset="0"/>
                <a:ea typeface="Source Serif 4" pitchFamily="18" charset="-122"/>
                <a:cs typeface="Source Serif 4" pitchFamily="18" charset="-120"/>
              </a:rPr>
              <a:t>s</a:t>
            </a:r>
            <a:r>
              <a:rPr lang="en-US" sz="1600" dirty="0">
                <a:solidFill>
                  <a:srgbClr val="141414"/>
                </a:solidFill>
                <a:latin typeface="Source Serif 4" pitchFamily="18" charset="0"/>
                <a:ea typeface="Source Serif 4" pitchFamily="18" charset="-122"/>
                <a:cs typeface="Source Serif 4" pitchFamily="18" charset="-120"/>
              </a:rPr>
              <a:t>) − </a:t>
            </a:r>
            <a:r>
              <a:rPr lang="en-US" sz="1600" i="1" dirty="0">
                <a:solidFill>
                  <a:srgbClr val="141414"/>
                </a:solidFill>
                <a:latin typeface="Source Serif 4" pitchFamily="18" charset="0"/>
                <a:ea typeface="Source Serif 4" pitchFamily="18" charset="-122"/>
                <a:cs typeface="Source Serif 4" pitchFamily="18" charset="-120"/>
              </a:rPr>
              <a:t>k</a:t>
            </a:r>
            <a:r>
              <a:rPr lang="en-US" sz="1600" dirty="0">
                <a:solidFill>
                  <a:srgbClr val="141414"/>
                </a:solidFill>
                <a:latin typeface="Source Serif 4" pitchFamily="18" charset="0"/>
                <a:ea typeface="Source Serif 4" pitchFamily="18" charset="-122"/>
                <a:cs typeface="Source Serif 4" pitchFamily="18" charset="-120"/>
              </a:rPr>
              <a:t>), </a:t>
            </a:r>
            <a:r>
              <a:rPr lang="en-US" sz="1600" i="1" dirty="0">
                <a:solidFill>
                  <a:srgbClr val="141414"/>
                </a:solidFill>
                <a:latin typeface="Source Serif 4" pitchFamily="18" charset="0"/>
                <a:ea typeface="Source Serif 4" pitchFamily="18" charset="-122"/>
                <a:cs typeface="Source Serif 4" pitchFamily="18" charset="-120"/>
              </a:rPr>
              <a:t>f</a:t>
            </a:r>
            <a:r>
              <a:rPr lang="en-US" sz="1600" dirty="0">
                <a:solidFill>
                  <a:srgbClr val="141414"/>
                </a:solidFill>
                <a:latin typeface="Source Serif 4" pitchFamily="18" charset="0"/>
                <a:ea typeface="Source Serif 4" pitchFamily="18" charset="-122"/>
                <a:cs typeface="Source Serif 4" pitchFamily="18" charset="-120"/>
              </a:rPr>
              <a:t> = Φ(−</a:t>
            </a:r>
            <a:r>
              <a:rPr lang="en-US" sz="1600" i="1" dirty="0">
                <a:solidFill>
                  <a:srgbClr val="141414"/>
                </a:solidFill>
                <a:latin typeface="Source Serif 4" pitchFamily="18" charset="0"/>
                <a:ea typeface="Source Serif 4" pitchFamily="18" charset="-122"/>
                <a:cs typeface="Source Serif 4" pitchFamily="18" charset="-120"/>
              </a:rPr>
              <a:t>k</a:t>
            </a:r>
            <a:r>
              <a:rPr lang="en-US" sz="1600" dirty="0">
                <a:solidFill>
                  <a:srgbClr val="141414"/>
                </a:solidFill>
                <a:latin typeface="Source Serif 4" pitchFamily="18" charset="0"/>
                <a:ea typeface="Source Serif 4" pitchFamily="18" charset="-122"/>
                <a:cs typeface="Source Serif 4" pitchFamily="18" charset="-120"/>
              </a:rPr>
              <a:t>)</a:t>
            </a:r>
            <a:endParaRPr lang="en-US" sz="1600" dirty="0"/>
          </a:p>
        </p:txBody>
      </p:sp>
      <p:sp>
        <p:nvSpPr>
          <p:cNvPr id="9" name="Text 6"/>
          <p:cNvSpPr/>
          <p:nvPr/>
        </p:nvSpPr>
        <p:spPr>
          <a:xfrm>
            <a:off x="6816781" y="2926104"/>
            <a:ext cx="4699268" cy="292102"/>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3A3D40"/>
                </a:solidFill>
                <a:latin typeface="Source Sans 3" pitchFamily="34" charset="0"/>
                <a:ea typeface="Source Sans 3" pitchFamily="34" charset="-122"/>
                <a:cs typeface="Source Sans 3" pitchFamily="34" charset="-120"/>
              </a:rPr>
              <a:t>f</a:t>
            </a:r>
            <a:r>
              <a:rPr lang="en-US" sz="1500" dirty="0">
                <a:solidFill>
                  <a:srgbClr val="3A3D40"/>
                </a:solidFill>
                <a:latin typeface="Source Sans 3" pitchFamily="34" charset="0"/>
                <a:ea typeface="Source Sans 3" pitchFamily="34" charset="-122"/>
                <a:cs typeface="Source Sans 3" pitchFamily="34" charset="-120"/>
              </a:rPr>
              <a:t> reflects skepticism, not discernment</a:t>
            </a:r>
            <a:endParaRPr lang="en-US" sz="1500" dirty="0"/>
          </a:p>
        </p:txBody>
      </p:sp>
      <p:sp>
        <p:nvSpPr>
          <p:cNvPr id="10" name="Text 7"/>
          <p:cNvSpPr/>
          <p:nvPr/>
        </p:nvSpPr>
        <p:spPr>
          <a:xfrm>
            <a:off x="6816781" y="3395994"/>
            <a:ext cx="4699268"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THE FLOOR DROPS WHEN </a:t>
            </a:r>
            <a:r>
              <a:rPr lang="en-US" sz="1200" b="1" i="1" kern="0" spc="150" dirty="0">
                <a:solidFill>
                  <a:srgbClr val="565A5C"/>
                </a:solidFill>
                <a:latin typeface="Source Sans 3" pitchFamily="34" charset="0"/>
                <a:ea typeface="Source Sans 3" pitchFamily="34" charset="-122"/>
                <a:cs typeface="Source Sans 3" pitchFamily="34" charset="-120"/>
              </a:rPr>
              <a:t>c</a:t>
            </a:r>
            <a:r>
              <a:rPr lang="en-US" sz="1200" b="1" kern="0" spc="150" dirty="0">
                <a:solidFill>
                  <a:srgbClr val="565A5C"/>
                </a:solidFill>
                <a:latin typeface="Source Sans 3" pitchFamily="34" charset="0"/>
                <a:ea typeface="Source Sans 3" pitchFamily="34" charset="-122"/>
                <a:cs typeface="Source Sans 3" pitchFamily="34" charset="-120"/>
              </a:rPr>
              <a:t> &gt; .5</a:t>
            </a:r>
            <a:endParaRPr lang="en-US" sz="1200" dirty="0"/>
          </a:p>
        </p:txBody>
      </p:sp>
      <p:sp>
        <p:nvSpPr>
          <p:cNvPr id="11" name="Text 8"/>
          <p:cNvSpPr/>
          <p:nvPr/>
        </p:nvSpPr>
        <p:spPr>
          <a:xfrm>
            <a:off x="6816781" y="3660130"/>
            <a:ext cx="4699268" cy="289536"/>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1414"/>
                </a:solidFill>
                <a:latin typeface="Source Serif 4" pitchFamily="18" charset="0"/>
                <a:ea typeface="Source Serif 4" pitchFamily="18" charset="-122"/>
                <a:cs typeface="Source Serif 4" pitchFamily="18" charset="-120"/>
              </a:rPr>
              <a:t>As θ → −∞, </a:t>
            </a:r>
            <a:r>
              <a:rPr lang="en-US" sz="1600" i="1" dirty="0">
                <a:solidFill>
                  <a:srgbClr val="141414"/>
                </a:solidFill>
                <a:latin typeface="Source Serif 4" pitchFamily="18" charset="0"/>
                <a:ea typeface="Source Serif 4" pitchFamily="18" charset="-122"/>
                <a:cs typeface="Source Serif 4" pitchFamily="18" charset="-120"/>
              </a:rPr>
              <a:t>h</a:t>
            </a:r>
            <a:r>
              <a:rPr lang="en-US" sz="1600" dirty="0">
                <a:solidFill>
                  <a:srgbClr val="141414"/>
                </a:solidFill>
                <a:latin typeface="Source Serif 4" pitchFamily="18" charset="0"/>
                <a:ea typeface="Source Serif 4" pitchFamily="18" charset="-122"/>
                <a:cs typeface="Source Serif 4" pitchFamily="18" charset="-120"/>
              </a:rPr>
              <a:t>(θ) → </a:t>
            </a:r>
            <a:r>
              <a:rPr lang="en-US" sz="1600" i="1" dirty="0">
                <a:solidFill>
                  <a:srgbClr val="141414"/>
                </a:solidFill>
                <a:latin typeface="Source Serif 4" pitchFamily="18" charset="0"/>
                <a:ea typeface="Source Serif 4" pitchFamily="18" charset="-122"/>
                <a:cs typeface="Source Serif 4" pitchFamily="18" charset="-120"/>
              </a:rPr>
              <a:t>f</a:t>
            </a:r>
            <a:endParaRPr lang="en-US" sz="1600" dirty="0"/>
          </a:p>
        </p:txBody>
      </p:sp>
      <p:sp>
        <p:nvSpPr>
          <p:cNvPr id="12" name="Text 9"/>
          <p:cNvSpPr/>
          <p:nvPr/>
        </p:nvSpPr>
        <p:spPr>
          <a:xfrm>
            <a:off x="6816781" y="3975063"/>
            <a:ext cx="4699268" cy="289536"/>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1414"/>
                </a:solidFill>
                <a:latin typeface="Source Serif 4" pitchFamily="18" charset="0"/>
                <a:ea typeface="Source Serif 4" pitchFamily="18" charset="-122"/>
                <a:cs typeface="Source Serif 4" pitchFamily="18" charset="-120"/>
              </a:rPr>
              <a:t>floor = </a:t>
            </a:r>
            <a:r>
              <a:rPr lang="en-US" sz="1600" i="1" dirty="0">
                <a:solidFill>
                  <a:srgbClr val="141414"/>
                </a:solidFill>
                <a:latin typeface="Source Serif 4" pitchFamily="18" charset="0"/>
                <a:ea typeface="Source Serif 4" pitchFamily="18" charset="-122"/>
                <a:cs typeface="Source Serif 4" pitchFamily="18" charset="-120"/>
              </a:rPr>
              <a:t>c</a:t>
            </a:r>
            <a:r>
              <a:rPr lang="en-US" sz="1600" dirty="0">
                <a:solidFill>
                  <a:srgbClr val="141414"/>
                </a:solidFill>
                <a:latin typeface="Source Serif 4" pitchFamily="18" charset="0"/>
                <a:ea typeface="Source Serif 4" pitchFamily="18" charset="-122"/>
                <a:cs typeface="Source Serif 4" pitchFamily="18" charset="-120"/>
              </a:rPr>
              <a:t>(1 − </a:t>
            </a:r>
            <a:r>
              <a:rPr lang="en-US" sz="1600" i="1" dirty="0">
                <a:solidFill>
                  <a:srgbClr val="141414"/>
                </a:solidFill>
                <a:latin typeface="Source Serif 4" pitchFamily="18" charset="0"/>
                <a:ea typeface="Source Serif 4" pitchFamily="18" charset="-122"/>
                <a:cs typeface="Source Serif 4" pitchFamily="18" charset="-120"/>
              </a:rPr>
              <a:t>f</a:t>
            </a:r>
            <a:r>
              <a:rPr lang="en-US" sz="1600" dirty="0">
                <a:solidFill>
                  <a:srgbClr val="141414"/>
                </a:solidFill>
                <a:latin typeface="Source Serif 4" pitchFamily="18" charset="0"/>
                <a:ea typeface="Source Serif 4" pitchFamily="18" charset="-122"/>
                <a:cs typeface="Source Serif 4" pitchFamily="18" charset="-120"/>
              </a:rPr>
              <a:t>) + (1 − </a:t>
            </a:r>
            <a:r>
              <a:rPr lang="en-US" sz="1600" i="1" dirty="0">
                <a:solidFill>
                  <a:srgbClr val="141414"/>
                </a:solidFill>
                <a:latin typeface="Source Serif 4" pitchFamily="18" charset="0"/>
                <a:ea typeface="Source Serif 4" pitchFamily="18" charset="-122"/>
                <a:cs typeface="Source Serif 4" pitchFamily="18" charset="-120"/>
              </a:rPr>
              <a:t>c</a:t>
            </a:r>
            <a:r>
              <a:rPr lang="en-US" sz="1600" dirty="0">
                <a:solidFill>
                  <a:srgbClr val="141414"/>
                </a:solidFill>
                <a:latin typeface="Source Serif 4" pitchFamily="18" charset="0"/>
                <a:ea typeface="Source Serif 4" pitchFamily="18" charset="-122"/>
                <a:cs typeface="Source Serif 4" pitchFamily="18" charset="-120"/>
              </a:rPr>
              <a:t>) </a:t>
            </a:r>
            <a:r>
              <a:rPr lang="en-US" sz="1600" i="1" dirty="0">
                <a:solidFill>
                  <a:srgbClr val="141414"/>
                </a:solidFill>
                <a:latin typeface="Source Serif 4" pitchFamily="18" charset="0"/>
                <a:ea typeface="Source Serif 4" pitchFamily="18" charset="-122"/>
                <a:cs typeface="Source Serif 4" pitchFamily="18" charset="-120"/>
              </a:rPr>
              <a:t>f</a:t>
            </a:r>
            <a:endParaRPr lang="en-US" sz="1600" dirty="0"/>
          </a:p>
        </p:txBody>
      </p:sp>
      <p:sp>
        <p:nvSpPr>
          <p:cNvPr id="13" name="Text 10"/>
          <p:cNvSpPr/>
          <p:nvPr/>
        </p:nvSpPr>
        <p:spPr>
          <a:xfrm>
            <a:off x="6816781" y="4289996"/>
            <a:ext cx="4699268" cy="289536"/>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1414"/>
                </a:solidFill>
                <a:latin typeface="Source Serif 4" pitchFamily="18" charset="0"/>
                <a:ea typeface="Source Serif 4" pitchFamily="18" charset="-122"/>
                <a:cs typeface="Source Serif 4" pitchFamily="18" charset="-120"/>
              </a:rPr>
              <a:t>floor − </a:t>
            </a:r>
            <a:r>
              <a:rPr lang="en-US" sz="1600" i="1" dirty="0">
                <a:solidFill>
                  <a:srgbClr val="141414"/>
                </a:solidFill>
                <a:latin typeface="Source Serif 4" pitchFamily="18" charset="0"/>
                <a:ea typeface="Source Serif 4" pitchFamily="18" charset="-122"/>
                <a:cs typeface="Source Serif 4" pitchFamily="18" charset="-120"/>
              </a:rPr>
              <a:t>c</a:t>
            </a:r>
            <a:r>
              <a:rPr lang="en-US" sz="1600" dirty="0">
                <a:solidFill>
                  <a:srgbClr val="141414"/>
                </a:solidFill>
                <a:latin typeface="Source Serif 4" pitchFamily="18" charset="0"/>
                <a:ea typeface="Source Serif 4" pitchFamily="18" charset="-122"/>
                <a:cs typeface="Source Serif 4" pitchFamily="18" charset="-120"/>
              </a:rPr>
              <a:t> = </a:t>
            </a:r>
            <a:r>
              <a:rPr lang="en-US" sz="1600" i="1" dirty="0">
                <a:solidFill>
                  <a:srgbClr val="141414"/>
                </a:solidFill>
                <a:latin typeface="Source Serif 4" pitchFamily="18" charset="0"/>
                <a:ea typeface="Source Serif 4" pitchFamily="18" charset="-122"/>
                <a:cs typeface="Source Serif 4" pitchFamily="18" charset="-120"/>
              </a:rPr>
              <a:t>f</a:t>
            </a:r>
            <a:r>
              <a:rPr lang="en-US" sz="1600" dirty="0">
                <a:solidFill>
                  <a:srgbClr val="141414"/>
                </a:solidFill>
                <a:latin typeface="Source Serif 4" pitchFamily="18" charset="0"/>
                <a:ea typeface="Source Serif 4" pitchFamily="18" charset="-122"/>
                <a:cs typeface="Source Serif 4" pitchFamily="18" charset="-120"/>
              </a:rPr>
              <a:t>(1 − 2</a:t>
            </a:r>
            <a:r>
              <a:rPr lang="en-US" sz="1600" i="1" dirty="0">
                <a:solidFill>
                  <a:srgbClr val="141414"/>
                </a:solidFill>
                <a:latin typeface="Source Serif 4" pitchFamily="18" charset="0"/>
                <a:ea typeface="Source Serif 4" pitchFamily="18" charset="-122"/>
                <a:cs typeface="Source Serif 4" pitchFamily="18" charset="-120"/>
              </a:rPr>
              <a:t>c</a:t>
            </a:r>
            <a:r>
              <a:rPr lang="en-US" sz="1600" dirty="0">
                <a:solidFill>
                  <a:srgbClr val="141414"/>
                </a:solidFill>
                <a:latin typeface="Source Serif 4" pitchFamily="18" charset="0"/>
                <a:ea typeface="Source Serif 4" pitchFamily="18" charset="-122"/>
                <a:cs typeface="Source Serif 4" pitchFamily="18" charset="-120"/>
              </a:rPr>
              <a:t>)</a:t>
            </a:r>
            <a:endParaRPr lang="en-US" sz="1600" dirty="0"/>
          </a:p>
        </p:txBody>
      </p:sp>
      <p:sp>
        <p:nvSpPr>
          <p:cNvPr id="14" name="Text 11"/>
          <p:cNvSpPr/>
          <p:nvPr/>
        </p:nvSpPr>
        <p:spPr>
          <a:xfrm>
            <a:off x="6816781" y="4757322"/>
            <a:ext cx="4562396" cy="883850"/>
          </a:xfrm>
          <a:prstGeom prst="roundRect">
            <a:avLst>
              <a:gd name="adj" fmla="val 11495"/>
            </a:avLst>
          </a:prstGeom>
          <a:solidFill>
            <a:srgbClr val="141414"/>
          </a:solidFill>
          <a:ln/>
        </p:spPr>
        <p:txBody>
          <a:bodyPr wrap="square" lIns="198828" tIns="148042" rIns="75671" bIns="122620" rtlCol="0" anchor="t">
            <a:normAutofit/>
          </a:bodyPr>
          <a:lstStyle/>
          <a:p>
            <a:pPr marL="0" indent="0" algn="l">
              <a:lnSpc>
                <a:spcPts val="2080"/>
              </a:lnSpc>
              <a:buNone/>
            </a:pPr>
            <a:r>
              <a:rPr lang="en-US" sz="1600" b="1" dirty="0">
                <a:solidFill>
                  <a:srgbClr val="FAFAF8"/>
                </a:solidFill>
                <a:latin typeface="Source Serif 4" pitchFamily="18" charset="0"/>
                <a:ea typeface="Source Serif 4" pitchFamily="18" charset="-122"/>
                <a:cs typeface="Source Serif 4" pitchFamily="18" charset="-120"/>
              </a:rPr>
              <a:t>Same conclusion: as </a:t>
            </a:r>
            <a:r>
              <a:rPr lang="en-US" sz="1600" b="1" i="1" dirty="0">
                <a:solidFill>
                  <a:srgbClr val="FAFAF8"/>
                </a:solidFill>
                <a:latin typeface="Source Serif 4" pitchFamily="18" charset="0"/>
                <a:ea typeface="Source Serif 4" pitchFamily="18" charset="-122"/>
                <a:cs typeface="Source Serif 4" pitchFamily="18" charset="-120"/>
              </a:rPr>
              <a:t>c</a:t>
            </a:r>
            <a:r>
              <a:rPr lang="en-US" sz="1600" b="1" dirty="0">
                <a:solidFill>
                  <a:srgbClr val="FAFAF8"/>
                </a:solidFill>
                <a:latin typeface="Source Serif 4" pitchFamily="18" charset="0"/>
                <a:ea typeface="Source Serif 4" pitchFamily="18" charset="-122"/>
                <a:cs typeface="Source Serif 4" pitchFamily="18" charset="-120"/>
              </a:rPr>
              <a:t> → 1, P(</a:t>
            </a:r>
            <a:r>
              <a:rPr lang="en-US" sz="1600" b="1" i="1" dirty="0">
                <a:solidFill>
                  <a:srgbClr val="FAFAF8"/>
                </a:solidFill>
                <a:latin typeface="Source Serif 4" pitchFamily="18" charset="0"/>
                <a:ea typeface="Source Serif 4" pitchFamily="18" charset="-122"/>
                <a:cs typeface="Source Serif 4" pitchFamily="18" charset="-120"/>
              </a:rPr>
              <a:t>X</a:t>
            </a:r>
            <a:r>
              <a:rPr lang="en-US" sz="1600" b="1" dirty="0">
                <a:solidFill>
                  <a:srgbClr val="FAFAF8"/>
                </a:solidFill>
                <a:latin typeface="Source Serif 4" pitchFamily="18" charset="0"/>
                <a:ea typeface="Source Serif 4" pitchFamily="18" charset="-122"/>
                <a:cs typeface="Source Serif 4" pitchFamily="18" charset="-120"/>
              </a:rPr>
              <a:t> = 1 | θ) → 1 − </a:t>
            </a:r>
            <a:r>
              <a:rPr lang="en-US" sz="1600" b="1" i="1" dirty="0">
                <a:solidFill>
                  <a:srgbClr val="FAFAF8"/>
                </a:solidFill>
                <a:latin typeface="Source Serif 4" pitchFamily="18" charset="0"/>
                <a:ea typeface="Source Serif 4" pitchFamily="18" charset="-122"/>
                <a:cs typeface="Source Serif 4" pitchFamily="18" charset="-120"/>
              </a:rPr>
              <a:t>f</a:t>
            </a:r>
            <a:r>
              <a:rPr lang="en-US" sz="1600" b="1" dirty="0">
                <a:solidFill>
                  <a:srgbClr val="FAFAF8"/>
                </a:solidFill>
                <a:latin typeface="Source Serif 4" pitchFamily="18" charset="0"/>
                <a:ea typeface="Source Serif 4" pitchFamily="18" charset="-122"/>
                <a:cs typeface="Source Serif 4" pitchFamily="18" charset="-120"/>
              </a:rPr>
              <a:t> for every θ</a:t>
            </a:r>
            <a:endParaRPr lang="en-US" sz="1600" dirty="0"/>
          </a:p>
        </p:txBody>
      </p:sp>
      <p:sp>
        <p:nvSpPr>
          <p:cNvPr id="15" name="Text 12"/>
          <p:cNvSpPr/>
          <p:nvPr/>
        </p:nvSpPr>
        <p:spPr>
          <a:xfrm>
            <a:off x="812788" y="6238280"/>
            <a:ext cx="10883382"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2"/>
                </a:solidFill>
                <a:latin typeface="Source Sans 3" pitchFamily="34" charset="0"/>
                <a:ea typeface="Source Sans 3" pitchFamily="34" charset="-122"/>
                <a:cs typeface="Source Sans 3" pitchFamily="34" charset="-120"/>
              </a:rPr>
              <a:t>Curves: </a:t>
            </a:r>
            <a:r>
              <a:rPr lang="en-US" sz="1200" i="1" dirty="0">
                <a:solidFill>
                  <a:srgbClr val="6B6F72"/>
                </a:solidFill>
                <a:latin typeface="Source Sans 3" pitchFamily="34" charset="0"/>
                <a:ea typeface="Source Sans 3" pitchFamily="34" charset="-122"/>
                <a:cs typeface="Source Sans 3" pitchFamily="34" charset="-120"/>
              </a:rPr>
              <a:t>c</a:t>
            </a:r>
            <a:r>
              <a:rPr lang="en-US" sz="1200" dirty="0">
                <a:solidFill>
                  <a:srgbClr val="6B6F72"/>
                </a:solidFill>
                <a:latin typeface="Source Sans 3" pitchFamily="34" charset="0"/>
                <a:ea typeface="Source Sans 3" pitchFamily="34" charset="-122"/>
                <a:cs typeface="Source Sans 3" pitchFamily="34" charset="-120"/>
              </a:rPr>
              <a:t> = .70, δ(</a:t>
            </a:r>
            <a:r>
              <a:rPr lang="en-US" sz="1200" i="1" dirty="0">
                <a:solidFill>
                  <a:srgbClr val="6B6F72"/>
                </a:solidFill>
                <a:latin typeface="Source Sans 3" pitchFamily="34" charset="0"/>
                <a:ea typeface="Source Sans 3" pitchFamily="34" charset="-122"/>
                <a:cs typeface="Source Sans 3" pitchFamily="34" charset="-120"/>
              </a:rPr>
              <a:t>s</a:t>
            </a:r>
            <a:r>
              <a:rPr lang="en-US" sz="1200" dirty="0">
                <a:solidFill>
                  <a:srgbClr val="6B6F72"/>
                </a:solidFill>
                <a:latin typeface="Source Sans 3" pitchFamily="34" charset="0"/>
                <a:ea typeface="Source Sans 3" pitchFamily="34" charset="-122"/>
                <a:cs typeface="Source Sans 3" pitchFamily="34" charset="-120"/>
              </a:rPr>
              <a:t>) = 0, </a:t>
            </a:r>
            <a:r>
              <a:rPr lang="en-US" sz="1200" i="1" dirty="0">
                <a:solidFill>
                  <a:srgbClr val="6B6F72"/>
                </a:solidFill>
                <a:latin typeface="Source Sans 3" pitchFamily="34" charset="0"/>
                <a:ea typeface="Source Sans 3" pitchFamily="34" charset="-122"/>
                <a:cs typeface="Source Sans 3" pitchFamily="34" charset="-120"/>
              </a:rPr>
              <a:t>a</a:t>
            </a:r>
            <a:r>
              <a:rPr lang="en-US" sz="1200" dirty="0">
                <a:solidFill>
                  <a:srgbClr val="6B6F72"/>
                </a:solidFill>
                <a:latin typeface="Source Sans 3" pitchFamily="34" charset="0"/>
                <a:ea typeface="Source Sans 3" pitchFamily="34" charset="-122"/>
                <a:cs typeface="Source Sans 3" pitchFamily="34" charset="-120"/>
              </a:rPr>
              <a:t> = 1.5, </a:t>
            </a:r>
            <a:r>
              <a:rPr lang="en-US" sz="1200" i="1" dirty="0">
                <a:solidFill>
                  <a:srgbClr val="6B6F72"/>
                </a:solidFill>
                <a:latin typeface="Source Sans 3" pitchFamily="34" charset="0"/>
                <a:ea typeface="Source Sans 3" pitchFamily="34" charset="-122"/>
                <a:cs typeface="Source Sans 3" pitchFamily="34" charset="-120"/>
              </a:rPr>
              <a:t>h</a:t>
            </a:r>
            <a:r>
              <a:rPr lang="en-US" sz="1200" dirty="0">
                <a:solidFill>
                  <a:srgbClr val="6B6F72"/>
                </a:solidFill>
                <a:latin typeface="Source Sans 3" pitchFamily="34" charset="0"/>
                <a:ea typeface="Source Sans 3" pitchFamily="34" charset="-122"/>
                <a:cs typeface="Source Sans 3" pitchFamily="34" charset="-120"/>
              </a:rPr>
              <a:t>(θ) = </a:t>
            </a:r>
            <a:r>
              <a:rPr lang="en-US" sz="1200" i="1" dirty="0">
                <a:solidFill>
                  <a:srgbClr val="6B6F72"/>
                </a:solidFill>
                <a:latin typeface="Source Sans 3" pitchFamily="34" charset="0"/>
                <a:ea typeface="Source Sans 3" pitchFamily="34" charset="-122"/>
                <a:cs typeface="Source Sans 3" pitchFamily="34" charset="-120"/>
              </a:rPr>
              <a:t>f</a:t>
            </a:r>
            <a:r>
              <a:rPr lang="en-US" sz="1200" dirty="0">
                <a:solidFill>
                  <a:srgbClr val="6B6F72"/>
                </a:solidFill>
                <a:latin typeface="Source Sans 3" pitchFamily="34" charset="0"/>
                <a:ea typeface="Source Sans 3" pitchFamily="34" charset="-122"/>
                <a:cs typeface="Source Sans 3" pitchFamily="34" charset="-120"/>
              </a:rPr>
              <a:t> + (1 − </a:t>
            </a:r>
            <a:r>
              <a:rPr lang="en-US" sz="1200" i="1" dirty="0">
                <a:solidFill>
                  <a:srgbClr val="6B6F72"/>
                </a:solidFill>
                <a:latin typeface="Source Sans 3" pitchFamily="34" charset="0"/>
                <a:ea typeface="Source Sans 3" pitchFamily="34" charset="-122"/>
                <a:cs typeface="Source Sans 3" pitchFamily="34" charset="-120"/>
              </a:rPr>
              <a:t>f</a:t>
            </a:r>
            <a:r>
              <a:rPr lang="en-US" sz="1200" dirty="0">
                <a:solidFill>
                  <a:srgbClr val="6B6F72"/>
                </a:solidFill>
                <a:latin typeface="Source Sans 3" pitchFamily="34" charset="0"/>
                <a:ea typeface="Source Sans 3" pitchFamily="34" charset="-122"/>
                <a:cs typeface="Source Sans 3" pitchFamily="34" charset="-120"/>
              </a:rPr>
              <a:t>) </a:t>
            </a:r>
            <a:r>
              <a:rPr lang="en-US" sz="1200" i="1" dirty="0">
                <a:solidFill>
                  <a:srgbClr val="6B6F72"/>
                </a:solidFill>
                <a:latin typeface="Source Sans 3" pitchFamily="34" charset="0"/>
                <a:ea typeface="Source Sans 3" pitchFamily="34" charset="-122"/>
                <a:cs typeface="Source Sans 3" pitchFamily="34" charset="-120"/>
              </a:rPr>
              <a:t>L</a:t>
            </a:r>
            <a:r>
              <a:rPr lang="en-US" sz="1200" dirty="0">
                <a:solidFill>
                  <a:srgbClr val="6B6F72"/>
                </a:solidFill>
                <a:latin typeface="Source Sans 3" pitchFamily="34" charset="0"/>
                <a:ea typeface="Source Sans 3" pitchFamily="34" charset="-122"/>
                <a:cs typeface="Source Sans 3" pitchFamily="34" charset="-120"/>
              </a:rPr>
              <a:t>(θ). Floors match Table A1; derivation in Appendix 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394"/>
            <a:ext cx="2682875" cy="289497"/>
          </a:xfrm>
          <a:custGeom>
            <a:avLst/>
            <a:gdLst/>
            <a:ahLst/>
            <a:cxnLst/>
            <a:rect l="l" t="t" r="r" b="b"/>
            <a:pathLst>
              <a:path w="2682875" h="289497">
                <a:moveTo>
                  <a:pt x="144748" y="0"/>
                </a:moveTo>
                <a:lnTo>
                  <a:pt x="2538126" y="0"/>
                </a:lnTo>
                <a:arcTo wR="144748" hR="144748" stAng="16200000" swAng="5400000"/>
                <a:lnTo>
                  <a:pt x="2682875"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THE VERIFICATION FRONTIER</a:t>
            </a:r>
            <a:endParaRPr lang="en-US" sz="1200" dirty="0"/>
          </a:p>
        </p:txBody>
      </p:sp>
      <p:sp>
        <p:nvSpPr>
          <p:cNvPr id="3" name="Text 1"/>
          <p:cNvSpPr>
            <a:spLocks noGrp="1"/>
          </p:cNvSpPr>
          <p:nvPr>
            <p:ph type="title"/>
          </p:nvPr>
        </p:nvSpPr>
        <p:spPr>
          <a:xfrm>
            <a:off x="812788" y="1076883"/>
            <a:ext cx="9182519"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Two Domains Across Model Generations</a:t>
            </a:r>
            <a:endParaRPr lang="en-US" sz="3200" dirty="0"/>
          </a:p>
        </p:txBody>
      </p:sp>
      <p:sp>
        <p:nvSpPr>
          <p:cNvPr id="4" name="Shape 2"/>
          <p:cNvSpPr/>
          <p:nvPr/>
        </p:nvSpPr>
        <p:spPr>
          <a:xfrm>
            <a:off x="815963" y="1947757"/>
            <a:ext cx="5896087" cy="3775186"/>
          </a:xfrm>
          <a:prstGeom prst="roundRect">
            <a:avLst>
              <a:gd name="adj" fmla="val 2607"/>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pic>
        <p:nvPicPr>
          <p:cNvPr id="5" name="Image 0" descr="Heat map of expected item information over model capability c and seductiveness s. A dashed ridge runs near s = .43. From a shared early model at c = .50, s = .45, a blue verifiable road climbs right to c = .96 into low information, and a red unverifiable road rises to c = .55, s = .62 and stays near the ridge."/>
          <p:cNvPicPr>
            <a:picLocks noChangeAspect="1"/>
          </p:cNvPicPr>
          <p:nvPr/>
        </p:nvPicPr>
        <p:blipFill>
          <a:blip r:embed="rId3"/>
          <a:srcRect l="-22" r="-22"/>
          <a:stretch/>
        </p:blipFill>
        <p:spPr>
          <a:xfrm>
            <a:off x="970009" y="2101807"/>
            <a:ext cx="5587995" cy="3467094"/>
          </a:xfrm>
          <a:prstGeom prst="rect">
            <a:avLst/>
          </a:prstGeom>
        </p:spPr>
      </p:pic>
      <p:sp>
        <p:nvSpPr>
          <p:cNvPr id="6" name="Text 3"/>
          <p:cNvSpPr/>
          <p:nvPr/>
        </p:nvSpPr>
        <p:spPr>
          <a:xfrm>
            <a:off x="7070803" y="2379185"/>
            <a:ext cx="4437625"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65A5C"/>
                </a:solidFill>
                <a:latin typeface="Source Sans 3" pitchFamily="34" charset="0"/>
                <a:ea typeface="Source Sans 3" pitchFamily="34" charset="-122"/>
                <a:cs typeface="Source Sans 3" pitchFamily="34" charset="-120"/>
              </a:rPr>
              <a:t>SHARED START</a:t>
            </a:r>
            <a:endParaRPr lang="en-US" sz="1200" dirty="0"/>
          </a:p>
        </p:txBody>
      </p:sp>
      <p:sp>
        <p:nvSpPr>
          <p:cNvPr id="7" name="Text 4"/>
          <p:cNvSpPr/>
          <p:nvPr/>
        </p:nvSpPr>
        <p:spPr>
          <a:xfrm>
            <a:off x="7070803" y="2643324"/>
            <a:ext cx="4437625"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Same early model in both domains: </a:t>
            </a:r>
            <a:r>
              <a:rPr lang="en-US" sz="1500" i="1" dirty="0">
                <a:solidFill>
                  <a:srgbClr val="141414"/>
                </a:solidFill>
                <a:latin typeface="Source Sans 3" pitchFamily="34" charset="0"/>
                <a:ea typeface="Source Sans 3" pitchFamily="34" charset="-122"/>
                <a:cs typeface="Source Sans 3" pitchFamily="34" charset="-120"/>
              </a:rPr>
              <a:t>c</a:t>
            </a:r>
            <a:r>
              <a:rPr lang="en-US" sz="1500" dirty="0">
                <a:solidFill>
                  <a:srgbClr val="141414"/>
                </a:solidFill>
                <a:latin typeface="Source Sans 3" pitchFamily="34" charset="0"/>
                <a:ea typeface="Source Sans 3" pitchFamily="34" charset="-122"/>
                <a:cs typeface="Source Sans 3" pitchFamily="34" charset="-120"/>
              </a:rPr>
              <a:t> = .50, </a:t>
            </a:r>
            <a:r>
              <a:rPr lang="en-US" sz="1500" i="1" dirty="0">
                <a:solidFill>
                  <a:srgbClr val="141414"/>
                </a:solidFill>
                <a:latin typeface="Source Sans 3" pitchFamily="34" charset="0"/>
                <a:ea typeface="Source Sans 3" pitchFamily="34" charset="-122"/>
                <a:cs typeface="Source Sans 3" pitchFamily="34" charset="-120"/>
              </a:rPr>
              <a:t>s</a:t>
            </a:r>
            <a:r>
              <a:rPr lang="en-US" sz="1500" dirty="0">
                <a:solidFill>
                  <a:srgbClr val="141414"/>
                </a:solidFill>
                <a:latin typeface="Source Sans 3" pitchFamily="34" charset="0"/>
                <a:ea typeface="Source Sans 3" pitchFamily="34" charset="-122"/>
                <a:cs typeface="Source Sans 3" pitchFamily="34" charset="-120"/>
              </a:rPr>
              <a:t> = .45</a:t>
            </a:r>
            <a:endParaRPr lang="en-US" sz="1500" dirty="0"/>
          </a:p>
        </p:txBody>
      </p:sp>
      <p:sp>
        <p:nvSpPr>
          <p:cNvPr id="8" name="Text 5"/>
          <p:cNvSpPr/>
          <p:nvPr/>
        </p:nvSpPr>
        <p:spPr>
          <a:xfrm>
            <a:off x="7070803" y="2960824"/>
            <a:ext cx="4437625"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414"/>
                </a:solidFill>
                <a:latin typeface="Source Sans 3" pitchFamily="34" charset="0"/>
                <a:ea typeface="Source Sans 3" pitchFamily="34" charset="-122"/>
                <a:cs typeface="Source Sans 3" pitchFamily="34" charset="-120"/>
              </a:rPr>
              <a:t>Errors grow subtler: </a:t>
            </a:r>
            <a:r>
              <a:rPr lang="en-US" sz="1500" i="1" dirty="0">
                <a:solidFill>
                  <a:srgbClr val="141414"/>
                </a:solidFill>
                <a:latin typeface="Source Sans 3" pitchFamily="34" charset="0"/>
                <a:ea typeface="Source Sans 3" pitchFamily="34" charset="-122"/>
                <a:cs typeface="Source Sans 3" pitchFamily="34" charset="-120"/>
              </a:rPr>
              <a:t>s</a:t>
            </a:r>
            <a:r>
              <a:rPr lang="en-US" sz="1500" dirty="0">
                <a:solidFill>
                  <a:srgbClr val="141414"/>
                </a:solidFill>
                <a:latin typeface="Source Sans 3" pitchFamily="34" charset="0"/>
                <a:ea typeface="Source Sans 3" pitchFamily="34" charset="-122"/>
                <a:cs typeface="Source Sans 3" pitchFamily="34" charset="-120"/>
              </a:rPr>
              <a:t> rises to .62 in both</a:t>
            </a:r>
            <a:endParaRPr lang="en-US" sz="1500" dirty="0"/>
          </a:p>
        </p:txBody>
      </p:sp>
      <p:sp>
        <p:nvSpPr>
          <p:cNvPr id="9" name="Shape 6"/>
          <p:cNvSpPr/>
          <p:nvPr/>
        </p:nvSpPr>
        <p:spPr>
          <a:xfrm>
            <a:off x="7073978" y="3408487"/>
            <a:ext cx="4302024" cy="847837"/>
          </a:xfrm>
          <a:prstGeom prst="roundRect">
            <a:avLst>
              <a:gd name="adj" fmla="val 11609"/>
            </a:avLst>
          </a:prstGeom>
          <a:solidFill>
            <a:srgbClr val="FFFFFF"/>
          </a:solidFill>
          <a:ln w="6350">
            <a:solidFill>
              <a:srgbClr val="E2E1DC"/>
            </a:solidFill>
            <a:prstDash val="solid"/>
          </a:ln>
        </p:spPr>
        <p:txBody>
          <a:bodyPr/>
          <a:lstStyle/>
          <a:p>
            <a:endParaRPr lang="en-US" dirty="0"/>
          </a:p>
        </p:txBody>
      </p:sp>
      <p:pic>
        <p:nvPicPr>
          <p:cNvPr id="10" name="Image 1" descr="ellipse"/>
          <p:cNvPicPr>
            <a:picLocks noChangeAspect="1"/>
          </p:cNvPicPr>
          <p:nvPr/>
        </p:nvPicPr>
        <p:blipFill>
          <a:blip r:embed="rId4"/>
          <a:srcRect/>
          <a:stretch/>
        </p:blipFill>
        <p:spPr>
          <a:xfrm>
            <a:off x="7253422" y="3562536"/>
            <a:ext cx="177789" cy="177789"/>
          </a:xfrm>
          <a:prstGeom prst="rect">
            <a:avLst/>
          </a:prstGeom>
        </p:spPr>
      </p:pic>
      <p:sp>
        <p:nvSpPr>
          <p:cNvPr id="11" name="Text 7"/>
          <p:cNvSpPr/>
          <p:nvPr/>
        </p:nvSpPr>
        <p:spPr>
          <a:xfrm>
            <a:off x="7558204" y="3562536"/>
            <a:ext cx="3747505" cy="273044"/>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41414"/>
                </a:solidFill>
                <a:latin typeface="Source Sans 3" pitchFamily="34" charset="0"/>
                <a:ea typeface="Source Sans 3" pitchFamily="34" charset="-122"/>
                <a:cs typeface="Source Sans 3" pitchFamily="34" charset="-120"/>
              </a:rPr>
              <a:t>Verifiable (code, statistics)</a:t>
            </a:r>
            <a:endParaRPr lang="en-US" sz="1500" dirty="0"/>
          </a:p>
        </p:txBody>
      </p:sp>
      <p:sp>
        <p:nvSpPr>
          <p:cNvPr id="12" name="Text 8"/>
          <p:cNvSpPr/>
          <p:nvPr/>
        </p:nvSpPr>
        <p:spPr>
          <a:xfrm>
            <a:off x="7558204" y="3835580"/>
            <a:ext cx="3747505"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D40"/>
                </a:solidFill>
                <a:latin typeface="Source Sans 3" pitchFamily="34" charset="0"/>
                <a:ea typeface="Source Sans 3" pitchFamily="34" charset="-122"/>
                <a:cs typeface="Source Sans 3" pitchFamily="34" charset="-120"/>
              </a:rPr>
              <a:t>A clean training signal: </a:t>
            </a:r>
            <a:r>
              <a:rPr lang="en-US" sz="1500" i="1" dirty="0">
                <a:solidFill>
                  <a:srgbClr val="3A3D40"/>
                </a:solidFill>
                <a:latin typeface="Source Sans 3" pitchFamily="34" charset="0"/>
                <a:ea typeface="Source Sans 3" pitchFamily="34" charset="-122"/>
                <a:cs typeface="Source Sans 3" pitchFamily="34" charset="-120"/>
              </a:rPr>
              <a:t>c</a:t>
            </a:r>
            <a:r>
              <a:rPr lang="en-US" sz="1500" dirty="0">
                <a:solidFill>
                  <a:srgbClr val="3A3D40"/>
                </a:solidFill>
                <a:latin typeface="Source Sans 3" pitchFamily="34" charset="0"/>
                <a:ea typeface="Source Sans 3" pitchFamily="34" charset="-122"/>
                <a:cs typeface="Source Sans 3" pitchFamily="34" charset="-120"/>
              </a:rPr>
              <a:t> climbs to .96</a:t>
            </a:r>
            <a:endParaRPr lang="en-US" sz="1500" dirty="0"/>
          </a:p>
        </p:txBody>
      </p:sp>
      <p:sp>
        <p:nvSpPr>
          <p:cNvPr id="13" name="Shape 9"/>
          <p:cNvSpPr/>
          <p:nvPr/>
        </p:nvSpPr>
        <p:spPr>
          <a:xfrm>
            <a:off x="7073978" y="4440467"/>
            <a:ext cx="4302024" cy="847837"/>
          </a:xfrm>
          <a:prstGeom prst="roundRect">
            <a:avLst>
              <a:gd name="adj" fmla="val 11609"/>
            </a:avLst>
          </a:prstGeom>
          <a:solidFill>
            <a:srgbClr val="FFFFFF"/>
          </a:solidFill>
          <a:ln w="6350">
            <a:solidFill>
              <a:srgbClr val="E2E1DC"/>
            </a:solidFill>
            <a:prstDash val="solid"/>
          </a:ln>
        </p:spPr>
        <p:txBody>
          <a:bodyPr/>
          <a:lstStyle/>
          <a:p>
            <a:endParaRPr lang="en-US" dirty="0"/>
          </a:p>
        </p:txBody>
      </p:sp>
      <p:pic>
        <p:nvPicPr>
          <p:cNvPr id="14" name="Image 2" descr="ellipse"/>
          <p:cNvPicPr>
            <a:picLocks noChangeAspect="1"/>
          </p:cNvPicPr>
          <p:nvPr/>
        </p:nvPicPr>
        <p:blipFill>
          <a:blip r:embed="rId5"/>
          <a:srcRect/>
          <a:stretch/>
        </p:blipFill>
        <p:spPr>
          <a:xfrm>
            <a:off x="7253422" y="4594510"/>
            <a:ext cx="177789" cy="177789"/>
          </a:xfrm>
          <a:prstGeom prst="rect">
            <a:avLst/>
          </a:prstGeom>
        </p:spPr>
      </p:pic>
      <p:sp>
        <p:nvSpPr>
          <p:cNvPr id="15" name="Text 10"/>
          <p:cNvSpPr/>
          <p:nvPr/>
        </p:nvSpPr>
        <p:spPr>
          <a:xfrm>
            <a:off x="7558204" y="4594510"/>
            <a:ext cx="3747505" cy="273044"/>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41414"/>
                </a:solidFill>
                <a:latin typeface="Source Sans 3" pitchFamily="34" charset="0"/>
                <a:ea typeface="Source Sans 3" pitchFamily="34" charset="-122"/>
                <a:cs typeface="Source Sans 3" pitchFamily="34" charset="-120"/>
              </a:rPr>
              <a:t>Unverifiable (the joke)</a:t>
            </a:r>
            <a:endParaRPr lang="en-US" sz="1500" dirty="0"/>
          </a:p>
        </p:txBody>
      </p:sp>
      <p:sp>
        <p:nvSpPr>
          <p:cNvPr id="16" name="Text 11"/>
          <p:cNvSpPr/>
          <p:nvPr/>
        </p:nvSpPr>
        <p:spPr>
          <a:xfrm>
            <a:off x="7558204" y="4867554"/>
            <a:ext cx="3747505" cy="2921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D40"/>
                </a:solidFill>
                <a:latin typeface="Source Sans 3" pitchFamily="34" charset="0"/>
                <a:ea typeface="Source Sans 3" pitchFamily="34" charset="-122"/>
                <a:cs typeface="Source Sans 3" pitchFamily="34" charset="-120"/>
              </a:rPr>
              <a:t>No objective signal: </a:t>
            </a:r>
            <a:r>
              <a:rPr lang="en-US" sz="1500" i="1" dirty="0">
                <a:solidFill>
                  <a:srgbClr val="3A3D40"/>
                </a:solidFill>
                <a:latin typeface="Source Sans 3" pitchFamily="34" charset="0"/>
                <a:ea typeface="Source Sans 3" pitchFamily="34" charset="-122"/>
                <a:cs typeface="Source Sans 3" pitchFamily="34" charset="-120"/>
              </a:rPr>
              <a:t>c</a:t>
            </a:r>
            <a:r>
              <a:rPr lang="en-US" sz="1500" dirty="0">
                <a:solidFill>
                  <a:srgbClr val="3A3D40"/>
                </a:solidFill>
                <a:latin typeface="Source Sans 3" pitchFamily="34" charset="0"/>
                <a:ea typeface="Source Sans 3" pitchFamily="34" charset="-122"/>
                <a:cs typeface="Source Sans 3" pitchFamily="34" charset="-120"/>
              </a:rPr>
              <a:t> plateaus at .55</a:t>
            </a:r>
            <a:endParaRPr lang="en-US" sz="1500" dirty="0"/>
          </a:p>
        </p:txBody>
      </p:sp>
      <p:sp>
        <p:nvSpPr>
          <p:cNvPr id="17" name="Text 12"/>
          <p:cNvSpPr/>
          <p:nvPr/>
        </p:nvSpPr>
        <p:spPr>
          <a:xfrm>
            <a:off x="812788" y="6238280"/>
            <a:ext cx="10883382"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2"/>
                </a:solidFill>
                <a:latin typeface="Source Sans 3" pitchFamily="34" charset="0"/>
                <a:ea typeface="Source Sans 3" pitchFamily="34" charset="-122"/>
                <a:cs typeface="Source Sans 3" pitchFamily="34" charset="-120"/>
              </a:rPr>
              <a:t>Shading: expected item information, θ ~ N(0, 1). Dashed line: verification frontier. </a:t>
            </a:r>
            <a:r>
              <a:rPr lang="en-US" sz="1200" i="1" dirty="0">
                <a:solidFill>
                  <a:srgbClr val="6B6F72"/>
                </a:solidFill>
                <a:latin typeface="Source Sans 3" pitchFamily="34" charset="0"/>
                <a:ea typeface="Source Sans 3" pitchFamily="34" charset="-122"/>
                <a:cs typeface="Source Sans 3" pitchFamily="34" charset="-120"/>
              </a:rPr>
              <a:t>a</a:t>
            </a:r>
            <a:r>
              <a:rPr lang="en-US" sz="1200" dirty="0">
                <a:solidFill>
                  <a:srgbClr val="6B6F72"/>
                </a:solidFill>
                <a:latin typeface="Source Sans 3" pitchFamily="34" charset="0"/>
                <a:ea typeface="Source Sans 3" pitchFamily="34" charset="-122"/>
                <a:cs typeface="Source Sans 3" pitchFamily="34" charset="-120"/>
              </a:rPr>
              <a:t> = 1.5, δ(</a:t>
            </a:r>
            <a:r>
              <a:rPr lang="en-US" sz="1200" i="1" dirty="0">
                <a:solidFill>
                  <a:srgbClr val="6B6F72"/>
                </a:solidFill>
                <a:latin typeface="Source Sans 3" pitchFamily="34" charset="0"/>
                <a:ea typeface="Source Sans 3" pitchFamily="34" charset="-122"/>
                <a:cs typeface="Source Sans 3" pitchFamily="34" charset="-120"/>
              </a:rPr>
              <a:t>s</a:t>
            </a:r>
            <a:r>
              <a:rPr lang="en-US" sz="1200" dirty="0">
                <a:solidFill>
                  <a:srgbClr val="6B6F72"/>
                </a:solidFill>
                <a:latin typeface="Source Sans 3" pitchFamily="34" charset="0"/>
                <a:ea typeface="Source Sans 3" pitchFamily="34" charset="-122"/>
                <a:cs typeface="Source Sans 3" pitchFamily="34" charset="-120"/>
              </a:rPr>
              <a:t>) = −3 + 6</a:t>
            </a:r>
            <a:r>
              <a:rPr lang="en-US" sz="1200" i="1" dirty="0">
                <a:solidFill>
                  <a:srgbClr val="6B6F72"/>
                </a:solidFill>
                <a:latin typeface="Source Sans 3" pitchFamily="34" charset="0"/>
                <a:ea typeface="Source Sans 3" pitchFamily="34" charset="-122"/>
                <a:cs typeface="Source Sans 3" pitchFamily="34" charset="-120"/>
              </a:rPr>
              <a:t>s</a:t>
            </a:r>
            <a:r>
              <a:rPr lang="en-US" sz="1200" dirty="0">
                <a:solidFill>
                  <a:srgbClr val="6B6F72"/>
                </a:solidFill>
                <a:latin typeface="Source Sans 3" pitchFamily="34" charset="0"/>
                <a:ea typeface="Source Sans 3" pitchFamily="34" charset="-122"/>
                <a:cs typeface="Source Sans 3" pitchFamily="34" charset="-120"/>
              </a:rPr>
              <a:t>, </a:t>
            </a:r>
            <a:r>
              <a:rPr lang="en-US" sz="1200" i="1" dirty="0">
                <a:solidFill>
                  <a:srgbClr val="6B6F72"/>
                </a:solidFill>
                <a:latin typeface="Source Sans 3" pitchFamily="34" charset="0"/>
                <a:ea typeface="Source Sans 3" pitchFamily="34" charset="-122"/>
                <a:cs typeface="Source Sans 3" pitchFamily="34" charset="-120"/>
              </a:rPr>
              <a:t>f</a:t>
            </a:r>
            <a:r>
              <a:rPr lang="en-US" sz="1200" dirty="0">
                <a:solidFill>
                  <a:srgbClr val="6B6F72"/>
                </a:solidFill>
                <a:latin typeface="Source Sans 3" pitchFamily="34" charset="0"/>
                <a:ea typeface="Source Sans 3" pitchFamily="34" charset="-122"/>
                <a:cs typeface="Source Sans 3" pitchFamily="34" charset="-120"/>
              </a:rPr>
              <a:t>(θ) = 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FB87C"/>
        </a:solidFill>
        <a:effectLst/>
      </p:bgPr>
    </p:bg>
    <p:spTree>
      <p:nvGrpSpPr>
        <p:cNvPr id="1" name=""/>
        <p:cNvGrpSpPr/>
        <p:nvPr/>
      </p:nvGrpSpPr>
      <p:grpSpPr>
        <a:xfrm>
          <a:off x="0" y="0"/>
          <a:ext cx="0" cy="0"/>
          <a:chOff x="0" y="0"/>
          <a:chExt cx="0" cy="0"/>
        </a:xfrm>
      </p:grpSpPr>
      <p:sp>
        <p:nvSpPr>
          <p:cNvPr id="2" name="Text 0"/>
          <p:cNvSpPr/>
          <p:nvPr/>
        </p:nvSpPr>
        <p:spPr>
          <a:xfrm>
            <a:off x="812788" y="660394"/>
            <a:ext cx="2682875" cy="289497"/>
          </a:xfrm>
          <a:custGeom>
            <a:avLst/>
            <a:gdLst/>
            <a:ahLst/>
            <a:cxnLst/>
            <a:rect l="l" t="t" r="r" b="b"/>
            <a:pathLst>
              <a:path w="2682875" h="289497">
                <a:moveTo>
                  <a:pt x="144748" y="0"/>
                </a:moveTo>
                <a:lnTo>
                  <a:pt x="2538126" y="0"/>
                </a:lnTo>
                <a:arcTo wR="144748" hR="144748" stAng="16200000" swAng="5400000"/>
                <a:lnTo>
                  <a:pt x="2682875" y="144748"/>
                </a:lnTo>
                <a:arcTo wR="144748" hR="144748" stAng="0" swAng="5400000"/>
                <a:lnTo>
                  <a:pt x="144748" y="289497"/>
                </a:lnTo>
                <a:arcTo wR="144748" hR="144748" stAng="5400000" swAng="5400000"/>
                <a:lnTo>
                  <a:pt x="0" y="144748"/>
                </a:lnTo>
                <a:arcTo wR="144748" hR="144748" stAng="10800000" swAng="5400000"/>
                <a:close/>
              </a:path>
            </a:pathLst>
          </a:custGeom>
          <a:solidFill>
            <a:srgbClr val="141414"/>
          </a:solidFill>
          <a:ln/>
        </p:spPr>
        <p:txBody>
          <a:bodyPr wrap="none" lIns="0" tIns="0" rIns="0" bIns="0" rtlCol="0" anchor="ctr">
            <a:normAutofit/>
          </a:bodyPr>
          <a:lstStyle/>
          <a:p>
            <a:pPr marL="0" indent="0" algn="ctr">
              <a:lnSpc>
                <a:spcPts val="1680"/>
              </a:lnSpc>
              <a:buNone/>
            </a:pPr>
            <a:r>
              <a:rPr lang="en-US" sz="1200" b="1" kern="0" spc="150" dirty="0">
                <a:solidFill>
                  <a:srgbClr val="CFB87C"/>
                </a:solidFill>
                <a:latin typeface="Source Sans 3" pitchFamily="34" charset="0"/>
                <a:ea typeface="Source Sans 3" pitchFamily="34" charset="-122"/>
                <a:cs typeface="Source Sans 3" pitchFamily="34" charset="-120"/>
              </a:rPr>
              <a:t>THE VERIFICATION FRONTIER</a:t>
            </a:r>
            <a:endParaRPr lang="en-US" sz="1200" dirty="0"/>
          </a:p>
        </p:txBody>
      </p:sp>
      <p:sp>
        <p:nvSpPr>
          <p:cNvPr id="3" name="Text 1"/>
          <p:cNvSpPr>
            <a:spLocks noGrp="1"/>
          </p:cNvSpPr>
          <p:nvPr>
            <p:ph type="title"/>
          </p:nvPr>
        </p:nvSpPr>
        <p:spPr>
          <a:xfrm>
            <a:off x="812788" y="1076883"/>
            <a:ext cx="9334819"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Items Needed to Reach a Marginal Reliability of .80</a:t>
            </a:r>
            <a:endParaRPr lang="en-US" sz="3200" dirty="0"/>
          </a:p>
        </p:txBody>
      </p:sp>
      <p:sp>
        <p:nvSpPr>
          <p:cNvPr id="4" name="Shape 2"/>
          <p:cNvSpPr/>
          <p:nvPr/>
        </p:nvSpPr>
        <p:spPr>
          <a:xfrm>
            <a:off x="812788" y="1828682"/>
            <a:ext cx="3386672" cy="2314503"/>
          </a:xfrm>
          <a:prstGeom prst="roundRect">
            <a:avLst>
              <a:gd name="adj" fmla="val 4390"/>
            </a:avLst>
          </a:prstGeom>
          <a:solidFill>
            <a:srgbClr val="141414"/>
          </a:solidFill>
          <a:ln/>
        </p:spPr>
        <p:txBody>
          <a:bodyPr/>
          <a:lstStyle/>
          <a:p>
            <a:endParaRPr lang="en-US" dirty="0"/>
          </a:p>
        </p:txBody>
      </p:sp>
      <p:sp>
        <p:nvSpPr>
          <p:cNvPr id="5" name="Text 3"/>
          <p:cNvSpPr/>
          <p:nvPr/>
        </p:nvSpPr>
        <p:spPr>
          <a:xfrm>
            <a:off x="1117569" y="2108070"/>
            <a:ext cx="2860422" cy="787391"/>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FB87C"/>
                </a:solidFill>
                <a:latin typeface="Source Serif 4" pitchFamily="18" charset="0"/>
                <a:ea typeface="Source Serif 4" pitchFamily="18" charset="-122"/>
                <a:cs typeface="Source Serif 4" pitchFamily="18" charset="-120"/>
              </a:rPr>
              <a:t>30</a:t>
            </a:r>
            <a:endParaRPr lang="en-US" sz="6000" dirty="0"/>
          </a:p>
        </p:txBody>
      </p:sp>
      <p:sp>
        <p:nvSpPr>
          <p:cNvPr id="6" name="Text 4"/>
          <p:cNvSpPr/>
          <p:nvPr/>
        </p:nvSpPr>
        <p:spPr>
          <a:xfrm>
            <a:off x="1117569" y="2971651"/>
            <a:ext cx="2860422" cy="282554"/>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AFAF8"/>
                </a:solidFill>
                <a:latin typeface="Source Sans 3" pitchFamily="34" charset="0"/>
                <a:ea typeface="Source Sans 3" pitchFamily="34" charset="-122"/>
                <a:cs typeface="Source Sans 3" pitchFamily="34" charset="-120"/>
              </a:rPr>
              <a:t>Shared early LLM</a:t>
            </a:r>
            <a:endParaRPr lang="en-US" sz="1500" dirty="0"/>
          </a:p>
        </p:txBody>
      </p:sp>
      <p:sp>
        <p:nvSpPr>
          <p:cNvPr id="7" name="Text 5"/>
          <p:cNvSpPr/>
          <p:nvPr/>
        </p:nvSpPr>
        <p:spPr>
          <a:xfrm>
            <a:off x="1117569" y="3330401"/>
            <a:ext cx="2860422" cy="558805"/>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D9D9D4"/>
                </a:solidFill>
                <a:latin typeface="Source Sans 3" pitchFamily="34" charset="0"/>
                <a:ea typeface="Source Sans 3" pitchFamily="34" charset="-122"/>
                <a:cs typeface="Source Sans 3" pitchFamily="34" charset="-120"/>
              </a:rPr>
              <a:t>c</a:t>
            </a:r>
            <a:r>
              <a:rPr lang="en-US" sz="1500" dirty="0">
                <a:solidFill>
                  <a:srgbClr val="D9D9D4"/>
                </a:solidFill>
                <a:latin typeface="Source Sans 3" pitchFamily="34" charset="0"/>
                <a:ea typeface="Source Sans 3" pitchFamily="34" charset="-122"/>
                <a:cs typeface="Source Sans 3" pitchFamily="34" charset="-120"/>
              </a:rPr>
              <a:t> = .50, </a:t>
            </a:r>
            <a:r>
              <a:rPr lang="en-US" sz="1500" i="1" dirty="0">
                <a:solidFill>
                  <a:srgbClr val="D9D9D4"/>
                </a:solidFill>
                <a:latin typeface="Source Sans 3" pitchFamily="34" charset="0"/>
                <a:ea typeface="Source Sans 3" pitchFamily="34" charset="-122"/>
                <a:cs typeface="Source Sans 3" pitchFamily="34" charset="-120"/>
              </a:rPr>
              <a:t>s</a:t>
            </a:r>
            <a:r>
              <a:rPr lang="en-US" sz="1500" dirty="0">
                <a:solidFill>
                  <a:srgbClr val="D9D9D4"/>
                </a:solidFill>
                <a:latin typeface="Source Sans 3" pitchFamily="34" charset="0"/>
                <a:ea typeface="Source Sans 3" pitchFamily="34" charset="-122"/>
                <a:cs typeface="Source Sans 3" pitchFamily="34" charset="-120"/>
              </a:rPr>
              <a:t> = .45</a:t>
            </a:r>
            <a:endParaRPr lang="en-US" sz="1500" dirty="0"/>
          </a:p>
          <a:p>
            <a:pPr marL="0" indent="0" algn="l">
              <a:lnSpc>
                <a:spcPts val="2100"/>
              </a:lnSpc>
              <a:buNone/>
            </a:pPr>
            <a:r>
              <a:rPr lang="en-US" sz="1500" dirty="0">
                <a:solidFill>
                  <a:srgbClr val="D9D9D4"/>
                </a:solidFill>
                <a:latin typeface="Source Sans 3" pitchFamily="34" charset="0"/>
                <a:ea typeface="Source Sans 3" pitchFamily="34" charset="-122"/>
                <a:cs typeface="Source Sans 3" pitchFamily="34" charset="-120"/>
              </a:rPr>
              <a:t>Avg. info per item .1323</a:t>
            </a:r>
            <a:endParaRPr lang="en-US" sz="1500" dirty="0"/>
          </a:p>
        </p:txBody>
      </p:sp>
      <p:sp>
        <p:nvSpPr>
          <p:cNvPr id="8" name="Shape 6"/>
          <p:cNvSpPr/>
          <p:nvPr/>
        </p:nvSpPr>
        <p:spPr>
          <a:xfrm>
            <a:off x="4402647" y="1828682"/>
            <a:ext cx="3386672" cy="2314503"/>
          </a:xfrm>
          <a:prstGeom prst="roundRect">
            <a:avLst>
              <a:gd name="adj" fmla="val 4390"/>
            </a:avLst>
          </a:prstGeom>
          <a:solidFill>
            <a:srgbClr val="141414"/>
          </a:solidFill>
          <a:ln/>
        </p:spPr>
        <p:txBody>
          <a:bodyPr/>
          <a:lstStyle/>
          <a:p>
            <a:endParaRPr lang="en-US" dirty="0"/>
          </a:p>
        </p:txBody>
      </p:sp>
      <p:sp>
        <p:nvSpPr>
          <p:cNvPr id="9" name="Text 7"/>
          <p:cNvSpPr/>
          <p:nvPr/>
        </p:nvSpPr>
        <p:spPr>
          <a:xfrm>
            <a:off x="4707428" y="2108070"/>
            <a:ext cx="2860422" cy="787391"/>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FB87C"/>
                </a:solidFill>
                <a:latin typeface="Source Serif 4" pitchFamily="18" charset="0"/>
                <a:ea typeface="Source Serif 4" pitchFamily="18" charset="-122"/>
                <a:cs typeface="Source Serif 4" pitchFamily="18" charset="-120"/>
              </a:rPr>
              <a:t>719</a:t>
            </a:r>
            <a:endParaRPr lang="en-US" sz="6000" dirty="0"/>
          </a:p>
        </p:txBody>
      </p:sp>
      <p:sp>
        <p:nvSpPr>
          <p:cNvPr id="10" name="Text 8"/>
          <p:cNvSpPr/>
          <p:nvPr/>
        </p:nvSpPr>
        <p:spPr>
          <a:xfrm>
            <a:off x="4707428" y="2971651"/>
            <a:ext cx="2860422" cy="282554"/>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AFAF8"/>
                </a:solidFill>
                <a:latin typeface="Source Sans 3" pitchFamily="34" charset="0"/>
                <a:ea typeface="Source Sans 3" pitchFamily="34" charset="-122"/>
                <a:cs typeface="Source Sans 3" pitchFamily="34" charset="-120"/>
              </a:rPr>
              <a:t>Frontier LLM, verifiable (code)</a:t>
            </a:r>
            <a:endParaRPr lang="en-US" sz="1500" dirty="0"/>
          </a:p>
        </p:txBody>
      </p:sp>
      <p:sp>
        <p:nvSpPr>
          <p:cNvPr id="11" name="Text 9"/>
          <p:cNvSpPr/>
          <p:nvPr/>
        </p:nvSpPr>
        <p:spPr>
          <a:xfrm>
            <a:off x="4707428" y="3330401"/>
            <a:ext cx="2860422" cy="558805"/>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D9D9D4"/>
                </a:solidFill>
                <a:latin typeface="Source Sans 3" pitchFamily="34" charset="0"/>
                <a:ea typeface="Source Sans 3" pitchFamily="34" charset="-122"/>
                <a:cs typeface="Source Sans 3" pitchFamily="34" charset="-120"/>
              </a:rPr>
              <a:t>c</a:t>
            </a:r>
            <a:r>
              <a:rPr lang="en-US" sz="1500" dirty="0">
                <a:solidFill>
                  <a:srgbClr val="D9D9D4"/>
                </a:solidFill>
                <a:latin typeface="Source Sans 3" pitchFamily="34" charset="0"/>
                <a:ea typeface="Source Sans 3" pitchFamily="34" charset="-122"/>
                <a:cs typeface="Source Sans 3" pitchFamily="34" charset="-120"/>
              </a:rPr>
              <a:t> = .96, </a:t>
            </a:r>
            <a:r>
              <a:rPr lang="en-US" sz="1500" i="1" dirty="0">
                <a:solidFill>
                  <a:srgbClr val="D9D9D4"/>
                </a:solidFill>
                <a:latin typeface="Source Sans 3" pitchFamily="34" charset="0"/>
                <a:ea typeface="Source Sans 3" pitchFamily="34" charset="-122"/>
                <a:cs typeface="Source Sans 3" pitchFamily="34" charset="-120"/>
              </a:rPr>
              <a:t>s</a:t>
            </a:r>
            <a:r>
              <a:rPr lang="en-US" sz="1500" dirty="0">
                <a:solidFill>
                  <a:srgbClr val="D9D9D4"/>
                </a:solidFill>
                <a:latin typeface="Source Sans 3" pitchFamily="34" charset="0"/>
                <a:ea typeface="Source Sans 3" pitchFamily="34" charset="-122"/>
                <a:cs typeface="Source Sans 3" pitchFamily="34" charset="-120"/>
              </a:rPr>
              <a:t> = .62</a:t>
            </a:r>
            <a:endParaRPr lang="en-US" sz="1500" dirty="0"/>
          </a:p>
          <a:p>
            <a:pPr marL="0" indent="0" algn="l">
              <a:lnSpc>
                <a:spcPts val="2100"/>
              </a:lnSpc>
              <a:buNone/>
            </a:pPr>
            <a:r>
              <a:rPr lang="en-US" sz="1500" dirty="0">
                <a:solidFill>
                  <a:srgbClr val="D9D9D4"/>
                </a:solidFill>
                <a:latin typeface="Source Sans 3" pitchFamily="34" charset="0"/>
                <a:ea typeface="Source Sans 3" pitchFamily="34" charset="-122"/>
                <a:cs typeface="Source Sans 3" pitchFamily="34" charset="-120"/>
              </a:rPr>
              <a:t>Avg. info per item .0056</a:t>
            </a:r>
            <a:endParaRPr lang="en-US" sz="1500" dirty="0"/>
          </a:p>
        </p:txBody>
      </p:sp>
      <p:sp>
        <p:nvSpPr>
          <p:cNvPr id="12" name="Shape 10"/>
          <p:cNvSpPr/>
          <p:nvPr/>
        </p:nvSpPr>
        <p:spPr>
          <a:xfrm>
            <a:off x="7992506" y="1828682"/>
            <a:ext cx="3386672" cy="2314503"/>
          </a:xfrm>
          <a:prstGeom prst="roundRect">
            <a:avLst>
              <a:gd name="adj" fmla="val 4390"/>
            </a:avLst>
          </a:prstGeom>
          <a:solidFill>
            <a:srgbClr val="141414"/>
          </a:solidFill>
          <a:ln/>
        </p:spPr>
        <p:txBody>
          <a:bodyPr/>
          <a:lstStyle/>
          <a:p>
            <a:endParaRPr lang="en-US" dirty="0"/>
          </a:p>
        </p:txBody>
      </p:sp>
      <p:sp>
        <p:nvSpPr>
          <p:cNvPr id="13" name="Text 11"/>
          <p:cNvSpPr/>
          <p:nvPr/>
        </p:nvSpPr>
        <p:spPr>
          <a:xfrm>
            <a:off x="8297287" y="2108070"/>
            <a:ext cx="2860422" cy="787391"/>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FB87C"/>
                </a:solidFill>
                <a:latin typeface="Source Serif 4" pitchFamily="18" charset="0"/>
                <a:ea typeface="Source Serif 4" pitchFamily="18" charset="-122"/>
                <a:cs typeface="Source Serif 4" pitchFamily="18" charset="-120"/>
              </a:rPr>
              <a:t>50</a:t>
            </a:r>
            <a:endParaRPr lang="en-US" sz="6000" dirty="0"/>
          </a:p>
        </p:txBody>
      </p:sp>
      <p:sp>
        <p:nvSpPr>
          <p:cNvPr id="14" name="Text 12"/>
          <p:cNvSpPr/>
          <p:nvPr/>
        </p:nvSpPr>
        <p:spPr>
          <a:xfrm>
            <a:off x="8297287" y="2971651"/>
            <a:ext cx="3081890" cy="282554"/>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AFAF8"/>
                </a:solidFill>
                <a:latin typeface="Source Sans 3" pitchFamily="34" charset="0"/>
                <a:ea typeface="Source Sans 3" pitchFamily="34" charset="-122"/>
                <a:cs typeface="Source Sans 3" pitchFamily="34" charset="-120"/>
              </a:rPr>
              <a:t>Frontier LLM, unverifiable (joke)</a:t>
            </a:r>
            <a:endParaRPr lang="en-US" sz="1500" dirty="0"/>
          </a:p>
        </p:txBody>
      </p:sp>
      <p:sp>
        <p:nvSpPr>
          <p:cNvPr id="15" name="Text 13"/>
          <p:cNvSpPr/>
          <p:nvPr/>
        </p:nvSpPr>
        <p:spPr>
          <a:xfrm>
            <a:off x="8297287" y="3330401"/>
            <a:ext cx="2860422" cy="558805"/>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D9D9D4"/>
                </a:solidFill>
                <a:latin typeface="Source Sans 3" pitchFamily="34" charset="0"/>
                <a:ea typeface="Source Sans 3" pitchFamily="34" charset="-122"/>
                <a:cs typeface="Source Sans 3" pitchFamily="34" charset="-120"/>
              </a:rPr>
              <a:t>c</a:t>
            </a:r>
            <a:r>
              <a:rPr lang="en-US" sz="1500" dirty="0">
                <a:solidFill>
                  <a:srgbClr val="D9D9D4"/>
                </a:solidFill>
                <a:latin typeface="Source Sans 3" pitchFamily="34" charset="0"/>
                <a:ea typeface="Source Sans 3" pitchFamily="34" charset="-122"/>
                <a:cs typeface="Source Sans 3" pitchFamily="34" charset="-120"/>
              </a:rPr>
              <a:t> = .55, </a:t>
            </a:r>
            <a:r>
              <a:rPr lang="en-US" sz="1500" i="1" dirty="0">
                <a:solidFill>
                  <a:srgbClr val="D9D9D4"/>
                </a:solidFill>
                <a:latin typeface="Source Sans 3" pitchFamily="34" charset="0"/>
                <a:ea typeface="Source Sans 3" pitchFamily="34" charset="-122"/>
                <a:cs typeface="Source Sans 3" pitchFamily="34" charset="-120"/>
              </a:rPr>
              <a:t>s</a:t>
            </a:r>
            <a:r>
              <a:rPr lang="en-US" sz="1500" dirty="0">
                <a:solidFill>
                  <a:srgbClr val="D9D9D4"/>
                </a:solidFill>
                <a:latin typeface="Source Sans 3" pitchFamily="34" charset="0"/>
                <a:ea typeface="Source Sans 3" pitchFamily="34" charset="-122"/>
                <a:cs typeface="Source Sans 3" pitchFamily="34" charset="-120"/>
              </a:rPr>
              <a:t> = .62</a:t>
            </a:r>
            <a:endParaRPr lang="en-US" sz="1500" dirty="0"/>
          </a:p>
          <a:p>
            <a:pPr marL="0" indent="0" algn="l">
              <a:lnSpc>
                <a:spcPts val="2100"/>
              </a:lnSpc>
              <a:buNone/>
            </a:pPr>
            <a:r>
              <a:rPr lang="en-US" sz="1500" dirty="0">
                <a:solidFill>
                  <a:srgbClr val="D9D9D4"/>
                </a:solidFill>
                <a:latin typeface="Source Sans 3" pitchFamily="34" charset="0"/>
                <a:ea typeface="Source Sans 3" pitchFamily="34" charset="-122"/>
                <a:cs typeface="Source Sans 3" pitchFamily="34" charset="-120"/>
              </a:rPr>
              <a:t>Avg. info per item .0801</a:t>
            </a:r>
            <a:endParaRPr lang="en-US" sz="1500" dirty="0"/>
          </a:p>
        </p:txBody>
      </p:sp>
      <p:sp>
        <p:nvSpPr>
          <p:cNvPr id="16" name="Text 14"/>
          <p:cNvSpPr/>
          <p:nvPr/>
        </p:nvSpPr>
        <p:spPr>
          <a:xfrm>
            <a:off x="812788" y="5143612"/>
            <a:ext cx="10883382" cy="723800"/>
          </a:xfrm>
          <a:prstGeom prst="rect">
            <a:avLst/>
          </a:prstGeom>
          <a:noFill/>
          <a:ln/>
        </p:spPr>
        <p:txBody>
          <a:bodyPr wrap="square" lIns="0" tIns="0" rIns="0" bIns="0" rtlCol="0" anchor="t">
            <a:normAutofit/>
          </a:bodyPr>
          <a:lstStyle/>
          <a:p>
            <a:pPr marL="0" indent="0" algn="l">
              <a:lnSpc>
                <a:spcPts val="2750"/>
              </a:lnSpc>
              <a:buNone/>
            </a:pPr>
            <a:r>
              <a:rPr lang="en-US" sz="2200" b="1" dirty="0">
                <a:solidFill>
                  <a:srgbClr val="141414"/>
                </a:solidFill>
                <a:latin typeface="Source Serif 4" pitchFamily="18" charset="0"/>
                <a:ea typeface="Source Serif 4" pitchFamily="18" charset="-122"/>
                <a:cs typeface="Source Serif 4" pitchFamily="18" charset="-120"/>
              </a:rPr>
              <a:t>Critical AI literacy is most measurable where the AI, on its own, can help the least.</a:t>
            </a:r>
            <a:endParaRPr lang="en-US" sz="2200" dirty="0"/>
          </a:p>
        </p:txBody>
      </p:sp>
      <p:sp>
        <p:nvSpPr>
          <p:cNvPr id="17" name="Text 15"/>
          <p:cNvSpPr/>
          <p:nvPr/>
        </p:nvSpPr>
        <p:spPr>
          <a:xfrm>
            <a:off x="654292" y="6197606"/>
            <a:ext cx="10883382" cy="238739"/>
          </a:xfrm>
          <a:prstGeom prst="rect">
            <a:avLst/>
          </a:prstGeom>
          <a:noFill/>
          <a:ln/>
        </p:spPr>
        <p:txBody>
          <a:bodyPr wrap="square" lIns="0" tIns="0" rIns="0" bIns="0" rtlCol="0" anchor="t">
            <a:normAutofit/>
          </a:bodyPr>
          <a:lstStyle/>
          <a:p>
            <a:pPr marL="0" indent="0" algn="l">
              <a:lnSpc>
                <a:spcPts val="1680"/>
              </a:lnSpc>
              <a:buNone/>
            </a:pPr>
            <a:r>
              <a:rPr lang="en-US" dirty="0">
                <a:solidFill>
                  <a:srgbClr val="141414"/>
                </a:solidFill>
                <a:latin typeface="Source Sans 3" pitchFamily="34" charset="0"/>
                <a:ea typeface="Source Sans 3" pitchFamily="34" charset="-122"/>
                <a:cs typeface="Source Sans 3" pitchFamily="34" charset="-120"/>
              </a:rPr>
              <a:t>With Var(θ) = 1, ρ = </a:t>
            </a:r>
            <a:r>
              <a:rPr lang="en-US" i="1" dirty="0">
                <a:solidFill>
                  <a:srgbClr val="141414"/>
                </a:solidFill>
                <a:latin typeface="Source Sans 3" pitchFamily="34" charset="0"/>
                <a:ea typeface="Source Sans 3" pitchFamily="34" charset="-122"/>
                <a:cs typeface="Source Sans 3" pitchFamily="34" charset="-120"/>
              </a:rPr>
              <a:t>I</a:t>
            </a:r>
            <a:r>
              <a:rPr lang="en-US" dirty="0">
                <a:solidFill>
                  <a:srgbClr val="141414"/>
                </a:solidFill>
                <a:latin typeface="Source Sans 3" pitchFamily="34" charset="0"/>
                <a:ea typeface="Source Sans 3" pitchFamily="34" charset="-122"/>
                <a:cs typeface="Source Sans 3" pitchFamily="34" charset="-120"/>
              </a:rPr>
              <a:t> / (</a:t>
            </a:r>
            <a:r>
              <a:rPr lang="en-US" i="1" dirty="0">
                <a:solidFill>
                  <a:srgbClr val="141414"/>
                </a:solidFill>
                <a:latin typeface="Source Sans 3" pitchFamily="34" charset="0"/>
                <a:ea typeface="Source Sans 3" pitchFamily="34" charset="-122"/>
                <a:cs typeface="Source Sans 3" pitchFamily="34" charset="-120"/>
              </a:rPr>
              <a:t>I</a:t>
            </a:r>
            <a:r>
              <a:rPr lang="en-US" dirty="0">
                <a:solidFill>
                  <a:srgbClr val="141414"/>
                </a:solidFill>
                <a:latin typeface="Source Sans 3" pitchFamily="34" charset="0"/>
                <a:ea typeface="Source Sans 3" pitchFamily="34" charset="-122"/>
                <a:cs typeface="Source Sans 3" pitchFamily="34" charset="-120"/>
              </a:rPr>
              <a:t> + 1), so ρ = .80 needs </a:t>
            </a:r>
            <a:r>
              <a:rPr lang="en-US" i="1" dirty="0">
                <a:solidFill>
                  <a:srgbClr val="141414"/>
                </a:solidFill>
                <a:latin typeface="Source Sans 3" pitchFamily="34" charset="0"/>
                <a:ea typeface="Source Sans 3" pitchFamily="34" charset="-122"/>
                <a:cs typeface="Source Sans 3" pitchFamily="34" charset="-120"/>
              </a:rPr>
              <a:t>I</a:t>
            </a:r>
            <a:r>
              <a:rPr lang="en-US" dirty="0">
                <a:solidFill>
                  <a:srgbClr val="141414"/>
                </a:solidFill>
                <a:latin typeface="Source Sans 3" pitchFamily="34" charset="0"/>
                <a:ea typeface="Source Sans 3" pitchFamily="34" charset="-122"/>
                <a:cs typeface="Source Sans 3" pitchFamily="34" charset="-120"/>
              </a:rPr>
              <a:t> = 4 and </a:t>
            </a:r>
            <a:r>
              <a:rPr lang="en-US" i="1" dirty="0">
                <a:solidFill>
                  <a:srgbClr val="141414"/>
                </a:solidFill>
                <a:latin typeface="Source Sans 3" pitchFamily="34" charset="0"/>
                <a:ea typeface="Source Sans 3" pitchFamily="34" charset="-122"/>
                <a:cs typeface="Source Sans 3" pitchFamily="34" charset="-120"/>
              </a:rPr>
              <a:t>n</a:t>
            </a:r>
            <a:r>
              <a:rPr lang="en-US" dirty="0">
                <a:solidFill>
                  <a:srgbClr val="141414"/>
                </a:solidFill>
                <a:latin typeface="Source Sans 3" pitchFamily="34" charset="0"/>
                <a:ea typeface="Source Sans 3" pitchFamily="34" charset="-122"/>
                <a:cs typeface="Source Sans 3" pitchFamily="34" charset="-120"/>
              </a:rPr>
              <a:t> = 4 / Ī items. As </a:t>
            </a:r>
            <a:r>
              <a:rPr lang="en-US" i="1" dirty="0">
                <a:solidFill>
                  <a:srgbClr val="141414"/>
                </a:solidFill>
                <a:latin typeface="Source Sans 3" pitchFamily="34" charset="0"/>
                <a:ea typeface="Source Sans 3" pitchFamily="34" charset="-122"/>
                <a:cs typeface="Source Sans 3" pitchFamily="34" charset="-120"/>
              </a:rPr>
              <a:t>c</a:t>
            </a:r>
            <a:r>
              <a:rPr lang="en-US" dirty="0">
                <a:solidFill>
                  <a:srgbClr val="141414"/>
                </a:solidFill>
                <a:latin typeface="Source Sans 3" pitchFamily="34" charset="0"/>
                <a:ea typeface="Source Sans 3" pitchFamily="34" charset="-122"/>
                <a:cs typeface="Source Sans 3" pitchFamily="34" charset="-120"/>
              </a:rPr>
              <a:t> → 1, P(</a:t>
            </a:r>
            <a:r>
              <a:rPr lang="en-US" i="1" dirty="0">
                <a:solidFill>
                  <a:srgbClr val="141414"/>
                </a:solidFill>
                <a:latin typeface="Source Sans 3" pitchFamily="34" charset="0"/>
                <a:ea typeface="Source Sans 3" pitchFamily="34" charset="-122"/>
                <a:cs typeface="Source Sans 3" pitchFamily="34" charset="-120"/>
              </a:rPr>
              <a:t>X</a:t>
            </a:r>
            <a:r>
              <a:rPr lang="en-US" dirty="0">
                <a:solidFill>
                  <a:srgbClr val="141414"/>
                </a:solidFill>
                <a:latin typeface="Source Sans 3" pitchFamily="34" charset="0"/>
                <a:ea typeface="Source Sans 3" pitchFamily="34" charset="-122"/>
                <a:cs typeface="Source Sans 3" pitchFamily="34" charset="-120"/>
              </a:rPr>
              <a:t> = 1 | θ) → 1 for every θ.</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788" y="660400"/>
            <a:ext cx="1547757" cy="289497"/>
          </a:xfrm>
          <a:custGeom>
            <a:avLst/>
            <a:gdLst/>
            <a:ahLst/>
            <a:cxnLst/>
            <a:rect l="l" t="t" r="r" b="b"/>
            <a:pathLst>
              <a:path w="1547757" h="289497">
                <a:moveTo>
                  <a:pt x="144748" y="0"/>
                </a:moveTo>
                <a:lnTo>
                  <a:pt x="1403009" y="0"/>
                </a:lnTo>
                <a:arcTo wR="144748" hR="144748" stAng="16200000" swAng="5400000"/>
                <a:lnTo>
                  <a:pt x="1547757"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WHAT FOLLOWS</a:t>
            </a:r>
            <a:endParaRPr lang="en-US" sz="1200" dirty="0"/>
          </a:p>
        </p:txBody>
      </p:sp>
      <p:sp>
        <p:nvSpPr>
          <p:cNvPr id="3" name="Text 1"/>
          <p:cNvSpPr>
            <a:spLocks noGrp="1"/>
          </p:cNvSpPr>
          <p:nvPr>
            <p:ph type="title"/>
          </p:nvPr>
        </p:nvSpPr>
        <p:spPr>
          <a:xfrm>
            <a:off x="812788" y="1076889"/>
            <a:ext cx="6893399"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41414"/>
                </a:solidFill>
                <a:latin typeface="Source Serif 4" pitchFamily="18" charset="0"/>
                <a:ea typeface="Source Serif 4" pitchFamily="18" charset="-122"/>
                <a:cs typeface="Source Serif 4" pitchFamily="18" charset="-120"/>
              </a:rPr>
              <a:t>Toward an Empirical Program</a:t>
            </a:r>
            <a:endParaRPr lang="en-US" sz="3200" dirty="0"/>
          </a:p>
        </p:txBody>
      </p:sp>
      <p:sp>
        <p:nvSpPr>
          <p:cNvPr id="4" name="Text 2"/>
          <p:cNvSpPr/>
          <p:nvPr/>
        </p:nvSpPr>
        <p:spPr>
          <a:xfrm>
            <a:off x="812788" y="1803288"/>
            <a:ext cx="10883382" cy="642510"/>
          </a:xfrm>
          <a:prstGeom prst="rect">
            <a:avLst/>
          </a:prstGeom>
          <a:noFill/>
          <a:ln/>
        </p:spPr>
        <p:txBody>
          <a:bodyPr wrap="square" lIns="0" tIns="0" rIns="0" bIns="0" rtlCol="0" anchor="t">
            <a:normAutofit/>
          </a:bodyPr>
          <a:lstStyle/>
          <a:p>
            <a:pPr marL="0" indent="0" algn="l">
              <a:lnSpc>
                <a:spcPts val="2430"/>
              </a:lnSpc>
              <a:buNone/>
            </a:pPr>
            <a:r>
              <a:rPr lang="en-US" sz="1800" i="1" dirty="0">
                <a:solidFill>
                  <a:srgbClr val="141414"/>
                </a:solidFill>
                <a:latin typeface="Source Serif 4" pitchFamily="18" charset="0"/>
                <a:ea typeface="Source Serif 4" pitchFamily="18" charset="-122"/>
                <a:cs typeface="Source Serif 4" pitchFamily="18" charset="-120"/>
              </a:rPr>
              <a:t>The objection: scoring X needs the very verification that is expensive. Is measurement of critical AI literacy a lost cause?</a:t>
            </a:r>
            <a:endParaRPr lang="en-US" sz="1800" dirty="0"/>
          </a:p>
        </p:txBody>
      </p:sp>
      <p:sp>
        <p:nvSpPr>
          <p:cNvPr id="5" name="Shape 3"/>
          <p:cNvSpPr/>
          <p:nvPr/>
        </p:nvSpPr>
        <p:spPr>
          <a:xfrm>
            <a:off x="815963" y="2702961"/>
            <a:ext cx="3383530" cy="3135885"/>
          </a:xfrm>
          <a:prstGeom prst="roundRect">
            <a:avLst>
              <a:gd name="adj" fmla="val 3139"/>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sp>
        <p:nvSpPr>
          <p:cNvPr id="6" name="Text 4"/>
          <p:cNvSpPr/>
          <p:nvPr/>
        </p:nvSpPr>
        <p:spPr>
          <a:xfrm>
            <a:off x="1071603" y="2933198"/>
            <a:ext cx="355578" cy="355578"/>
          </a:xfrm>
          <a:custGeom>
            <a:avLst/>
            <a:gdLst/>
            <a:ahLst/>
            <a:cxnLst/>
            <a:rect l="l" t="t" r="r" b="b"/>
            <a:pathLst>
              <a:path w="355578" h="355578">
                <a:moveTo>
                  <a:pt x="177789" y="0"/>
                </a:moveTo>
                <a:lnTo>
                  <a:pt x="177789" y="0"/>
                </a:lnTo>
                <a:arcTo wR="177789" hR="177789" stAng="16200000" swAng="5400000"/>
                <a:lnTo>
                  <a:pt x="355578" y="177789"/>
                </a:lnTo>
                <a:arcTo wR="177789" hR="177789" stAng="0" swAng="5400000"/>
                <a:lnTo>
                  <a:pt x="177789" y="355578"/>
                </a:lnTo>
                <a:arcTo wR="177789" hR="177789" stAng="5400000" swAng="5400000"/>
                <a:lnTo>
                  <a:pt x="0" y="177789"/>
                </a:lnTo>
                <a:arcTo wR="177789" hR="177789" stAng="10800000" swAng="5400000"/>
                <a:close/>
              </a:path>
            </a:pathLst>
          </a:custGeom>
          <a:solidFill>
            <a:srgbClr val="CFB87C"/>
          </a:solidFill>
          <a:ln/>
        </p:spPr>
        <p:txBody>
          <a:bodyPr wrap="square" lIns="0" tIns="0" rIns="0" bIns="0" rtlCol="0" anchor="t">
            <a:normAutofit/>
          </a:bodyPr>
          <a:lstStyle/>
          <a:p>
            <a:pPr marL="0" indent="0" algn="ctr">
              <a:lnSpc>
                <a:spcPts val="2775"/>
              </a:lnSpc>
              <a:buNone/>
            </a:pPr>
            <a:r>
              <a:rPr lang="en-US" sz="1500" b="1" dirty="0">
                <a:solidFill>
                  <a:srgbClr val="141414"/>
                </a:solidFill>
                <a:latin typeface="Source Sans 3" pitchFamily="34" charset="0"/>
                <a:ea typeface="Source Sans 3" pitchFamily="34" charset="-122"/>
                <a:cs typeface="Source Sans 3" pitchFamily="34" charset="-120"/>
              </a:rPr>
              <a:t>1</a:t>
            </a:r>
            <a:endParaRPr lang="en-US" sz="1500" dirty="0"/>
          </a:p>
        </p:txBody>
      </p:sp>
      <p:sp>
        <p:nvSpPr>
          <p:cNvPr id="7" name="Text 5"/>
          <p:cNvSpPr/>
          <p:nvPr/>
        </p:nvSpPr>
        <p:spPr>
          <a:xfrm>
            <a:off x="1071603" y="3390373"/>
            <a:ext cx="2958417" cy="57397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4"/>
                </a:solidFill>
                <a:latin typeface="Source Serif 4" pitchFamily="18" charset="0"/>
                <a:ea typeface="Source Serif 4" pitchFamily="18" charset="-122"/>
                <a:cs typeface="Source Serif 4" pitchFamily="18" charset="-120"/>
              </a:rPr>
              <a:t>Calibrate once, administer many times</a:t>
            </a:r>
            <a:endParaRPr lang="en-US" sz="1800" dirty="0"/>
          </a:p>
        </p:txBody>
      </p:sp>
      <p:sp>
        <p:nvSpPr>
          <p:cNvPr id="8" name="Text 6"/>
          <p:cNvSpPr/>
          <p:nvPr/>
        </p:nvSpPr>
        <p:spPr>
          <a:xfrm>
            <a:off x="1071603" y="4040541"/>
            <a:ext cx="2958417" cy="109221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D40"/>
                </a:solidFill>
                <a:latin typeface="Source Sans 3" pitchFamily="34" charset="0"/>
                <a:ea typeface="Source Sans 3" pitchFamily="34" charset="-122"/>
                <a:cs typeface="Source Sans 3" pitchFamily="34" charset="-120"/>
              </a:rPr>
              <a:t>Pay the cost of verification once: a bank of AI outputs with expert keys, correct and erroneous in known proportion</a:t>
            </a:r>
            <a:endParaRPr lang="en-US" sz="1500" dirty="0"/>
          </a:p>
        </p:txBody>
      </p:sp>
      <p:sp>
        <p:nvSpPr>
          <p:cNvPr id="9" name="Shape 7"/>
          <p:cNvSpPr/>
          <p:nvPr/>
        </p:nvSpPr>
        <p:spPr>
          <a:xfrm>
            <a:off x="4409030" y="2702961"/>
            <a:ext cx="3383567" cy="3135885"/>
          </a:xfrm>
          <a:prstGeom prst="roundRect">
            <a:avLst>
              <a:gd name="adj" fmla="val 3139"/>
            </a:avLst>
          </a:prstGeom>
          <a:solidFill>
            <a:srgbClr val="FFFFFF"/>
          </a:solidFill>
          <a:ln w="6350">
            <a:solidFill>
              <a:srgbClr val="E2E1DC"/>
            </a:solidFill>
            <a:prstDash val="solid"/>
          </a:ln>
          <a:effectLst>
            <a:outerShdw blurRad="152400" dist="25400" dir="5400000" algn="bl" rotWithShape="0">
              <a:srgbClr val="141414">
                <a:alpha val="6000"/>
              </a:srgbClr>
            </a:outerShdw>
          </a:effectLst>
        </p:spPr>
        <p:txBody>
          <a:bodyPr/>
          <a:lstStyle/>
          <a:p>
            <a:endParaRPr lang="en-US" dirty="0"/>
          </a:p>
        </p:txBody>
      </p:sp>
      <p:sp>
        <p:nvSpPr>
          <p:cNvPr id="10" name="Text 8"/>
          <p:cNvSpPr/>
          <p:nvPr/>
        </p:nvSpPr>
        <p:spPr>
          <a:xfrm>
            <a:off x="4664670" y="2933198"/>
            <a:ext cx="355578" cy="355578"/>
          </a:xfrm>
          <a:custGeom>
            <a:avLst/>
            <a:gdLst/>
            <a:ahLst/>
            <a:cxnLst/>
            <a:rect l="l" t="t" r="r" b="b"/>
            <a:pathLst>
              <a:path w="355578" h="355578">
                <a:moveTo>
                  <a:pt x="177789" y="0"/>
                </a:moveTo>
                <a:lnTo>
                  <a:pt x="177789" y="0"/>
                </a:lnTo>
                <a:arcTo wR="177789" hR="177789" stAng="16200000" swAng="5400000"/>
                <a:lnTo>
                  <a:pt x="355578" y="177789"/>
                </a:lnTo>
                <a:arcTo wR="177789" hR="177789" stAng="0" swAng="5400000"/>
                <a:lnTo>
                  <a:pt x="177789" y="355578"/>
                </a:lnTo>
                <a:arcTo wR="177789" hR="177789" stAng="5400000" swAng="5400000"/>
                <a:lnTo>
                  <a:pt x="0" y="177789"/>
                </a:lnTo>
                <a:arcTo wR="177789" hR="177789" stAng="10800000" swAng="5400000"/>
                <a:close/>
              </a:path>
            </a:pathLst>
          </a:custGeom>
          <a:solidFill>
            <a:srgbClr val="CFB87C"/>
          </a:solidFill>
          <a:ln/>
        </p:spPr>
        <p:txBody>
          <a:bodyPr wrap="square" lIns="0" tIns="0" rIns="0" bIns="0" rtlCol="0" anchor="t">
            <a:normAutofit/>
          </a:bodyPr>
          <a:lstStyle/>
          <a:p>
            <a:pPr marL="0" indent="0" algn="ctr">
              <a:lnSpc>
                <a:spcPts val="2775"/>
              </a:lnSpc>
              <a:buNone/>
            </a:pPr>
            <a:r>
              <a:rPr lang="en-US" sz="1500" b="1" dirty="0">
                <a:solidFill>
                  <a:srgbClr val="141414"/>
                </a:solidFill>
                <a:latin typeface="Source Sans 3" pitchFamily="34" charset="0"/>
                <a:ea typeface="Source Sans 3" pitchFamily="34" charset="-122"/>
                <a:cs typeface="Source Sans 3" pitchFamily="34" charset="-120"/>
              </a:rPr>
              <a:t>2</a:t>
            </a:r>
            <a:endParaRPr lang="en-US" sz="1500" dirty="0"/>
          </a:p>
        </p:txBody>
      </p:sp>
      <p:sp>
        <p:nvSpPr>
          <p:cNvPr id="11" name="Text 9"/>
          <p:cNvSpPr/>
          <p:nvPr/>
        </p:nvSpPr>
        <p:spPr>
          <a:xfrm>
            <a:off x="4664670" y="3390373"/>
            <a:ext cx="2958456" cy="57397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4"/>
                </a:solidFill>
                <a:latin typeface="Source Serif 4" pitchFamily="18" charset="0"/>
                <a:ea typeface="Source Serif 4" pitchFamily="18" charset="-122"/>
                <a:cs typeface="Source Serif 4" pitchFamily="18" charset="-120"/>
              </a:rPr>
              <a:t>Unverifiable in the wild is not unscorable in the lab</a:t>
            </a:r>
            <a:endParaRPr lang="en-US" sz="1800" dirty="0"/>
          </a:p>
        </p:txBody>
      </p:sp>
      <p:sp>
        <p:nvSpPr>
          <p:cNvPr id="12" name="Text 10"/>
          <p:cNvSpPr/>
          <p:nvPr/>
        </p:nvSpPr>
        <p:spPr>
          <a:xfrm>
            <a:off x="4664670" y="4040541"/>
            <a:ext cx="2958456" cy="109221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D40"/>
                </a:solidFill>
                <a:latin typeface="Source Sans 3" pitchFamily="34" charset="0"/>
                <a:ea typeface="Source Sans 3" pitchFamily="34" charset="-122"/>
                <a:cs typeface="Source Sans 3" pitchFamily="34" charset="-120"/>
              </a:rPr>
              <a:t>Build stimuli with a known key: a buried non sequitur, a dropped qualifier, an overgeneralized recommendation</a:t>
            </a:r>
            <a:endParaRPr lang="en-US" sz="1500" dirty="0"/>
          </a:p>
        </p:txBody>
      </p:sp>
      <p:sp>
        <p:nvSpPr>
          <p:cNvPr id="13" name="Shape 11"/>
          <p:cNvSpPr/>
          <p:nvPr/>
        </p:nvSpPr>
        <p:spPr>
          <a:xfrm>
            <a:off x="7998959" y="2699786"/>
            <a:ext cx="3380218" cy="3142235"/>
          </a:xfrm>
          <a:prstGeom prst="roundRect">
            <a:avLst>
              <a:gd name="adj" fmla="val 3233"/>
            </a:avLst>
          </a:prstGeom>
          <a:solidFill>
            <a:srgbClr val="141414"/>
          </a:solidFill>
          <a:ln/>
        </p:spPr>
        <p:txBody>
          <a:bodyPr/>
          <a:lstStyle/>
          <a:p>
            <a:endParaRPr lang="en-US" dirty="0"/>
          </a:p>
        </p:txBody>
      </p:sp>
      <p:sp>
        <p:nvSpPr>
          <p:cNvPr id="14" name="Text 12"/>
          <p:cNvSpPr/>
          <p:nvPr/>
        </p:nvSpPr>
        <p:spPr>
          <a:xfrm>
            <a:off x="8252944" y="2928367"/>
            <a:ext cx="355578" cy="355578"/>
          </a:xfrm>
          <a:custGeom>
            <a:avLst/>
            <a:gdLst/>
            <a:ahLst/>
            <a:cxnLst/>
            <a:rect l="l" t="t" r="r" b="b"/>
            <a:pathLst>
              <a:path w="355578" h="355578">
                <a:moveTo>
                  <a:pt x="177789" y="0"/>
                </a:moveTo>
                <a:lnTo>
                  <a:pt x="177789" y="0"/>
                </a:lnTo>
                <a:arcTo wR="177789" hR="177789" stAng="16200000" swAng="5400000"/>
                <a:lnTo>
                  <a:pt x="355578" y="177789"/>
                </a:lnTo>
                <a:arcTo wR="177789" hR="177789" stAng="0" swAng="5400000"/>
                <a:lnTo>
                  <a:pt x="177789" y="355578"/>
                </a:lnTo>
                <a:arcTo wR="177789" hR="177789" stAng="5400000" swAng="5400000"/>
                <a:lnTo>
                  <a:pt x="0" y="177789"/>
                </a:lnTo>
                <a:arcTo wR="177789" hR="177789" stAng="10800000" swAng="5400000"/>
                <a:close/>
              </a:path>
            </a:pathLst>
          </a:custGeom>
          <a:solidFill>
            <a:srgbClr val="CFB87C"/>
          </a:solidFill>
          <a:ln/>
        </p:spPr>
        <p:txBody>
          <a:bodyPr wrap="square" lIns="0" tIns="0" rIns="0" bIns="0" rtlCol="0" anchor="t">
            <a:normAutofit/>
          </a:bodyPr>
          <a:lstStyle/>
          <a:p>
            <a:pPr marL="0" indent="0" algn="ctr">
              <a:lnSpc>
                <a:spcPts val="2775"/>
              </a:lnSpc>
              <a:buNone/>
            </a:pPr>
            <a:r>
              <a:rPr lang="en-US" sz="1500" b="1" dirty="0">
                <a:solidFill>
                  <a:srgbClr val="141414"/>
                </a:solidFill>
                <a:latin typeface="Source Sans 3" pitchFamily="34" charset="0"/>
                <a:ea typeface="Source Sans 3" pitchFamily="34" charset="-122"/>
                <a:cs typeface="Source Sans 3" pitchFamily="34" charset="-120"/>
              </a:rPr>
              <a:t>3</a:t>
            </a:r>
            <a:endParaRPr lang="en-US" sz="1500" dirty="0"/>
          </a:p>
        </p:txBody>
      </p:sp>
      <p:sp>
        <p:nvSpPr>
          <p:cNvPr id="15" name="Text 13"/>
          <p:cNvSpPr/>
          <p:nvPr/>
        </p:nvSpPr>
        <p:spPr>
          <a:xfrm>
            <a:off x="8252944" y="3385542"/>
            <a:ext cx="2958417" cy="57397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AFAF8"/>
                </a:solidFill>
                <a:latin typeface="Source Serif 4" pitchFamily="18" charset="0"/>
                <a:ea typeface="Source Serif 4" pitchFamily="18" charset="-122"/>
                <a:cs typeface="Source Serif 4" pitchFamily="18" charset="-120"/>
              </a:rPr>
              <a:t>Prediction of future success is the central task</a:t>
            </a:r>
            <a:endParaRPr lang="en-US" sz="1800" dirty="0"/>
          </a:p>
        </p:txBody>
      </p:sp>
      <p:sp>
        <p:nvSpPr>
          <p:cNvPr id="16" name="Text 14"/>
          <p:cNvSpPr/>
          <p:nvPr/>
        </p:nvSpPr>
        <p:spPr>
          <a:xfrm>
            <a:off x="8252944" y="4035710"/>
            <a:ext cx="2958417" cy="82550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D9D4"/>
                </a:solidFill>
                <a:latin typeface="Source Sans 3" pitchFamily="34" charset="0"/>
                <a:ea typeface="Source Sans 3" pitchFamily="34" charset="-122"/>
                <a:cs typeface="Source Sans 3" pitchFamily="34" charset="-120"/>
              </a:rPr>
              <a:t>Does critical AI literacy measured in the lab forecast judgments in practice –a funny story at a dinner party?</a:t>
            </a:r>
            <a:endParaRPr lang="en-US" sz="1500" dirty="0"/>
          </a:p>
        </p:txBody>
      </p:sp>
      <p:sp>
        <p:nvSpPr>
          <p:cNvPr id="17" name="Text 15"/>
          <p:cNvSpPr/>
          <p:nvPr/>
        </p:nvSpPr>
        <p:spPr>
          <a:xfrm>
            <a:off x="654309" y="6197600"/>
            <a:ext cx="10883382" cy="238739"/>
          </a:xfrm>
          <a:prstGeom prst="rect">
            <a:avLst/>
          </a:prstGeom>
          <a:noFill/>
          <a:ln/>
        </p:spPr>
        <p:txBody>
          <a:bodyPr wrap="square" lIns="0" tIns="0" rIns="0" bIns="0" rtlCol="0" anchor="t">
            <a:normAutofit/>
          </a:bodyPr>
          <a:lstStyle/>
          <a:p>
            <a:pPr marL="0" indent="0" algn="l">
              <a:lnSpc>
                <a:spcPts val="1680"/>
              </a:lnSpc>
              <a:buNone/>
            </a:pPr>
            <a:r>
              <a:rPr lang="en-US" dirty="0">
                <a:solidFill>
                  <a:srgbClr val="6B6F72"/>
                </a:solidFill>
                <a:latin typeface="Source Sans 3" pitchFamily="34" charset="0"/>
                <a:ea typeface="Source Sans 3" pitchFamily="34" charset="-122"/>
                <a:cs typeface="Source Sans 3" pitchFamily="34" charset="-120"/>
              </a:rPr>
              <a:t>Limit: where no convergent verdict exists even in principle, there is no key, and critical AI literacy is undefined.</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812788" y="660400"/>
            <a:ext cx="1064055" cy="289497"/>
          </a:xfrm>
          <a:custGeom>
            <a:avLst/>
            <a:gdLst/>
            <a:ahLst/>
            <a:cxnLst/>
            <a:rect l="l" t="t" r="r" b="b"/>
            <a:pathLst>
              <a:path w="1064055" h="289497">
                <a:moveTo>
                  <a:pt x="144748" y="0"/>
                </a:moveTo>
                <a:lnTo>
                  <a:pt x="919306" y="0"/>
                </a:lnTo>
                <a:arcTo wR="144748" hR="144748" stAng="16200000" swAng="5400000"/>
                <a:lnTo>
                  <a:pt x="1064055" y="144748"/>
                </a:lnTo>
                <a:arcTo wR="144748" hR="144748" stAng="0" swAng="5400000"/>
                <a:lnTo>
                  <a:pt x="144748" y="289497"/>
                </a:lnTo>
                <a:arcTo wR="144748" hR="144748" stAng="5400000" swAng="5400000"/>
                <a:lnTo>
                  <a:pt x="0" y="144748"/>
                </a:lnTo>
                <a:arcTo wR="144748" hR="144748" stAng="10800000" swAng="5400000"/>
                <a:close/>
              </a:path>
            </a:pathLst>
          </a:custGeom>
          <a:solidFill>
            <a:srgbClr val="CFB87C"/>
          </a:solidFill>
          <a:ln/>
        </p:spPr>
        <p:txBody>
          <a:bodyPr wrap="none" lIns="0" tIns="0" rIns="0" bIns="0" rtlCol="0" anchor="ctr">
            <a:normAutofit/>
          </a:bodyPr>
          <a:lstStyle/>
          <a:p>
            <a:pPr marL="0" indent="0" algn="ctr">
              <a:lnSpc>
                <a:spcPts val="1680"/>
              </a:lnSpc>
              <a:buNone/>
            </a:pPr>
            <a:r>
              <a:rPr lang="en-US" sz="1200" b="1" kern="0" spc="150" dirty="0">
                <a:solidFill>
                  <a:srgbClr val="141414"/>
                </a:solidFill>
                <a:latin typeface="Source Sans 3" pitchFamily="34" charset="0"/>
                <a:ea typeface="Source Sans 3" pitchFamily="34" charset="-122"/>
                <a:cs typeface="Source Sans 3" pitchFamily="34" charset="-120"/>
              </a:rPr>
              <a:t>SUMMARY</a:t>
            </a:r>
            <a:endParaRPr lang="en-US" sz="1200" dirty="0"/>
          </a:p>
        </p:txBody>
      </p:sp>
      <p:sp>
        <p:nvSpPr>
          <p:cNvPr id="3" name="Text 1"/>
          <p:cNvSpPr>
            <a:spLocks noGrp="1"/>
          </p:cNvSpPr>
          <p:nvPr>
            <p:ph type="title"/>
          </p:nvPr>
        </p:nvSpPr>
        <p:spPr>
          <a:xfrm>
            <a:off x="812788" y="1076889"/>
            <a:ext cx="3925881" cy="47242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AFAF8"/>
                </a:solidFill>
                <a:latin typeface="Source Serif 4" pitchFamily="18" charset="0"/>
                <a:ea typeface="Source Serif 4" pitchFamily="18" charset="-122"/>
                <a:cs typeface="Source Serif 4" pitchFamily="18" charset="-120"/>
              </a:rPr>
              <a:t>Three Takeaways</a:t>
            </a:r>
            <a:endParaRPr lang="en-US" sz="3200" dirty="0"/>
          </a:p>
        </p:txBody>
      </p:sp>
      <p:sp>
        <p:nvSpPr>
          <p:cNvPr id="4" name="Text 2"/>
          <p:cNvSpPr/>
          <p:nvPr/>
        </p:nvSpPr>
        <p:spPr>
          <a:xfrm>
            <a:off x="812788" y="2541315"/>
            <a:ext cx="195265" cy="330181"/>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CFB87C"/>
                </a:solidFill>
                <a:latin typeface="Source Serif 4" pitchFamily="18" charset="0"/>
                <a:ea typeface="Source Serif 4" pitchFamily="18" charset="-122"/>
                <a:cs typeface="Source Serif 4" pitchFamily="18" charset="-120"/>
              </a:rPr>
              <a:t>1</a:t>
            </a:r>
            <a:endParaRPr lang="en-US" sz="2000" dirty="0"/>
          </a:p>
        </p:txBody>
      </p:sp>
      <p:sp>
        <p:nvSpPr>
          <p:cNvPr id="5" name="Text 3"/>
          <p:cNvSpPr/>
          <p:nvPr/>
        </p:nvSpPr>
        <p:spPr>
          <a:xfrm>
            <a:off x="1109644" y="2541315"/>
            <a:ext cx="7490539" cy="619716"/>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AFAF8"/>
                </a:solidFill>
                <a:latin typeface="Source Serif 4" pitchFamily="18" charset="0"/>
                <a:ea typeface="Source Serif 4" pitchFamily="18" charset="-122"/>
                <a:cs typeface="Source Serif 4" pitchFamily="18" charset="-120"/>
              </a:rPr>
              <a:t>To treat LLM capability as a latent trait is, absent a substantive theory, largely a category error</a:t>
            </a:r>
            <a:endParaRPr lang="en-US" sz="1800" dirty="0"/>
          </a:p>
        </p:txBody>
      </p:sp>
      <p:sp>
        <p:nvSpPr>
          <p:cNvPr id="6" name="Text 4"/>
          <p:cNvSpPr/>
          <p:nvPr/>
        </p:nvSpPr>
        <p:spPr>
          <a:xfrm>
            <a:off x="812788" y="3389616"/>
            <a:ext cx="195265" cy="330181"/>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CFB87C"/>
                </a:solidFill>
                <a:latin typeface="Source Serif 4" pitchFamily="18" charset="0"/>
                <a:ea typeface="Source Serif 4" pitchFamily="18" charset="-122"/>
                <a:cs typeface="Source Serif 4" pitchFamily="18" charset="-120"/>
              </a:rPr>
              <a:t>2</a:t>
            </a:r>
            <a:endParaRPr lang="en-US" sz="2000" dirty="0"/>
          </a:p>
        </p:txBody>
      </p:sp>
      <p:sp>
        <p:nvSpPr>
          <p:cNvPr id="7" name="Text 5"/>
          <p:cNvSpPr/>
          <p:nvPr/>
        </p:nvSpPr>
        <p:spPr>
          <a:xfrm>
            <a:off x="1109644" y="3389616"/>
            <a:ext cx="7490539" cy="916874"/>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AFAF8"/>
                </a:solidFill>
                <a:latin typeface="Source Serif 4" pitchFamily="18" charset="0"/>
                <a:ea typeface="Source Serif 4" pitchFamily="18" charset="-122"/>
                <a:cs typeface="Source Serif 4" pitchFamily="18" charset="-120"/>
              </a:rPr>
              <a:t>Measurement is relocated to the person, and made harder by a non-stationary instrument that compresses the variance we want to detect</a:t>
            </a:r>
            <a:endParaRPr lang="en-US" sz="1800" dirty="0"/>
          </a:p>
        </p:txBody>
      </p:sp>
      <p:sp>
        <p:nvSpPr>
          <p:cNvPr id="8" name="Text 6"/>
          <p:cNvSpPr/>
          <p:nvPr/>
        </p:nvSpPr>
        <p:spPr>
          <a:xfrm>
            <a:off x="812788" y="4535072"/>
            <a:ext cx="195265" cy="330181"/>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CFB87C"/>
                </a:solidFill>
                <a:latin typeface="Source Serif 4" pitchFamily="18" charset="0"/>
                <a:ea typeface="Source Serif 4" pitchFamily="18" charset="-122"/>
                <a:cs typeface="Source Serif 4" pitchFamily="18" charset="-120"/>
              </a:rPr>
              <a:t>3</a:t>
            </a:r>
            <a:endParaRPr lang="en-US" sz="2000" dirty="0"/>
          </a:p>
        </p:txBody>
      </p:sp>
      <p:sp>
        <p:nvSpPr>
          <p:cNvPr id="9" name="Text 7"/>
          <p:cNvSpPr/>
          <p:nvPr/>
        </p:nvSpPr>
        <p:spPr>
          <a:xfrm>
            <a:off x="1109644" y="4535072"/>
            <a:ext cx="7490539" cy="619716"/>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AFAF8"/>
                </a:solidFill>
                <a:latin typeface="Source Serif 4" pitchFamily="18" charset="0"/>
                <a:ea typeface="Source Serif 4" pitchFamily="18" charset="-122"/>
                <a:cs typeface="Source Serif 4" pitchFamily="18" charset="-120"/>
              </a:rPr>
              <a:t>AI-literacy constructs are socially constructed and in flux: we are at the thermoscope stage</a:t>
            </a:r>
            <a:endParaRPr lang="en-US" sz="1800" dirty="0"/>
          </a:p>
        </p:txBody>
      </p:sp>
      <p:sp>
        <p:nvSpPr>
          <p:cNvPr id="10" name="Shape 8"/>
          <p:cNvSpPr/>
          <p:nvPr/>
        </p:nvSpPr>
        <p:spPr>
          <a:xfrm>
            <a:off x="8991574" y="1970056"/>
            <a:ext cx="2235175" cy="2235175"/>
          </a:xfrm>
          <a:prstGeom prst="roundRect">
            <a:avLst>
              <a:gd name="adj" fmla="val 4546"/>
            </a:avLst>
          </a:prstGeom>
          <a:solidFill>
            <a:srgbClr val="FFFFFF"/>
          </a:solidFill>
          <a:ln/>
        </p:spPr>
        <p:txBody>
          <a:bodyPr/>
          <a:lstStyle/>
          <a:p>
            <a:endParaRPr lang="en-US" dirty="0"/>
          </a:p>
        </p:txBody>
      </p:sp>
      <p:pic>
        <p:nvPicPr>
          <p:cNvPr id="11" name="Image 0" descr="QR code linking to the AIME-Con 2026 paper on GitHub"/>
          <p:cNvPicPr>
            <a:picLocks noChangeAspect="1"/>
          </p:cNvPicPr>
          <p:nvPr/>
        </p:nvPicPr>
        <p:blipFill>
          <a:blip r:embed="rId3"/>
          <a:srcRect/>
          <a:stretch/>
        </p:blipFill>
        <p:spPr>
          <a:xfrm>
            <a:off x="9093167" y="2071650"/>
            <a:ext cx="2031988" cy="2031988"/>
          </a:xfrm>
          <a:prstGeom prst="rect">
            <a:avLst/>
          </a:prstGeom>
        </p:spPr>
      </p:pic>
      <p:sp>
        <p:nvSpPr>
          <p:cNvPr id="12" name="Text 9"/>
          <p:cNvSpPr/>
          <p:nvPr/>
        </p:nvSpPr>
        <p:spPr>
          <a:xfrm>
            <a:off x="8801083" y="4332225"/>
            <a:ext cx="2616194" cy="471175"/>
          </a:xfrm>
          <a:prstGeom prst="rect">
            <a:avLst/>
          </a:prstGeom>
          <a:noFill/>
          <a:ln/>
        </p:spPr>
        <p:txBody>
          <a:bodyPr wrap="square" lIns="0" tIns="0" rIns="0" bIns="0" rtlCol="0" anchor="t">
            <a:normAutofit/>
          </a:bodyPr>
          <a:lstStyle/>
          <a:p>
            <a:pPr marL="0" indent="0" algn="ctr">
              <a:lnSpc>
                <a:spcPts val="1755"/>
              </a:lnSpc>
              <a:buNone/>
            </a:pPr>
            <a:r>
              <a:rPr lang="en-US" sz="1300" dirty="0">
                <a:solidFill>
                  <a:srgbClr val="FAFAF8"/>
                </a:solidFill>
                <a:latin typeface="Source Sans 3" pitchFamily="34" charset="0"/>
                <a:ea typeface="Source Sans 3" pitchFamily="34" charset="-122"/>
                <a:cs typeface="Source Sans 3" pitchFamily="34" charset="-120"/>
              </a:rPr>
              <a:t>The paper (AIME-Con 2026 Proceedings version)</a:t>
            </a:r>
            <a:endParaRPr lang="en-US" sz="1300" dirty="0"/>
          </a:p>
        </p:txBody>
      </p:sp>
      <p:sp>
        <p:nvSpPr>
          <p:cNvPr id="13" name="Text 10"/>
          <p:cNvSpPr/>
          <p:nvPr/>
        </p:nvSpPr>
        <p:spPr>
          <a:xfrm>
            <a:off x="8801083" y="4904991"/>
            <a:ext cx="2616194" cy="471175"/>
          </a:xfrm>
          <a:prstGeom prst="rect">
            <a:avLst/>
          </a:prstGeom>
          <a:noFill/>
          <a:ln/>
        </p:spPr>
        <p:txBody>
          <a:bodyPr wrap="square" lIns="0" tIns="0" rIns="0" bIns="0" rtlCol="0" anchor="t">
            <a:normAutofit/>
          </a:bodyPr>
          <a:lstStyle/>
          <a:p>
            <a:pPr marL="0" indent="0" algn="ctr">
              <a:lnSpc>
                <a:spcPts val="1755"/>
              </a:lnSpc>
              <a:buNone/>
            </a:pPr>
            <a:r>
              <a:rPr lang="en-US" sz="1300" dirty="0">
                <a:solidFill>
                  <a:srgbClr val="D9D9D4"/>
                </a:solidFill>
                <a:latin typeface="Source Sans 3" pitchFamily="34" charset="0"/>
                <a:ea typeface="Source Sans 3" pitchFamily="34" charset="-122"/>
                <a:cs typeface="Source Sans 3" pitchFamily="34" charset="-120"/>
              </a:rPr>
              <a:t>Simulation and transcript: </a:t>
            </a:r>
            <a:r>
              <a:rPr lang="en-US" sz="1300" u="sng" dirty="0">
                <a:solidFill>
                  <a:srgbClr val="D9D9D4"/>
                </a:solidFill>
                <a:latin typeface="Source Sans 3" pitchFamily="34" charset="0"/>
                <a:ea typeface="Source Sans 3" pitchFamily="34" charset="-122"/>
                <a:cs typeface="Source Sans 3" pitchFamily="34" charset="-120"/>
                <a:hlinkClick r:id="rId4">
                  <a:extLst>
                    <a:ext uri="{A12FA001-AC4F-418D-AE19-62706E023703}">
                      <ahyp:hlinkClr xmlns:ahyp="http://schemas.microsoft.com/office/drawing/2018/hyperlinkcolor" val="tx"/>
                    </a:ext>
                  </a:extLst>
                </a:hlinkClick>
              </a:rPr>
              <a:t>SSM 2026 folder on GitHub</a:t>
            </a:r>
            <a:endParaRPr lang="en-US" sz="1300" dirty="0"/>
          </a:p>
        </p:txBody>
      </p:sp>
      <p:sp>
        <p:nvSpPr>
          <p:cNvPr id="14" name="Text 11"/>
          <p:cNvSpPr/>
          <p:nvPr/>
        </p:nvSpPr>
        <p:spPr>
          <a:xfrm>
            <a:off x="8961839" y="5477762"/>
            <a:ext cx="2294645" cy="248287"/>
          </a:xfrm>
          <a:prstGeom prst="rect">
            <a:avLst/>
          </a:prstGeom>
          <a:noFill/>
          <a:ln/>
        </p:spPr>
        <p:txBody>
          <a:bodyPr wrap="square" lIns="0" tIns="0" rIns="0" bIns="0" rtlCol="0" anchor="t">
            <a:normAutofit/>
          </a:bodyPr>
          <a:lstStyle/>
          <a:p>
            <a:pPr marL="0" indent="0" algn="ctr">
              <a:lnSpc>
                <a:spcPts val="1755"/>
              </a:lnSpc>
              <a:buNone/>
            </a:pPr>
            <a:r>
              <a:rPr lang="en-US" sz="1300" dirty="0">
                <a:solidFill>
                  <a:srgbClr val="FAFAF8"/>
                </a:solidFill>
                <a:latin typeface="Source Sans 3" pitchFamily="34" charset="0"/>
                <a:ea typeface="Source Sans 3" pitchFamily="34" charset="-122"/>
                <a:cs typeface="Source Sans 3" pitchFamily="34" charset="-120"/>
              </a:rPr>
              <a:t>derek.briggs@colorado.edu</a:t>
            </a:r>
            <a:endParaRPr lang="en-US" sz="1300" dirty="0"/>
          </a:p>
        </p:txBody>
      </p:sp>
      <p:sp>
        <p:nvSpPr>
          <p:cNvPr id="15" name="Text 12"/>
          <p:cNvSpPr/>
          <p:nvPr/>
        </p:nvSpPr>
        <p:spPr>
          <a:xfrm>
            <a:off x="533895" y="6078230"/>
            <a:ext cx="10883382" cy="238739"/>
          </a:xfrm>
          <a:prstGeom prst="rect">
            <a:avLst/>
          </a:prstGeom>
          <a:noFill/>
          <a:ln/>
        </p:spPr>
        <p:txBody>
          <a:bodyPr wrap="square" lIns="0" tIns="0" rIns="0" bIns="0" rtlCol="0" anchor="t">
            <a:normAutofit fontScale="92500"/>
          </a:bodyPr>
          <a:lstStyle/>
          <a:p>
            <a:pPr marL="0" indent="0" algn="l">
              <a:lnSpc>
                <a:spcPts val="1680"/>
              </a:lnSpc>
              <a:buNone/>
            </a:pPr>
            <a:r>
              <a:rPr lang="en-US" sz="2000" dirty="0">
                <a:solidFill>
                  <a:srgbClr val="A2A4A3"/>
                </a:solidFill>
                <a:latin typeface="Source Sans 3" pitchFamily="34" charset="0"/>
                <a:ea typeface="Source Sans 3" pitchFamily="34" charset="-122"/>
                <a:cs typeface="Source Sans 3" pitchFamily="34" charset="-120"/>
              </a:rPr>
              <a:t>Thank you · Blog on </a:t>
            </a:r>
            <a:r>
              <a:rPr lang="en-US" sz="2400" dirty="0">
                <a:solidFill>
                  <a:srgbClr val="A2A4A3"/>
                </a:solidFill>
                <a:latin typeface="Source Sans 3" pitchFamily="34" charset="0"/>
                <a:ea typeface="Source Sans 3" pitchFamily="34" charset="-122"/>
                <a:cs typeface="Source Sans 3" pitchFamily="34" charset="-120"/>
              </a:rPr>
              <a:t>AI</a:t>
            </a:r>
            <a:r>
              <a:rPr lang="en-US" sz="2000" dirty="0">
                <a:solidFill>
                  <a:srgbClr val="A2A4A3"/>
                </a:solidFill>
                <a:latin typeface="Source Sans 3" pitchFamily="34" charset="0"/>
                <a:ea typeface="Source Sans 3" pitchFamily="34" charset="-122"/>
                <a:cs typeface="Source Sans 3" pitchFamily="34" charset="-120"/>
              </a:rPr>
              <a:t> literacy and informed skepticism: </a:t>
            </a:r>
            <a:r>
              <a:rPr lang="en-US" sz="2000" u="sng" dirty="0">
                <a:solidFill>
                  <a:srgbClr val="A2A4A3"/>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derekcbriggs.github.io/blog.html</a:t>
            </a:r>
            <a:endParaRPr lang="en-US" sz="2000" dirty="0"/>
          </a:p>
        </p:txBody>
      </p:sp>
    </p:spTree>
  </p:cSld>
  <p:clrMapOvr>
    <a:masterClrMapping/>
  </p:clrMapOvr>
</p:sld>
</file>

<file path=ppt/theme/theme1.xml><?xml version="1.0" encoding="utf-8"?>
<a:theme xmlns:a="http://schemas.openxmlformats.org/drawingml/2006/main" name="Measuring the User, Not the Model: Critical AI Literacy and the Verification Fro">
  <a:themeElements>
    <a:clrScheme name="Measuring the User, Not the Model: Critical AI Literacy and the Verification Fro">
      <a:dk1>
        <a:srgbClr val="141414"/>
      </a:dk1>
      <a:lt1>
        <a:srgbClr val="FAFAF8"/>
      </a:lt1>
      <a:dk2>
        <a:srgbClr val="4E4E4D"/>
      </a:dk2>
      <a:lt2>
        <a:srgbClr val="E3E3E1"/>
      </a:lt2>
      <a:accent1>
        <a:srgbClr val="CFB87C"/>
      </a:accent1>
      <a:accent2>
        <a:srgbClr val="D9D9D4"/>
      </a:accent2>
      <a:accent3>
        <a:srgbClr val="565A5C"/>
      </a:accent3>
      <a:accent4>
        <a:srgbClr val="3A3D40"/>
      </a:accent4>
      <a:accent5>
        <a:srgbClr val="6B6F72"/>
      </a:accent5>
      <a:accent6>
        <a:srgbClr val="F1E9D2"/>
      </a:accent6>
      <a:hlink>
        <a:srgbClr val="0563C1"/>
      </a:hlink>
      <a:folHlink>
        <a:srgbClr val="954F72"/>
      </a:folHlink>
    </a:clrScheme>
    <a:fontScheme name="Measuring the User, Not the Model: Critical AI Literacy and the Verification Fro">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3801</Words>
  <Application>Microsoft Macintosh PowerPoint</Application>
  <PresentationFormat>Widescreen</PresentationFormat>
  <Paragraphs>188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Source Sans 3</vt:lpstr>
      <vt:lpstr>Source Serif 4</vt:lpstr>
      <vt:lpstr>Measuring the User, Not the Model: Critical AI Literacy and the Verification Fro</vt:lpstr>
      <vt:lpstr>Measuring the User, Not the Model</vt:lpstr>
      <vt:lpstr>The Jagged Frontier of LLMs</vt:lpstr>
      <vt:lpstr>Can We Measure an LLM’s Intelligence?</vt:lpstr>
      <vt:lpstr>Measure People, Evaluate Models</vt:lpstr>
      <vt:lpstr>An Item: Accept or Override an LLM Response</vt:lpstr>
      <vt:lpstr>From Total Probability to a Constrained 3PL</vt:lpstr>
      <vt:lpstr>Item Characteristic Curves</vt:lpstr>
      <vt:lpstr>Assumption B: A Fixed Override Criterion</vt:lpstr>
      <vt:lpstr>Two Domains Across Model Generations</vt:lpstr>
      <vt:lpstr>Items Needed to Reach a Marginal Reliability of .80</vt:lpstr>
      <vt:lpstr>Toward an Empirical Program</vt:lpstr>
      <vt:lpstr>Three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the User, Not the Model: Critical AI Literacy and the Verification Frontier</dc:title>
  <dc:subject/>
  <dc:creator/>
  <cp:lastModifiedBy>Derek Briggs</cp:lastModifiedBy>
  <cp:revision>6</cp:revision>
  <dcterms:created xsi:type="dcterms:W3CDTF">2026-10-04T22:38:51Z</dcterms:created>
  <dcterms:modified xsi:type="dcterms:W3CDTF">2026-10-05T02:36:19Z</dcterms:modified>
</cp:coreProperties>
</file>