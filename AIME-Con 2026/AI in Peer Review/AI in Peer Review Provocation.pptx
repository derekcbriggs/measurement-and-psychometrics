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7041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provocation: peer review in our field should use AI twice. Once to give every reviewer an AI-generated review to audit, and once to give the editor a check on whether the human reviews fit together. Both should run inside the journal, on its own secure system. I'll cover why review needs help, what our journals' policies say now, the best evidence, and the problem I can't resolve.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review was strained before generative AI. Scientific publications doubled in five years, to more than eight million in 2025. Editors now send four and a half invitations to get one completed review, twice the 2018 number. And what comes back varies a lot in quality. As Stephen Turner put it in a recent Science feature, the question is not whether AI matches the best human review, but whether AI-assisted review beats the median one. Reviewers are not waiting for permission. In a Frontiers survey, 53 percent said they used AI for review tasks in 2025, up from 29 percent a year earlier, often in ways their journals prohibit.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checked the AI policies of 14 journals: the three NCME journals, nine other measurement journals, and two comparisons, Psychological Methods and Elsevier's Measurement. Author rules agree: 13 of 14 require disclosure. But not one journal sets its own rules for reviewers or editors. Twelve take them from seven publishers, and two have none. The rule the publishers share is a no-upload rule: a reviewer may not put any part of a manuscript into an AI tool. The reason given is confidentiality, not the quality of AI judgment. And the same publishers already run their own AI on those manuscripts, for integrity checks, scope checks, and reviewer matching.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confidentiality concern is met by a secure tool the journal runs, not by a ban. Use 1: the reviewer writes their review first, independently. Then they read the journal's AI review and decide whether to revise. The AI handles the tedious checks humans often skip: code, math, statistics, reporting, internal consistency. That frees the reviewer for novelty and contribution, where AI reviews were weakest in the largest pilot so far. Use 2: when the human reviews are in, the editor asks AI where the reviewers agree, where they conflict, and what none of them checked. In both uses a human writes the review and a human makes the decision.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closest test of Use 1 is a randomized trial at ICLR 2025, a large machine-learning conference. An AI agent gave optional feedback on more than 20,000 human-written reviews. Twenty-seven percent of reviewers who got feedback revised, incorporating over 12,000 suggestions, and an independent panel judged about two-thirds of the revised reviews better than the originals. One caveat: the AI commented on the reviewers' drafts, not on the manuscript, so this is close to my design but not the same. At AAAI-26, every main-track paper, nearly 23,000, got an AI review in under 24 hours for about a dollar a paper. It was weakest on novelty and significance.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can't resolve. First, accountability. When a reviewer revises after reading the AI's critique, whose judgment is it, and who answers for it? No journal policy in our field addresses a review the journal itself supplies. Second, a measurement problem. If every reviewer reads the same AI review, their reviews are no longer independent ratings. The editor may see more agreement but have less evidence. There is a precedent for part of this. COPE's reviewer guidelines let a reviewer bring in a colleague if the journal permits it and the colleague is named, and NCME's guidelines require the same disclosure. Whether that rule extends to AI is the question I'd like this panel to take 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1280111"/>
            <a:ext cx="10566390" cy="502912"/>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88" y="2087823"/>
            <a:ext cx="10566412" cy="3957377"/>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1280111"/>
            <a:ext cx="10566390" cy="502912"/>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88" y="2087823"/>
            <a:ext cx="10566412" cy="3957377"/>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AIME-CON 2026 · EDUCATIONAL MEASUREMENT AS AN AI-NATIVE PROFESSION</a:t>
            </a:r>
            <a:endParaRPr lang="en-US" sz="1200" dirty="0"/>
          </a:p>
        </p:txBody>
      </p:sp>
      <p:sp>
        <p:nvSpPr>
          <p:cNvPr id="3" name="Text 1"/>
          <p:cNvSpPr>
            <a:spLocks noGrp="1"/>
          </p:cNvSpPr>
          <p:nvPr>
            <p:ph type="title"/>
          </p:nvPr>
        </p:nvSpPr>
        <p:spPr>
          <a:xfrm>
            <a:off x="812788" y="2246686"/>
            <a:ext cx="10883382" cy="1701772"/>
          </a:xfrm>
          <a:prstGeom prst="rect">
            <a:avLst/>
          </a:prstGeom>
          <a:noFill/>
          <a:ln/>
        </p:spPr>
        <p:txBody>
          <a:bodyPr wrap="square" lIns="0" tIns="0" rIns="0" bIns="0" rtlCol="0" anchor="t">
            <a:normAutofit/>
          </a:bodyPr>
          <a:lstStyle/>
          <a:p>
            <a:pPr marL="0" indent="0" algn="l">
              <a:lnSpc>
                <a:spcPts val="6600"/>
              </a:lnSpc>
              <a:buNone/>
            </a:pPr>
            <a:r>
              <a:rPr lang="en-US" sz="6000" b="0" i="0" dirty="0">
                <a:solidFill>
                  <a:srgbClr val="F6F3EC"/>
                </a:solidFill>
                <a:latin typeface="Source Serif 4" pitchFamily="18" charset="0"/>
                <a:ea typeface="Source Serif 4" pitchFamily="18" charset="-122"/>
                <a:cs typeface="Source Serif 4" pitchFamily="18" charset="-120"/>
              </a:rPr>
              <a:t>Peer review should use AI twice!</a:t>
            </a:r>
            <a:endParaRPr lang="en-US" sz="6000" dirty="0"/>
          </a:p>
        </p:txBody>
      </p:sp>
      <p:sp>
        <p:nvSpPr>
          <p:cNvPr id="4" name="Text 2"/>
          <p:cNvSpPr/>
          <p:nvPr/>
        </p:nvSpPr>
        <p:spPr>
          <a:xfrm>
            <a:off x="812788" y="4177042"/>
            <a:ext cx="10883382" cy="388564"/>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Once for the reviewer, once for the editor, both run by the journal</a:t>
            </a:r>
            <a:endParaRPr lang="en-US" sz="2200" dirty="0"/>
          </a:p>
        </p:txBody>
      </p:sp>
      <p:sp>
        <p:nvSpPr>
          <p:cNvPr id="5" name="Text 3"/>
          <p:cNvSpPr/>
          <p:nvPr/>
        </p:nvSpPr>
        <p:spPr>
          <a:xfrm>
            <a:off x="812788" y="5760765"/>
            <a:ext cx="10883382" cy="309840"/>
          </a:xfrm>
          <a:prstGeom prst="rect">
            <a:avLst/>
          </a:prstGeom>
          <a:noFill/>
          <a:ln/>
        </p:spPr>
        <p:txBody>
          <a:bodyPr wrap="square" lIns="0" tIns="0" rIns="0" bIns="0" rtlCol="0" anchor="t">
            <a:normAutofit/>
          </a:bodyPr>
          <a:lstStyle/>
          <a:p>
            <a:pPr>
              <a:lnSpc>
                <a:spcPts val="2240"/>
              </a:lnSpc>
            </a:pPr>
            <a:r>
              <a:rPr lang="en-US" sz="1600" dirty="0">
                <a:solidFill>
                  <a:srgbClr val="F6F3EC"/>
                </a:solidFill>
                <a:latin typeface="IBM Plex Sans" pitchFamily="34" charset="0"/>
                <a:ea typeface="IBM Plex Sans" pitchFamily="34" charset="-122"/>
                <a:cs typeface="IBM Plex Sans" pitchFamily="34" charset="-120"/>
              </a:rPr>
              <a:t>Derek Briggs · University of Colorado Boulder · October 7,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1F"/>
                </a:solidFill>
                <a:latin typeface="IBM Plex Sans" pitchFamily="34" charset="0"/>
                <a:ea typeface="IBM Plex Sans" pitchFamily="34" charset="-122"/>
                <a:cs typeface="IBM Plex Sans" pitchFamily="34" charset="-120"/>
              </a:rPr>
              <a:t>WHY PEER REVIEW NEEDS HELP</a:t>
            </a:r>
            <a:endParaRPr lang="en-US" sz="1200" dirty="0"/>
          </a:p>
        </p:txBody>
      </p:sp>
      <p:sp>
        <p:nvSpPr>
          <p:cNvPr id="3" name="Text 1"/>
          <p:cNvSpPr>
            <a:spLocks noGrp="1"/>
          </p:cNvSpPr>
          <p:nvPr>
            <p:ph type="title"/>
          </p:nvPr>
        </p:nvSpPr>
        <p:spPr>
          <a:xfrm>
            <a:off x="812788" y="1280111"/>
            <a:ext cx="10883382" cy="528312"/>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Peer review was strained well before generative AI</a:t>
            </a:r>
            <a:endParaRPr lang="en-US" sz="3600" dirty="0"/>
          </a:p>
        </p:txBody>
      </p:sp>
      <p:sp>
        <p:nvSpPr>
          <p:cNvPr id="4" name="Shape 2"/>
          <p:cNvSpPr/>
          <p:nvPr/>
        </p:nvSpPr>
        <p:spPr>
          <a:xfrm>
            <a:off x="812788" y="2037007"/>
            <a:ext cx="3386672" cy="2402662"/>
          </a:xfrm>
          <a:prstGeom prst="roundRect">
            <a:avLst>
              <a:gd name="adj" fmla="val 4229"/>
            </a:avLst>
          </a:prstGeom>
          <a:solidFill>
            <a:srgbClr val="ECE7DC"/>
          </a:solidFill>
          <a:ln/>
        </p:spPr>
        <p:txBody>
          <a:bodyPr/>
          <a:lstStyle/>
          <a:p>
            <a:endParaRPr lang="en-US"/>
          </a:p>
        </p:txBody>
      </p:sp>
      <p:sp>
        <p:nvSpPr>
          <p:cNvPr id="5" name="Text 3"/>
          <p:cNvSpPr/>
          <p:nvPr/>
        </p:nvSpPr>
        <p:spPr>
          <a:xfrm>
            <a:off x="1117569" y="2341788"/>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8M+</a:t>
            </a:r>
            <a:endParaRPr lang="en-US" sz="6000" dirty="0"/>
          </a:p>
        </p:txBody>
      </p:sp>
      <p:sp>
        <p:nvSpPr>
          <p:cNvPr id="6" name="Text 4"/>
          <p:cNvSpPr/>
          <p:nvPr/>
        </p:nvSpPr>
        <p:spPr>
          <a:xfrm>
            <a:off x="1117569" y="3281568"/>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scientific publications in 2025, double the count five years earlier</a:t>
            </a:r>
            <a:endParaRPr lang="en-US" sz="1600" dirty="0"/>
          </a:p>
        </p:txBody>
      </p:sp>
      <p:sp>
        <p:nvSpPr>
          <p:cNvPr id="7" name="Shape 5"/>
          <p:cNvSpPr/>
          <p:nvPr/>
        </p:nvSpPr>
        <p:spPr>
          <a:xfrm>
            <a:off x="4402647" y="2037007"/>
            <a:ext cx="3386672" cy="2402662"/>
          </a:xfrm>
          <a:prstGeom prst="roundRect">
            <a:avLst>
              <a:gd name="adj" fmla="val 4229"/>
            </a:avLst>
          </a:prstGeom>
          <a:solidFill>
            <a:srgbClr val="ECE7DC"/>
          </a:solidFill>
          <a:ln/>
        </p:spPr>
        <p:txBody>
          <a:bodyPr/>
          <a:lstStyle/>
          <a:p>
            <a:endParaRPr lang="en-US"/>
          </a:p>
        </p:txBody>
      </p:sp>
      <p:sp>
        <p:nvSpPr>
          <p:cNvPr id="8" name="Text 6"/>
          <p:cNvSpPr/>
          <p:nvPr/>
        </p:nvSpPr>
        <p:spPr>
          <a:xfrm>
            <a:off x="4707428" y="2341788"/>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4.5</a:t>
            </a:r>
            <a:endParaRPr lang="en-US" sz="6000" dirty="0"/>
          </a:p>
        </p:txBody>
      </p:sp>
      <p:sp>
        <p:nvSpPr>
          <p:cNvPr id="9" name="Text 7"/>
          <p:cNvSpPr/>
          <p:nvPr/>
        </p:nvSpPr>
        <p:spPr>
          <a:xfrm>
            <a:off x="4707428" y="3281568"/>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invitations per completed review in 2025, twice the 2018 figure</a:t>
            </a:r>
            <a:endParaRPr lang="en-US" sz="1600" dirty="0"/>
          </a:p>
        </p:txBody>
      </p:sp>
      <p:sp>
        <p:nvSpPr>
          <p:cNvPr id="10" name="Shape 8"/>
          <p:cNvSpPr/>
          <p:nvPr/>
        </p:nvSpPr>
        <p:spPr>
          <a:xfrm>
            <a:off x="7992506" y="2037007"/>
            <a:ext cx="3386672" cy="2402662"/>
          </a:xfrm>
          <a:prstGeom prst="roundRect">
            <a:avLst>
              <a:gd name="adj" fmla="val 4229"/>
            </a:avLst>
          </a:prstGeom>
          <a:solidFill>
            <a:srgbClr val="ECE7DC"/>
          </a:solidFill>
          <a:ln/>
        </p:spPr>
        <p:txBody>
          <a:bodyPr/>
          <a:lstStyle/>
          <a:p>
            <a:endParaRPr lang="en-US"/>
          </a:p>
        </p:txBody>
      </p:sp>
      <p:sp>
        <p:nvSpPr>
          <p:cNvPr id="11" name="Text 9"/>
          <p:cNvSpPr/>
          <p:nvPr/>
        </p:nvSpPr>
        <p:spPr>
          <a:xfrm>
            <a:off x="8297287" y="2341788"/>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53%</a:t>
            </a:r>
            <a:endParaRPr lang="en-US" sz="6000" dirty="0"/>
          </a:p>
        </p:txBody>
      </p:sp>
      <p:sp>
        <p:nvSpPr>
          <p:cNvPr id="12" name="Text 10"/>
          <p:cNvSpPr/>
          <p:nvPr/>
        </p:nvSpPr>
        <p:spPr>
          <a:xfrm>
            <a:off x="8297287" y="3281568"/>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reviewers used AI for review tasks in 2025, up from 29% a year earlier</a:t>
            </a:r>
            <a:endParaRPr lang="en-US" sz="1600" dirty="0"/>
          </a:p>
        </p:txBody>
      </p:sp>
      <p:sp>
        <p:nvSpPr>
          <p:cNvPr id="13" name="Shape 11"/>
          <p:cNvSpPr/>
          <p:nvPr/>
        </p:nvSpPr>
        <p:spPr>
          <a:xfrm>
            <a:off x="831838" y="4693653"/>
            <a:ext cx="0" cy="568880"/>
          </a:xfrm>
          <a:prstGeom prst="line">
            <a:avLst/>
          </a:prstGeom>
          <a:noFill/>
          <a:ln w="38100">
            <a:solidFill>
              <a:srgbClr val="A8461F"/>
            </a:solidFill>
            <a:prstDash val="solid"/>
          </a:ln>
        </p:spPr>
        <p:txBody>
          <a:bodyPr/>
          <a:lstStyle/>
          <a:p>
            <a:endParaRPr lang="en-US"/>
          </a:p>
        </p:txBody>
      </p:sp>
      <p:sp>
        <p:nvSpPr>
          <p:cNvPr id="14" name="Text 12"/>
          <p:cNvSpPr/>
          <p:nvPr/>
        </p:nvSpPr>
        <p:spPr>
          <a:xfrm>
            <a:off x="1052217" y="4693653"/>
            <a:ext cx="10636769" cy="594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right comparator for AI-assisted review is the median human review, not the best one. (Stephen Turner, UVA, in </a:t>
            </a:r>
            <a:r>
              <a:rPr lang="en-US" sz="1600" i="1" dirty="0">
                <a:solidFill>
                  <a:srgbClr val="14213D"/>
                </a:solidFill>
                <a:latin typeface="IBM Plex Sans" pitchFamily="34" charset="0"/>
                <a:ea typeface="IBM Plex Sans" pitchFamily="34" charset="-122"/>
                <a:cs typeface="IBM Plex Sans" pitchFamily="34" charset="-120"/>
              </a:rPr>
              <a:t>Science</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5" name="Text 13"/>
          <p:cNvSpPr/>
          <p:nvPr/>
        </p:nvSpPr>
        <p:spPr>
          <a:xfrm>
            <a:off x="812788" y="623827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36B"/>
                </a:solidFill>
                <a:latin typeface="IBM Plex Sans" pitchFamily="34" charset="0"/>
                <a:ea typeface="IBM Plex Sans" pitchFamily="34" charset="-122"/>
                <a:cs typeface="IBM Plex Sans" pitchFamily="34" charset="-120"/>
              </a:rPr>
              <a:t>Sources: Brainard, Science 393 (2026); Silverchair report (2026); Frontiers reviewer survey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1F"/>
                </a:solidFill>
                <a:latin typeface="IBM Plex Sans" pitchFamily="34" charset="0"/>
                <a:ea typeface="IBM Plex Sans" pitchFamily="34" charset="-122"/>
                <a:cs typeface="IBM Plex Sans" pitchFamily="34" charset="-120"/>
              </a:rPr>
              <a:t>WHAT 14 JOURNALS SAY NOW</a:t>
            </a:r>
            <a:endParaRPr lang="en-US" sz="1200" dirty="0"/>
          </a:p>
        </p:txBody>
      </p:sp>
      <p:sp>
        <p:nvSpPr>
          <p:cNvPr id="3" name="Text 1"/>
          <p:cNvSpPr>
            <a:spLocks noGrp="1"/>
          </p:cNvSpPr>
          <p:nvPr>
            <p:ph type="title"/>
          </p:nvPr>
        </p:nvSpPr>
        <p:spPr>
          <a:xfrm>
            <a:off x="812788" y="1280111"/>
            <a:ext cx="10883382" cy="528312"/>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No journal sets its own reviewer rules</a:t>
            </a:r>
            <a:endParaRPr lang="en-US" sz="3600" dirty="0"/>
          </a:p>
        </p:txBody>
      </p:sp>
      <p:sp>
        <p:nvSpPr>
          <p:cNvPr id="4" name="Shape 2"/>
          <p:cNvSpPr/>
          <p:nvPr/>
        </p:nvSpPr>
        <p:spPr>
          <a:xfrm>
            <a:off x="812788" y="2037007"/>
            <a:ext cx="3386672" cy="2402662"/>
          </a:xfrm>
          <a:prstGeom prst="roundRect">
            <a:avLst>
              <a:gd name="adj" fmla="val 4229"/>
            </a:avLst>
          </a:prstGeom>
          <a:solidFill>
            <a:srgbClr val="ECE7DC"/>
          </a:solidFill>
          <a:ln/>
        </p:spPr>
        <p:txBody>
          <a:bodyPr/>
          <a:lstStyle/>
          <a:p>
            <a:endParaRPr lang="en-US"/>
          </a:p>
        </p:txBody>
      </p:sp>
      <p:sp>
        <p:nvSpPr>
          <p:cNvPr id="5" name="Text 3"/>
          <p:cNvSpPr/>
          <p:nvPr/>
        </p:nvSpPr>
        <p:spPr>
          <a:xfrm>
            <a:off x="1117569"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13</a:t>
            </a:r>
            <a:endParaRPr lang="en-US" sz="6000" dirty="0"/>
          </a:p>
        </p:txBody>
      </p:sp>
      <p:sp>
        <p:nvSpPr>
          <p:cNvPr id="6" name="Text 4"/>
          <p:cNvSpPr/>
          <p:nvPr/>
        </p:nvSpPr>
        <p:spPr>
          <a:xfrm>
            <a:off x="1117569" y="3281569"/>
            <a:ext cx="2860422" cy="594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14 journals require authors to disclose generative AI use</a:t>
            </a:r>
            <a:endParaRPr lang="en-US" sz="1600" dirty="0"/>
          </a:p>
        </p:txBody>
      </p:sp>
      <p:sp>
        <p:nvSpPr>
          <p:cNvPr id="7" name="Shape 5"/>
          <p:cNvSpPr/>
          <p:nvPr/>
        </p:nvSpPr>
        <p:spPr>
          <a:xfrm>
            <a:off x="4402647" y="2037007"/>
            <a:ext cx="3386672" cy="2402662"/>
          </a:xfrm>
          <a:prstGeom prst="roundRect">
            <a:avLst>
              <a:gd name="adj" fmla="val 4229"/>
            </a:avLst>
          </a:prstGeom>
          <a:solidFill>
            <a:srgbClr val="ECE7DC"/>
          </a:solidFill>
          <a:ln/>
        </p:spPr>
        <p:txBody>
          <a:bodyPr/>
          <a:lstStyle/>
          <a:p>
            <a:endParaRPr lang="en-US"/>
          </a:p>
        </p:txBody>
      </p:sp>
      <p:sp>
        <p:nvSpPr>
          <p:cNvPr id="8" name="Text 6"/>
          <p:cNvSpPr/>
          <p:nvPr/>
        </p:nvSpPr>
        <p:spPr>
          <a:xfrm>
            <a:off x="4707428"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12</a:t>
            </a:r>
            <a:endParaRPr lang="en-US" sz="6000" dirty="0"/>
          </a:p>
        </p:txBody>
      </p:sp>
      <p:sp>
        <p:nvSpPr>
          <p:cNvPr id="9" name="Text 7"/>
          <p:cNvSpPr/>
          <p:nvPr/>
        </p:nvSpPr>
        <p:spPr>
          <a:xfrm>
            <a:off x="4707428" y="3281569"/>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14 bar reviewers from putting manuscript text into an AI tool</a:t>
            </a:r>
            <a:endParaRPr lang="en-US" sz="1600" dirty="0"/>
          </a:p>
        </p:txBody>
      </p:sp>
      <p:sp>
        <p:nvSpPr>
          <p:cNvPr id="10" name="Shape 8"/>
          <p:cNvSpPr/>
          <p:nvPr/>
        </p:nvSpPr>
        <p:spPr>
          <a:xfrm>
            <a:off x="7992506" y="2037007"/>
            <a:ext cx="3386672" cy="2402662"/>
          </a:xfrm>
          <a:prstGeom prst="roundRect">
            <a:avLst>
              <a:gd name="adj" fmla="val 4229"/>
            </a:avLst>
          </a:prstGeom>
          <a:solidFill>
            <a:srgbClr val="ECE7DC"/>
          </a:solidFill>
          <a:ln/>
        </p:spPr>
        <p:txBody>
          <a:bodyPr/>
          <a:lstStyle/>
          <a:p>
            <a:endParaRPr lang="en-US"/>
          </a:p>
        </p:txBody>
      </p:sp>
      <p:sp>
        <p:nvSpPr>
          <p:cNvPr id="11" name="Text 9"/>
          <p:cNvSpPr/>
          <p:nvPr/>
        </p:nvSpPr>
        <p:spPr>
          <a:xfrm>
            <a:off x="8297287"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0</a:t>
            </a:r>
            <a:endParaRPr lang="en-US" sz="6000" dirty="0"/>
          </a:p>
        </p:txBody>
      </p:sp>
      <p:sp>
        <p:nvSpPr>
          <p:cNvPr id="12" name="Text 10"/>
          <p:cNvSpPr/>
          <p:nvPr/>
        </p:nvSpPr>
        <p:spPr>
          <a:xfrm>
            <a:off x="8297287" y="3281569"/>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14 set their own reviewer or editor rules. Twelve inherit them from seven publishers.</a:t>
            </a:r>
            <a:endParaRPr lang="en-US" sz="1600" dirty="0"/>
          </a:p>
        </p:txBody>
      </p:sp>
      <p:sp>
        <p:nvSpPr>
          <p:cNvPr id="13" name="Shape 11"/>
          <p:cNvSpPr/>
          <p:nvPr/>
        </p:nvSpPr>
        <p:spPr>
          <a:xfrm>
            <a:off x="831838" y="4693653"/>
            <a:ext cx="0" cy="284440"/>
          </a:xfrm>
          <a:prstGeom prst="line">
            <a:avLst/>
          </a:prstGeom>
          <a:noFill/>
          <a:ln w="38100">
            <a:solidFill>
              <a:srgbClr val="A8461F"/>
            </a:solidFill>
            <a:prstDash val="solid"/>
          </a:ln>
        </p:spPr>
        <p:txBody>
          <a:bodyPr/>
          <a:lstStyle/>
          <a:p>
            <a:endParaRPr lang="en-US"/>
          </a:p>
        </p:txBody>
      </p:sp>
      <p:sp>
        <p:nvSpPr>
          <p:cNvPr id="14" name="Text 12"/>
          <p:cNvSpPr/>
          <p:nvPr/>
        </p:nvSpPr>
        <p:spPr>
          <a:xfrm>
            <a:off x="1052217" y="4693653"/>
            <a:ext cx="10636769"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stated reason is confidentiality, not AI quality. </a:t>
            </a:r>
            <a:r>
              <a:rPr lang="en-US" sz="1600" b="1" dirty="0">
                <a:solidFill>
                  <a:srgbClr val="14213D"/>
                </a:solidFill>
                <a:latin typeface="IBM Plex Sans" pitchFamily="34" charset="0"/>
                <a:ea typeface="IBM Plex Sans" pitchFamily="34" charset="-122"/>
                <a:cs typeface="IBM Plex Sans" pitchFamily="34" charset="-120"/>
              </a:rPr>
              <a:t>Yet publishers already run their own AI on these manuscripts!</a:t>
            </a:r>
            <a:endParaRPr lang="en-US" sz="1600" b="1" dirty="0"/>
          </a:p>
        </p:txBody>
      </p:sp>
      <p:sp>
        <p:nvSpPr>
          <p:cNvPr id="15" name="Text 13"/>
          <p:cNvSpPr/>
          <p:nvPr/>
        </p:nvSpPr>
        <p:spPr>
          <a:xfrm>
            <a:off x="812788" y="623827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36B"/>
                </a:solidFill>
                <a:latin typeface="IBM Plex Sans" pitchFamily="34" charset="0"/>
                <a:ea typeface="IBM Plex Sans" pitchFamily="34" charset="-122"/>
                <a:cs typeface="IBM Plex Sans" pitchFamily="34" charset="-120"/>
              </a:rPr>
              <a:t>Source: Briggs, policy scan of 14 journals (3 NCME, 9 other measurement, 2 comparisons), 4 Oct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1F"/>
                </a:solidFill>
                <a:latin typeface="IBM Plex Sans" pitchFamily="34" charset="0"/>
                <a:ea typeface="IBM Plex Sans" pitchFamily="34" charset="-122"/>
                <a:cs typeface="IBM Plex Sans" pitchFamily="34" charset="-120"/>
              </a:rPr>
              <a:t>THE PROPOSAL</a:t>
            </a:r>
            <a:endParaRPr lang="en-US" sz="1200" dirty="0"/>
          </a:p>
        </p:txBody>
      </p:sp>
      <p:sp>
        <p:nvSpPr>
          <p:cNvPr id="3" name="Text 1"/>
          <p:cNvSpPr>
            <a:spLocks noGrp="1"/>
          </p:cNvSpPr>
          <p:nvPr>
            <p:ph type="title"/>
          </p:nvPr>
        </p:nvSpPr>
        <p:spPr>
          <a:xfrm>
            <a:off x="812788" y="1280111"/>
            <a:ext cx="10883382" cy="528312"/>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Two uses, both run by the journal</a:t>
            </a:r>
            <a:endParaRPr lang="en-US" sz="3600" dirty="0"/>
          </a:p>
        </p:txBody>
      </p:sp>
      <p:sp>
        <p:nvSpPr>
          <p:cNvPr id="4" name="Shape 2"/>
          <p:cNvSpPr/>
          <p:nvPr/>
        </p:nvSpPr>
        <p:spPr>
          <a:xfrm>
            <a:off x="812788" y="2037007"/>
            <a:ext cx="5181582" cy="2986712"/>
          </a:xfrm>
          <a:prstGeom prst="roundRect">
            <a:avLst>
              <a:gd name="adj" fmla="val 3402"/>
            </a:avLst>
          </a:prstGeom>
          <a:solidFill>
            <a:srgbClr val="ECE7DC"/>
          </a:solidFill>
          <a:ln/>
        </p:spPr>
        <p:txBody>
          <a:bodyPr/>
          <a:lstStyle/>
          <a:p>
            <a:endParaRPr lang="en-US"/>
          </a:p>
        </p:txBody>
      </p:sp>
      <p:sp>
        <p:nvSpPr>
          <p:cNvPr id="5" name="Text 3"/>
          <p:cNvSpPr/>
          <p:nvPr/>
        </p:nvSpPr>
        <p:spPr>
          <a:xfrm>
            <a:off x="1117569" y="2341789"/>
            <a:ext cx="1781551" cy="314933"/>
          </a:xfrm>
          <a:prstGeom prst="roundRect">
            <a:avLst>
              <a:gd name="adj" fmla="val 48391"/>
            </a:avLst>
          </a:prstGeom>
          <a:solidFill>
            <a:srgbClr val="14213D"/>
          </a:solidFill>
          <a:ln/>
        </p:spPr>
        <p:txBody>
          <a:bodyPr wrap="none" lIns="0" tIns="0" rIns="0" bIns="0" rtlCol="0" anchor="ctr">
            <a:normAutofit/>
          </a:bodyPr>
          <a:lstStyle/>
          <a:p>
            <a:pPr marL="0" indent="0" algn="ctr">
              <a:lnSpc>
                <a:spcPts val="1680"/>
              </a:lnSpc>
              <a:buNone/>
            </a:pPr>
            <a:r>
              <a:rPr lang="en-US" sz="1200" b="1" kern="0" spc="100" dirty="0">
                <a:solidFill>
                  <a:srgbClr val="F6F3EC"/>
                </a:solidFill>
                <a:latin typeface="IBM Plex Sans" pitchFamily="34" charset="0"/>
                <a:ea typeface="IBM Plex Sans" pitchFamily="34" charset="-122"/>
                <a:cs typeface="IBM Plex Sans" pitchFamily="34" charset="-120"/>
              </a:rPr>
              <a:t>USE 1 · REVIEWER</a:t>
            </a:r>
            <a:endParaRPr lang="en-US" sz="1200" dirty="0"/>
          </a:p>
        </p:txBody>
      </p:sp>
      <p:sp>
        <p:nvSpPr>
          <p:cNvPr id="6" name="Text 4"/>
          <p:cNvSpPr/>
          <p:nvPr/>
        </p:nvSpPr>
        <p:spPr>
          <a:xfrm>
            <a:off x="1117569" y="2783714"/>
            <a:ext cx="4709180" cy="695873"/>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Review first, then audit the AI's review</a:t>
            </a:r>
            <a:endParaRPr lang="en-US" sz="2200" dirty="0"/>
          </a:p>
        </p:txBody>
      </p:sp>
      <p:sp>
        <p:nvSpPr>
          <p:cNvPr id="7" name="Text 5"/>
          <p:cNvSpPr/>
          <p:nvPr/>
        </p:nvSpPr>
        <p:spPr>
          <a:xfrm>
            <a:off x="1146379" y="3581178"/>
            <a:ext cx="4672750" cy="1163159"/>
          </a:xfrm>
          <a:prstGeom prst="rect">
            <a:avLst/>
          </a:prstGeom>
          <a:noFill/>
          <a:ln/>
        </p:spPr>
        <p:txBody>
          <a:bodyPr wrap="square" lIns="0" tIns="0" rIns="0" bIns="0" rtlCol="0" anchor="t">
            <a:normAutofit/>
          </a:bodyPr>
          <a:lstStyle/>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Write an independent review.</a:t>
            </a:r>
            <a:endParaRPr lang="en-US" sz="1600" dirty="0"/>
          </a:p>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Read the journal's AI review of code, math, statistics, and reporting.</a:t>
            </a:r>
            <a:endParaRPr lang="en-US" sz="1600" dirty="0"/>
          </a:p>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Revise or not, and tell the editor which.</a:t>
            </a:r>
            <a:endParaRPr lang="en-US" sz="1600" dirty="0"/>
          </a:p>
        </p:txBody>
      </p:sp>
      <p:sp>
        <p:nvSpPr>
          <p:cNvPr id="8" name="Shape 6"/>
          <p:cNvSpPr/>
          <p:nvPr/>
        </p:nvSpPr>
        <p:spPr>
          <a:xfrm>
            <a:off x="6197557" y="2037007"/>
            <a:ext cx="5181620" cy="2986712"/>
          </a:xfrm>
          <a:prstGeom prst="roundRect">
            <a:avLst>
              <a:gd name="adj" fmla="val 3402"/>
            </a:avLst>
          </a:prstGeom>
          <a:solidFill>
            <a:srgbClr val="ECE7DC"/>
          </a:solidFill>
          <a:ln/>
        </p:spPr>
        <p:txBody>
          <a:bodyPr/>
          <a:lstStyle/>
          <a:p>
            <a:endParaRPr lang="en-US"/>
          </a:p>
        </p:txBody>
      </p:sp>
      <p:sp>
        <p:nvSpPr>
          <p:cNvPr id="9" name="Text 7"/>
          <p:cNvSpPr/>
          <p:nvPr/>
        </p:nvSpPr>
        <p:spPr>
          <a:xfrm>
            <a:off x="6502339" y="2341789"/>
            <a:ext cx="1528510" cy="314933"/>
          </a:xfrm>
          <a:prstGeom prst="roundRect">
            <a:avLst>
              <a:gd name="adj" fmla="val 48391"/>
            </a:avLst>
          </a:prstGeom>
          <a:solidFill>
            <a:srgbClr val="A8461F"/>
          </a:solidFill>
          <a:ln/>
        </p:spPr>
        <p:txBody>
          <a:bodyPr wrap="none" lIns="0" tIns="0" rIns="0" bIns="0" rtlCol="0" anchor="ctr">
            <a:normAutofit/>
          </a:bodyPr>
          <a:lstStyle/>
          <a:p>
            <a:pPr marL="0" indent="0" algn="ctr">
              <a:lnSpc>
                <a:spcPts val="1680"/>
              </a:lnSpc>
              <a:buNone/>
            </a:pPr>
            <a:r>
              <a:rPr lang="en-US" sz="1200" b="1" kern="0" spc="100" dirty="0">
                <a:solidFill>
                  <a:srgbClr val="F6F3EC"/>
                </a:solidFill>
                <a:latin typeface="IBM Plex Sans" pitchFamily="34" charset="0"/>
                <a:ea typeface="IBM Plex Sans" pitchFamily="34" charset="-122"/>
                <a:cs typeface="IBM Plex Sans" pitchFamily="34" charset="-120"/>
              </a:rPr>
              <a:t>USE 2 · EDITOR</a:t>
            </a:r>
            <a:endParaRPr lang="en-US" sz="1200" dirty="0"/>
          </a:p>
        </p:txBody>
      </p:sp>
      <p:sp>
        <p:nvSpPr>
          <p:cNvPr id="10" name="Text 8"/>
          <p:cNvSpPr/>
          <p:nvPr/>
        </p:nvSpPr>
        <p:spPr>
          <a:xfrm>
            <a:off x="6502339" y="2783714"/>
            <a:ext cx="4709219" cy="695873"/>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Ask AI how the human reviews fit together</a:t>
            </a:r>
            <a:endParaRPr lang="en-US" sz="2200" dirty="0"/>
          </a:p>
        </p:txBody>
      </p:sp>
      <p:sp>
        <p:nvSpPr>
          <p:cNvPr id="11" name="Text 9"/>
          <p:cNvSpPr/>
          <p:nvPr/>
        </p:nvSpPr>
        <p:spPr>
          <a:xfrm>
            <a:off x="6531149" y="3581178"/>
            <a:ext cx="4672789" cy="1163159"/>
          </a:xfrm>
          <a:prstGeom prst="rect">
            <a:avLst/>
          </a:prstGeom>
          <a:noFill/>
          <a:ln/>
        </p:spPr>
        <p:txBody>
          <a:bodyPr wrap="square" lIns="0" tIns="0" rIns="0" bIns="0" rtlCol="0" anchor="t">
            <a:normAutofit/>
          </a:bodyPr>
          <a:lstStyle/>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Receive the human reviews.</a:t>
            </a:r>
            <a:endParaRPr lang="en-US" sz="1600" dirty="0"/>
          </a:p>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Ask AI where reviewers agree, conflict, and what no one checked.</a:t>
            </a:r>
            <a:endParaRPr lang="en-US" sz="1600" dirty="0"/>
          </a:p>
          <a:p>
            <a:pPr marL="225189" indent="-225189" algn="l">
              <a:lnSpc>
                <a:spcPts val="2240"/>
              </a:lnSpc>
              <a:buSzPct val="100000"/>
              <a:buFontTx/>
              <a:buAutoNum type="arabicPeriod"/>
            </a:pPr>
            <a:r>
              <a:rPr lang="en-US" sz="1600" dirty="0">
                <a:solidFill>
                  <a:srgbClr val="3D4655"/>
                </a:solidFill>
                <a:latin typeface="IBM Plex Sans" pitchFamily="34" charset="0"/>
                <a:ea typeface="IBM Plex Sans" pitchFamily="34" charset="-122"/>
                <a:cs typeface="IBM Plex Sans" pitchFamily="34" charset="-120"/>
              </a:rPr>
              <a:t>Decide, with the AI report as one input.</a:t>
            </a:r>
            <a:endParaRPr lang="en-US" sz="1600" dirty="0"/>
          </a:p>
        </p:txBody>
      </p:sp>
      <p:sp>
        <p:nvSpPr>
          <p:cNvPr id="12" name="Text 10"/>
          <p:cNvSpPr/>
          <p:nvPr/>
        </p:nvSpPr>
        <p:spPr>
          <a:xfrm>
            <a:off x="812788" y="5277704"/>
            <a:ext cx="10883382"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In both uses, humans still write a review and the editor makes the final decision.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61F"/>
                </a:solidFill>
                <a:latin typeface="IBM Plex Sans" pitchFamily="34" charset="0"/>
                <a:ea typeface="IBM Plex Sans" pitchFamily="34" charset="-122"/>
                <a:cs typeface="IBM Plex Sans" pitchFamily="34" charset="-120"/>
              </a:rPr>
              <a:t>THE EVIDENCE · ICLR 2025 RANDOMIZED TRIAL</a:t>
            </a:r>
            <a:endParaRPr lang="en-US" sz="1200" dirty="0"/>
          </a:p>
        </p:txBody>
      </p:sp>
      <p:sp>
        <p:nvSpPr>
          <p:cNvPr id="3" name="Text 1"/>
          <p:cNvSpPr>
            <a:spLocks noGrp="1"/>
          </p:cNvSpPr>
          <p:nvPr>
            <p:ph type="title"/>
          </p:nvPr>
        </p:nvSpPr>
        <p:spPr>
          <a:xfrm>
            <a:off x="812788" y="1280111"/>
            <a:ext cx="10883382" cy="528312"/>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Reviewers revise after AI feedback</a:t>
            </a:r>
            <a:endParaRPr lang="en-US" sz="3600" dirty="0"/>
          </a:p>
        </p:txBody>
      </p:sp>
      <p:sp>
        <p:nvSpPr>
          <p:cNvPr id="4" name="Shape 2"/>
          <p:cNvSpPr/>
          <p:nvPr/>
        </p:nvSpPr>
        <p:spPr>
          <a:xfrm>
            <a:off x="812788" y="2037007"/>
            <a:ext cx="3386672" cy="2402662"/>
          </a:xfrm>
          <a:prstGeom prst="roundRect">
            <a:avLst>
              <a:gd name="adj" fmla="val 4229"/>
            </a:avLst>
          </a:prstGeom>
          <a:solidFill>
            <a:srgbClr val="ECE7DC"/>
          </a:solidFill>
          <a:ln/>
        </p:spPr>
        <p:txBody>
          <a:bodyPr/>
          <a:lstStyle/>
          <a:p>
            <a:endParaRPr lang="en-US"/>
          </a:p>
        </p:txBody>
      </p:sp>
      <p:sp>
        <p:nvSpPr>
          <p:cNvPr id="5" name="Text 3"/>
          <p:cNvSpPr/>
          <p:nvPr/>
        </p:nvSpPr>
        <p:spPr>
          <a:xfrm>
            <a:off x="1117569"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20K+</a:t>
            </a:r>
            <a:endParaRPr lang="en-US" sz="6000" dirty="0"/>
          </a:p>
        </p:txBody>
      </p:sp>
      <p:sp>
        <p:nvSpPr>
          <p:cNvPr id="6" name="Text 4"/>
          <p:cNvSpPr/>
          <p:nvPr/>
        </p:nvSpPr>
        <p:spPr>
          <a:xfrm>
            <a:off x="1117569" y="3281567"/>
            <a:ext cx="2860422" cy="594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human reviews got optional AI feedback on their drafts</a:t>
            </a:r>
            <a:endParaRPr lang="en-US" sz="1600" dirty="0"/>
          </a:p>
        </p:txBody>
      </p:sp>
      <p:sp>
        <p:nvSpPr>
          <p:cNvPr id="7" name="Shape 5"/>
          <p:cNvSpPr/>
          <p:nvPr/>
        </p:nvSpPr>
        <p:spPr>
          <a:xfrm>
            <a:off x="4402647" y="2037007"/>
            <a:ext cx="3386672" cy="2402662"/>
          </a:xfrm>
          <a:prstGeom prst="roundRect">
            <a:avLst>
              <a:gd name="adj" fmla="val 4229"/>
            </a:avLst>
          </a:prstGeom>
          <a:solidFill>
            <a:srgbClr val="ECE7DC"/>
          </a:solidFill>
          <a:ln/>
        </p:spPr>
        <p:txBody>
          <a:bodyPr/>
          <a:lstStyle/>
          <a:p>
            <a:endParaRPr lang="en-US"/>
          </a:p>
        </p:txBody>
      </p:sp>
      <p:sp>
        <p:nvSpPr>
          <p:cNvPr id="8" name="Text 6"/>
          <p:cNvSpPr/>
          <p:nvPr/>
        </p:nvSpPr>
        <p:spPr>
          <a:xfrm>
            <a:off x="4707428"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27%</a:t>
            </a:r>
            <a:endParaRPr lang="en-US" sz="6000" dirty="0"/>
          </a:p>
        </p:txBody>
      </p:sp>
      <p:sp>
        <p:nvSpPr>
          <p:cNvPr id="9" name="Text 7"/>
          <p:cNvSpPr/>
          <p:nvPr/>
        </p:nvSpPr>
        <p:spPr>
          <a:xfrm>
            <a:off x="4707428" y="3281567"/>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reviewers who got feedback revised, using 12,000+ AI suggestions</a:t>
            </a:r>
            <a:endParaRPr lang="en-US" sz="1600" dirty="0"/>
          </a:p>
        </p:txBody>
      </p:sp>
      <p:sp>
        <p:nvSpPr>
          <p:cNvPr id="10" name="Shape 8"/>
          <p:cNvSpPr/>
          <p:nvPr/>
        </p:nvSpPr>
        <p:spPr>
          <a:xfrm>
            <a:off x="7992506" y="2037007"/>
            <a:ext cx="3386672" cy="2402662"/>
          </a:xfrm>
          <a:prstGeom prst="roundRect">
            <a:avLst>
              <a:gd name="adj" fmla="val 4229"/>
            </a:avLst>
          </a:prstGeom>
          <a:solidFill>
            <a:srgbClr val="ECE7DC"/>
          </a:solidFill>
          <a:ln/>
        </p:spPr>
        <p:txBody>
          <a:bodyPr/>
          <a:lstStyle/>
          <a:p>
            <a:endParaRPr lang="en-US"/>
          </a:p>
        </p:txBody>
      </p:sp>
      <p:sp>
        <p:nvSpPr>
          <p:cNvPr id="11" name="Text 9"/>
          <p:cNvSpPr/>
          <p:nvPr/>
        </p:nvSpPr>
        <p:spPr>
          <a:xfrm>
            <a:off x="8297287" y="2341789"/>
            <a:ext cx="2860422" cy="863586"/>
          </a:xfrm>
          <a:prstGeom prst="rect">
            <a:avLst/>
          </a:prstGeom>
          <a:noFill/>
          <a:ln/>
        </p:spPr>
        <p:txBody>
          <a:bodyPr wrap="square" lIns="0" tIns="0" rIns="0" bIns="0" rtlCol="0" anchor="t">
            <a:normAutofit/>
          </a:bodyPr>
          <a:lstStyle/>
          <a:p>
            <a:pPr marL="0" indent="0" algn="l">
              <a:lnSpc>
                <a:spcPts val="6600"/>
              </a:lnSpc>
              <a:buNone/>
            </a:pPr>
            <a:r>
              <a:rPr lang="en-US" sz="6000" dirty="0">
                <a:solidFill>
                  <a:srgbClr val="14213D"/>
                </a:solidFill>
                <a:latin typeface="Source Serif 4" pitchFamily="18" charset="0"/>
                <a:ea typeface="Source Serif 4" pitchFamily="18" charset="-122"/>
                <a:cs typeface="Source Serif 4" pitchFamily="18" charset="-120"/>
              </a:rPr>
              <a:t>2/3</a:t>
            </a:r>
            <a:endParaRPr lang="en-US" sz="6000" dirty="0"/>
          </a:p>
        </p:txBody>
      </p:sp>
      <p:sp>
        <p:nvSpPr>
          <p:cNvPr id="12" name="Text 10"/>
          <p:cNvSpPr/>
          <p:nvPr/>
        </p:nvSpPr>
        <p:spPr>
          <a:xfrm>
            <a:off x="8297287" y="3281567"/>
            <a:ext cx="2860422"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5"/>
                </a:solidFill>
                <a:latin typeface="IBM Plex Sans" pitchFamily="34" charset="0"/>
                <a:ea typeface="IBM Plex Sans" pitchFamily="34" charset="-122"/>
                <a:cs typeface="IBM Plex Sans" pitchFamily="34" charset="-120"/>
              </a:rPr>
              <a:t>of revised reviews were judged better by an independent panel</a:t>
            </a:r>
            <a:endParaRPr lang="en-US" sz="1600" dirty="0"/>
          </a:p>
        </p:txBody>
      </p:sp>
      <p:sp>
        <p:nvSpPr>
          <p:cNvPr id="13" name="Shape 11"/>
          <p:cNvSpPr/>
          <p:nvPr/>
        </p:nvSpPr>
        <p:spPr>
          <a:xfrm>
            <a:off x="831838" y="4693651"/>
            <a:ext cx="0" cy="568880"/>
          </a:xfrm>
          <a:prstGeom prst="line">
            <a:avLst/>
          </a:prstGeom>
          <a:noFill/>
          <a:ln w="38100">
            <a:solidFill>
              <a:srgbClr val="A8461F"/>
            </a:solidFill>
            <a:prstDash val="solid"/>
          </a:ln>
        </p:spPr>
        <p:txBody>
          <a:bodyPr/>
          <a:lstStyle/>
          <a:p>
            <a:endParaRPr lang="en-US"/>
          </a:p>
        </p:txBody>
      </p:sp>
      <p:sp>
        <p:nvSpPr>
          <p:cNvPr id="14" name="Text 12"/>
          <p:cNvSpPr/>
          <p:nvPr/>
        </p:nvSpPr>
        <p:spPr>
          <a:xfrm>
            <a:off x="1052217" y="4693651"/>
            <a:ext cx="10636769" cy="594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Caveat: the AI commented on reviewers' drafts, not the manuscript. At AAAI-26, all 22,977 main-track papers got an AI review in under 24 hours, at about $1 each; it was weakest on novelty and significance.</a:t>
            </a:r>
            <a:endParaRPr lang="en-US" sz="1600" dirty="0"/>
          </a:p>
        </p:txBody>
      </p:sp>
      <p:sp>
        <p:nvSpPr>
          <p:cNvPr id="15" name="Text 13"/>
          <p:cNvSpPr/>
          <p:nvPr/>
        </p:nvSpPr>
        <p:spPr>
          <a:xfrm>
            <a:off x="812788" y="6238277"/>
            <a:ext cx="10883382" cy="2387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36B"/>
                </a:solidFill>
                <a:latin typeface="IBM Plex Sans" pitchFamily="34" charset="0"/>
                <a:ea typeface="IBM Plex Sans" pitchFamily="34" charset="-122"/>
                <a:cs typeface="IBM Plex Sans" pitchFamily="34" charset="-120"/>
              </a:rPr>
              <a:t>Sources: Thakkar et al. 2025; Nature Machine Intelligence 2026, via Science; AAAI-26 pilot report, 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UNRESOLVED</a:t>
            </a:r>
            <a:endParaRPr lang="en-US" sz="1200" dirty="0"/>
          </a:p>
        </p:txBody>
      </p:sp>
      <p:sp>
        <p:nvSpPr>
          <p:cNvPr id="3" name="Text 1"/>
          <p:cNvSpPr>
            <a:spLocks noGrp="1"/>
          </p:cNvSpPr>
          <p:nvPr>
            <p:ph type="title"/>
          </p:nvPr>
        </p:nvSpPr>
        <p:spPr>
          <a:xfrm>
            <a:off x="812788" y="1280111"/>
            <a:ext cx="10883382" cy="863586"/>
          </a:xfrm>
          <a:prstGeom prst="rect">
            <a:avLst/>
          </a:prstGeom>
          <a:noFill/>
          <a:ln/>
        </p:spPr>
        <p:txBody>
          <a:bodyPr wrap="square" lIns="0" tIns="0" rIns="0" bIns="0" rtlCol="0" anchor="t">
            <a:normAutofit/>
          </a:bodyPr>
          <a:lstStyle/>
          <a:p>
            <a:pPr marL="0" indent="0" algn="l">
              <a:lnSpc>
                <a:spcPts val="6600"/>
              </a:lnSpc>
              <a:buNone/>
            </a:pPr>
            <a:r>
              <a:rPr lang="en-US" sz="6000" b="0" i="0" dirty="0">
                <a:solidFill>
                  <a:srgbClr val="F6F3EC"/>
                </a:solidFill>
                <a:latin typeface="Source Serif 4" pitchFamily="18" charset="0"/>
                <a:ea typeface="Source Serif 4" pitchFamily="18" charset="-122"/>
                <a:cs typeface="Source Serif 4" pitchFamily="18" charset="-120"/>
              </a:rPr>
              <a:t>Whose judgment is it?</a:t>
            </a:r>
            <a:endParaRPr lang="en-US" sz="6000" dirty="0"/>
          </a:p>
        </p:txBody>
      </p:sp>
      <p:sp>
        <p:nvSpPr>
          <p:cNvPr id="4" name="Shape 2"/>
          <p:cNvSpPr/>
          <p:nvPr/>
        </p:nvSpPr>
        <p:spPr>
          <a:xfrm>
            <a:off x="812788" y="2381808"/>
            <a:ext cx="5079989" cy="0"/>
          </a:xfrm>
          <a:prstGeom prst="line">
            <a:avLst/>
          </a:prstGeom>
          <a:noFill/>
          <a:ln w="19050">
            <a:solidFill>
              <a:srgbClr val="F2A65A"/>
            </a:solidFill>
            <a:prstDash val="solid"/>
          </a:ln>
        </p:spPr>
        <p:txBody>
          <a:bodyPr/>
          <a:lstStyle/>
          <a:p>
            <a:endParaRPr lang="en-US"/>
          </a:p>
        </p:txBody>
      </p:sp>
      <p:sp>
        <p:nvSpPr>
          <p:cNvPr id="5" name="Text 3"/>
          <p:cNvSpPr/>
          <p:nvPr/>
        </p:nvSpPr>
        <p:spPr>
          <a:xfrm>
            <a:off x="812788" y="2592378"/>
            <a:ext cx="5232388" cy="36063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3EC"/>
                </a:solidFill>
                <a:latin typeface="IBM Plex Sans" pitchFamily="34" charset="0"/>
                <a:ea typeface="IBM Plex Sans" pitchFamily="34" charset="-122"/>
                <a:cs typeface="IBM Plex Sans" pitchFamily="34" charset="-120"/>
              </a:rPr>
              <a:t>Accountability</a:t>
            </a:r>
            <a:endParaRPr lang="en-US" sz="2200" dirty="0"/>
          </a:p>
        </p:txBody>
      </p:sp>
      <p:sp>
        <p:nvSpPr>
          <p:cNvPr id="6" name="Text 4"/>
          <p:cNvSpPr/>
          <p:nvPr/>
        </p:nvSpPr>
        <p:spPr>
          <a:xfrm>
            <a:off x="812788" y="3029207"/>
            <a:ext cx="5232388"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When a reviewer revises after reading the AI's critique, who answers for the review? No journal policy in our field covers a review the journal itself supplies.</a:t>
            </a:r>
            <a:endParaRPr lang="en-US" sz="1600" dirty="0"/>
          </a:p>
        </p:txBody>
      </p:sp>
      <p:sp>
        <p:nvSpPr>
          <p:cNvPr id="7" name="Shape 5"/>
          <p:cNvSpPr/>
          <p:nvPr/>
        </p:nvSpPr>
        <p:spPr>
          <a:xfrm>
            <a:off x="6299151" y="2381808"/>
            <a:ext cx="5080026" cy="0"/>
          </a:xfrm>
          <a:prstGeom prst="line">
            <a:avLst/>
          </a:prstGeom>
          <a:noFill/>
          <a:ln w="19050">
            <a:solidFill>
              <a:srgbClr val="F2A65A"/>
            </a:solidFill>
            <a:prstDash val="solid"/>
          </a:ln>
        </p:spPr>
        <p:txBody>
          <a:bodyPr/>
          <a:lstStyle/>
          <a:p>
            <a:endParaRPr lang="en-US"/>
          </a:p>
        </p:txBody>
      </p:sp>
      <p:sp>
        <p:nvSpPr>
          <p:cNvPr id="8" name="Text 6"/>
          <p:cNvSpPr/>
          <p:nvPr/>
        </p:nvSpPr>
        <p:spPr>
          <a:xfrm>
            <a:off x="6299151" y="2592378"/>
            <a:ext cx="5232427" cy="36063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3EC"/>
                </a:solidFill>
                <a:latin typeface="IBM Plex Sans" pitchFamily="34" charset="0"/>
                <a:ea typeface="IBM Plex Sans" pitchFamily="34" charset="-122"/>
                <a:cs typeface="IBM Plex Sans" pitchFamily="34" charset="-120"/>
              </a:rPr>
              <a:t>Independence</a:t>
            </a:r>
            <a:endParaRPr lang="en-US" sz="2200" dirty="0"/>
          </a:p>
        </p:txBody>
      </p:sp>
      <p:sp>
        <p:nvSpPr>
          <p:cNvPr id="9" name="Text 7"/>
          <p:cNvSpPr/>
          <p:nvPr/>
        </p:nvSpPr>
        <p:spPr>
          <a:xfrm>
            <a:off x="6299151" y="3029207"/>
            <a:ext cx="5232427" cy="8787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If every reviewer reads the same AI review, the reviews are no longer independent ratings. The editor may see more agreement but have less evidence.</a:t>
            </a:r>
            <a:endParaRPr lang="en-US" sz="1600" dirty="0"/>
          </a:p>
        </p:txBody>
      </p:sp>
      <p:sp>
        <p:nvSpPr>
          <p:cNvPr id="10" name="Text 8"/>
          <p:cNvSpPr/>
          <p:nvPr/>
        </p:nvSpPr>
        <p:spPr>
          <a:xfrm>
            <a:off x="812788" y="5476326"/>
            <a:ext cx="10883382" cy="594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3EC"/>
                </a:solidFill>
                <a:latin typeface="IBM Plex Sans" pitchFamily="34" charset="0"/>
                <a:ea typeface="IBM Plex Sans" pitchFamily="34" charset="-122"/>
                <a:cs typeface="IBM Plex Sans" pitchFamily="34" charset="-120"/>
              </a:rPr>
              <a:t>Precedent: COPE and NCME let a reviewer bring in a colleague if the journal knows who helped. Does that rule extend to AI?</a:t>
            </a:r>
            <a:endParaRPr lang="en-US" sz="1600" dirty="0"/>
          </a:p>
        </p:txBody>
      </p:sp>
    </p:spTree>
  </p:cSld>
  <p:clrMapOvr>
    <a:masterClrMapping/>
  </p:clrMapOvr>
</p:sld>
</file>

<file path=ppt/theme/theme1.xml><?xml version="1.0" encoding="utf-8"?>
<a:theme xmlns:a="http://schemas.openxmlformats.org/drawingml/2006/main" name="AI in Peer Review: Provocation">
  <a:themeElements>
    <a:clrScheme name="AI in Peer Review: Provocation">
      <a:dk1>
        <a:srgbClr val="14213D"/>
      </a:dk1>
      <a:lt1>
        <a:srgbClr val="F6F3EC"/>
      </a:lt1>
      <a:dk2>
        <a:srgbClr val="4D5669"/>
      </a:dk2>
      <a:lt2>
        <a:srgbClr val="DFDEDB"/>
      </a:lt2>
      <a:accent1>
        <a:srgbClr val="A8461F"/>
      </a:accent1>
      <a:accent2>
        <a:srgbClr val="F2A65A"/>
      </a:accent2>
      <a:accent3>
        <a:srgbClr val="3D4655"/>
      </a:accent3>
      <a:accent4>
        <a:srgbClr val="C9D3E3"/>
      </a:accent4>
      <a:accent5>
        <a:srgbClr val="5F636B"/>
      </a:accent5>
      <a:accent6>
        <a:srgbClr val="9AA0A6"/>
      </a:accent6>
      <a:hlink>
        <a:srgbClr val="0563C1"/>
      </a:hlink>
      <a:folHlink>
        <a:srgbClr val="954F72"/>
      </a:folHlink>
    </a:clrScheme>
    <a:fontScheme name="AI in Peer Review: Provoca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TotalTime>
  <Words>1283</Words>
  <Application>Microsoft Macintosh PowerPoint</Application>
  <PresentationFormat>Widescreen</PresentationFormat>
  <Paragraphs>66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IBM Plex Sans</vt:lpstr>
      <vt:lpstr>Source Serif 4</vt:lpstr>
      <vt:lpstr>AI in Peer Review: Provocation</vt:lpstr>
      <vt:lpstr>Peer review should use AI twice!</vt:lpstr>
      <vt:lpstr>Peer review was strained well before generative AI</vt:lpstr>
      <vt:lpstr>No journal sets its own reviewer rules</vt:lpstr>
      <vt:lpstr>Two uses, both run by the journal</vt:lpstr>
      <vt:lpstr>Reviewers revise after AI feedback</vt:lpstr>
      <vt:lpstr>Whose judgment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Peer Review: Provocation</dc:title>
  <dc:subject/>
  <dc:creator/>
  <cp:lastModifiedBy>Derek Briggs</cp:lastModifiedBy>
  <cp:revision>2</cp:revision>
  <dcterms:created xsi:type="dcterms:W3CDTF">2026-10-04T21:07:43Z</dcterms:created>
  <dcterms:modified xsi:type="dcterms:W3CDTF">2026-10-05T02:47:02Z</dcterms:modified>
</cp:coreProperties>
</file>