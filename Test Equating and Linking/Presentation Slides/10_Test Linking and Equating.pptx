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0"/>
  </p:notesMasterIdLst>
  <p:sldIdLst>
    <p:sldId id="256" r:id="rId2"/>
    <p:sldId id="326" r:id="rId3"/>
    <p:sldId id="327" r:id="rId4"/>
    <p:sldId id="330" r:id="rId5"/>
    <p:sldId id="328" r:id="rId6"/>
    <p:sldId id="331" r:id="rId7"/>
    <p:sldId id="274" r:id="rId8"/>
    <p:sldId id="332" r:id="rId9"/>
    <p:sldId id="267" r:id="rId10"/>
    <p:sldId id="333" r:id="rId11"/>
    <p:sldId id="334" r:id="rId12"/>
    <p:sldId id="335" r:id="rId13"/>
    <p:sldId id="337" r:id="rId14"/>
    <p:sldId id="336" r:id="rId15"/>
    <p:sldId id="278" r:id="rId16"/>
    <p:sldId id="287" r:id="rId17"/>
    <p:sldId id="302" r:id="rId18"/>
    <p:sldId id="338" r:id="rId19"/>
    <p:sldId id="280" r:id="rId20"/>
    <p:sldId id="281" r:id="rId21"/>
    <p:sldId id="282" r:id="rId22"/>
    <p:sldId id="324" r:id="rId23"/>
    <p:sldId id="304" r:id="rId24"/>
    <p:sldId id="322" r:id="rId25"/>
    <p:sldId id="308" r:id="rId26"/>
    <p:sldId id="309" r:id="rId27"/>
    <p:sldId id="307" r:id="rId28"/>
    <p:sldId id="303" r:id="rId29"/>
    <p:sldId id="323" r:id="rId30"/>
    <p:sldId id="340" r:id="rId31"/>
    <p:sldId id="301" r:id="rId32"/>
    <p:sldId id="320" r:id="rId33"/>
    <p:sldId id="342" r:id="rId34"/>
    <p:sldId id="346" r:id="rId35"/>
    <p:sldId id="344" r:id="rId36"/>
    <p:sldId id="345" r:id="rId37"/>
    <p:sldId id="270" r:id="rId38"/>
    <p:sldId id="261" r:id="rId39"/>
    <p:sldId id="259" r:id="rId40"/>
    <p:sldId id="263" r:id="rId41"/>
    <p:sldId id="271" r:id="rId42"/>
    <p:sldId id="343" r:id="rId43"/>
    <p:sldId id="317" r:id="rId44"/>
    <p:sldId id="318" r:id="rId45"/>
    <p:sldId id="285" r:id="rId46"/>
    <p:sldId id="319" r:id="rId47"/>
    <p:sldId id="341" r:id="rId48"/>
    <p:sldId id="347" r:id="rId49"/>
  </p:sldIdLst>
  <p:sldSz cx="12192000" cy="6858000"/>
  <p:notesSz cx="6858000" cy="9144000"/>
  <p:defaultTextStyle>
    <a:defPPr>
      <a:defRPr lang="en-US"/>
    </a:defPPr>
    <a:lvl1pPr algn="l" rtl="0" fontAlgn="base">
      <a:spcBef>
        <a:spcPct val="0"/>
      </a:spcBef>
      <a:spcAft>
        <a:spcPct val="0"/>
      </a:spcAft>
      <a:defRPr kern="1200">
        <a:solidFill>
          <a:schemeClr val="tx1"/>
        </a:solidFill>
        <a:latin typeface="Arial" charset="0"/>
        <a:ea typeface="ＭＳ Ｐゴシック" charset="0"/>
        <a:cs typeface="ＭＳ Ｐゴシック" charset="0"/>
      </a:defRPr>
    </a:lvl1pPr>
    <a:lvl2pPr marL="457200" algn="l" rtl="0" fontAlgn="base">
      <a:spcBef>
        <a:spcPct val="0"/>
      </a:spcBef>
      <a:spcAft>
        <a:spcPct val="0"/>
      </a:spcAft>
      <a:defRPr kern="1200">
        <a:solidFill>
          <a:schemeClr val="tx1"/>
        </a:solidFill>
        <a:latin typeface="Arial" charset="0"/>
        <a:ea typeface="ＭＳ Ｐゴシック" charset="0"/>
        <a:cs typeface="ＭＳ Ｐゴシック" charset="0"/>
      </a:defRPr>
    </a:lvl2pPr>
    <a:lvl3pPr marL="914400" algn="l" rtl="0" fontAlgn="base">
      <a:spcBef>
        <a:spcPct val="0"/>
      </a:spcBef>
      <a:spcAft>
        <a:spcPct val="0"/>
      </a:spcAft>
      <a:defRPr kern="1200">
        <a:solidFill>
          <a:schemeClr val="tx1"/>
        </a:solidFill>
        <a:latin typeface="Arial" charset="0"/>
        <a:ea typeface="ＭＳ Ｐゴシック" charset="0"/>
        <a:cs typeface="ＭＳ Ｐゴシック" charset="0"/>
      </a:defRPr>
    </a:lvl3pPr>
    <a:lvl4pPr marL="1371600" algn="l" rtl="0" fontAlgn="base">
      <a:spcBef>
        <a:spcPct val="0"/>
      </a:spcBef>
      <a:spcAft>
        <a:spcPct val="0"/>
      </a:spcAft>
      <a:defRPr kern="1200">
        <a:solidFill>
          <a:schemeClr val="tx1"/>
        </a:solidFill>
        <a:latin typeface="Arial" charset="0"/>
        <a:ea typeface="ＭＳ Ｐゴシック" charset="0"/>
        <a:cs typeface="ＭＳ Ｐゴシック" charset="0"/>
      </a:defRPr>
    </a:lvl4pPr>
    <a:lvl5pPr marL="1828800" algn="l" rtl="0" fontAlgn="base">
      <a:spcBef>
        <a:spcPct val="0"/>
      </a:spcBef>
      <a:spcAft>
        <a:spcPct val="0"/>
      </a:spcAft>
      <a:defRPr kern="1200">
        <a:solidFill>
          <a:schemeClr val="tx1"/>
        </a:solidFill>
        <a:latin typeface="Arial" charset="0"/>
        <a:ea typeface="ＭＳ Ｐゴシック" charset="0"/>
        <a:cs typeface="ＭＳ Ｐゴシック" charset="0"/>
      </a:defRPr>
    </a:lvl5pPr>
    <a:lvl6pPr marL="2286000" algn="l" defTabSz="457200" rtl="0" eaLnBrk="1" latinLnBrk="0" hangingPunct="1">
      <a:defRPr kern="1200">
        <a:solidFill>
          <a:schemeClr val="tx1"/>
        </a:solidFill>
        <a:latin typeface="Arial" charset="0"/>
        <a:ea typeface="ＭＳ Ｐゴシック" charset="0"/>
        <a:cs typeface="ＭＳ Ｐゴシック" charset="0"/>
      </a:defRPr>
    </a:lvl6pPr>
    <a:lvl7pPr marL="2743200" algn="l" defTabSz="457200" rtl="0" eaLnBrk="1" latinLnBrk="0" hangingPunct="1">
      <a:defRPr kern="1200">
        <a:solidFill>
          <a:schemeClr val="tx1"/>
        </a:solidFill>
        <a:latin typeface="Arial" charset="0"/>
        <a:ea typeface="ＭＳ Ｐゴシック" charset="0"/>
        <a:cs typeface="ＭＳ Ｐゴシック" charset="0"/>
      </a:defRPr>
    </a:lvl7pPr>
    <a:lvl8pPr marL="3200400" algn="l" defTabSz="457200" rtl="0" eaLnBrk="1" latinLnBrk="0" hangingPunct="1">
      <a:defRPr kern="1200">
        <a:solidFill>
          <a:schemeClr val="tx1"/>
        </a:solidFill>
        <a:latin typeface="Arial" charset="0"/>
        <a:ea typeface="ＭＳ Ｐゴシック" charset="0"/>
        <a:cs typeface="ＭＳ Ｐゴシック" charset="0"/>
      </a:defRPr>
    </a:lvl8pPr>
    <a:lvl9pPr marL="3657600" algn="l" defTabSz="457200" rtl="0" eaLnBrk="1" latinLnBrk="0" hangingPunct="1">
      <a:defRPr kern="1200">
        <a:solidFill>
          <a:schemeClr val="tx1"/>
        </a:solidFill>
        <a:latin typeface="Arial"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248"/>
    <p:restoredTop sz="92740"/>
  </p:normalViewPr>
  <p:slideViewPr>
    <p:cSldViewPr>
      <p:cViewPr varScale="1">
        <p:scale>
          <a:sx n="117" d="100"/>
          <a:sy n="117" d="100"/>
        </p:scale>
        <p:origin x="672" y="184"/>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dirty="0" smtClean="0">
                <a:cs typeface="Arial" charset="0"/>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smtClean="0">
                <a:cs typeface="Arial" charset="0"/>
              </a:defRPr>
            </a:lvl1pPr>
          </a:lstStyle>
          <a:p>
            <a:pPr>
              <a:defRPr/>
            </a:pPr>
            <a:fld id="{2D42CA6D-2841-F847-BFF6-72B15CD2A233}" type="datetimeFigureOut">
              <a:rPr lang="en-US"/>
              <a:pPr>
                <a:defRPr/>
              </a:pPr>
              <a:t>3/22/26</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dirty="0" smtClean="0">
                <a:cs typeface="Arial" charset="0"/>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smtClean="0">
                <a:cs typeface="Arial" charset="0"/>
              </a:defRPr>
            </a:lvl1pPr>
          </a:lstStyle>
          <a:p>
            <a:pPr>
              <a:defRPr/>
            </a:pPr>
            <a:fld id="{7C6651C5-911E-204D-A803-3E0365185261}" type="slidenum">
              <a:rPr lang="en-US"/>
              <a:pPr>
                <a:defRPr/>
              </a:pPr>
              <a:t>‹#›</a:t>
            </a:fld>
            <a:endParaRPr lang="en-US" dirty="0"/>
          </a:p>
        </p:txBody>
      </p:sp>
    </p:spTree>
    <p:extLst>
      <p:ext uri="{BB962C8B-B14F-4D97-AF65-F5344CB8AC3E}">
        <p14:creationId xmlns:p14="http://schemas.microsoft.com/office/powerpoint/2010/main" val="3620041968"/>
      </p:ext>
    </p:extLst>
  </p:cSld>
  <p:clrMap bg1="lt1" tx1="dk1" bg2="lt2" tx2="dk2" accent1="accent1" accent2="accent2" accent3="accent3" accent4="accent4" accent5="accent5" accent6="accent6" hlink="hlink" folHlink="folHlink"/>
  <p:notesStyle>
    <a:lvl1pPr algn="l" defTabSz="457200" rtl="0" fontAlgn="base">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fontAlgn="base">
      <a:spcBef>
        <a:spcPct val="30000"/>
      </a:spcBef>
      <a:spcAft>
        <a:spcPct val="0"/>
      </a:spcAft>
      <a:defRPr sz="1200" kern="1200">
        <a:solidFill>
          <a:schemeClr val="tx1"/>
        </a:solidFill>
        <a:latin typeface="+mn-lt"/>
        <a:ea typeface="ＭＳ Ｐゴシック" charset="0"/>
        <a:cs typeface="+mn-cs"/>
      </a:defRPr>
    </a:lvl2pPr>
    <a:lvl3pPr marL="914400" algn="l" defTabSz="457200" rtl="0" fontAlgn="base">
      <a:spcBef>
        <a:spcPct val="30000"/>
      </a:spcBef>
      <a:spcAft>
        <a:spcPct val="0"/>
      </a:spcAft>
      <a:defRPr sz="1200" kern="1200">
        <a:solidFill>
          <a:schemeClr val="tx1"/>
        </a:solidFill>
        <a:latin typeface="+mn-lt"/>
        <a:ea typeface="ＭＳ Ｐゴシック" charset="0"/>
        <a:cs typeface="+mn-cs"/>
      </a:defRPr>
    </a:lvl3pPr>
    <a:lvl4pPr marL="1371600" algn="l" defTabSz="457200" rtl="0" fontAlgn="base">
      <a:spcBef>
        <a:spcPct val="30000"/>
      </a:spcBef>
      <a:spcAft>
        <a:spcPct val="0"/>
      </a:spcAft>
      <a:defRPr sz="1200" kern="1200">
        <a:solidFill>
          <a:schemeClr val="tx1"/>
        </a:solidFill>
        <a:latin typeface="+mn-lt"/>
        <a:ea typeface="ＭＳ Ｐゴシック" charset="0"/>
        <a:cs typeface="+mn-cs"/>
      </a:defRPr>
    </a:lvl4pPr>
    <a:lvl5pPr marL="1828800" algn="l" defTabSz="457200" rtl="0" fontAlgn="base">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7C6651C5-911E-204D-A803-3E0365185261}" type="slidenum">
              <a:rPr lang="en-US"/>
              <a:pPr>
                <a:defRPr/>
              </a:pPr>
              <a:t>23</a:t>
            </a:fld>
            <a:endParaRPr lang="en-US" dirty="0"/>
          </a:p>
        </p:txBody>
      </p:sp>
    </p:spTree>
    <p:extLst>
      <p:ext uri="{BB962C8B-B14F-4D97-AF65-F5344CB8AC3E}">
        <p14:creationId xmlns:p14="http://schemas.microsoft.com/office/powerpoint/2010/main" val="3667565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9168C223-B883-FE40-951B-ED6CB2C95FC8}" type="datetime1">
              <a:t>3/22/26</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28D21B7F-3BAF-134B-97C7-31F48765E398}" type="slidenum">
              <a:rPr lang="en-US"/>
              <a:pPr>
                <a:defRPr/>
              </a:pPr>
              <a:t>‹#›</a:t>
            </a:fld>
            <a:endParaRPr lang="en-US" dirty="0"/>
          </a:p>
        </p:txBody>
      </p:sp>
    </p:spTree>
    <p:extLst>
      <p:ext uri="{BB962C8B-B14F-4D97-AF65-F5344CB8AC3E}">
        <p14:creationId xmlns:p14="http://schemas.microsoft.com/office/powerpoint/2010/main" val="17653336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CFBA85A1-4712-3D4C-A033-D9C99E74A574}" type="datetime1">
              <a:t>3/22/26</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EC183674-A9ED-404F-B1CE-2FB45E89D5F6}" type="slidenum">
              <a:rPr lang="en-US"/>
              <a:pPr>
                <a:defRPr/>
              </a:pPr>
              <a:t>‹#›</a:t>
            </a:fld>
            <a:endParaRPr lang="en-US" dirty="0"/>
          </a:p>
        </p:txBody>
      </p:sp>
    </p:spTree>
    <p:extLst>
      <p:ext uri="{BB962C8B-B14F-4D97-AF65-F5344CB8AC3E}">
        <p14:creationId xmlns:p14="http://schemas.microsoft.com/office/powerpoint/2010/main" val="24952629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7128CFC9-AC30-6A4F-8854-97038A084B18}" type="datetime1">
              <a:t>3/22/26</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46BC15D5-FCAA-E54D-9ACD-F075D50176A4}" type="slidenum">
              <a:rPr lang="en-US"/>
              <a:pPr>
                <a:defRPr/>
              </a:pPr>
              <a:t>‹#›</a:t>
            </a:fld>
            <a:endParaRPr lang="en-US" dirty="0"/>
          </a:p>
        </p:txBody>
      </p:sp>
    </p:spTree>
    <p:extLst>
      <p:ext uri="{BB962C8B-B14F-4D97-AF65-F5344CB8AC3E}">
        <p14:creationId xmlns:p14="http://schemas.microsoft.com/office/powerpoint/2010/main" val="42276839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FC1E79AA-A086-694A-BA43-4EC5336F6669}" type="datetime1">
              <a:t>3/22/26</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4E532A15-3E20-B04D-856F-8E471AA6526C}" type="slidenum">
              <a:rPr lang="en-US"/>
              <a:pPr>
                <a:defRPr/>
              </a:pPr>
              <a:t>‹#›</a:t>
            </a:fld>
            <a:endParaRPr lang="en-US" dirty="0"/>
          </a:p>
        </p:txBody>
      </p:sp>
    </p:spTree>
    <p:extLst>
      <p:ext uri="{BB962C8B-B14F-4D97-AF65-F5344CB8AC3E}">
        <p14:creationId xmlns:p14="http://schemas.microsoft.com/office/powerpoint/2010/main" val="12286108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1B9AA4AC-43B3-5B47-BE84-470FF3D5B6E7}" type="datetime1">
              <a:t>3/22/26</a:t>
            </a:fld>
            <a:endParaRPr lang="en-US" dirty="0"/>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4F6AACBA-A213-0C42-8673-7905D7EABCC8}" type="slidenum">
              <a:rPr lang="en-US"/>
              <a:pPr>
                <a:defRPr/>
              </a:pPr>
              <a:t>‹#›</a:t>
            </a:fld>
            <a:endParaRPr lang="en-US" dirty="0"/>
          </a:p>
        </p:txBody>
      </p:sp>
    </p:spTree>
    <p:extLst>
      <p:ext uri="{BB962C8B-B14F-4D97-AF65-F5344CB8AC3E}">
        <p14:creationId xmlns:p14="http://schemas.microsoft.com/office/powerpoint/2010/main" val="36262024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574690FA-C927-E646-9728-842422D7C064}" type="datetime1">
              <a:t>3/22/26</a:t>
            </a:fld>
            <a:endParaRPr lang="en-US" dirty="0"/>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4BFC3609-DA9D-1843-A2F0-390667108820}" type="slidenum">
              <a:rPr lang="en-US"/>
              <a:pPr>
                <a:defRPr/>
              </a:pPr>
              <a:t>‹#›</a:t>
            </a:fld>
            <a:endParaRPr lang="en-US" dirty="0"/>
          </a:p>
        </p:txBody>
      </p:sp>
    </p:spTree>
    <p:extLst>
      <p:ext uri="{BB962C8B-B14F-4D97-AF65-F5344CB8AC3E}">
        <p14:creationId xmlns:p14="http://schemas.microsoft.com/office/powerpoint/2010/main" val="28103320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BA27765E-48D0-9346-8B15-839142264AC3}" type="datetime1">
              <a:t>3/22/26</a:t>
            </a:fld>
            <a:endParaRPr lang="en-US" dirty="0"/>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C312B7D6-AC34-7D41-8912-F5064E5072B8}" type="slidenum">
              <a:rPr lang="en-US"/>
              <a:pPr>
                <a:defRPr/>
              </a:pPr>
              <a:t>‹#›</a:t>
            </a:fld>
            <a:endParaRPr lang="en-US" dirty="0"/>
          </a:p>
        </p:txBody>
      </p:sp>
    </p:spTree>
    <p:extLst>
      <p:ext uri="{BB962C8B-B14F-4D97-AF65-F5344CB8AC3E}">
        <p14:creationId xmlns:p14="http://schemas.microsoft.com/office/powerpoint/2010/main" val="21884153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33770CF6-6CAA-2541-A2E9-9C220FB68C3A}" type="datetime1">
              <a:t>3/22/26</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3A34BCCA-1DB3-9B4B-B9D1-FBDAE233E321}" type="slidenum">
              <a:rPr lang="en-US"/>
              <a:pPr>
                <a:defRPr/>
              </a:pPr>
              <a:t>‹#›</a:t>
            </a:fld>
            <a:endParaRPr lang="en-US" dirty="0"/>
          </a:p>
        </p:txBody>
      </p:sp>
    </p:spTree>
    <p:extLst>
      <p:ext uri="{BB962C8B-B14F-4D97-AF65-F5344CB8AC3E}">
        <p14:creationId xmlns:p14="http://schemas.microsoft.com/office/powerpoint/2010/main" val="6364944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6E825F07-4F9D-5648-8D9E-66404F197E44}" type="datetime1">
              <a:t>3/22/26</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16D56453-F01E-D949-A287-092E59BFB597}" type="slidenum">
              <a:rPr lang="en-US"/>
              <a:pPr>
                <a:defRPr/>
              </a:pPr>
              <a:t>‹#›</a:t>
            </a:fld>
            <a:endParaRPr lang="en-US" dirty="0"/>
          </a:p>
        </p:txBody>
      </p:sp>
    </p:spTree>
    <p:extLst>
      <p:ext uri="{BB962C8B-B14F-4D97-AF65-F5344CB8AC3E}">
        <p14:creationId xmlns:p14="http://schemas.microsoft.com/office/powerpoint/2010/main" val="10432848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07CD63EB-695A-1C40-8421-1DA21510ED3E}" type="datetime1">
              <a:t>3/22/26</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A334FCF8-8BD1-604A-843B-ED119B099055}" type="slidenum">
              <a:rPr lang="en-US"/>
              <a:pPr>
                <a:defRPr/>
              </a:pPr>
              <a:t>‹#›</a:t>
            </a:fld>
            <a:endParaRPr lang="en-US" dirty="0"/>
          </a:p>
        </p:txBody>
      </p:sp>
    </p:spTree>
    <p:extLst>
      <p:ext uri="{BB962C8B-B14F-4D97-AF65-F5344CB8AC3E}">
        <p14:creationId xmlns:p14="http://schemas.microsoft.com/office/powerpoint/2010/main" val="42728321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7A7FB5B8-16CD-674A-9610-5D2608AD1D2D}" type="datetime1">
              <a:t>3/22/26</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973DACF9-CB27-4249-8227-6594687A764D}" type="slidenum">
              <a:rPr lang="en-US"/>
              <a:pPr>
                <a:defRPr/>
              </a:pPr>
              <a:t>‹#›</a:t>
            </a:fld>
            <a:endParaRPr lang="en-US" dirty="0"/>
          </a:p>
        </p:txBody>
      </p:sp>
    </p:spTree>
    <p:extLst>
      <p:ext uri="{BB962C8B-B14F-4D97-AF65-F5344CB8AC3E}">
        <p14:creationId xmlns:p14="http://schemas.microsoft.com/office/powerpoint/2010/main" val="37034496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274638"/>
            <a:ext cx="10972800" cy="1143000"/>
          </a:xfrm>
          <a:prstGeom prst="rect">
            <a:avLst/>
          </a:prstGeom>
          <a:noFill/>
          <a:ln>
            <a:no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600201"/>
            <a:ext cx="10972800" cy="4525963"/>
          </a:xfrm>
          <a:prstGeom prst="rect">
            <a:avLst/>
          </a:prstGeom>
          <a:noFill/>
          <a:ln>
            <a:no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smtClean="0">
                <a:solidFill>
                  <a:srgbClr val="898989"/>
                </a:solidFill>
                <a:latin typeface="Calibri" charset="0"/>
                <a:cs typeface="Arial" charset="0"/>
              </a:defRPr>
            </a:lvl1pPr>
          </a:lstStyle>
          <a:p>
            <a:pPr>
              <a:defRPr/>
            </a:pPr>
            <a:fld id="{4448DC72-F2C8-504E-A951-64F27746BD9E}" type="datetime1">
              <a:t>3/22/26</a:t>
            </a:fld>
            <a:endParaRPr lang="en-US" dirty="0"/>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fontAlgn="auto">
              <a:spcBef>
                <a:spcPts val="0"/>
              </a:spcBef>
              <a:spcAft>
                <a:spcPts val="0"/>
              </a:spcAft>
              <a:defRPr sz="1200" dirty="0">
                <a:solidFill>
                  <a:schemeClr val="tx1">
                    <a:tint val="75000"/>
                  </a:schemeClr>
                </a:solidFill>
                <a:latin typeface="+mn-lt"/>
                <a:ea typeface="+mn-ea"/>
                <a:cs typeface="+mn-cs"/>
              </a:defRPr>
            </a:lvl1pPr>
          </a:lstStyle>
          <a:p>
            <a:pPr>
              <a:defRPr/>
            </a:pPr>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smtClean="0">
                <a:solidFill>
                  <a:srgbClr val="898989"/>
                </a:solidFill>
                <a:latin typeface="Calibri" charset="0"/>
                <a:cs typeface="Arial" charset="0"/>
              </a:defRPr>
            </a:lvl1pPr>
          </a:lstStyle>
          <a:p>
            <a:pPr>
              <a:defRPr/>
            </a:pPr>
            <a:fld id="{65571140-4F1D-8B40-B27C-5CE4A3E9A099}"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rtl="0" eaLnBrk="0" fontAlgn="base" hangingPunct="0">
        <a:spcBef>
          <a:spcPct val="0"/>
        </a:spcBef>
        <a:spcAft>
          <a:spcPct val="0"/>
        </a:spcAft>
        <a:defRPr sz="4400" kern="1200">
          <a:solidFill>
            <a:schemeClr val="tx1"/>
          </a:solidFill>
          <a:latin typeface="+mj-lt"/>
          <a:ea typeface="ＭＳ Ｐゴシック" pitchFamily="-108" charset="-128"/>
          <a:cs typeface="ＭＳ Ｐゴシック" charset="0"/>
        </a:defRPr>
      </a:lvl1pPr>
      <a:lvl2pPr algn="ctr" rtl="0" eaLnBrk="0" fontAlgn="base" hangingPunct="0">
        <a:spcBef>
          <a:spcPct val="0"/>
        </a:spcBef>
        <a:spcAft>
          <a:spcPct val="0"/>
        </a:spcAft>
        <a:defRPr sz="4400">
          <a:solidFill>
            <a:schemeClr val="tx1"/>
          </a:solidFill>
          <a:latin typeface="Calibri" pitchFamily="-108" charset="0"/>
          <a:ea typeface="ＭＳ Ｐゴシック" pitchFamily="-108" charset="-128"/>
          <a:cs typeface="ＭＳ Ｐゴシック" charset="0"/>
        </a:defRPr>
      </a:lvl2pPr>
      <a:lvl3pPr algn="ctr" rtl="0" eaLnBrk="0" fontAlgn="base" hangingPunct="0">
        <a:spcBef>
          <a:spcPct val="0"/>
        </a:spcBef>
        <a:spcAft>
          <a:spcPct val="0"/>
        </a:spcAft>
        <a:defRPr sz="4400">
          <a:solidFill>
            <a:schemeClr val="tx1"/>
          </a:solidFill>
          <a:latin typeface="Calibri" pitchFamily="-108" charset="0"/>
          <a:ea typeface="ＭＳ Ｐゴシック" pitchFamily="-108" charset="-128"/>
          <a:cs typeface="ＭＳ Ｐゴシック" charset="0"/>
        </a:defRPr>
      </a:lvl3pPr>
      <a:lvl4pPr algn="ctr" rtl="0" eaLnBrk="0" fontAlgn="base" hangingPunct="0">
        <a:spcBef>
          <a:spcPct val="0"/>
        </a:spcBef>
        <a:spcAft>
          <a:spcPct val="0"/>
        </a:spcAft>
        <a:defRPr sz="4400">
          <a:solidFill>
            <a:schemeClr val="tx1"/>
          </a:solidFill>
          <a:latin typeface="Calibri" pitchFamily="-108" charset="0"/>
          <a:ea typeface="ＭＳ Ｐゴシック" pitchFamily="-108" charset="-128"/>
          <a:cs typeface="ＭＳ Ｐゴシック" charset="0"/>
        </a:defRPr>
      </a:lvl4pPr>
      <a:lvl5pPr algn="ctr" rtl="0" eaLnBrk="0" fontAlgn="base" hangingPunct="0">
        <a:spcBef>
          <a:spcPct val="0"/>
        </a:spcBef>
        <a:spcAft>
          <a:spcPct val="0"/>
        </a:spcAft>
        <a:defRPr sz="4400">
          <a:solidFill>
            <a:schemeClr val="tx1"/>
          </a:solidFill>
          <a:latin typeface="Calibri" pitchFamily="-108" charset="0"/>
          <a:ea typeface="ＭＳ Ｐゴシック" pitchFamily="-108" charset="-128"/>
          <a:cs typeface="ＭＳ Ｐゴシック" charset="0"/>
        </a:defRPr>
      </a:lvl5pPr>
      <a:lvl6pPr marL="457200" algn="ctr" rtl="0" fontAlgn="base">
        <a:spcBef>
          <a:spcPct val="0"/>
        </a:spcBef>
        <a:spcAft>
          <a:spcPct val="0"/>
        </a:spcAft>
        <a:defRPr sz="4400">
          <a:solidFill>
            <a:schemeClr val="tx1"/>
          </a:solidFill>
          <a:latin typeface="Calibri" pitchFamily="-108" charset="0"/>
        </a:defRPr>
      </a:lvl6pPr>
      <a:lvl7pPr marL="914400" algn="ctr" rtl="0" fontAlgn="base">
        <a:spcBef>
          <a:spcPct val="0"/>
        </a:spcBef>
        <a:spcAft>
          <a:spcPct val="0"/>
        </a:spcAft>
        <a:defRPr sz="4400">
          <a:solidFill>
            <a:schemeClr val="tx1"/>
          </a:solidFill>
          <a:latin typeface="Calibri" pitchFamily="-108" charset="0"/>
        </a:defRPr>
      </a:lvl7pPr>
      <a:lvl8pPr marL="1371600" algn="ctr" rtl="0" fontAlgn="base">
        <a:spcBef>
          <a:spcPct val="0"/>
        </a:spcBef>
        <a:spcAft>
          <a:spcPct val="0"/>
        </a:spcAft>
        <a:defRPr sz="4400">
          <a:solidFill>
            <a:schemeClr val="tx1"/>
          </a:solidFill>
          <a:latin typeface="Calibri" pitchFamily="-108" charset="0"/>
        </a:defRPr>
      </a:lvl8pPr>
      <a:lvl9pPr marL="1828800" algn="ctr" rtl="0" fontAlgn="base">
        <a:spcBef>
          <a:spcPct val="0"/>
        </a:spcBef>
        <a:spcAft>
          <a:spcPct val="0"/>
        </a:spcAft>
        <a:defRPr sz="4400">
          <a:solidFill>
            <a:schemeClr val="tx1"/>
          </a:solidFill>
          <a:latin typeface="Calibri" pitchFamily="-108"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ＭＳ Ｐゴシック" pitchFamily="-108" charset="-128"/>
          <a:cs typeface="ＭＳ Ｐゴシック" charset="0"/>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ＭＳ Ｐゴシック" pitchFamily="-108" charset="-128"/>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ＭＳ Ｐゴシック" pitchFamily="-108" charset="-128"/>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ＭＳ Ｐゴシック" pitchFamily="-108" charset="-128"/>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ＭＳ Ｐゴシック" pitchFamily="-108"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hyperlink" Target="https://edopportunity.org/explorer/#/map/us/districts/avg/ses/all/3.03/38.3/-95.97" TargetMode="External"/><Relationship Id="rId2" Type="http://schemas.openxmlformats.org/officeDocument/2006/relationships/hyperlink" Target="https://collegereadiness.collegeboard.org/educators/higher-ed/scoring/concordance"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oleObject" Target="../embeddings/oleObject2.bin"/><Relationship Id="rId1" Type="http://schemas.openxmlformats.org/officeDocument/2006/relationships/slideLayout" Target="../slideLayouts/slideLayout2.xml"/><Relationship Id="rId5" Type="http://schemas.openxmlformats.org/officeDocument/2006/relationships/image" Target="../media/image3.emf"/><Relationship Id="rId4" Type="http://schemas.openxmlformats.org/officeDocument/2006/relationships/oleObject" Target="../embeddings/oleObject3.bin"/></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8.wmf"/><Relationship Id="rId7" Type="http://schemas.openxmlformats.org/officeDocument/2006/relationships/image" Target="../media/image10.wmf"/><Relationship Id="rId2" Type="http://schemas.openxmlformats.org/officeDocument/2006/relationships/oleObject" Target="../embeddings/oleObject4.bin"/><Relationship Id="rId1" Type="http://schemas.openxmlformats.org/officeDocument/2006/relationships/slideLayout" Target="../slideLayouts/slideLayout2.xml"/><Relationship Id="rId6" Type="http://schemas.openxmlformats.org/officeDocument/2006/relationships/oleObject" Target="../embeddings/oleObject6.bin"/><Relationship Id="rId5" Type="http://schemas.openxmlformats.org/officeDocument/2006/relationships/image" Target="../media/image9.wmf"/><Relationship Id="rId4" Type="http://schemas.openxmlformats.org/officeDocument/2006/relationships/oleObject" Target="../embeddings/oleObject5.bin"/></Relationships>
</file>

<file path=ppt/slides/_rels/slide39.xml.rels><?xml version="1.0" encoding="UTF-8" standalone="yes"?>
<Relationships xmlns="http://schemas.openxmlformats.org/package/2006/relationships"><Relationship Id="rId8" Type="http://schemas.openxmlformats.org/officeDocument/2006/relationships/oleObject" Target="../embeddings/oleObject10.bin"/><Relationship Id="rId3" Type="http://schemas.openxmlformats.org/officeDocument/2006/relationships/image" Target="../media/image11.wmf"/><Relationship Id="rId7" Type="http://schemas.openxmlformats.org/officeDocument/2006/relationships/image" Target="../media/image13.wmf"/><Relationship Id="rId2" Type="http://schemas.openxmlformats.org/officeDocument/2006/relationships/oleObject" Target="../embeddings/oleObject7.bin"/><Relationship Id="rId1" Type="http://schemas.openxmlformats.org/officeDocument/2006/relationships/slideLayout" Target="../slideLayouts/slideLayout2.xml"/><Relationship Id="rId6" Type="http://schemas.openxmlformats.org/officeDocument/2006/relationships/oleObject" Target="../embeddings/oleObject9.bin"/><Relationship Id="rId5" Type="http://schemas.openxmlformats.org/officeDocument/2006/relationships/image" Target="../media/image12.wmf"/><Relationship Id="rId4" Type="http://schemas.openxmlformats.org/officeDocument/2006/relationships/oleObject" Target="../embeddings/oleObject8.bin"/><Relationship Id="rId9" Type="http://schemas.openxmlformats.org/officeDocument/2006/relationships/image" Target="../media/image14.wmf"/></Relationships>
</file>

<file path=ppt/slides/_rels/slide40.xml.rels><?xml version="1.0" encoding="UTF-8" standalone="yes"?>
<Relationships xmlns="http://schemas.openxmlformats.org/package/2006/relationships"><Relationship Id="rId8" Type="http://schemas.openxmlformats.org/officeDocument/2006/relationships/oleObject" Target="../embeddings/oleObject14.bin"/><Relationship Id="rId3" Type="http://schemas.openxmlformats.org/officeDocument/2006/relationships/image" Target="../media/image15.wmf"/><Relationship Id="rId7" Type="http://schemas.openxmlformats.org/officeDocument/2006/relationships/image" Target="../media/image17.wmf"/><Relationship Id="rId2" Type="http://schemas.openxmlformats.org/officeDocument/2006/relationships/oleObject" Target="../embeddings/oleObject11.bin"/><Relationship Id="rId1" Type="http://schemas.openxmlformats.org/officeDocument/2006/relationships/slideLayout" Target="../slideLayouts/slideLayout2.xml"/><Relationship Id="rId6" Type="http://schemas.openxmlformats.org/officeDocument/2006/relationships/oleObject" Target="../embeddings/oleObject13.bin"/><Relationship Id="rId5" Type="http://schemas.openxmlformats.org/officeDocument/2006/relationships/image" Target="../media/image16.wmf"/><Relationship Id="rId4" Type="http://schemas.openxmlformats.org/officeDocument/2006/relationships/oleObject" Target="../embeddings/oleObject12.bin"/><Relationship Id="rId9" Type="http://schemas.openxmlformats.org/officeDocument/2006/relationships/image" Target="../media/image18.wmf"/></Relationships>
</file>

<file path=ppt/slides/_rels/slide41.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hyperlink" Target="https://philchalmers.github.io/mirt/html/multipleGroup.html" TargetMode="Externa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hyperlink" Target="http://www.jstatsoft.org/v35/i12/" TargetMode="Externa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hyperlink" Target="https://link.springer.com/book/10.1007/978-1-4757-4310-4"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Title 1"/>
          <p:cNvSpPr>
            <a:spLocks noGrp="1"/>
          </p:cNvSpPr>
          <p:nvPr>
            <p:ph type="ctrTitle"/>
          </p:nvPr>
        </p:nvSpPr>
        <p:spPr>
          <a:xfrm>
            <a:off x="2209800" y="1828801"/>
            <a:ext cx="7772400" cy="1470025"/>
          </a:xfrm>
        </p:spPr>
        <p:txBody>
          <a:bodyPr/>
          <a:lstStyle/>
          <a:p>
            <a:pPr eaLnBrk="1" hangingPunct="1"/>
            <a:r>
              <a:rPr lang="en-US" b="1">
                <a:latin typeface="Calibri" charset="0"/>
                <a:ea typeface="ＭＳ Ｐゴシック" charset="0"/>
              </a:rPr>
              <a:t>Making Scores Comparable: </a:t>
            </a:r>
            <a:br>
              <a:rPr lang="en-US" b="1">
                <a:latin typeface="Calibri" charset="0"/>
                <a:ea typeface="ＭＳ Ｐゴシック" charset="0"/>
              </a:rPr>
            </a:br>
            <a:r>
              <a:rPr lang="en-US" b="1">
                <a:latin typeface="Calibri" charset="0"/>
                <a:ea typeface="ＭＳ Ｐゴシック" charset="0"/>
              </a:rPr>
              <a:t>Test Equating</a:t>
            </a:r>
          </a:p>
        </p:txBody>
      </p:sp>
      <p:sp>
        <p:nvSpPr>
          <p:cNvPr id="13314" name="Subtitle 2"/>
          <p:cNvSpPr>
            <a:spLocks noGrp="1"/>
          </p:cNvSpPr>
          <p:nvPr>
            <p:ph type="subTitle" idx="1"/>
          </p:nvPr>
        </p:nvSpPr>
        <p:spPr/>
        <p:txBody>
          <a:bodyPr/>
          <a:lstStyle/>
          <a:p>
            <a:pPr eaLnBrk="1" hangingPunct="1"/>
            <a:r>
              <a:rPr lang="en-US">
                <a:solidFill>
                  <a:srgbClr val="898989"/>
                </a:solidFill>
                <a:latin typeface="Calibri" charset="0"/>
                <a:ea typeface="ＭＳ Ｐゴシック" charset="0"/>
              </a:rPr>
              <a:t>Derek Briggs</a:t>
            </a:r>
          </a:p>
          <a:p>
            <a:pPr eaLnBrk="1" hangingPunct="1"/>
            <a:r>
              <a:rPr lang="en-US">
                <a:solidFill>
                  <a:srgbClr val="898989"/>
                </a:solidFill>
                <a:latin typeface="Calibri" charset="0"/>
                <a:ea typeface="ＭＳ Ｐゴシック" charset="0"/>
              </a:rPr>
              <a:t>EDUC 8720</a:t>
            </a:r>
          </a:p>
          <a:p>
            <a:pPr eaLnBrk="1" hangingPunct="1"/>
            <a:endParaRPr lang="en-US">
              <a:solidFill>
                <a:srgbClr val="898989"/>
              </a:solidFill>
              <a:latin typeface="Calibri" charset="0"/>
              <a:ea typeface="ＭＳ Ｐゴシック" charset="0"/>
            </a:endParaRPr>
          </a:p>
        </p:txBody>
      </p:sp>
      <p:sp>
        <p:nvSpPr>
          <p:cNvPr id="2" name="Slide Number Placeholder 1"/>
          <p:cNvSpPr>
            <a:spLocks noGrp="1"/>
          </p:cNvSpPr>
          <p:nvPr>
            <p:ph type="sldNum" sz="quarter" idx="12"/>
          </p:nvPr>
        </p:nvSpPr>
        <p:spPr/>
        <p:txBody>
          <a:bodyPr/>
          <a:lstStyle/>
          <a:p>
            <a:pPr>
              <a:defRPr/>
            </a:pPr>
            <a:fld id="{28D21B7F-3BAF-134B-97C7-31F48765E398}" type="slidenum">
              <a:rPr lang="en-US"/>
              <a:pPr>
                <a:defRPr/>
              </a:pPr>
              <a:t>1</a:t>
            </a:fld>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5E72F-5A7C-B14E-BE8F-05FF28CF2B78}"/>
              </a:ext>
            </a:extLst>
          </p:cNvPr>
          <p:cNvSpPr>
            <a:spLocks noGrp="1"/>
          </p:cNvSpPr>
          <p:nvPr>
            <p:ph type="title"/>
          </p:nvPr>
        </p:nvSpPr>
        <p:spPr/>
        <p:txBody>
          <a:bodyPr/>
          <a:lstStyle/>
          <a:p>
            <a:r>
              <a:rPr lang="en-US" b="1"/>
              <a:t>Activity</a:t>
            </a:r>
          </a:p>
        </p:txBody>
      </p:sp>
      <p:sp>
        <p:nvSpPr>
          <p:cNvPr id="3" name="Content Placeholder 2">
            <a:extLst>
              <a:ext uri="{FF2B5EF4-FFF2-40B4-BE49-F238E27FC236}">
                <a16:creationId xmlns:a16="http://schemas.microsoft.com/office/drawing/2014/main" id="{C514F944-4442-2740-9777-8756D2CBFF1F}"/>
              </a:ext>
            </a:extLst>
          </p:cNvPr>
          <p:cNvSpPr>
            <a:spLocks noGrp="1"/>
          </p:cNvSpPr>
          <p:nvPr>
            <p:ph idx="1"/>
          </p:nvPr>
        </p:nvSpPr>
        <p:spPr>
          <a:xfrm>
            <a:off x="609600" y="1417639"/>
            <a:ext cx="10972800" cy="5165724"/>
          </a:xfrm>
        </p:spPr>
        <p:txBody>
          <a:bodyPr/>
          <a:lstStyle/>
          <a:p>
            <a:pPr marL="0" indent="0">
              <a:buNone/>
            </a:pPr>
            <a:r>
              <a:rPr lang="en-US" sz="2000"/>
              <a:t>Researchers were interested in evaluating a new science curriculum. They developed two test forms intended to measure students’ understanding of the concepts covered in the curriculum, “Form A” and “Form B”. The maximum possible total score on both test forms was 40 points. </a:t>
            </a:r>
            <a:endParaRPr lang="en-US" sz="2000">
              <a:effectLst/>
            </a:endParaRPr>
          </a:p>
          <a:p>
            <a:pPr marL="0" indent="0">
              <a:buNone/>
            </a:pPr>
            <a:r>
              <a:rPr lang="en-US" sz="2000"/>
              <a:t>During an initial pilot test, researchers had 10 students take both test forms. The scores that students received on each test form are in the file “equating_example.xlsx”. It was clear that the two test forms are not equally difficult. </a:t>
            </a:r>
            <a:endParaRPr lang="en-US" sz="2000">
              <a:effectLst/>
            </a:endParaRPr>
          </a:p>
          <a:p>
            <a:pPr marL="0" indent="0">
              <a:buNone/>
            </a:pPr>
            <a:r>
              <a:rPr lang="en-US" sz="2000"/>
              <a:t>One additional student also participated in the pilot study, but had to leave early. Josh only took Form A and received a score of 20 points. Answer the following: </a:t>
            </a:r>
            <a:endParaRPr lang="en-US" sz="2000">
              <a:effectLst/>
            </a:endParaRPr>
          </a:p>
          <a:p>
            <a:pPr marL="457200" indent="-457200">
              <a:buFont typeface="+mj-lt"/>
              <a:buAutoNum type="arabicPeriod"/>
            </a:pPr>
            <a:r>
              <a:rPr lang="en-US" sz="2000"/>
              <a:t>Which test form was more difficult? </a:t>
            </a:r>
          </a:p>
          <a:p>
            <a:pPr marL="457200" indent="-457200">
              <a:buFont typeface="+mj-lt"/>
              <a:buAutoNum type="arabicPeriod"/>
            </a:pPr>
            <a:r>
              <a:rPr lang="en-US" sz="2000"/>
              <a:t>What score would Josh have earned on Form B? </a:t>
            </a:r>
          </a:p>
          <a:p>
            <a:pPr marL="457200" indent="-457200">
              <a:buFont typeface="+mj-lt"/>
              <a:buAutoNum type="arabicPeriod"/>
            </a:pPr>
            <a:r>
              <a:rPr lang="en-US" sz="2000"/>
              <a:t>If a student scored a 34 on Form B, do you think they know more about the tested content than Josh? </a:t>
            </a:r>
          </a:p>
          <a:p>
            <a:pPr marL="0" indent="0">
              <a:buNone/>
            </a:pPr>
            <a:endParaRPr lang="en-US" sz="2000"/>
          </a:p>
        </p:txBody>
      </p:sp>
      <p:sp>
        <p:nvSpPr>
          <p:cNvPr id="4" name="Slide Number Placeholder 3">
            <a:extLst>
              <a:ext uri="{FF2B5EF4-FFF2-40B4-BE49-F238E27FC236}">
                <a16:creationId xmlns:a16="http://schemas.microsoft.com/office/drawing/2014/main" id="{DB5CD1C1-07A9-C34D-896A-44615C98D832}"/>
              </a:ext>
            </a:extLst>
          </p:cNvPr>
          <p:cNvSpPr>
            <a:spLocks noGrp="1"/>
          </p:cNvSpPr>
          <p:nvPr>
            <p:ph type="sldNum" sz="quarter" idx="12"/>
          </p:nvPr>
        </p:nvSpPr>
        <p:spPr/>
        <p:txBody>
          <a:bodyPr/>
          <a:lstStyle/>
          <a:p>
            <a:pPr>
              <a:defRPr/>
            </a:pPr>
            <a:fld id="{EC183674-A9ED-404F-B1CE-2FB45E89D5F6}" type="slidenum">
              <a:rPr lang="en-US"/>
              <a:pPr>
                <a:defRPr/>
              </a:pPr>
              <a:t>2</a:t>
            </a:fld>
            <a:endParaRPr lang="en-US" dirty="0"/>
          </a:p>
        </p:txBody>
      </p:sp>
      <p:sp>
        <p:nvSpPr>
          <p:cNvPr id="5" name="TextBox 4">
            <a:extLst>
              <a:ext uri="{FF2B5EF4-FFF2-40B4-BE49-F238E27FC236}">
                <a16:creationId xmlns:a16="http://schemas.microsoft.com/office/drawing/2014/main" id="{F2AD3DC3-B185-A64D-8BC2-5CB41D6AF6E8}"/>
              </a:ext>
            </a:extLst>
          </p:cNvPr>
          <p:cNvSpPr txBox="1"/>
          <p:nvPr/>
        </p:nvSpPr>
        <p:spPr>
          <a:xfrm>
            <a:off x="573314" y="5681803"/>
            <a:ext cx="10287000" cy="923330"/>
          </a:xfrm>
          <a:prstGeom prst="rect">
            <a:avLst/>
          </a:prstGeom>
          <a:noFill/>
          <a:ln>
            <a:solidFill>
              <a:schemeClr val="accent1"/>
            </a:solidFill>
          </a:ln>
        </p:spPr>
        <p:txBody>
          <a:bodyPr wrap="square" rtlCol="0">
            <a:spAutoFit/>
          </a:bodyPr>
          <a:lstStyle/>
          <a:p>
            <a:r>
              <a:rPr lang="en-US">
                <a:latin typeface="Calibri" panose="020F0502020204030204" pitchFamily="34" charset="0"/>
                <a:cs typeface="Calibri" panose="020F0502020204030204" pitchFamily="34" charset="0"/>
              </a:rPr>
              <a:t>Please spend 10 minutes trying to answer these three questions on your own, then spend another 10 minutes discussing in your small group. Hint: there are three different methods you could use to answer question 2.</a:t>
            </a:r>
          </a:p>
        </p:txBody>
      </p:sp>
    </p:spTree>
    <p:extLst>
      <p:ext uri="{BB962C8B-B14F-4D97-AF65-F5344CB8AC3E}">
        <p14:creationId xmlns:p14="http://schemas.microsoft.com/office/powerpoint/2010/main" val="28393422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DE514-5DE8-B545-9627-F1F5627EA15A}"/>
              </a:ext>
            </a:extLst>
          </p:cNvPr>
          <p:cNvSpPr>
            <a:spLocks noGrp="1"/>
          </p:cNvSpPr>
          <p:nvPr>
            <p:ph type="title"/>
          </p:nvPr>
        </p:nvSpPr>
        <p:spPr/>
        <p:txBody>
          <a:bodyPr/>
          <a:lstStyle/>
          <a:p>
            <a:r>
              <a:rPr lang="en-US" b="1"/>
              <a:t>Outline</a:t>
            </a:r>
          </a:p>
        </p:txBody>
      </p:sp>
      <p:sp>
        <p:nvSpPr>
          <p:cNvPr id="3" name="Content Placeholder 2">
            <a:extLst>
              <a:ext uri="{FF2B5EF4-FFF2-40B4-BE49-F238E27FC236}">
                <a16:creationId xmlns:a16="http://schemas.microsoft.com/office/drawing/2014/main" id="{2BB64414-86B1-5A41-8B99-8B407924B019}"/>
              </a:ext>
            </a:extLst>
          </p:cNvPr>
          <p:cNvSpPr>
            <a:spLocks noGrp="1"/>
          </p:cNvSpPr>
          <p:nvPr>
            <p:ph idx="1"/>
          </p:nvPr>
        </p:nvSpPr>
        <p:spPr/>
        <p:txBody>
          <a:bodyPr/>
          <a:lstStyle/>
          <a:p>
            <a:r>
              <a:rPr lang="en-US"/>
              <a:t>Background</a:t>
            </a:r>
          </a:p>
          <a:p>
            <a:r>
              <a:rPr lang="en-US"/>
              <a:t>Equating Designs</a:t>
            </a:r>
          </a:p>
          <a:p>
            <a:r>
              <a:rPr lang="en-US"/>
              <a:t>Analytical Methods</a:t>
            </a:r>
          </a:p>
          <a:p>
            <a:pPr lvl="1"/>
            <a:r>
              <a:rPr lang="en-US"/>
              <a:t>Observed Score Equating</a:t>
            </a:r>
          </a:p>
          <a:p>
            <a:pPr lvl="2"/>
            <a:r>
              <a:rPr lang="en-US"/>
              <a:t>Mean, Linear, Equipercentile</a:t>
            </a:r>
          </a:p>
          <a:p>
            <a:pPr lvl="1"/>
            <a:r>
              <a:rPr lang="en-US"/>
              <a:t>IRT Equating</a:t>
            </a:r>
          </a:p>
          <a:p>
            <a:pPr lvl="2"/>
            <a:r>
              <a:rPr lang="en-US"/>
              <a:t>Separate: Mean/Sigma, Stocking-Lord</a:t>
            </a:r>
          </a:p>
          <a:p>
            <a:pPr lvl="2"/>
            <a:r>
              <a:rPr lang="en-US"/>
              <a:t>Concurrent Calibration</a:t>
            </a:r>
          </a:p>
          <a:p>
            <a:pPr lvl="2"/>
            <a:r>
              <a:rPr lang="en-US"/>
              <a:t>The benefit (and cost) of “pre-equating”</a:t>
            </a:r>
          </a:p>
          <a:p>
            <a:endParaRPr lang="en-US"/>
          </a:p>
        </p:txBody>
      </p:sp>
      <p:sp>
        <p:nvSpPr>
          <p:cNvPr id="4" name="Slide Number Placeholder 3">
            <a:extLst>
              <a:ext uri="{FF2B5EF4-FFF2-40B4-BE49-F238E27FC236}">
                <a16:creationId xmlns:a16="http://schemas.microsoft.com/office/drawing/2014/main" id="{4AC035B4-70D9-B142-81F5-FC47AA559D84}"/>
              </a:ext>
            </a:extLst>
          </p:cNvPr>
          <p:cNvSpPr>
            <a:spLocks noGrp="1"/>
          </p:cNvSpPr>
          <p:nvPr>
            <p:ph type="sldNum" sz="quarter" idx="12"/>
          </p:nvPr>
        </p:nvSpPr>
        <p:spPr/>
        <p:txBody>
          <a:bodyPr/>
          <a:lstStyle/>
          <a:p>
            <a:pPr>
              <a:defRPr/>
            </a:pPr>
            <a:fld id="{EC183674-A9ED-404F-B1CE-2FB45E89D5F6}" type="slidenum">
              <a:rPr lang="en-US"/>
              <a:pPr>
                <a:defRPr/>
              </a:pPr>
              <a:t>3</a:t>
            </a:fld>
            <a:endParaRPr lang="en-US" dirty="0"/>
          </a:p>
        </p:txBody>
      </p:sp>
    </p:spTree>
    <p:extLst>
      <p:ext uri="{BB962C8B-B14F-4D97-AF65-F5344CB8AC3E}">
        <p14:creationId xmlns:p14="http://schemas.microsoft.com/office/powerpoint/2010/main" val="33138782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3439C6F-35BB-F94E-912C-725C75BF8CB0}"/>
              </a:ext>
            </a:extLst>
          </p:cNvPr>
          <p:cNvSpPr>
            <a:spLocks noGrp="1"/>
          </p:cNvSpPr>
          <p:nvPr>
            <p:ph type="sldNum" sz="quarter" idx="12"/>
          </p:nvPr>
        </p:nvSpPr>
        <p:spPr/>
        <p:txBody>
          <a:bodyPr/>
          <a:lstStyle/>
          <a:p>
            <a:pPr>
              <a:defRPr/>
            </a:pPr>
            <a:fld id="{C312B7D6-AC34-7D41-8912-F5064E5072B8}" type="slidenum">
              <a:rPr lang="en-US"/>
              <a:pPr>
                <a:defRPr/>
              </a:pPr>
              <a:t>4</a:t>
            </a:fld>
            <a:endParaRPr lang="en-US" dirty="0"/>
          </a:p>
        </p:txBody>
      </p:sp>
      <p:sp>
        <p:nvSpPr>
          <p:cNvPr id="3" name="TextBox 2">
            <a:extLst>
              <a:ext uri="{FF2B5EF4-FFF2-40B4-BE49-F238E27FC236}">
                <a16:creationId xmlns:a16="http://schemas.microsoft.com/office/drawing/2014/main" id="{0817DA62-D4E2-7642-B166-FE7839124069}"/>
              </a:ext>
            </a:extLst>
          </p:cNvPr>
          <p:cNvSpPr txBox="1"/>
          <p:nvPr/>
        </p:nvSpPr>
        <p:spPr>
          <a:xfrm>
            <a:off x="3581400" y="2667000"/>
            <a:ext cx="5486400" cy="769441"/>
          </a:xfrm>
          <a:prstGeom prst="rect">
            <a:avLst/>
          </a:prstGeom>
          <a:noFill/>
        </p:spPr>
        <p:txBody>
          <a:bodyPr wrap="square" rtlCol="0">
            <a:spAutoFit/>
          </a:bodyPr>
          <a:lstStyle/>
          <a:p>
            <a:r>
              <a:rPr lang="en-US" sz="4400" b="1">
                <a:latin typeface="Calibri" panose="020F0502020204030204" pitchFamily="34" charset="0"/>
                <a:cs typeface="Calibri" panose="020F0502020204030204" pitchFamily="34" charset="0"/>
              </a:rPr>
              <a:t>Background</a:t>
            </a:r>
            <a:endParaRPr lang="en-US" b="1">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476541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122608-964A-A841-952F-17724B423080}"/>
              </a:ext>
            </a:extLst>
          </p:cNvPr>
          <p:cNvSpPr>
            <a:spLocks noGrp="1"/>
          </p:cNvSpPr>
          <p:nvPr>
            <p:ph type="title"/>
          </p:nvPr>
        </p:nvSpPr>
        <p:spPr/>
        <p:txBody>
          <a:bodyPr/>
          <a:lstStyle/>
          <a:p>
            <a:r>
              <a:rPr lang="en-US" sz="4000" b="1"/>
              <a:t>Why link and equate tests?</a:t>
            </a:r>
          </a:p>
        </p:txBody>
      </p:sp>
      <p:sp>
        <p:nvSpPr>
          <p:cNvPr id="3" name="Content Placeholder 2">
            <a:extLst>
              <a:ext uri="{FF2B5EF4-FFF2-40B4-BE49-F238E27FC236}">
                <a16:creationId xmlns:a16="http://schemas.microsoft.com/office/drawing/2014/main" id="{8D3FD073-7304-1344-AC15-64B0EB64C2B0}"/>
              </a:ext>
            </a:extLst>
          </p:cNvPr>
          <p:cNvSpPr>
            <a:spLocks noGrp="1"/>
          </p:cNvSpPr>
          <p:nvPr>
            <p:ph idx="1"/>
          </p:nvPr>
        </p:nvSpPr>
        <p:spPr/>
        <p:txBody>
          <a:bodyPr/>
          <a:lstStyle/>
          <a:p>
            <a:pPr marL="0" indent="0">
              <a:buNone/>
            </a:pPr>
            <a:r>
              <a:rPr lang="en-US"/>
              <a:t>Comparing scores on different tests</a:t>
            </a:r>
          </a:p>
          <a:p>
            <a:r>
              <a:rPr lang="en-US">
                <a:hlinkClick r:id="rId2"/>
              </a:rPr>
              <a:t>ACT/SAT concordance tables</a:t>
            </a:r>
            <a:endParaRPr lang="en-US"/>
          </a:p>
          <a:p>
            <a:r>
              <a:rPr lang="en-US">
                <a:hlinkClick r:id="rId3"/>
              </a:rPr>
              <a:t>SEDA maps</a:t>
            </a:r>
            <a:endParaRPr lang="en-US"/>
          </a:p>
          <a:p>
            <a:pPr marL="0" indent="0">
              <a:buNone/>
            </a:pPr>
            <a:endParaRPr lang="en-US"/>
          </a:p>
          <a:p>
            <a:pPr marL="0" indent="0">
              <a:buNone/>
            </a:pPr>
            <a:r>
              <a:rPr lang="en-US"/>
              <a:t>Using multiple tests forms</a:t>
            </a:r>
          </a:p>
          <a:p>
            <a:r>
              <a:rPr lang="en-US"/>
              <a:t>Avoid outright cheating or item exposure</a:t>
            </a:r>
          </a:p>
          <a:p>
            <a:r>
              <a:rPr lang="en-US"/>
              <a:t>Pre/post designs</a:t>
            </a:r>
          </a:p>
          <a:p>
            <a:r>
              <a:rPr lang="en-US"/>
              <a:t>Allow for gradual changes in test design?</a:t>
            </a:r>
          </a:p>
          <a:p>
            <a:endParaRPr lang="en-US"/>
          </a:p>
        </p:txBody>
      </p:sp>
      <p:sp>
        <p:nvSpPr>
          <p:cNvPr id="4" name="Slide Number Placeholder 3">
            <a:extLst>
              <a:ext uri="{FF2B5EF4-FFF2-40B4-BE49-F238E27FC236}">
                <a16:creationId xmlns:a16="http://schemas.microsoft.com/office/drawing/2014/main" id="{BCDACFB7-E6D0-F541-86ED-ABA37E066AFF}"/>
              </a:ext>
            </a:extLst>
          </p:cNvPr>
          <p:cNvSpPr>
            <a:spLocks noGrp="1"/>
          </p:cNvSpPr>
          <p:nvPr>
            <p:ph type="sldNum" sz="quarter" idx="12"/>
          </p:nvPr>
        </p:nvSpPr>
        <p:spPr/>
        <p:txBody>
          <a:bodyPr/>
          <a:lstStyle/>
          <a:p>
            <a:pPr>
              <a:defRPr/>
            </a:pPr>
            <a:fld id="{EC183674-A9ED-404F-B1CE-2FB45E89D5F6}" type="slidenum">
              <a:rPr lang="en-US"/>
              <a:pPr>
                <a:defRPr/>
              </a:pPr>
              <a:t>5</a:t>
            </a:fld>
            <a:endParaRPr lang="en-US" dirty="0"/>
          </a:p>
        </p:txBody>
      </p:sp>
    </p:spTree>
    <p:extLst>
      <p:ext uri="{BB962C8B-B14F-4D97-AF65-F5344CB8AC3E}">
        <p14:creationId xmlns:p14="http://schemas.microsoft.com/office/powerpoint/2010/main" val="15362120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2ED15-CA7A-4D40-98FE-54E9D2FF6D78}"/>
              </a:ext>
            </a:extLst>
          </p:cNvPr>
          <p:cNvSpPr>
            <a:spLocks noGrp="1"/>
          </p:cNvSpPr>
          <p:nvPr>
            <p:ph type="title"/>
          </p:nvPr>
        </p:nvSpPr>
        <p:spPr/>
        <p:txBody>
          <a:bodyPr/>
          <a:lstStyle/>
          <a:p>
            <a:r>
              <a:rPr lang="en-US" sz="4000" b="1"/>
              <a:t>Equating vs. Linking (Holland &amp; Dorans, 2006)</a:t>
            </a:r>
          </a:p>
        </p:txBody>
      </p:sp>
      <p:sp>
        <p:nvSpPr>
          <p:cNvPr id="3" name="Content Placeholder 2">
            <a:extLst>
              <a:ext uri="{FF2B5EF4-FFF2-40B4-BE49-F238E27FC236}">
                <a16:creationId xmlns:a16="http://schemas.microsoft.com/office/drawing/2014/main" id="{61C19EC7-A28C-B34C-A59B-059C0E3E133E}"/>
              </a:ext>
            </a:extLst>
          </p:cNvPr>
          <p:cNvSpPr>
            <a:spLocks noGrp="1"/>
          </p:cNvSpPr>
          <p:nvPr>
            <p:ph idx="1"/>
          </p:nvPr>
        </p:nvSpPr>
        <p:spPr/>
        <p:txBody>
          <a:bodyPr/>
          <a:lstStyle/>
          <a:p>
            <a:pPr marL="0" indent="0">
              <a:buNone/>
            </a:pPr>
            <a:r>
              <a:rPr lang="en-US" sz="2400" b="1"/>
              <a:t>linking </a:t>
            </a:r>
            <a:endParaRPr lang="en-US" sz="2400">
              <a:effectLst/>
            </a:endParaRPr>
          </a:p>
          <a:p>
            <a:pPr marL="0" indent="0">
              <a:buNone/>
            </a:pPr>
            <a:r>
              <a:rPr lang="en-US" sz="2400"/>
              <a:t>“For two tests, a </a:t>
            </a:r>
            <a:r>
              <a:rPr lang="en-US" sz="2400" i="1"/>
              <a:t>link </a:t>
            </a:r>
            <a:r>
              <a:rPr lang="en-US" sz="2400"/>
              <a:t>between their scores is a transformation from a score on one to a score on the other. . . We use the term </a:t>
            </a:r>
            <a:r>
              <a:rPr lang="en-US" sz="2400" i="1"/>
              <a:t>linking </a:t>
            </a:r>
            <a:r>
              <a:rPr lang="en-US" sz="2400"/>
              <a:t>to refer to the general idea of a transformation between the scores from one test and those of another. . . we will divide linking methods in three basic categories called </a:t>
            </a:r>
            <a:r>
              <a:rPr lang="en-US" sz="2400" i="1"/>
              <a:t>predicting</a:t>
            </a:r>
            <a:r>
              <a:rPr lang="en-US" sz="2400"/>
              <a:t>, </a:t>
            </a:r>
            <a:r>
              <a:rPr lang="en-US" sz="2400" i="1"/>
              <a:t>scale aligning</a:t>
            </a:r>
            <a:r>
              <a:rPr lang="en-US" sz="2400"/>
              <a:t>, and </a:t>
            </a:r>
            <a:r>
              <a:rPr lang="en-US" sz="2400" i="1"/>
              <a:t>equating</a:t>
            </a:r>
            <a:r>
              <a:rPr lang="en-US" sz="2400"/>
              <a:t>” (p. 187). </a:t>
            </a:r>
            <a:endParaRPr lang="en-US" sz="2400">
              <a:effectLst/>
            </a:endParaRPr>
          </a:p>
          <a:p>
            <a:pPr marL="0" indent="0">
              <a:buNone/>
            </a:pPr>
            <a:endParaRPr lang="en-US" sz="2400" b="1"/>
          </a:p>
          <a:p>
            <a:pPr marL="0" indent="0">
              <a:buNone/>
            </a:pPr>
            <a:r>
              <a:rPr lang="en-US" sz="2400" b="1"/>
              <a:t>equating </a:t>
            </a:r>
            <a:endParaRPr lang="en-US" sz="2400">
              <a:effectLst/>
            </a:endParaRPr>
          </a:p>
          <a:p>
            <a:pPr marL="0" indent="0">
              <a:buNone/>
            </a:pPr>
            <a:r>
              <a:rPr lang="en-US" sz="2400"/>
              <a:t>“In test equating a direct link is made between a score on one test and a score on another test. The purpose of equating tests is to allow the scores from each test to be used interchangeably, as if they had come from the same test” (p. 193). </a:t>
            </a:r>
            <a:endParaRPr lang="en-US" sz="2400">
              <a:effectLst/>
            </a:endParaRPr>
          </a:p>
          <a:p>
            <a:pPr marL="0" indent="0">
              <a:buNone/>
            </a:pPr>
            <a:endParaRPr lang="en-US"/>
          </a:p>
        </p:txBody>
      </p:sp>
      <p:sp>
        <p:nvSpPr>
          <p:cNvPr id="4" name="Slide Number Placeholder 3">
            <a:extLst>
              <a:ext uri="{FF2B5EF4-FFF2-40B4-BE49-F238E27FC236}">
                <a16:creationId xmlns:a16="http://schemas.microsoft.com/office/drawing/2014/main" id="{12B3528D-2BB9-D14A-BAB6-B0866BAFB3A0}"/>
              </a:ext>
            </a:extLst>
          </p:cNvPr>
          <p:cNvSpPr>
            <a:spLocks noGrp="1"/>
          </p:cNvSpPr>
          <p:nvPr>
            <p:ph type="sldNum" sz="quarter" idx="12"/>
          </p:nvPr>
        </p:nvSpPr>
        <p:spPr/>
        <p:txBody>
          <a:bodyPr/>
          <a:lstStyle/>
          <a:p>
            <a:pPr>
              <a:defRPr/>
            </a:pPr>
            <a:fld id="{EC183674-A9ED-404F-B1CE-2FB45E89D5F6}" type="slidenum">
              <a:rPr lang="en-US"/>
              <a:pPr>
                <a:defRPr/>
              </a:pPr>
              <a:t>6</a:t>
            </a:fld>
            <a:endParaRPr lang="en-US" dirty="0"/>
          </a:p>
        </p:txBody>
      </p:sp>
    </p:spTree>
    <p:extLst>
      <p:ext uri="{BB962C8B-B14F-4D97-AF65-F5344CB8AC3E}">
        <p14:creationId xmlns:p14="http://schemas.microsoft.com/office/powerpoint/2010/main" val="29006798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Title 1"/>
          <p:cNvSpPr>
            <a:spLocks noGrp="1"/>
          </p:cNvSpPr>
          <p:nvPr>
            <p:ph type="title"/>
          </p:nvPr>
        </p:nvSpPr>
        <p:spPr/>
        <p:txBody>
          <a:bodyPr/>
          <a:lstStyle/>
          <a:p>
            <a:r>
              <a:rPr lang="en-US" b="1">
                <a:latin typeface="Calibri" charset="0"/>
                <a:ea typeface="ＭＳ Ｐゴシック" charset="0"/>
              </a:rPr>
              <a:t>A Test Linking Framework</a:t>
            </a:r>
          </a:p>
        </p:txBody>
      </p:sp>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1828800"/>
            <a:ext cx="8224838" cy="35814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4339" name="TextBox 3"/>
          <p:cNvSpPr txBox="1">
            <a:spLocks noChangeArrowheads="1"/>
          </p:cNvSpPr>
          <p:nvPr/>
        </p:nvSpPr>
        <p:spPr bwMode="auto">
          <a:xfrm>
            <a:off x="1981200" y="6096000"/>
            <a:ext cx="3733800" cy="369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a:t>Source: Holland &amp; Dorans (2006)</a:t>
            </a:r>
          </a:p>
        </p:txBody>
      </p:sp>
      <p:sp>
        <p:nvSpPr>
          <p:cNvPr id="2" name="Slide Number Placeholder 1"/>
          <p:cNvSpPr>
            <a:spLocks noGrp="1"/>
          </p:cNvSpPr>
          <p:nvPr>
            <p:ph type="sldNum" sz="quarter" idx="12"/>
          </p:nvPr>
        </p:nvSpPr>
        <p:spPr/>
        <p:txBody>
          <a:bodyPr/>
          <a:lstStyle/>
          <a:p>
            <a:pPr>
              <a:defRPr/>
            </a:pPr>
            <a:fld id="{4BFC3609-DA9D-1843-A2F0-390667108820}" type="slidenum">
              <a:rPr lang="en-US"/>
              <a:pPr>
                <a:defRPr/>
              </a:pPr>
              <a:t>7</a:t>
            </a:fld>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287B99-9523-8744-97FF-A59223CE3722}"/>
              </a:ext>
            </a:extLst>
          </p:cNvPr>
          <p:cNvSpPr>
            <a:spLocks noGrp="1"/>
          </p:cNvSpPr>
          <p:nvPr>
            <p:ph type="title"/>
          </p:nvPr>
        </p:nvSpPr>
        <p:spPr/>
        <p:txBody>
          <a:bodyPr/>
          <a:lstStyle/>
          <a:p>
            <a:r>
              <a:rPr lang="en-US" b="1">
                <a:latin typeface="Calibri" charset="0"/>
                <a:ea typeface="ＭＳ Ｐゴシック" charset="0"/>
              </a:rPr>
              <a:t>Holland &amp; Dorans Terminology</a:t>
            </a:r>
            <a:endParaRPr lang="en-US"/>
          </a:p>
        </p:txBody>
      </p:sp>
      <p:sp>
        <p:nvSpPr>
          <p:cNvPr id="3" name="Content Placeholder 2">
            <a:extLst>
              <a:ext uri="{FF2B5EF4-FFF2-40B4-BE49-F238E27FC236}">
                <a16:creationId xmlns:a16="http://schemas.microsoft.com/office/drawing/2014/main" id="{AFD81551-A6E9-0041-80AE-B51A41ACE953}"/>
              </a:ext>
            </a:extLst>
          </p:cNvPr>
          <p:cNvSpPr>
            <a:spLocks noGrp="1"/>
          </p:cNvSpPr>
          <p:nvPr>
            <p:ph idx="1"/>
          </p:nvPr>
        </p:nvSpPr>
        <p:spPr/>
        <p:txBody>
          <a:bodyPr/>
          <a:lstStyle/>
          <a:p>
            <a:pPr marL="0" indent="0">
              <a:buNone/>
            </a:pPr>
            <a:r>
              <a:rPr lang="en-US" sz="2400" b="1"/>
              <a:t>"Linking" </a:t>
            </a:r>
            <a:r>
              <a:rPr lang="en-US" sz="2400"/>
              <a:t>refers to the general process of trying to map scores on one test to another, for various purposes. </a:t>
            </a:r>
            <a:endParaRPr lang="en-US" sz="2400">
              <a:effectLst/>
            </a:endParaRPr>
          </a:p>
          <a:p>
            <a:pPr marL="0" indent="0">
              <a:buNone/>
            </a:pPr>
            <a:r>
              <a:rPr lang="en-US" sz="2400" b="1"/>
              <a:t>"Equating" </a:t>
            </a:r>
            <a:r>
              <a:rPr lang="en-US" sz="2400"/>
              <a:t>is a special kind of linking done to make scores on two or more tests completely interchangeable. Thus, equating has additional requirements beyond other forms of linking. </a:t>
            </a:r>
            <a:endParaRPr lang="en-US" sz="2400">
              <a:effectLst/>
            </a:endParaRPr>
          </a:p>
          <a:p>
            <a:pPr marL="0" indent="0">
              <a:buNone/>
            </a:pPr>
            <a:r>
              <a:rPr lang="en-US" sz="2400" b="1"/>
              <a:t>types of linking (Holland and Dorans, 2006) </a:t>
            </a:r>
            <a:endParaRPr lang="en-US" sz="2400">
              <a:effectLst/>
            </a:endParaRPr>
          </a:p>
          <a:p>
            <a:r>
              <a:rPr lang="en-US" sz="2400"/>
              <a:t>Battery scaling: different constructs and common population</a:t>
            </a:r>
          </a:p>
          <a:p>
            <a:r>
              <a:rPr lang="en-US" sz="2400"/>
              <a:t>Vertical scaling: similar constructs/reliability, different populations and difficulty</a:t>
            </a:r>
          </a:p>
          <a:p>
            <a:r>
              <a:rPr lang="en-US" sz="2400"/>
              <a:t>Calibration: same construct and population, but different reliability</a:t>
            </a:r>
          </a:p>
          <a:p>
            <a:r>
              <a:rPr lang="en-US" sz="2400"/>
              <a:t>Concordances: similar constructs/difficulty/reliability and same population </a:t>
            </a:r>
            <a:endParaRPr lang="en-US" sz="2400">
              <a:effectLst/>
            </a:endParaRPr>
          </a:p>
          <a:p>
            <a:pPr marL="0" indent="0">
              <a:buNone/>
            </a:pPr>
            <a:endParaRPr lang="en-US" sz="2400"/>
          </a:p>
          <a:p>
            <a:endParaRPr lang="en-US"/>
          </a:p>
        </p:txBody>
      </p:sp>
      <p:sp>
        <p:nvSpPr>
          <p:cNvPr id="4" name="Slide Number Placeholder 3">
            <a:extLst>
              <a:ext uri="{FF2B5EF4-FFF2-40B4-BE49-F238E27FC236}">
                <a16:creationId xmlns:a16="http://schemas.microsoft.com/office/drawing/2014/main" id="{72342F6D-5292-0149-B8DD-690AA4884DD0}"/>
              </a:ext>
            </a:extLst>
          </p:cNvPr>
          <p:cNvSpPr>
            <a:spLocks noGrp="1"/>
          </p:cNvSpPr>
          <p:nvPr>
            <p:ph type="sldNum" sz="quarter" idx="12"/>
          </p:nvPr>
        </p:nvSpPr>
        <p:spPr/>
        <p:txBody>
          <a:bodyPr/>
          <a:lstStyle/>
          <a:p>
            <a:pPr>
              <a:defRPr/>
            </a:pPr>
            <a:fld id="{EC183674-A9ED-404F-B1CE-2FB45E89D5F6}" type="slidenum">
              <a:rPr lang="en-US"/>
              <a:pPr>
                <a:defRPr/>
              </a:pPr>
              <a:t>8</a:t>
            </a:fld>
            <a:endParaRPr lang="en-US" dirty="0"/>
          </a:p>
        </p:txBody>
      </p:sp>
    </p:spTree>
    <p:extLst>
      <p:ext uri="{BB962C8B-B14F-4D97-AF65-F5344CB8AC3E}">
        <p14:creationId xmlns:p14="http://schemas.microsoft.com/office/powerpoint/2010/main" val="18464412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Title 1"/>
          <p:cNvSpPr>
            <a:spLocks noGrp="1"/>
          </p:cNvSpPr>
          <p:nvPr>
            <p:ph type="title"/>
          </p:nvPr>
        </p:nvSpPr>
        <p:spPr/>
        <p:txBody>
          <a:bodyPr/>
          <a:lstStyle/>
          <a:p>
            <a:pPr eaLnBrk="1" hangingPunct="1"/>
            <a:r>
              <a:rPr lang="en-US" b="1">
                <a:latin typeface="Calibri" charset="0"/>
                <a:ea typeface="ＭＳ Ｐゴシック" charset="0"/>
              </a:rPr>
              <a:t>Test Equating Requirements</a:t>
            </a:r>
          </a:p>
        </p:txBody>
      </p:sp>
      <p:sp>
        <p:nvSpPr>
          <p:cNvPr id="15362" name="Content Placeholder 2"/>
          <p:cNvSpPr>
            <a:spLocks noGrp="1"/>
          </p:cNvSpPr>
          <p:nvPr>
            <p:ph idx="1"/>
          </p:nvPr>
        </p:nvSpPr>
        <p:spPr/>
        <p:txBody>
          <a:bodyPr/>
          <a:lstStyle/>
          <a:p>
            <a:pPr eaLnBrk="1" hangingPunct="1">
              <a:lnSpc>
                <a:spcPct val="80000"/>
              </a:lnSpc>
              <a:buFont typeface="Arial" charset="0"/>
              <a:buNone/>
            </a:pPr>
            <a:r>
              <a:rPr lang="en-US" sz="2800">
                <a:latin typeface="Calibri" charset="0"/>
                <a:ea typeface="ＭＳ Ｐゴシック" charset="0"/>
              </a:rPr>
              <a:t>Equating is the strongest form of test linking. Has 5 requirements:</a:t>
            </a:r>
          </a:p>
          <a:p>
            <a:pPr eaLnBrk="1" hangingPunct="1">
              <a:lnSpc>
                <a:spcPct val="80000"/>
              </a:lnSpc>
            </a:pPr>
            <a:endParaRPr lang="en-US" sz="2400">
              <a:latin typeface="Calibri" charset="0"/>
              <a:ea typeface="ＭＳ Ｐゴシック" charset="0"/>
            </a:endParaRPr>
          </a:p>
          <a:p>
            <a:pPr eaLnBrk="1" hangingPunct="1">
              <a:lnSpc>
                <a:spcPct val="80000"/>
              </a:lnSpc>
              <a:buFont typeface="Calibri" charset="0"/>
              <a:buAutoNum type="arabicPeriod"/>
            </a:pPr>
            <a:r>
              <a:rPr lang="en-US" sz="2800">
                <a:latin typeface="Calibri" charset="0"/>
                <a:ea typeface="ＭＳ Ｐゴシック" charset="0"/>
              </a:rPr>
              <a:t>Construct Invariance – Equated tests must measure the same construct</a:t>
            </a:r>
          </a:p>
          <a:p>
            <a:pPr eaLnBrk="1" hangingPunct="1">
              <a:lnSpc>
                <a:spcPct val="80000"/>
              </a:lnSpc>
              <a:buFont typeface="Calibri" charset="0"/>
              <a:buAutoNum type="arabicPeriod"/>
            </a:pPr>
            <a:r>
              <a:rPr lang="en-US" sz="2800">
                <a:latin typeface="Calibri" charset="0"/>
                <a:ea typeface="ＭＳ Ｐゴシック" charset="0"/>
              </a:rPr>
              <a:t>Equal Reliability – Tests must be equally reliable</a:t>
            </a:r>
          </a:p>
          <a:p>
            <a:pPr eaLnBrk="1" hangingPunct="1">
              <a:lnSpc>
                <a:spcPct val="80000"/>
              </a:lnSpc>
              <a:buFont typeface="Calibri" charset="0"/>
              <a:buAutoNum type="arabicPeriod"/>
            </a:pPr>
            <a:r>
              <a:rPr lang="en-US" sz="2800">
                <a:latin typeface="Calibri" charset="0"/>
                <a:ea typeface="ＭＳ Ｐゴシック" charset="0"/>
              </a:rPr>
              <a:t>Symmetry – The equation to transform scores from X to Y should be the inverse of the equation for the transformation from Y to X</a:t>
            </a:r>
          </a:p>
          <a:p>
            <a:pPr eaLnBrk="1" hangingPunct="1">
              <a:lnSpc>
                <a:spcPct val="80000"/>
              </a:lnSpc>
              <a:buFont typeface="Calibri" charset="0"/>
              <a:buAutoNum type="arabicPeriod"/>
            </a:pPr>
            <a:r>
              <a:rPr lang="en-US" sz="2800">
                <a:latin typeface="Calibri" charset="0"/>
                <a:ea typeface="ＭＳ Ｐゴシック" charset="0"/>
              </a:rPr>
              <a:t>Equity – It should be a matter of indifference as to which test an individual takes</a:t>
            </a:r>
          </a:p>
          <a:p>
            <a:pPr eaLnBrk="1" hangingPunct="1">
              <a:lnSpc>
                <a:spcPct val="80000"/>
              </a:lnSpc>
              <a:buFont typeface="Calibri" charset="0"/>
              <a:buAutoNum type="arabicPeriod"/>
            </a:pPr>
            <a:r>
              <a:rPr lang="en-US" sz="2800">
                <a:latin typeface="Calibri" charset="0"/>
                <a:ea typeface="ＭＳ Ｐゴシック" charset="0"/>
              </a:rPr>
              <a:t>Population Invariance – The estimation of parameters for use in the equating function should not depend on the selected (sub) population</a:t>
            </a:r>
          </a:p>
          <a:p>
            <a:pPr eaLnBrk="1" hangingPunct="1">
              <a:lnSpc>
                <a:spcPct val="80000"/>
              </a:lnSpc>
            </a:pPr>
            <a:endParaRPr lang="en-US" sz="3000">
              <a:latin typeface="Calibri" charset="0"/>
              <a:ea typeface="ＭＳ Ｐゴシック" charset="0"/>
            </a:endParaRPr>
          </a:p>
        </p:txBody>
      </p:sp>
      <p:sp>
        <p:nvSpPr>
          <p:cNvPr id="2" name="Slide Number Placeholder 1"/>
          <p:cNvSpPr>
            <a:spLocks noGrp="1"/>
          </p:cNvSpPr>
          <p:nvPr>
            <p:ph type="sldNum" sz="quarter" idx="12"/>
          </p:nvPr>
        </p:nvSpPr>
        <p:spPr/>
        <p:txBody>
          <a:bodyPr/>
          <a:lstStyle/>
          <a:p>
            <a:pPr>
              <a:defRPr/>
            </a:pPr>
            <a:fld id="{EC183674-A9ED-404F-B1CE-2FB45E89D5F6}" type="slidenum">
              <a:rPr lang="en-US"/>
              <a:pPr>
                <a:defRPr/>
              </a:pPr>
              <a:t>9</a:t>
            </a:fld>
            <a:endParaRPr lang="en-US" dirty="0"/>
          </a:p>
        </p:txBody>
      </p:sp>
    </p:spTree>
    <p:extLst>
      <p:ext uri="{BB962C8B-B14F-4D97-AF65-F5344CB8AC3E}">
        <p14:creationId xmlns:p14="http://schemas.microsoft.com/office/powerpoint/2010/main" val="30345592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B01FE-CBAA-9F46-833A-A5B2BE2BE3BB}"/>
              </a:ext>
            </a:extLst>
          </p:cNvPr>
          <p:cNvSpPr>
            <a:spLocks noGrp="1"/>
          </p:cNvSpPr>
          <p:nvPr>
            <p:ph type="title"/>
          </p:nvPr>
        </p:nvSpPr>
        <p:spPr/>
        <p:txBody>
          <a:bodyPr/>
          <a:lstStyle/>
          <a:p>
            <a:r>
              <a:rPr lang="en-US" b="1"/>
              <a:t>Sources of Confusion</a:t>
            </a:r>
          </a:p>
        </p:txBody>
      </p:sp>
      <p:sp>
        <p:nvSpPr>
          <p:cNvPr id="3" name="Content Placeholder 2">
            <a:extLst>
              <a:ext uri="{FF2B5EF4-FFF2-40B4-BE49-F238E27FC236}">
                <a16:creationId xmlns:a16="http://schemas.microsoft.com/office/drawing/2014/main" id="{85FA3333-2AB6-4E40-A5E8-970411678FAA}"/>
              </a:ext>
            </a:extLst>
          </p:cNvPr>
          <p:cNvSpPr>
            <a:spLocks noGrp="1"/>
          </p:cNvSpPr>
          <p:nvPr>
            <p:ph idx="1"/>
          </p:nvPr>
        </p:nvSpPr>
        <p:spPr/>
        <p:txBody>
          <a:bodyPr/>
          <a:lstStyle/>
          <a:p>
            <a:r>
              <a:rPr lang="en-US" sz="2800"/>
              <a:t>It is common for people to use the term “calibration” to refer to the process of estimating the item and person parameters of an IRT model.</a:t>
            </a:r>
          </a:p>
          <a:p>
            <a:r>
              <a:rPr lang="en-US" sz="2800"/>
              <a:t>Vertical scaling or vertical equating?</a:t>
            </a:r>
          </a:p>
          <a:p>
            <a:r>
              <a:rPr lang="en-US" sz="2800"/>
              <a:t>How does one tell if constructs are different or similar?</a:t>
            </a:r>
          </a:p>
          <a:p>
            <a:r>
              <a:rPr lang="en-US" sz="2800"/>
              <a:t>Given that the 5 requirements for a true equating of tests will almost never be met, could argue that the most salient distinction is between methods of prediction vs methods for scaling/equating.</a:t>
            </a:r>
          </a:p>
          <a:p>
            <a:r>
              <a:rPr lang="en-US" sz="2800"/>
              <a:t>In what follows the focus is on designs and analyses for test equating, but they also generally apply to contexts for “scale aligning” </a:t>
            </a:r>
          </a:p>
          <a:p>
            <a:endParaRPr lang="en-US"/>
          </a:p>
          <a:p>
            <a:endParaRPr lang="en-US"/>
          </a:p>
        </p:txBody>
      </p:sp>
      <p:sp>
        <p:nvSpPr>
          <p:cNvPr id="4" name="Slide Number Placeholder 3">
            <a:extLst>
              <a:ext uri="{FF2B5EF4-FFF2-40B4-BE49-F238E27FC236}">
                <a16:creationId xmlns:a16="http://schemas.microsoft.com/office/drawing/2014/main" id="{2EE71CBB-9B06-B54E-9C05-129E35461D11}"/>
              </a:ext>
            </a:extLst>
          </p:cNvPr>
          <p:cNvSpPr>
            <a:spLocks noGrp="1"/>
          </p:cNvSpPr>
          <p:nvPr>
            <p:ph type="sldNum" sz="quarter" idx="12"/>
          </p:nvPr>
        </p:nvSpPr>
        <p:spPr/>
        <p:txBody>
          <a:bodyPr/>
          <a:lstStyle/>
          <a:p>
            <a:pPr>
              <a:defRPr/>
            </a:pPr>
            <a:fld id="{EC183674-A9ED-404F-B1CE-2FB45E89D5F6}" type="slidenum">
              <a:rPr lang="en-US"/>
              <a:pPr>
                <a:defRPr/>
              </a:pPr>
              <a:t>10</a:t>
            </a:fld>
            <a:endParaRPr lang="en-US" dirty="0"/>
          </a:p>
        </p:txBody>
      </p:sp>
    </p:spTree>
    <p:extLst>
      <p:ext uri="{BB962C8B-B14F-4D97-AF65-F5344CB8AC3E}">
        <p14:creationId xmlns:p14="http://schemas.microsoft.com/office/powerpoint/2010/main" val="5174835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F16FA-C820-3D4F-9495-60510561859D}"/>
              </a:ext>
            </a:extLst>
          </p:cNvPr>
          <p:cNvSpPr>
            <a:spLocks noGrp="1"/>
          </p:cNvSpPr>
          <p:nvPr>
            <p:ph type="title"/>
          </p:nvPr>
        </p:nvSpPr>
        <p:spPr/>
        <p:txBody>
          <a:bodyPr/>
          <a:lstStyle/>
          <a:p>
            <a:r>
              <a:rPr lang="en-US" b="1"/>
              <a:t>Disclaimer</a:t>
            </a:r>
          </a:p>
        </p:txBody>
      </p:sp>
      <p:sp>
        <p:nvSpPr>
          <p:cNvPr id="3" name="Content Placeholder 2">
            <a:extLst>
              <a:ext uri="{FF2B5EF4-FFF2-40B4-BE49-F238E27FC236}">
                <a16:creationId xmlns:a16="http://schemas.microsoft.com/office/drawing/2014/main" id="{91058260-191B-5240-B903-A94352163B13}"/>
              </a:ext>
            </a:extLst>
          </p:cNvPr>
          <p:cNvSpPr>
            <a:spLocks noGrp="1"/>
          </p:cNvSpPr>
          <p:nvPr>
            <p:ph idx="1"/>
          </p:nvPr>
        </p:nvSpPr>
        <p:spPr/>
        <p:txBody>
          <a:bodyPr/>
          <a:lstStyle/>
          <a:p>
            <a:pPr marL="0" indent="0">
              <a:buNone/>
            </a:pPr>
            <a:endParaRPr lang="en-US"/>
          </a:p>
          <a:p>
            <a:pPr marL="0" indent="0">
              <a:buNone/>
            </a:pPr>
            <a:r>
              <a:rPr lang="en-US"/>
              <a:t>Statistically, we can link or equate almost anything. For example, we could apply linking or equating methods to weight and scores on a reading test, or to miles driven last year and number of words on your Facebook profile. Context and interpretation are required to assess whether a linking or equating is reasonable and meaningful, or just statistical nonesense. </a:t>
            </a:r>
            <a:endParaRPr lang="en-US">
              <a:effectLst/>
            </a:endParaRPr>
          </a:p>
          <a:p>
            <a:endParaRPr lang="en-US"/>
          </a:p>
        </p:txBody>
      </p:sp>
      <p:sp>
        <p:nvSpPr>
          <p:cNvPr id="4" name="Slide Number Placeholder 3">
            <a:extLst>
              <a:ext uri="{FF2B5EF4-FFF2-40B4-BE49-F238E27FC236}">
                <a16:creationId xmlns:a16="http://schemas.microsoft.com/office/drawing/2014/main" id="{14805471-9959-1844-9DBA-57198A3E925F}"/>
              </a:ext>
            </a:extLst>
          </p:cNvPr>
          <p:cNvSpPr>
            <a:spLocks noGrp="1"/>
          </p:cNvSpPr>
          <p:nvPr>
            <p:ph type="sldNum" sz="quarter" idx="12"/>
          </p:nvPr>
        </p:nvSpPr>
        <p:spPr/>
        <p:txBody>
          <a:bodyPr/>
          <a:lstStyle/>
          <a:p>
            <a:pPr>
              <a:defRPr/>
            </a:pPr>
            <a:fld id="{EC183674-A9ED-404F-B1CE-2FB45E89D5F6}" type="slidenum">
              <a:rPr lang="en-US"/>
              <a:pPr>
                <a:defRPr/>
              </a:pPr>
              <a:t>11</a:t>
            </a:fld>
            <a:endParaRPr lang="en-US" dirty="0"/>
          </a:p>
        </p:txBody>
      </p:sp>
    </p:spTree>
    <p:extLst>
      <p:ext uri="{BB962C8B-B14F-4D97-AF65-F5344CB8AC3E}">
        <p14:creationId xmlns:p14="http://schemas.microsoft.com/office/powerpoint/2010/main" val="23588374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3439C6F-35BB-F94E-912C-725C75BF8CB0}"/>
              </a:ext>
            </a:extLst>
          </p:cNvPr>
          <p:cNvSpPr>
            <a:spLocks noGrp="1"/>
          </p:cNvSpPr>
          <p:nvPr>
            <p:ph type="sldNum" sz="quarter" idx="12"/>
          </p:nvPr>
        </p:nvSpPr>
        <p:spPr/>
        <p:txBody>
          <a:bodyPr/>
          <a:lstStyle/>
          <a:p>
            <a:pPr>
              <a:defRPr/>
            </a:pPr>
            <a:fld id="{C312B7D6-AC34-7D41-8912-F5064E5072B8}" type="slidenum">
              <a:rPr lang="en-US"/>
              <a:pPr>
                <a:defRPr/>
              </a:pPr>
              <a:t>12</a:t>
            </a:fld>
            <a:endParaRPr lang="en-US" dirty="0"/>
          </a:p>
        </p:txBody>
      </p:sp>
      <p:sp>
        <p:nvSpPr>
          <p:cNvPr id="3" name="TextBox 2">
            <a:extLst>
              <a:ext uri="{FF2B5EF4-FFF2-40B4-BE49-F238E27FC236}">
                <a16:creationId xmlns:a16="http://schemas.microsoft.com/office/drawing/2014/main" id="{0817DA62-D4E2-7642-B166-FE7839124069}"/>
              </a:ext>
            </a:extLst>
          </p:cNvPr>
          <p:cNvSpPr txBox="1"/>
          <p:nvPr/>
        </p:nvSpPr>
        <p:spPr>
          <a:xfrm>
            <a:off x="3581400" y="2667000"/>
            <a:ext cx="5486400" cy="769441"/>
          </a:xfrm>
          <a:prstGeom prst="rect">
            <a:avLst/>
          </a:prstGeom>
          <a:noFill/>
        </p:spPr>
        <p:txBody>
          <a:bodyPr wrap="square" rtlCol="0">
            <a:spAutoFit/>
          </a:bodyPr>
          <a:lstStyle/>
          <a:p>
            <a:pPr algn="ctr"/>
            <a:r>
              <a:rPr lang="en-US" sz="4400" b="1">
                <a:latin typeface="Calibri" panose="020F0502020204030204" pitchFamily="34" charset="0"/>
                <a:cs typeface="Calibri" panose="020F0502020204030204" pitchFamily="34" charset="0"/>
              </a:rPr>
              <a:t>Designs</a:t>
            </a:r>
            <a:endParaRPr lang="en-US" b="1">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717803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E5FD65A-B7AE-FC4F-88C0-0B0BC67C98BB}"/>
              </a:ext>
            </a:extLst>
          </p:cNvPr>
          <p:cNvSpPr>
            <a:spLocks noGrp="1"/>
          </p:cNvSpPr>
          <p:nvPr>
            <p:ph type="title"/>
          </p:nvPr>
        </p:nvSpPr>
        <p:spPr/>
        <p:txBody>
          <a:bodyPr/>
          <a:lstStyle/>
          <a:p>
            <a:r>
              <a:rPr lang="en-US" b="1"/>
              <a:t>Fundamental Challenge</a:t>
            </a:r>
          </a:p>
        </p:txBody>
      </p:sp>
      <p:sp>
        <p:nvSpPr>
          <p:cNvPr id="4" name="Content Placeholder 3">
            <a:extLst>
              <a:ext uri="{FF2B5EF4-FFF2-40B4-BE49-F238E27FC236}">
                <a16:creationId xmlns:a16="http://schemas.microsoft.com/office/drawing/2014/main" id="{5631AD47-1905-844A-ABAA-B23EE379E4D1}"/>
              </a:ext>
            </a:extLst>
          </p:cNvPr>
          <p:cNvSpPr>
            <a:spLocks noGrp="1"/>
          </p:cNvSpPr>
          <p:nvPr>
            <p:ph idx="1"/>
          </p:nvPr>
        </p:nvSpPr>
        <p:spPr/>
        <p:txBody>
          <a:bodyPr/>
          <a:lstStyle/>
          <a:p>
            <a:r>
              <a:rPr lang="en-US"/>
              <a:t>Say we have two forms of a test, A and B, with at least some unique items on each form</a:t>
            </a:r>
          </a:p>
          <a:p>
            <a:r>
              <a:rPr lang="en-US"/>
              <a:t>How do we disentangle differences in the difficulty of the items on tests A and B from differences in the ability of the two groups of test-takers?</a:t>
            </a:r>
          </a:p>
          <a:p>
            <a:r>
              <a:rPr lang="en-US"/>
              <a:t>At heart, the key question is always about a counterfactual inference: We observe a score for student X on test A. How would the same student have scored if given test B instead?</a:t>
            </a:r>
          </a:p>
        </p:txBody>
      </p:sp>
      <p:sp>
        <p:nvSpPr>
          <p:cNvPr id="2" name="Slide Number Placeholder 1">
            <a:extLst>
              <a:ext uri="{FF2B5EF4-FFF2-40B4-BE49-F238E27FC236}">
                <a16:creationId xmlns:a16="http://schemas.microsoft.com/office/drawing/2014/main" id="{C76AA9F0-9D75-CC49-89B1-4A1E6B17673A}"/>
              </a:ext>
            </a:extLst>
          </p:cNvPr>
          <p:cNvSpPr>
            <a:spLocks noGrp="1"/>
          </p:cNvSpPr>
          <p:nvPr>
            <p:ph type="sldNum" sz="quarter" idx="12"/>
          </p:nvPr>
        </p:nvSpPr>
        <p:spPr/>
        <p:txBody>
          <a:bodyPr/>
          <a:lstStyle/>
          <a:p>
            <a:pPr>
              <a:defRPr/>
            </a:pPr>
            <a:fld id="{C312B7D6-AC34-7D41-8912-F5064E5072B8}" type="slidenum">
              <a:rPr lang="en-US"/>
              <a:pPr>
                <a:defRPr/>
              </a:pPr>
              <a:t>13</a:t>
            </a:fld>
            <a:endParaRPr lang="en-US" dirty="0"/>
          </a:p>
        </p:txBody>
      </p:sp>
    </p:spTree>
    <p:extLst>
      <p:ext uri="{BB962C8B-B14F-4D97-AF65-F5344CB8AC3E}">
        <p14:creationId xmlns:p14="http://schemas.microsoft.com/office/powerpoint/2010/main" val="39439511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30F0A71-F2A5-4347-9510-2F777FE166ED}"/>
              </a:ext>
            </a:extLst>
          </p:cNvPr>
          <p:cNvSpPr>
            <a:spLocks noGrp="1"/>
          </p:cNvSpPr>
          <p:nvPr>
            <p:ph type="title"/>
          </p:nvPr>
        </p:nvSpPr>
        <p:spPr/>
        <p:txBody>
          <a:bodyPr/>
          <a:lstStyle/>
          <a:p>
            <a:r>
              <a:rPr lang="en-US" b="1">
                <a:latin typeface="Calibri" charset="0"/>
                <a:ea typeface="ＭＳ Ｐゴシック" charset="0"/>
              </a:rPr>
              <a:t>Equating/Linking Designs</a:t>
            </a:r>
            <a:endParaRPr lang="en-US"/>
          </a:p>
        </p:txBody>
      </p:sp>
      <p:sp>
        <p:nvSpPr>
          <p:cNvPr id="4" name="Content Placeholder 3">
            <a:extLst>
              <a:ext uri="{FF2B5EF4-FFF2-40B4-BE49-F238E27FC236}">
                <a16:creationId xmlns:a16="http://schemas.microsoft.com/office/drawing/2014/main" id="{25F12CB0-3EEE-5640-8D06-10C719F81CD2}"/>
              </a:ext>
            </a:extLst>
          </p:cNvPr>
          <p:cNvSpPr>
            <a:spLocks noGrp="1"/>
          </p:cNvSpPr>
          <p:nvPr>
            <p:ph idx="1"/>
          </p:nvPr>
        </p:nvSpPr>
        <p:spPr/>
        <p:txBody>
          <a:bodyPr/>
          <a:lstStyle/>
          <a:p>
            <a:pPr marL="0" indent="0">
              <a:buNone/>
            </a:pPr>
            <a:r>
              <a:rPr lang="en-US" sz="2200" b="1"/>
              <a:t>single group design </a:t>
            </a:r>
            <a:endParaRPr lang="en-US" sz="2200">
              <a:effectLst/>
            </a:endParaRPr>
          </a:p>
          <a:p>
            <a:r>
              <a:rPr lang="en-US" sz="2200"/>
              <a:t>All participants take both tests X and Y. Sometimes we are concerned about order effects - examinees might do worse on the second test. Hence order of X and Y is usually counterbalanced, with half examinees randomly chose to take X first and half take Y first. </a:t>
            </a:r>
            <a:endParaRPr lang="en-US" sz="2200">
              <a:effectLst/>
            </a:endParaRPr>
          </a:p>
          <a:p>
            <a:pPr marL="0" indent="0">
              <a:buNone/>
            </a:pPr>
            <a:r>
              <a:rPr lang="en-US" sz="2200" b="1"/>
              <a:t>equivalent groups design </a:t>
            </a:r>
            <a:endParaRPr lang="en-US" sz="2200">
              <a:effectLst/>
            </a:endParaRPr>
          </a:p>
          <a:p>
            <a:r>
              <a:rPr lang="en-US" sz="2200"/>
              <a:t>Randomly assign each participant either form X or form Y. We assume that the random assignment ensures that the group taking X is equivalent in every way to the group taking Y. </a:t>
            </a:r>
            <a:endParaRPr lang="en-US" sz="2200">
              <a:effectLst/>
            </a:endParaRPr>
          </a:p>
          <a:p>
            <a:pPr marL="0" indent="0">
              <a:buNone/>
            </a:pPr>
            <a:r>
              <a:rPr lang="en-US" sz="2200" b="1"/>
              <a:t>NEAT design (</a:t>
            </a:r>
            <a:r>
              <a:rPr lang="en-US" sz="2200" b="1" i="1"/>
              <a:t>N</a:t>
            </a:r>
            <a:r>
              <a:rPr lang="en-US" sz="2200" b="1"/>
              <a:t>on-</a:t>
            </a:r>
            <a:r>
              <a:rPr lang="en-US" sz="2200" b="1" i="1"/>
              <a:t>E</a:t>
            </a:r>
            <a:r>
              <a:rPr lang="en-US" sz="2200" b="1"/>
              <a:t>quivalent groups with </a:t>
            </a:r>
            <a:r>
              <a:rPr lang="en-US" sz="2200" b="1" i="1"/>
              <a:t>A</a:t>
            </a:r>
            <a:r>
              <a:rPr lang="en-US" sz="2200" b="1"/>
              <a:t>nchor </a:t>
            </a:r>
            <a:r>
              <a:rPr lang="en-US" sz="2200" b="1" i="1"/>
              <a:t>T</a:t>
            </a:r>
            <a:r>
              <a:rPr lang="en-US" sz="2200" b="1"/>
              <a:t>est)</a:t>
            </a:r>
          </a:p>
          <a:p>
            <a:pPr marL="0" indent="0">
              <a:buNone/>
            </a:pPr>
            <a:r>
              <a:rPr lang="en-US" sz="2200" b="1"/>
              <a:t>(also sometimes called “Common Item Non-Equivalent Groups” Design)</a:t>
            </a:r>
          </a:p>
          <a:p>
            <a:r>
              <a:rPr lang="en-US" sz="2200"/>
              <a:t>Some examinees take test X and some take test Y (without random assignment) but all  examinees </a:t>
            </a:r>
            <a:r>
              <a:rPr lang="en-US" sz="2200" i="1"/>
              <a:t>also </a:t>
            </a:r>
            <a:r>
              <a:rPr lang="en-US" sz="2200"/>
              <a:t>take the anchor “test” A (where A might actually be a subset of items common to both X and Y). </a:t>
            </a:r>
            <a:endParaRPr lang="en-US" sz="2200">
              <a:effectLst/>
            </a:endParaRPr>
          </a:p>
          <a:p>
            <a:endParaRPr lang="en-US"/>
          </a:p>
        </p:txBody>
      </p:sp>
      <p:sp>
        <p:nvSpPr>
          <p:cNvPr id="2" name="Slide Number Placeholder 1">
            <a:extLst>
              <a:ext uri="{FF2B5EF4-FFF2-40B4-BE49-F238E27FC236}">
                <a16:creationId xmlns:a16="http://schemas.microsoft.com/office/drawing/2014/main" id="{EA78AAF5-23E2-0C4B-BB51-6BCEB29A687B}"/>
              </a:ext>
            </a:extLst>
          </p:cNvPr>
          <p:cNvSpPr>
            <a:spLocks noGrp="1"/>
          </p:cNvSpPr>
          <p:nvPr>
            <p:ph type="sldNum" sz="quarter" idx="12"/>
          </p:nvPr>
        </p:nvSpPr>
        <p:spPr/>
        <p:txBody>
          <a:bodyPr/>
          <a:lstStyle/>
          <a:p>
            <a:pPr>
              <a:defRPr/>
            </a:pPr>
            <a:fld id="{C312B7D6-AC34-7D41-8912-F5064E5072B8}" type="slidenum">
              <a:rPr lang="en-US"/>
              <a:pPr>
                <a:defRPr/>
              </a:pPr>
              <a:t>14</a:t>
            </a:fld>
            <a:endParaRPr lang="en-US" dirty="0"/>
          </a:p>
        </p:txBody>
      </p:sp>
    </p:spTree>
    <p:extLst>
      <p:ext uri="{BB962C8B-B14F-4D97-AF65-F5344CB8AC3E}">
        <p14:creationId xmlns:p14="http://schemas.microsoft.com/office/powerpoint/2010/main" val="25288964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p:cNvSpPr>
            <a:spLocks noGrp="1"/>
          </p:cNvSpPr>
          <p:nvPr>
            <p:ph type="title"/>
          </p:nvPr>
        </p:nvSpPr>
        <p:spPr/>
        <p:txBody>
          <a:bodyPr/>
          <a:lstStyle/>
          <a:p>
            <a:r>
              <a:rPr lang="en-US" b="1">
                <a:latin typeface="Calibri" charset="0"/>
                <a:ea typeface="ＭＳ Ｐゴシック" charset="0"/>
              </a:rPr>
              <a:t>Equating/Linking Designs</a:t>
            </a:r>
          </a:p>
        </p:txBody>
      </p:sp>
      <p:graphicFrame>
        <p:nvGraphicFramePr>
          <p:cNvPr id="5" name="Content Placeholder 3"/>
          <p:cNvGraphicFramePr>
            <a:graphicFrameLocks/>
          </p:cNvGraphicFramePr>
          <p:nvPr/>
        </p:nvGraphicFramePr>
        <p:xfrm>
          <a:off x="1905001" y="5364163"/>
          <a:ext cx="6705601" cy="1112838"/>
        </p:xfrm>
        <a:graphic>
          <a:graphicData uri="http://schemas.openxmlformats.org/drawingml/2006/table">
            <a:tbl>
              <a:tblPr firstRow="1" bandRow="1">
                <a:tableStyleId>{5C22544A-7EE6-4342-B048-85BDC9FD1C3A}</a:tableStyleId>
              </a:tblPr>
              <a:tblGrid>
                <a:gridCol w="1349298">
                  <a:extLst>
                    <a:ext uri="{9D8B030D-6E8A-4147-A177-3AD203B41FA5}">
                      <a16:colId xmlns:a16="http://schemas.microsoft.com/office/drawing/2014/main" val="20000"/>
                    </a:ext>
                  </a:extLst>
                </a:gridCol>
                <a:gridCol w="1349298">
                  <a:extLst>
                    <a:ext uri="{9D8B030D-6E8A-4147-A177-3AD203B41FA5}">
                      <a16:colId xmlns:a16="http://schemas.microsoft.com/office/drawing/2014/main" val="20001"/>
                    </a:ext>
                  </a:extLst>
                </a:gridCol>
                <a:gridCol w="1308410">
                  <a:extLst>
                    <a:ext uri="{9D8B030D-6E8A-4147-A177-3AD203B41FA5}">
                      <a16:colId xmlns:a16="http://schemas.microsoft.com/office/drawing/2014/main" val="20002"/>
                    </a:ext>
                  </a:extLst>
                </a:gridCol>
                <a:gridCol w="1308410">
                  <a:extLst>
                    <a:ext uri="{9D8B030D-6E8A-4147-A177-3AD203B41FA5}">
                      <a16:colId xmlns:a16="http://schemas.microsoft.com/office/drawing/2014/main" val="20003"/>
                    </a:ext>
                  </a:extLst>
                </a:gridCol>
                <a:gridCol w="1390185">
                  <a:extLst>
                    <a:ext uri="{9D8B030D-6E8A-4147-A177-3AD203B41FA5}">
                      <a16:colId xmlns:a16="http://schemas.microsoft.com/office/drawing/2014/main" val="20004"/>
                    </a:ext>
                  </a:extLst>
                </a:gridCol>
              </a:tblGrid>
              <a:tr h="370946">
                <a:tc>
                  <a:txBody>
                    <a:bodyPr/>
                    <a:lstStyle/>
                    <a:p>
                      <a:pPr algn="ctr"/>
                      <a:r>
                        <a:rPr lang="en-US" sz="1800" dirty="0"/>
                        <a:t>Population</a:t>
                      </a:r>
                    </a:p>
                  </a:txBody>
                  <a:tcPr marT="45733" marB="45733"/>
                </a:tc>
                <a:tc>
                  <a:txBody>
                    <a:bodyPr/>
                    <a:lstStyle/>
                    <a:p>
                      <a:pPr algn="ctr"/>
                      <a:r>
                        <a:rPr lang="en-US" sz="1800" dirty="0"/>
                        <a:t>Sample</a:t>
                      </a:r>
                    </a:p>
                  </a:txBody>
                  <a:tcPr marT="45733" marB="45733"/>
                </a:tc>
                <a:tc>
                  <a:txBody>
                    <a:bodyPr/>
                    <a:lstStyle/>
                    <a:p>
                      <a:pPr algn="ctr"/>
                      <a:r>
                        <a:rPr lang="en-US" sz="1800" dirty="0"/>
                        <a:t>X</a:t>
                      </a:r>
                    </a:p>
                  </a:txBody>
                  <a:tcPr marT="45733" marB="45733"/>
                </a:tc>
                <a:tc>
                  <a:txBody>
                    <a:bodyPr/>
                    <a:lstStyle/>
                    <a:p>
                      <a:pPr algn="ctr"/>
                      <a:r>
                        <a:rPr lang="en-US" sz="1800" dirty="0"/>
                        <a:t>A</a:t>
                      </a:r>
                    </a:p>
                  </a:txBody>
                  <a:tcPr marT="45733" marB="45733"/>
                </a:tc>
                <a:tc>
                  <a:txBody>
                    <a:bodyPr/>
                    <a:lstStyle/>
                    <a:p>
                      <a:pPr algn="ctr"/>
                      <a:r>
                        <a:rPr lang="en-US" sz="1800" dirty="0"/>
                        <a:t>Y</a:t>
                      </a:r>
                    </a:p>
                  </a:txBody>
                  <a:tcPr marT="45733" marB="45733"/>
                </a:tc>
                <a:extLst>
                  <a:ext uri="{0D108BD9-81ED-4DB2-BD59-A6C34878D82A}">
                    <a16:rowId xmlns:a16="http://schemas.microsoft.com/office/drawing/2014/main" val="10000"/>
                  </a:ext>
                </a:extLst>
              </a:tr>
              <a:tr h="370946">
                <a:tc>
                  <a:txBody>
                    <a:bodyPr/>
                    <a:lstStyle/>
                    <a:p>
                      <a:pPr algn="ctr"/>
                      <a:r>
                        <a:rPr lang="en-US" sz="1800" dirty="0"/>
                        <a:t>P</a:t>
                      </a:r>
                    </a:p>
                  </a:txBody>
                  <a:tcPr marT="45733" marB="45733"/>
                </a:tc>
                <a:tc>
                  <a:txBody>
                    <a:bodyPr/>
                    <a:lstStyle/>
                    <a:p>
                      <a:pPr algn="ctr"/>
                      <a:r>
                        <a:rPr lang="en-US" sz="1800" dirty="0"/>
                        <a:t>1</a:t>
                      </a:r>
                    </a:p>
                  </a:txBody>
                  <a:tcPr marT="45733" marB="45733"/>
                </a:tc>
                <a:tc>
                  <a:txBody>
                    <a:bodyPr/>
                    <a:lstStyle/>
                    <a:p>
                      <a:pPr algn="ctr"/>
                      <a:r>
                        <a:rPr lang="en-US" sz="1800" dirty="0"/>
                        <a:t>*</a:t>
                      </a:r>
                    </a:p>
                  </a:txBody>
                  <a:tcPr marT="45733" marB="45733"/>
                </a:tc>
                <a:tc>
                  <a:txBody>
                    <a:bodyPr/>
                    <a:lstStyle/>
                    <a:p>
                      <a:pPr algn="ctr"/>
                      <a:r>
                        <a:rPr lang="en-US" sz="1800" dirty="0"/>
                        <a:t>*</a:t>
                      </a:r>
                    </a:p>
                  </a:txBody>
                  <a:tcPr marT="45733" marB="45733"/>
                </a:tc>
                <a:tc>
                  <a:txBody>
                    <a:bodyPr/>
                    <a:lstStyle/>
                    <a:p>
                      <a:pPr algn="ctr"/>
                      <a:endParaRPr lang="en-US" sz="1800" dirty="0"/>
                    </a:p>
                  </a:txBody>
                  <a:tcPr marT="45733" marB="45733"/>
                </a:tc>
                <a:extLst>
                  <a:ext uri="{0D108BD9-81ED-4DB2-BD59-A6C34878D82A}">
                    <a16:rowId xmlns:a16="http://schemas.microsoft.com/office/drawing/2014/main" val="10001"/>
                  </a:ext>
                </a:extLst>
              </a:tr>
              <a:tr h="370946">
                <a:tc>
                  <a:txBody>
                    <a:bodyPr/>
                    <a:lstStyle/>
                    <a:p>
                      <a:pPr algn="ctr"/>
                      <a:r>
                        <a:rPr lang="en-US" sz="1800" dirty="0"/>
                        <a:t>Q</a:t>
                      </a:r>
                    </a:p>
                  </a:txBody>
                  <a:tcPr marT="45733" marB="45733"/>
                </a:tc>
                <a:tc>
                  <a:txBody>
                    <a:bodyPr/>
                    <a:lstStyle/>
                    <a:p>
                      <a:pPr algn="ctr"/>
                      <a:r>
                        <a:rPr lang="en-US" sz="1800" dirty="0"/>
                        <a:t>2</a:t>
                      </a:r>
                    </a:p>
                  </a:txBody>
                  <a:tcPr marT="45733" marB="45733"/>
                </a:tc>
                <a:tc>
                  <a:txBody>
                    <a:bodyPr/>
                    <a:lstStyle/>
                    <a:p>
                      <a:pPr algn="ctr"/>
                      <a:endParaRPr lang="en-US" sz="1800" dirty="0"/>
                    </a:p>
                  </a:txBody>
                  <a:tcPr marT="45733" marB="45733"/>
                </a:tc>
                <a:tc>
                  <a:txBody>
                    <a:bodyPr/>
                    <a:lstStyle/>
                    <a:p>
                      <a:pPr algn="ctr"/>
                      <a:r>
                        <a:rPr lang="en-US" sz="1800" dirty="0"/>
                        <a:t>*</a:t>
                      </a:r>
                    </a:p>
                  </a:txBody>
                  <a:tcPr marT="45733" marB="45733"/>
                </a:tc>
                <a:tc>
                  <a:txBody>
                    <a:bodyPr/>
                    <a:lstStyle/>
                    <a:p>
                      <a:pPr algn="ctr"/>
                      <a:r>
                        <a:rPr lang="en-US" sz="1800" dirty="0"/>
                        <a:t>*</a:t>
                      </a:r>
                    </a:p>
                  </a:txBody>
                  <a:tcPr marT="45733" marB="45733"/>
                </a:tc>
                <a:extLst>
                  <a:ext uri="{0D108BD9-81ED-4DB2-BD59-A6C34878D82A}">
                    <a16:rowId xmlns:a16="http://schemas.microsoft.com/office/drawing/2014/main" val="10002"/>
                  </a:ext>
                </a:extLst>
              </a:tr>
            </a:tbl>
          </a:graphicData>
        </a:graphic>
      </p:graphicFrame>
      <p:graphicFrame>
        <p:nvGraphicFramePr>
          <p:cNvPr id="6" name="Content Placeholder 3"/>
          <p:cNvGraphicFramePr>
            <a:graphicFrameLocks/>
          </p:cNvGraphicFramePr>
          <p:nvPr/>
        </p:nvGraphicFramePr>
        <p:xfrm>
          <a:off x="1905001" y="3611563"/>
          <a:ext cx="7848599" cy="1112838"/>
        </p:xfrm>
        <a:graphic>
          <a:graphicData uri="http://schemas.openxmlformats.org/drawingml/2006/table">
            <a:tbl>
              <a:tblPr firstRow="1" bandRow="1">
                <a:tableStyleId>{5C22544A-7EE6-4342-B048-85BDC9FD1C3A}</a:tableStyleId>
              </a:tblPr>
              <a:tblGrid>
                <a:gridCol w="1321448">
                  <a:extLst>
                    <a:ext uri="{9D8B030D-6E8A-4147-A177-3AD203B41FA5}">
                      <a16:colId xmlns:a16="http://schemas.microsoft.com/office/drawing/2014/main" val="20000"/>
                    </a:ext>
                  </a:extLst>
                </a:gridCol>
                <a:gridCol w="1321448">
                  <a:extLst>
                    <a:ext uri="{9D8B030D-6E8A-4147-A177-3AD203B41FA5}">
                      <a16:colId xmlns:a16="http://schemas.microsoft.com/office/drawing/2014/main" val="20001"/>
                    </a:ext>
                  </a:extLst>
                </a:gridCol>
                <a:gridCol w="1281404">
                  <a:extLst>
                    <a:ext uri="{9D8B030D-6E8A-4147-A177-3AD203B41FA5}">
                      <a16:colId xmlns:a16="http://schemas.microsoft.com/office/drawing/2014/main" val="20002"/>
                    </a:ext>
                  </a:extLst>
                </a:gridCol>
                <a:gridCol w="1281404">
                  <a:extLst>
                    <a:ext uri="{9D8B030D-6E8A-4147-A177-3AD203B41FA5}">
                      <a16:colId xmlns:a16="http://schemas.microsoft.com/office/drawing/2014/main" val="20003"/>
                    </a:ext>
                  </a:extLst>
                </a:gridCol>
                <a:gridCol w="1281404">
                  <a:extLst>
                    <a:ext uri="{9D8B030D-6E8A-4147-A177-3AD203B41FA5}">
                      <a16:colId xmlns:a16="http://schemas.microsoft.com/office/drawing/2014/main" val="20004"/>
                    </a:ext>
                  </a:extLst>
                </a:gridCol>
                <a:gridCol w="1361491">
                  <a:extLst>
                    <a:ext uri="{9D8B030D-6E8A-4147-A177-3AD203B41FA5}">
                      <a16:colId xmlns:a16="http://schemas.microsoft.com/office/drawing/2014/main" val="20005"/>
                    </a:ext>
                  </a:extLst>
                </a:gridCol>
              </a:tblGrid>
              <a:tr h="370946">
                <a:tc>
                  <a:txBody>
                    <a:bodyPr/>
                    <a:lstStyle/>
                    <a:p>
                      <a:pPr algn="ctr"/>
                      <a:r>
                        <a:rPr lang="en-US" sz="1800" dirty="0"/>
                        <a:t>Population</a:t>
                      </a:r>
                    </a:p>
                  </a:txBody>
                  <a:tcPr marT="45733" marB="45733"/>
                </a:tc>
                <a:tc>
                  <a:txBody>
                    <a:bodyPr/>
                    <a:lstStyle/>
                    <a:p>
                      <a:pPr algn="ctr"/>
                      <a:r>
                        <a:rPr lang="en-US" sz="1800" dirty="0"/>
                        <a:t>Sample</a:t>
                      </a:r>
                    </a:p>
                  </a:txBody>
                  <a:tcPr marT="45733" marB="45733"/>
                </a:tc>
                <a:tc>
                  <a:txBody>
                    <a:bodyPr/>
                    <a:lstStyle/>
                    <a:p>
                      <a:pPr algn="ctr"/>
                      <a:r>
                        <a:rPr lang="en-US" sz="1800" dirty="0"/>
                        <a:t>X</a:t>
                      </a:r>
                      <a:r>
                        <a:rPr lang="en-US" sz="1800" baseline="-25000" dirty="0"/>
                        <a:t>1</a:t>
                      </a:r>
                    </a:p>
                  </a:txBody>
                  <a:tcPr marT="45733" marB="45733"/>
                </a:tc>
                <a:tc>
                  <a:txBody>
                    <a:bodyPr/>
                    <a:lstStyle/>
                    <a:p>
                      <a:pPr algn="ctr"/>
                      <a:r>
                        <a:rPr lang="en-US" sz="1800" dirty="0"/>
                        <a:t>Y</a:t>
                      </a:r>
                      <a:r>
                        <a:rPr lang="en-US" sz="1800" baseline="-25000" dirty="0"/>
                        <a:t>1</a:t>
                      </a:r>
                    </a:p>
                  </a:txBody>
                  <a:tcPr marT="45733" marB="45733"/>
                </a:tc>
                <a:tc>
                  <a:txBody>
                    <a:bodyPr/>
                    <a:lstStyle/>
                    <a:p>
                      <a:pPr algn="ctr"/>
                      <a:r>
                        <a:rPr lang="en-US" sz="1800" dirty="0"/>
                        <a:t>X</a:t>
                      </a:r>
                      <a:r>
                        <a:rPr lang="en-US" sz="1800" baseline="-25000" dirty="0"/>
                        <a:t>2</a:t>
                      </a:r>
                    </a:p>
                  </a:txBody>
                  <a:tcPr marT="45733" marB="45733"/>
                </a:tc>
                <a:tc>
                  <a:txBody>
                    <a:bodyPr/>
                    <a:lstStyle/>
                    <a:p>
                      <a:pPr algn="ctr"/>
                      <a:r>
                        <a:rPr lang="en-US" sz="1800" dirty="0"/>
                        <a:t>Y</a:t>
                      </a:r>
                      <a:r>
                        <a:rPr lang="en-US" sz="1800" baseline="-25000" dirty="0"/>
                        <a:t>2</a:t>
                      </a:r>
                    </a:p>
                  </a:txBody>
                  <a:tcPr marT="45733" marB="45733"/>
                </a:tc>
                <a:extLst>
                  <a:ext uri="{0D108BD9-81ED-4DB2-BD59-A6C34878D82A}">
                    <a16:rowId xmlns:a16="http://schemas.microsoft.com/office/drawing/2014/main" val="10000"/>
                  </a:ext>
                </a:extLst>
              </a:tr>
              <a:tr h="370946">
                <a:tc>
                  <a:txBody>
                    <a:bodyPr/>
                    <a:lstStyle/>
                    <a:p>
                      <a:pPr algn="ctr"/>
                      <a:r>
                        <a:rPr lang="en-US" sz="1800" dirty="0"/>
                        <a:t>P</a:t>
                      </a:r>
                    </a:p>
                  </a:txBody>
                  <a:tcPr marT="45733" marB="45733"/>
                </a:tc>
                <a:tc>
                  <a:txBody>
                    <a:bodyPr/>
                    <a:lstStyle/>
                    <a:p>
                      <a:pPr algn="ctr"/>
                      <a:r>
                        <a:rPr lang="en-US" sz="1800" dirty="0"/>
                        <a:t>1</a:t>
                      </a:r>
                    </a:p>
                  </a:txBody>
                  <a:tcPr marT="45733" marB="45733"/>
                </a:tc>
                <a:tc>
                  <a:txBody>
                    <a:bodyPr/>
                    <a:lstStyle/>
                    <a:p>
                      <a:pPr algn="ctr"/>
                      <a:r>
                        <a:rPr lang="en-US" sz="1800" dirty="0"/>
                        <a:t>*</a:t>
                      </a:r>
                    </a:p>
                  </a:txBody>
                  <a:tcPr marT="45733" marB="45733"/>
                </a:tc>
                <a:tc>
                  <a:txBody>
                    <a:bodyPr/>
                    <a:lstStyle/>
                    <a:p>
                      <a:pPr algn="ctr"/>
                      <a:endParaRPr lang="en-US" sz="1800" dirty="0"/>
                    </a:p>
                  </a:txBody>
                  <a:tcPr marT="45733" marB="45733"/>
                </a:tc>
                <a:tc>
                  <a:txBody>
                    <a:bodyPr/>
                    <a:lstStyle/>
                    <a:p>
                      <a:pPr algn="ctr"/>
                      <a:endParaRPr lang="en-US" sz="1800" dirty="0"/>
                    </a:p>
                  </a:txBody>
                  <a:tcPr marT="45733" marB="45733"/>
                </a:tc>
                <a:tc>
                  <a:txBody>
                    <a:bodyPr/>
                    <a:lstStyle/>
                    <a:p>
                      <a:pPr algn="ctr"/>
                      <a:r>
                        <a:rPr lang="en-US" sz="1800" dirty="0"/>
                        <a:t>*</a:t>
                      </a:r>
                    </a:p>
                  </a:txBody>
                  <a:tcPr marT="45733" marB="45733"/>
                </a:tc>
                <a:extLst>
                  <a:ext uri="{0D108BD9-81ED-4DB2-BD59-A6C34878D82A}">
                    <a16:rowId xmlns:a16="http://schemas.microsoft.com/office/drawing/2014/main" val="10001"/>
                  </a:ext>
                </a:extLst>
              </a:tr>
              <a:tr h="370946">
                <a:tc>
                  <a:txBody>
                    <a:bodyPr/>
                    <a:lstStyle/>
                    <a:p>
                      <a:pPr algn="ctr"/>
                      <a:r>
                        <a:rPr lang="en-US" sz="1800" dirty="0"/>
                        <a:t>P</a:t>
                      </a:r>
                    </a:p>
                  </a:txBody>
                  <a:tcPr marT="45733" marB="45733"/>
                </a:tc>
                <a:tc>
                  <a:txBody>
                    <a:bodyPr/>
                    <a:lstStyle/>
                    <a:p>
                      <a:pPr algn="ctr"/>
                      <a:r>
                        <a:rPr lang="en-US" sz="1800" dirty="0"/>
                        <a:t>2</a:t>
                      </a:r>
                    </a:p>
                  </a:txBody>
                  <a:tcPr marT="45733" marB="45733"/>
                </a:tc>
                <a:tc>
                  <a:txBody>
                    <a:bodyPr/>
                    <a:lstStyle/>
                    <a:p>
                      <a:pPr algn="ctr"/>
                      <a:endParaRPr lang="en-US" sz="1800" dirty="0"/>
                    </a:p>
                  </a:txBody>
                  <a:tcPr marT="45733" marB="45733"/>
                </a:tc>
                <a:tc>
                  <a:txBody>
                    <a:bodyPr/>
                    <a:lstStyle/>
                    <a:p>
                      <a:pPr algn="ctr"/>
                      <a:r>
                        <a:rPr lang="en-US" sz="1800" dirty="0"/>
                        <a:t>*</a:t>
                      </a:r>
                    </a:p>
                  </a:txBody>
                  <a:tcPr marT="45733" marB="45733"/>
                </a:tc>
                <a:tc>
                  <a:txBody>
                    <a:bodyPr/>
                    <a:lstStyle/>
                    <a:p>
                      <a:pPr algn="ctr"/>
                      <a:r>
                        <a:rPr lang="en-US" sz="1800" dirty="0"/>
                        <a:t>*</a:t>
                      </a:r>
                    </a:p>
                  </a:txBody>
                  <a:tcPr marT="45733" marB="45733"/>
                </a:tc>
                <a:tc>
                  <a:txBody>
                    <a:bodyPr/>
                    <a:lstStyle/>
                    <a:p>
                      <a:pPr algn="ctr"/>
                      <a:endParaRPr lang="en-US" sz="1800" dirty="0"/>
                    </a:p>
                  </a:txBody>
                  <a:tcPr marT="45733" marB="45733"/>
                </a:tc>
                <a:extLst>
                  <a:ext uri="{0D108BD9-81ED-4DB2-BD59-A6C34878D82A}">
                    <a16:rowId xmlns:a16="http://schemas.microsoft.com/office/drawing/2014/main" val="10002"/>
                  </a:ext>
                </a:extLst>
              </a:tr>
            </a:tbl>
          </a:graphicData>
        </a:graphic>
      </p:graphicFrame>
      <p:graphicFrame>
        <p:nvGraphicFramePr>
          <p:cNvPr id="8" name="Content Placeholder 3"/>
          <p:cNvGraphicFramePr>
            <a:graphicFrameLocks/>
          </p:cNvGraphicFramePr>
          <p:nvPr/>
        </p:nvGraphicFramePr>
        <p:xfrm>
          <a:off x="1905000" y="2011363"/>
          <a:ext cx="5397500" cy="1112838"/>
        </p:xfrm>
        <a:graphic>
          <a:graphicData uri="http://schemas.openxmlformats.org/drawingml/2006/table">
            <a:tbl>
              <a:tblPr firstRow="1" bandRow="1">
                <a:tableStyleId>{5C22544A-7EE6-4342-B048-85BDC9FD1C3A}</a:tableStyleId>
              </a:tblPr>
              <a:tblGrid>
                <a:gridCol w="1349375">
                  <a:extLst>
                    <a:ext uri="{9D8B030D-6E8A-4147-A177-3AD203B41FA5}">
                      <a16:colId xmlns:a16="http://schemas.microsoft.com/office/drawing/2014/main" val="20000"/>
                    </a:ext>
                  </a:extLst>
                </a:gridCol>
                <a:gridCol w="1349375">
                  <a:extLst>
                    <a:ext uri="{9D8B030D-6E8A-4147-A177-3AD203B41FA5}">
                      <a16:colId xmlns:a16="http://schemas.microsoft.com/office/drawing/2014/main" val="20001"/>
                    </a:ext>
                  </a:extLst>
                </a:gridCol>
                <a:gridCol w="1308485">
                  <a:extLst>
                    <a:ext uri="{9D8B030D-6E8A-4147-A177-3AD203B41FA5}">
                      <a16:colId xmlns:a16="http://schemas.microsoft.com/office/drawing/2014/main" val="20002"/>
                    </a:ext>
                  </a:extLst>
                </a:gridCol>
                <a:gridCol w="1390265">
                  <a:extLst>
                    <a:ext uri="{9D8B030D-6E8A-4147-A177-3AD203B41FA5}">
                      <a16:colId xmlns:a16="http://schemas.microsoft.com/office/drawing/2014/main" val="20003"/>
                    </a:ext>
                  </a:extLst>
                </a:gridCol>
              </a:tblGrid>
              <a:tr h="370946">
                <a:tc>
                  <a:txBody>
                    <a:bodyPr/>
                    <a:lstStyle/>
                    <a:p>
                      <a:pPr algn="ctr"/>
                      <a:r>
                        <a:rPr lang="en-US" sz="1800" dirty="0"/>
                        <a:t>Population</a:t>
                      </a:r>
                    </a:p>
                  </a:txBody>
                  <a:tcPr marL="91445" marR="91445" marT="45733" marB="45733"/>
                </a:tc>
                <a:tc>
                  <a:txBody>
                    <a:bodyPr/>
                    <a:lstStyle/>
                    <a:p>
                      <a:pPr algn="ctr"/>
                      <a:r>
                        <a:rPr lang="en-US" sz="1800" dirty="0"/>
                        <a:t>Sample</a:t>
                      </a:r>
                    </a:p>
                  </a:txBody>
                  <a:tcPr marL="91445" marR="91445" marT="45733" marB="45733"/>
                </a:tc>
                <a:tc>
                  <a:txBody>
                    <a:bodyPr/>
                    <a:lstStyle/>
                    <a:p>
                      <a:pPr algn="ctr"/>
                      <a:r>
                        <a:rPr lang="en-US" sz="1800" dirty="0"/>
                        <a:t>X</a:t>
                      </a:r>
                    </a:p>
                  </a:txBody>
                  <a:tcPr marL="91445" marR="91445" marT="45733" marB="45733"/>
                </a:tc>
                <a:tc>
                  <a:txBody>
                    <a:bodyPr/>
                    <a:lstStyle/>
                    <a:p>
                      <a:pPr algn="ctr"/>
                      <a:r>
                        <a:rPr lang="en-US" sz="1800" dirty="0"/>
                        <a:t>Y</a:t>
                      </a:r>
                    </a:p>
                  </a:txBody>
                  <a:tcPr marL="91445" marR="91445" marT="45733" marB="45733"/>
                </a:tc>
                <a:extLst>
                  <a:ext uri="{0D108BD9-81ED-4DB2-BD59-A6C34878D82A}">
                    <a16:rowId xmlns:a16="http://schemas.microsoft.com/office/drawing/2014/main" val="10000"/>
                  </a:ext>
                </a:extLst>
              </a:tr>
              <a:tr h="370946">
                <a:tc>
                  <a:txBody>
                    <a:bodyPr/>
                    <a:lstStyle/>
                    <a:p>
                      <a:pPr algn="ctr"/>
                      <a:r>
                        <a:rPr lang="en-US" sz="1800" dirty="0"/>
                        <a:t>P</a:t>
                      </a:r>
                    </a:p>
                  </a:txBody>
                  <a:tcPr marL="91445" marR="91445" marT="45733" marB="45733"/>
                </a:tc>
                <a:tc>
                  <a:txBody>
                    <a:bodyPr/>
                    <a:lstStyle/>
                    <a:p>
                      <a:pPr algn="ctr"/>
                      <a:r>
                        <a:rPr lang="en-US" sz="1800" dirty="0"/>
                        <a:t>1</a:t>
                      </a:r>
                    </a:p>
                  </a:txBody>
                  <a:tcPr marL="91445" marR="91445" marT="45733" marB="45733"/>
                </a:tc>
                <a:tc>
                  <a:txBody>
                    <a:bodyPr/>
                    <a:lstStyle/>
                    <a:p>
                      <a:pPr algn="ctr"/>
                      <a:r>
                        <a:rPr lang="en-US" sz="1800" dirty="0"/>
                        <a:t>*</a:t>
                      </a:r>
                    </a:p>
                  </a:txBody>
                  <a:tcPr marL="91445" marR="91445" marT="45733" marB="45733"/>
                </a:tc>
                <a:tc>
                  <a:txBody>
                    <a:bodyPr/>
                    <a:lstStyle/>
                    <a:p>
                      <a:pPr algn="ctr"/>
                      <a:endParaRPr lang="en-US" sz="1800" dirty="0"/>
                    </a:p>
                  </a:txBody>
                  <a:tcPr marL="91445" marR="91445" marT="45733" marB="45733"/>
                </a:tc>
                <a:extLst>
                  <a:ext uri="{0D108BD9-81ED-4DB2-BD59-A6C34878D82A}">
                    <a16:rowId xmlns:a16="http://schemas.microsoft.com/office/drawing/2014/main" val="10001"/>
                  </a:ext>
                </a:extLst>
              </a:tr>
              <a:tr h="370946">
                <a:tc>
                  <a:txBody>
                    <a:bodyPr/>
                    <a:lstStyle/>
                    <a:p>
                      <a:pPr algn="ctr"/>
                      <a:r>
                        <a:rPr lang="en-US" sz="1800" dirty="0"/>
                        <a:t>P</a:t>
                      </a:r>
                    </a:p>
                  </a:txBody>
                  <a:tcPr marL="91445" marR="91445" marT="45733" marB="45733"/>
                </a:tc>
                <a:tc>
                  <a:txBody>
                    <a:bodyPr/>
                    <a:lstStyle/>
                    <a:p>
                      <a:pPr algn="ctr"/>
                      <a:r>
                        <a:rPr lang="en-US" sz="1800" dirty="0"/>
                        <a:t>2</a:t>
                      </a:r>
                    </a:p>
                  </a:txBody>
                  <a:tcPr marL="91445" marR="91445" marT="45733" marB="45733"/>
                </a:tc>
                <a:tc>
                  <a:txBody>
                    <a:bodyPr/>
                    <a:lstStyle/>
                    <a:p>
                      <a:pPr algn="ctr"/>
                      <a:endParaRPr lang="en-US" sz="1800" dirty="0"/>
                    </a:p>
                  </a:txBody>
                  <a:tcPr marL="91445" marR="91445" marT="45733" marB="45733"/>
                </a:tc>
                <a:tc>
                  <a:txBody>
                    <a:bodyPr/>
                    <a:lstStyle/>
                    <a:p>
                      <a:pPr algn="ctr"/>
                      <a:r>
                        <a:rPr lang="en-US" sz="1800" dirty="0"/>
                        <a:t>*</a:t>
                      </a:r>
                    </a:p>
                  </a:txBody>
                  <a:tcPr marL="91445" marR="91445" marT="45733" marB="45733"/>
                </a:tc>
                <a:extLst>
                  <a:ext uri="{0D108BD9-81ED-4DB2-BD59-A6C34878D82A}">
                    <a16:rowId xmlns:a16="http://schemas.microsoft.com/office/drawing/2014/main" val="10002"/>
                  </a:ext>
                </a:extLst>
              </a:tr>
            </a:tbl>
          </a:graphicData>
        </a:graphic>
      </p:graphicFrame>
      <p:sp>
        <p:nvSpPr>
          <p:cNvPr id="10" name="TextBox 9"/>
          <p:cNvSpPr txBox="1">
            <a:spLocks noChangeArrowheads="1"/>
          </p:cNvSpPr>
          <p:nvPr/>
        </p:nvSpPr>
        <p:spPr bwMode="auto">
          <a:xfrm>
            <a:off x="1905000" y="1447800"/>
            <a:ext cx="4114800" cy="369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a:t>1. Equivalent Groups Design</a:t>
            </a:r>
          </a:p>
        </p:txBody>
      </p:sp>
      <p:sp>
        <p:nvSpPr>
          <p:cNvPr id="11" name="TextBox 10"/>
          <p:cNvSpPr txBox="1">
            <a:spLocks noChangeArrowheads="1"/>
          </p:cNvSpPr>
          <p:nvPr/>
        </p:nvSpPr>
        <p:spPr bwMode="auto">
          <a:xfrm>
            <a:off x="1905000" y="3211513"/>
            <a:ext cx="6019800"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a:t>2. Counterbalanced Design with Equivalent Groups</a:t>
            </a:r>
          </a:p>
        </p:txBody>
      </p:sp>
      <p:sp>
        <p:nvSpPr>
          <p:cNvPr id="12" name="TextBox 11"/>
          <p:cNvSpPr txBox="1">
            <a:spLocks noChangeArrowheads="1"/>
          </p:cNvSpPr>
          <p:nvPr/>
        </p:nvSpPr>
        <p:spPr bwMode="auto">
          <a:xfrm>
            <a:off x="1905000" y="4964113"/>
            <a:ext cx="8382000"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a:t>3. Common Item Design with Nonequivalent Groups (aka “NEAT” Design)</a:t>
            </a:r>
          </a:p>
        </p:txBody>
      </p:sp>
      <p:sp>
        <p:nvSpPr>
          <p:cNvPr id="2" name="Slide Number Placeholder 1"/>
          <p:cNvSpPr>
            <a:spLocks noGrp="1"/>
          </p:cNvSpPr>
          <p:nvPr>
            <p:ph type="sldNum" sz="quarter" idx="12"/>
          </p:nvPr>
        </p:nvSpPr>
        <p:spPr/>
        <p:txBody>
          <a:bodyPr/>
          <a:lstStyle/>
          <a:p>
            <a:pPr>
              <a:defRPr/>
            </a:pPr>
            <a:fld id="{EC183674-A9ED-404F-B1CE-2FB45E89D5F6}" type="slidenum">
              <a:rPr lang="en-US"/>
              <a:pPr>
                <a:defRPr/>
              </a:pPr>
              <a:t>15</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additive="base">
                                        <p:cTn id="17" dur="500" fill="hold"/>
                                        <p:tgtEl>
                                          <p:spTgt spid="11"/>
                                        </p:tgtEl>
                                        <p:attrNameLst>
                                          <p:attrName>ppt_x</p:attrName>
                                        </p:attrNameLst>
                                      </p:cBhvr>
                                      <p:tavLst>
                                        <p:tav tm="0">
                                          <p:val>
                                            <p:strVal val="#ppt_x"/>
                                          </p:val>
                                        </p:tav>
                                        <p:tav tm="100000">
                                          <p:val>
                                            <p:strVal val="#ppt_x"/>
                                          </p:val>
                                        </p:tav>
                                      </p:tavLst>
                                    </p:anim>
                                    <p:anim calcmode="lin" valueType="num">
                                      <p:cBhvr additive="base">
                                        <p:cTn id="18" dur="500" fill="hold"/>
                                        <p:tgtEl>
                                          <p:spTgt spid="11"/>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additive="base">
                                        <p:cTn id="21" dur="500" fill="hold"/>
                                        <p:tgtEl>
                                          <p:spTgt spid="6"/>
                                        </p:tgtEl>
                                        <p:attrNameLst>
                                          <p:attrName>ppt_x</p:attrName>
                                        </p:attrNameLst>
                                      </p:cBhvr>
                                      <p:tavLst>
                                        <p:tav tm="0">
                                          <p:val>
                                            <p:strVal val="#ppt_x"/>
                                          </p:val>
                                        </p:tav>
                                        <p:tav tm="100000">
                                          <p:val>
                                            <p:strVal val="#ppt_x"/>
                                          </p:val>
                                        </p:tav>
                                      </p:tavLst>
                                    </p:anim>
                                    <p:anim calcmode="lin" valueType="num">
                                      <p:cBhvr additive="base">
                                        <p:cTn id="2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500" fill="hold"/>
                                        <p:tgtEl>
                                          <p:spTgt spid="12"/>
                                        </p:tgtEl>
                                        <p:attrNameLst>
                                          <p:attrName>ppt_x</p:attrName>
                                        </p:attrNameLst>
                                      </p:cBhvr>
                                      <p:tavLst>
                                        <p:tav tm="0">
                                          <p:val>
                                            <p:strVal val="#ppt_x"/>
                                          </p:val>
                                        </p:tav>
                                        <p:tav tm="100000">
                                          <p:val>
                                            <p:strVal val="#ppt_x"/>
                                          </p:val>
                                        </p:tav>
                                      </p:tavLst>
                                    </p:anim>
                                    <p:anim calcmode="lin" valueType="num">
                                      <p:cBhvr additive="base">
                                        <p:cTn id="28" dur="500" fill="hold"/>
                                        <p:tgtEl>
                                          <p:spTgt spid="12"/>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5"/>
                                        </p:tgtEl>
                                        <p:attrNameLst>
                                          <p:attrName>style.visibility</p:attrName>
                                        </p:attrNameLst>
                                      </p:cBhvr>
                                      <p:to>
                                        <p:strVal val="visible"/>
                                      </p:to>
                                    </p:set>
                                    <p:anim calcmode="lin" valueType="num">
                                      <p:cBhvr additive="base">
                                        <p:cTn id="31" dur="500" fill="hold"/>
                                        <p:tgtEl>
                                          <p:spTgt spid="5"/>
                                        </p:tgtEl>
                                        <p:attrNameLst>
                                          <p:attrName>ppt_x</p:attrName>
                                        </p:attrNameLst>
                                      </p:cBhvr>
                                      <p:tavLst>
                                        <p:tav tm="0">
                                          <p:val>
                                            <p:strVal val="#ppt_x"/>
                                          </p:val>
                                        </p:tav>
                                        <p:tav tm="100000">
                                          <p:val>
                                            <p:strVal val="#ppt_x"/>
                                          </p:val>
                                        </p:tav>
                                      </p:tavLst>
                                    </p:anim>
                                    <p:anim calcmode="lin" valueType="num">
                                      <p:cBhvr additive="base">
                                        <p:cTn id="3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1"/>
          <p:cNvSpPr>
            <a:spLocks noChangeArrowheads="1"/>
          </p:cNvSpPr>
          <p:nvPr/>
        </p:nvSpPr>
        <p:spPr bwMode="auto">
          <a:xfrm>
            <a:off x="2971800" y="2743201"/>
            <a:ext cx="6472238" cy="7080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r>
              <a:rPr lang="en-US" sz="4000" b="1"/>
              <a:t>Test Equating </a:t>
            </a:r>
            <a:r>
              <a:rPr lang="en-US" sz="4000" b="1" u="sng"/>
              <a:t>without</a:t>
            </a:r>
            <a:r>
              <a:rPr lang="en-US" sz="4000" b="1"/>
              <a:t> IRT</a:t>
            </a:r>
            <a:endParaRPr lang="en-US" sz="4000"/>
          </a:p>
        </p:txBody>
      </p:sp>
      <p:sp>
        <p:nvSpPr>
          <p:cNvPr id="2" name="Slide Number Placeholder 1"/>
          <p:cNvSpPr>
            <a:spLocks noGrp="1"/>
          </p:cNvSpPr>
          <p:nvPr>
            <p:ph type="sldNum" sz="quarter" idx="12"/>
          </p:nvPr>
        </p:nvSpPr>
        <p:spPr/>
        <p:txBody>
          <a:bodyPr/>
          <a:lstStyle/>
          <a:p>
            <a:pPr>
              <a:defRPr/>
            </a:pPr>
            <a:fld id="{C312B7D6-AC34-7D41-8912-F5064E5072B8}" type="slidenum">
              <a:rPr lang="en-US"/>
              <a:pPr>
                <a:defRPr/>
              </a:pPr>
              <a:t>16</a:t>
            </a:fld>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a:t>Observed Score Equating for </a:t>
            </a:r>
            <a:br>
              <a:rPr lang="en-US" sz="4000" b="1"/>
            </a:br>
            <a:r>
              <a:rPr lang="en-US" sz="4000" b="1"/>
              <a:t>Single or Equivalent Groups Designs </a:t>
            </a:r>
          </a:p>
        </p:txBody>
      </p:sp>
      <p:sp>
        <p:nvSpPr>
          <p:cNvPr id="3" name="Content Placeholder 2"/>
          <p:cNvSpPr>
            <a:spLocks noGrp="1"/>
          </p:cNvSpPr>
          <p:nvPr>
            <p:ph idx="1"/>
          </p:nvPr>
        </p:nvSpPr>
        <p:spPr/>
        <p:txBody>
          <a:bodyPr/>
          <a:lstStyle/>
          <a:p>
            <a:pPr marL="514350" indent="-514350">
              <a:buFont typeface="+mj-lt"/>
              <a:buAutoNum type="arabicPeriod"/>
            </a:pPr>
            <a:endParaRPr lang="en-US" sz="2800"/>
          </a:p>
          <a:p>
            <a:pPr marL="514350" indent="-514350">
              <a:buFont typeface="+mj-lt"/>
              <a:buAutoNum type="arabicPeriod"/>
            </a:pPr>
            <a:r>
              <a:rPr lang="en-US" sz="2800"/>
              <a:t>Mean Score Equating.  Assumes two score distributions differ primarily by their mean.</a:t>
            </a:r>
          </a:p>
          <a:p>
            <a:pPr marL="514350" indent="-514350">
              <a:buFont typeface="+mj-lt"/>
              <a:buAutoNum type="arabicPeriod"/>
            </a:pPr>
            <a:r>
              <a:rPr lang="en-US" sz="2800"/>
              <a:t>Linear Equating. Assumes two score distributions differ primarly by mean and variance.</a:t>
            </a:r>
          </a:p>
          <a:p>
            <a:pPr marL="514350" indent="-514350">
              <a:buFont typeface="+mj-lt"/>
              <a:buAutoNum type="arabicPeriod"/>
            </a:pPr>
            <a:r>
              <a:rPr lang="en-US" sz="2800"/>
              <a:t>Equipercentile Equating. Assumes two score distributions differ with respect to mean, variance, skewness, kurtosis…</a:t>
            </a:r>
          </a:p>
        </p:txBody>
      </p:sp>
      <p:sp>
        <p:nvSpPr>
          <p:cNvPr id="4" name="Slide Number Placeholder 3"/>
          <p:cNvSpPr>
            <a:spLocks noGrp="1"/>
          </p:cNvSpPr>
          <p:nvPr>
            <p:ph type="sldNum" sz="quarter" idx="12"/>
          </p:nvPr>
        </p:nvSpPr>
        <p:spPr/>
        <p:txBody>
          <a:bodyPr/>
          <a:lstStyle/>
          <a:p>
            <a:pPr>
              <a:defRPr/>
            </a:pPr>
            <a:fld id="{EC183674-A9ED-404F-B1CE-2FB45E89D5F6}" type="slidenum">
              <a:rPr lang="en-US"/>
              <a:pPr>
                <a:defRPr/>
              </a:pPr>
              <a:t>17</a:t>
            </a:fld>
            <a:endParaRPr lang="en-US" dirty="0"/>
          </a:p>
        </p:txBody>
      </p:sp>
    </p:spTree>
    <p:extLst>
      <p:ext uri="{BB962C8B-B14F-4D97-AF65-F5344CB8AC3E}">
        <p14:creationId xmlns:p14="http://schemas.microsoft.com/office/powerpoint/2010/main" val="12204238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D9D968-EA27-6E47-AFEC-32274BE0BB68}"/>
              </a:ext>
            </a:extLst>
          </p:cNvPr>
          <p:cNvSpPr>
            <a:spLocks noGrp="1"/>
          </p:cNvSpPr>
          <p:nvPr>
            <p:ph type="title"/>
          </p:nvPr>
        </p:nvSpPr>
        <p:spPr/>
        <p:txBody>
          <a:bodyPr/>
          <a:lstStyle/>
          <a:p>
            <a:r>
              <a:rPr lang="en-US" b="1"/>
              <a:t>(1) Mean Equating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9D4F38E-A4A7-7446-965F-DDE5103BF3C4}"/>
                  </a:ext>
                </a:extLst>
              </p:cNvPr>
              <p:cNvSpPr>
                <a:spLocks noGrp="1"/>
              </p:cNvSpPr>
              <p:nvPr>
                <p:ph idx="1"/>
              </p:nvPr>
            </p:nvSpPr>
            <p:spPr/>
            <p:txBody>
              <a:bodyPr/>
              <a:lstStyle/>
              <a:p>
                <a:r>
                  <a:rPr lang="en-US"/>
                  <a:t>Only adjust for differences in average difficulty between two test forms.</a:t>
                </a:r>
              </a:p>
              <a:p>
                <a:pPr marL="0" indent="0">
                  <a:buNone/>
                </a:pPr>
                <a14:m>
                  <m:oMathPara xmlns:m="http://schemas.openxmlformats.org/officeDocument/2006/math">
                    <m:oMathParaPr>
                      <m:jc m:val="centerGroup"/>
                    </m:oMathParaPr>
                    <m:oMath xmlns:m="http://schemas.openxmlformats.org/officeDocument/2006/math">
                      <m:sSub>
                        <m:sSubPr>
                          <m:ctrlPr>
                            <a:rPr lang="en-US" b="0" i="1">
                              <a:latin typeface="Cambria Math" panose="02040503050406030204" pitchFamily="18" charset="0"/>
                            </a:rPr>
                          </m:ctrlPr>
                        </m:sSubPr>
                        <m:e>
                          <m:r>
                            <a:rPr lang="en-US" b="0" i="1">
                              <a:latin typeface="Cambria Math" panose="02040503050406030204" pitchFamily="18" charset="0"/>
                            </a:rPr>
                            <m:t>𝑋</m:t>
                          </m:r>
                        </m:e>
                        <m:sub>
                          <m:r>
                            <a:rPr lang="en-US" b="0" i="1">
                              <a:latin typeface="Cambria Math" panose="02040503050406030204" pitchFamily="18" charset="0"/>
                            </a:rPr>
                            <m:t>1</m:t>
                          </m:r>
                        </m:sub>
                      </m:sSub>
                      <m:r>
                        <a:rPr lang="en-US" b="0" i="1">
                          <a:latin typeface="Cambria Math" panose="02040503050406030204" pitchFamily="18" charset="0"/>
                        </a:rPr>
                        <m:t>−</m:t>
                      </m:r>
                      <m:acc>
                        <m:accPr>
                          <m:chr m:val="̅"/>
                          <m:ctrlPr>
                            <a:rPr lang="en-US" b="0" i="1">
                              <a:latin typeface="Cambria Math" panose="02040503050406030204" pitchFamily="18" charset="0"/>
                            </a:rPr>
                          </m:ctrlPr>
                        </m:accPr>
                        <m:e>
                          <m:sSub>
                            <m:sSubPr>
                              <m:ctrlPr>
                                <a:rPr lang="en-US" b="0" i="1">
                                  <a:latin typeface="Cambria Math" panose="02040503050406030204" pitchFamily="18" charset="0"/>
                                </a:rPr>
                              </m:ctrlPr>
                            </m:sSubPr>
                            <m:e>
                              <m:r>
                                <a:rPr lang="en-US" b="0" i="1">
                                  <a:latin typeface="Cambria Math" panose="02040503050406030204" pitchFamily="18" charset="0"/>
                                </a:rPr>
                                <m:t>𝑋</m:t>
                              </m:r>
                            </m:e>
                            <m:sub>
                              <m:r>
                                <a:rPr lang="en-US" b="0" i="1">
                                  <a:latin typeface="Cambria Math" panose="02040503050406030204" pitchFamily="18" charset="0"/>
                                </a:rPr>
                                <m:t>1</m:t>
                              </m:r>
                            </m:sub>
                          </m:sSub>
                        </m:e>
                      </m:acc>
                      <m:r>
                        <a:rPr lang="en-US" b="0" i="1">
                          <a:latin typeface="Cambria Math" panose="02040503050406030204" pitchFamily="18" charset="0"/>
                        </a:rPr>
                        <m:t>=</m:t>
                      </m:r>
                      <m:sSub>
                        <m:sSubPr>
                          <m:ctrlPr>
                            <a:rPr lang="en-US" b="0" i="1">
                              <a:latin typeface="Cambria Math" panose="02040503050406030204" pitchFamily="18" charset="0"/>
                            </a:rPr>
                          </m:ctrlPr>
                        </m:sSubPr>
                        <m:e>
                          <m:r>
                            <a:rPr lang="en-US" b="0" i="1">
                              <a:latin typeface="Cambria Math" panose="02040503050406030204" pitchFamily="18" charset="0"/>
                            </a:rPr>
                            <m:t>𝑋</m:t>
                          </m:r>
                        </m:e>
                        <m:sub>
                          <m:r>
                            <a:rPr lang="en-US" b="0" i="1">
                              <a:latin typeface="Cambria Math" panose="02040503050406030204" pitchFamily="18" charset="0"/>
                            </a:rPr>
                            <m:t>2</m:t>
                          </m:r>
                        </m:sub>
                      </m:sSub>
                      <m:r>
                        <a:rPr lang="en-US" b="0" i="1">
                          <a:latin typeface="Cambria Math" panose="02040503050406030204" pitchFamily="18" charset="0"/>
                        </a:rPr>
                        <m:t>−</m:t>
                      </m:r>
                      <m:acc>
                        <m:accPr>
                          <m:chr m:val="̅"/>
                          <m:ctrlPr>
                            <a:rPr lang="en-US" b="0"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b="0" i="1">
                                  <a:latin typeface="Cambria Math" panose="02040503050406030204" pitchFamily="18" charset="0"/>
                                </a:rPr>
                                <m:t>2</m:t>
                              </m:r>
                            </m:sub>
                          </m:sSub>
                        </m:e>
                      </m:acc>
                    </m:oMath>
                  </m:oMathPara>
                </a14:m>
                <a:endParaRPr lang="en-US"/>
              </a:p>
              <a:p>
                <a:pPr marL="0" indent="0">
                  <a:buNone/>
                </a:pPr>
                <a:endParaRPr lang="en-US"/>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2</m:t>
                          </m:r>
                        </m:sub>
                      </m:sSub>
                      <m:r>
                        <a:rPr lang="en-US" i="1">
                          <a:latin typeface="Cambria Math" panose="02040503050406030204" pitchFamily="18" charset="0"/>
                        </a:rPr>
                        <m:t>−</m:t>
                      </m:r>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2</m:t>
                              </m:r>
                            </m:sub>
                          </m:sSub>
                        </m:e>
                      </m:acc>
                      <m:r>
                        <a:rPr lang="en-US" b="0" i="1">
                          <a:latin typeface="Cambria Math" panose="02040503050406030204" pitchFamily="18" charset="0"/>
                        </a:rPr>
                        <m:t>+</m:t>
                      </m:r>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1</m:t>
                              </m:r>
                            </m:sub>
                          </m:sSub>
                        </m:e>
                      </m:acc>
                    </m:oMath>
                  </m:oMathPara>
                </a14:m>
                <a:endParaRPr lang="en-US"/>
              </a:p>
              <a:p>
                <a:r>
                  <a:rPr lang="en-US"/>
                  <a:t>In our opening example/activity, the mean for form B was 8.8 points higher than mean for form A. So we could attempt to equate the two tests by adding 8.8 points to all student score on form A.</a:t>
                </a:r>
              </a:p>
            </p:txBody>
          </p:sp>
        </mc:Choice>
        <mc:Fallback xmlns="">
          <p:sp>
            <p:nvSpPr>
              <p:cNvPr id="3" name="Content Placeholder 2">
                <a:extLst>
                  <a:ext uri="{FF2B5EF4-FFF2-40B4-BE49-F238E27FC236}">
                    <a16:creationId xmlns:a16="http://schemas.microsoft.com/office/drawing/2014/main" id="{89D4F38E-A4A7-7446-965F-DDE5103BF3C4}"/>
                  </a:ext>
                </a:extLst>
              </p:cNvPr>
              <p:cNvSpPr>
                <a:spLocks noGrp="1" noRot="1" noChangeAspect="1" noMove="1" noResize="1" noEditPoints="1" noAdjustHandles="1" noChangeArrowheads="1" noChangeShapeType="1" noTextEdit="1"/>
              </p:cNvSpPr>
              <p:nvPr>
                <p:ph idx="1"/>
              </p:nvPr>
            </p:nvSpPr>
            <p:spPr>
              <a:blipFill>
                <a:blip r:embed="rId2"/>
                <a:stretch>
                  <a:fillRect l="-1387" t="-1681" b="-7563"/>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EA25ED87-37BC-1844-843D-C1F819D7F246}"/>
              </a:ext>
            </a:extLst>
          </p:cNvPr>
          <p:cNvSpPr>
            <a:spLocks noGrp="1"/>
          </p:cNvSpPr>
          <p:nvPr>
            <p:ph type="sldNum" sz="quarter" idx="12"/>
          </p:nvPr>
        </p:nvSpPr>
        <p:spPr/>
        <p:txBody>
          <a:bodyPr/>
          <a:lstStyle/>
          <a:p>
            <a:pPr>
              <a:defRPr/>
            </a:pPr>
            <a:fld id="{EC183674-A9ED-404F-B1CE-2FB45E89D5F6}" type="slidenum">
              <a:rPr lang="en-US"/>
              <a:pPr>
                <a:defRPr/>
              </a:pPr>
              <a:t>18</a:t>
            </a:fld>
            <a:endParaRPr lang="en-US" dirty="0"/>
          </a:p>
        </p:txBody>
      </p:sp>
    </p:spTree>
    <p:extLst>
      <p:ext uri="{BB962C8B-B14F-4D97-AF65-F5344CB8AC3E}">
        <p14:creationId xmlns:p14="http://schemas.microsoft.com/office/powerpoint/2010/main" val="14403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Title 1"/>
          <p:cNvSpPr>
            <a:spLocks noGrp="1"/>
          </p:cNvSpPr>
          <p:nvPr>
            <p:ph type="title"/>
          </p:nvPr>
        </p:nvSpPr>
        <p:spPr/>
        <p:txBody>
          <a:bodyPr/>
          <a:lstStyle/>
          <a:p>
            <a:r>
              <a:rPr lang="en-US" b="1">
                <a:latin typeface="Calibri" charset="0"/>
                <a:ea typeface="ＭＳ Ｐゴシック" charset="0"/>
              </a:rPr>
              <a:t>(2) Linear Equating</a:t>
            </a:r>
          </a:p>
        </p:txBody>
      </p:sp>
      <p:sp>
        <p:nvSpPr>
          <p:cNvPr id="18434" name="Content Placeholder 2"/>
          <p:cNvSpPr>
            <a:spLocks noGrp="1"/>
          </p:cNvSpPr>
          <p:nvPr>
            <p:ph idx="1"/>
          </p:nvPr>
        </p:nvSpPr>
        <p:spPr/>
        <p:txBody>
          <a:bodyPr/>
          <a:lstStyle/>
          <a:p>
            <a:pPr marL="0" indent="0">
              <a:buNone/>
            </a:pPr>
            <a:r>
              <a:rPr lang="en-US" sz="2800">
                <a:latin typeface="Calibri" charset="0"/>
                <a:ea typeface="ＭＳ Ｐゴシック" charset="0"/>
              </a:rPr>
              <a:t>To equate scores on a new form (X) to scores on a reference form (Y) for a group  of test-takers from the same population, transform each score on the new form to the score on the reference form that is the same number of standard deviations above or below the mean of the reference group. (Livingston, 2004)</a:t>
            </a:r>
          </a:p>
          <a:p>
            <a:pPr marL="0" indent="0">
              <a:buNone/>
            </a:pPr>
            <a:endParaRPr lang="en-US">
              <a:latin typeface="Calibri" charset="0"/>
              <a:ea typeface="ＭＳ Ｐゴシック" charset="0"/>
            </a:endParaRPr>
          </a:p>
        </p:txBody>
      </p:sp>
      <p:graphicFrame>
        <p:nvGraphicFramePr>
          <p:cNvPr id="18435" name="Object 3"/>
          <p:cNvGraphicFramePr>
            <a:graphicFrameLocks noChangeAspect="1"/>
          </p:cNvGraphicFramePr>
          <p:nvPr/>
        </p:nvGraphicFramePr>
        <p:xfrm>
          <a:off x="4191000" y="4495801"/>
          <a:ext cx="3429000" cy="1635125"/>
        </p:xfrm>
        <a:graphic>
          <a:graphicData uri="http://schemas.openxmlformats.org/presentationml/2006/ole">
            <mc:AlternateContent xmlns:mc="http://schemas.openxmlformats.org/markup-compatibility/2006">
              <mc:Choice xmlns:v="urn:schemas-microsoft-com:vml" Requires="v">
                <p:oleObj name="Equation" r:id="rId2" imgW="825500" imgH="393700" progId="Equation.DSMT4">
                  <p:embed/>
                </p:oleObj>
              </mc:Choice>
              <mc:Fallback>
                <p:oleObj name="Equation" r:id="rId2" imgW="825500" imgH="393700" progId="Equation.DSMT4">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91000" y="4495801"/>
                        <a:ext cx="3429000" cy="16351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oleObj>
              </mc:Fallback>
            </mc:AlternateContent>
          </a:graphicData>
        </a:graphic>
      </p:graphicFrame>
      <p:sp>
        <p:nvSpPr>
          <p:cNvPr id="2" name="Slide Number Placeholder 1"/>
          <p:cNvSpPr>
            <a:spLocks noGrp="1"/>
          </p:cNvSpPr>
          <p:nvPr>
            <p:ph type="sldNum" sz="quarter" idx="12"/>
          </p:nvPr>
        </p:nvSpPr>
        <p:spPr/>
        <p:txBody>
          <a:bodyPr/>
          <a:lstStyle/>
          <a:p>
            <a:pPr>
              <a:defRPr/>
            </a:pPr>
            <a:fld id="{EC183674-A9ED-404F-B1CE-2FB45E89D5F6}" type="slidenum">
              <a:rPr lang="en-US"/>
              <a:pPr>
                <a:defRPr/>
              </a:pPr>
              <a:t>19</a:t>
            </a:fld>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Title 1"/>
          <p:cNvSpPr>
            <a:spLocks noGrp="1"/>
          </p:cNvSpPr>
          <p:nvPr>
            <p:ph type="title"/>
          </p:nvPr>
        </p:nvSpPr>
        <p:spPr/>
        <p:txBody>
          <a:bodyPr/>
          <a:lstStyle/>
          <a:p>
            <a:r>
              <a:rPr lang="en-US" b="1">
                <a:latin typeface="Calibri" charset="0"/>
                <a:ea typeface="ＭＳ Ｐゴシック" charset="0"/>
              </a:rPr>
              <a:t>Linear Equating in Action</a:t>
            </a:r>
          </a:p>
        </p:txBody>
      </p:sp>
      <p:graphicFrame>
        <p:nvGraphicFramePr>
          <p:cNvPr id="19458" name="Object 4"/>
          <p:cNvGraphicFramePr>
            <a:graphicFrameLocks noChangeAspect="1"/>
          </p:cNvGraphicFramePr>
          <p:nvPr/>
        </p:nvGraphicFramePr>
        <p:xfrm>
          <a:off x="4038600" y="1524001"/>
          <a:ext cx="3429000" cy="1635125"/>
        </p:xfrm>
        <a:graphic>
          <a:graphicData uri="http://schemas.openxmlformats.org/presentationml/2006/ole">
            <mc:AlternateContent xmlns:mc="http://schemas.openxmlformats.org/markup-compatibility/2006">
              <mc:Choice xmlns:v="urn:schemas-microsoft-com:vml" Requires="v">
                <p:oleObj name="Equation" r:id="rId2" imgW="825500" imgH="393700" progId="Equation.DSMT4">
                  <p:embed/>
                </p:oleObj>
              </mc:Choice>
              <mc:Fallback>
                <p:oleObj name="Equation" r:id="rId2" imgW="825500" imgH="393700" progId="Equation.DSMT4">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38600" y="1524001"/>
                        <a:ext cx="3429000" cy="16351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oleObj>
              </mc:Fallback>
            </mc:AlternateContent>
          </a:graphicData>
        </a:graphic>
      </p:graphicFrame>
      <p:sp>
        <p:nvSpPr>
          <p:cNvPr id="19459" name="TextBox 5"/>
          <p:cNvSpPr txBox="1">
            <a:spLocks noChangeArrowheads="1"/>
          </p:cNvSpPr>
          <p:nvPr/>
        </p:nvSpPr>
        <p:spPr bwMode="auto">
          <a:xfrm>
            <a:off x="2286000" y="3276601"/>
            <a:ext cx="7315200" cy="10156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2000"/>
              <a:t>Solve for Y (score that would be observed on reference form) in terms of X (score observed on new form). This gives us a value for X that is </a:t>
            </a:r>
            <a:r>
              <a:rPr lang="en-US" sz="2000" i="1"/>
              <a:t>adjusted </a:t>
            </a:r>
            <a:r>
              <a:rPr lang="en-US" sz="2000"/>
              <a:t>relative to Y.</a:t>
            </a:r>
          </a:p>
        </p:txBody>
      </p:sp>
      <p:graphicFrame>
        <p:nvGraphicFramePr>
          <p:cNvPr id="19460" name="Object 6"/>
          <p:cNvGraphicFramePr>
            <a:graphicFrameLocks noChangeAspect="1"/>
          </p:cNvGraphicFramePr>
          <p:nvPr>
            <p:extLst>
              <p:ext uri="{D42A27DB-BD31-4B8C-83A1-F6EECF244321}">
                <p14:modId xmlns:p14="http://schemas.microsoft.com/office/powerpoint/2010/main" val="789181603"/>
              </p:ext>
            </p:extLst>
          </p:nvPr>
        </p:nvGraphicFramePr>
        <p:xfrm>
          <a:off x="3097214" y="4572000"/>
          <a:ext cx="5735637" cy="1371600"/>
        </p:xfrm>
        <a:graphic>
          <a:graphicData uri="http://schemas.openxmlformats.org/presentationml/2006/ole">
            <mc:AlternateContent xmlns:mc="http://schemas.openxmlformats.org/markup-compatibility/2006">
              <mc:Choice xmlns:v="urn:schemas-microsoft-com:vml" Requires="v">
                <p:oleObj name="Equation" r:id="rId4" imgW="1752600" imgH="419100" progId="Equation.DSMT4">
                  <p:embed/>
                </p:oleObj>
              </mc:Choice>
              <mc:Fallback>
                <p:oleObj name="Equation" r:id="rId4" imgW="1752600" imgH="419100" progId="Equation.DSMT4">
                  <p:embed/>
                  <p:pic>
                    <p:nvPicPr>
                      <p:cNvPr id="0" name="Object 6"/>
                      <p:cNvPicPr>
                        <a:picLocks noChangeAspect="1" noChangeArrowheads="1"/>
                      </p:cNvPicPr>
                      <p:nvPr/>
                    </p:nvPicPr>
                    <p:blipFill>
                      <a:blip r:embed="rId5"/>
                      <a:srcRect/>
                      <a:stretch>
                        <a:fillRect/>
                      </a:stretch>
                    </p:blipFill>
                    <p:spPr bwMode="auto">
                      <a:xfrm>
                        <a:off x="3097214" y="4572000"/>
                        <a:ext cx="5735637" cy="13716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oleObj>
              </mc:Fallback>
            </mc:AlternateContent>
          </a:graphicData>
        </a:graphic>
      </p:graphicFrame>
      <p:sp>
        <p:nvSpPr>
          <p:cNvPr id="2" name="Slide Number Placeholder 1"/>
          <p:cNvSpPr>
            <a:spLocks noGrp="1"/>
          </p:cNvSpPr>
          <p:nvPr>
            <p:ph type="sldNum" sz="quarter" idx="12"/>
          </p:nvPr>
        </p:nvSpPr>
        <p:spPr/>
        <p:txBody>
          <a:bodyPr/>
          <a:lstStyle/>
          <a:p>
            <a:pPr>
              <a:defRPr/>
            </a:pPr>
            <a:fld id="{EC183674-A9ED-404F-B1CE-2FB45E89D5F6}" type="slidenum">
              <a:rPr lang="en-US"/>
              <a:pPr>
                <a:defRPr/>
              </a:pPr>
              <a:t>20</a:t>
            </a:fld>
            <a:endParaRPr lang="en-US" dirty="0"/>
          </a:p>
        </p:txBody>
      </p:sp>
      <p:sp>
        <p:nvSpPr>
          <p:cNvPr id="4" name="Right Brace 3">
            <a:extLst>
              <a:ext uri="{FF2B5EF4-FFF2-40B4-BE49-F238E27FC236}">
                <a16:creationId xmlns:a16="http://schemas.microsoft.com/office/drawing/2014/main" id="{676DC0E1-C3D5-6B45-8AE3-9CD8F09D9506}"/>
              </a:ext>
            </a:extLst>
          </p:cNvPr>
          <p:cNvSpPr/>
          <p:nvPr/>
        </p:nvSpPr>
        <p:spPr>
          <a:xfrm rot="5400000">
            <a:off x="5098882" y="5569118"/>
            <a:ext cx="279736" cy="10287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 name="Right Brace 8">
            <a:extLst>
              <a:ext uri="{FF2B5EF4-FFF2-40B4-BE49-F238E27FC236}">
                <a16:creationId xmlns:a16="http://schemas.microsoft.com/office/drawing/2014/main" id="{E792F220-965B-C34E-9D7D-E8E8A0D912EE}"/>
              </a:ext>
            </a:extLst>
          </p:cNvPr>
          <p:cNvSpPr/>
          <p:nvPr/>
        </p:nvSpPr>
        <p:spPr>
          <a:xfrm rot="5400000">
            <a:off x="7448550" y="5146675"/>
            <a:ext cx="365125" cy="1958975"/>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 name="TextBox 4">
            <a:extLst>
              <a:ext uri="{FF2B5EF4-FFF2-40B4-BE49-F238E27FC236}">
                <a16:creationId xmlns:a16="http://schemas.microsoft.com/office/drawing/2014/main" id="{A43E0F5D-3C05-2C45-B7A9-8FD3C61C39D3}"/>
              </a:ext>
            </a:extLst>
          </p:cNvPr>
          <p:cNvSpPr txBox="1"/>
          <p:nvPr/>
        </p:nvSpPr>
        <p:spPr>
          <a:xfrm>
            <a:off x="7391400" y="6400800"/>
            <a:ext cx="1066800" cy="369332"/>
          </a:xfrm>
          <a:prstGeom prst="rect">
            <a:avLst/>
          </a:prstGeom>
          <a:noFill/>
        </p:spPr>
        <p:txBody>
          <a:bodyPr wrap="square" rtlCol="0">
            <a:spAutoFit/>
          </a:bodyPr>
          <a:lstStyle/>
          <a:p>
            <a:r>
              <a:rPr lang="en-US"/>
              <a:t>“B”</a:t>
            </a:r>
          </a:p>
        </p:txBody>
      </p:sp>
      <p:sp>
        <p:nvSpPr>
          <p:cNvPr id="11" name="TextBox 10">
            <a:extLst>
              <a:ext uri="{FF2B5EF4-FFF2-40B4-BE49-F238E27FC236}">
                <a16:creationId xmlns:a16="http://schemas.microsoft.com/office/drawing/2014/main" id="{AB23A8A2-3065-BF4D-91EB-C1F223F30072}"/>
              </a:ext>
            </a:extLst>
          </p:cNvPr>
          <p:cNvSpPr txBox="1"/>
          <p:nvPr/>
        </p:nvSpPr>
        <p:spPr>
          <a:xfrm>
            <a:off x="5105400" y="6412468"/>
            <a:ext cx="1066800" cy="369332"/>
          </a:xfrm>
          <a:prstGeom prst="rect">
            <a:avLst/>
          </a:prstGeom>
          <a:noFill/>
        </p:spPr>
        <p:txBody>
          <a:bodyPr wrap="square" rtlCol="0">
            <a:spAutoFit/>
          </a:bodyPr>
          <a:lstStyle/>
          <a:p>
            <a:r>
              <a:rPr lang="en-US"/>
              <a:t>“A”</a:t>
            </a:r>
          </a:p>
        </p:txBody>
      </p:sp>
      <p:sp>
        <p:nvSpPr>
          <p:cNvPr id="6" name="TextBox 5">
            <a:extLst>
              <a:ext uri="{FF2B5EF4-FFF2-40B4-BE49-F238E27FC236}">
                <a16:creationId xmlns:a16="http://schemas.microsoft.com/office/drawing/2014/main" id="{8A010DBE-D180-5142-A5FC-655109A24A02}"/>
              </a:ext>
            </a:extLst>
          </p:cNvPr>
          <p:cNvSpPr txBox="1"/>
          <p:nvPr/>
        </p:nvSpPr>
        <p:spPr>
          <a:xfrm>
            <a:off x="2493433" y="6400800"/>
            <a:ext cx="2590800" cy="369332"/>
          </a:xfrm>
          <a:prstGeom prst="rect">
            <a:avLst/>
          </a:prstGeom>
          <a:noFill/>
        </p:spPr>
        <p:txBody>
          <a:bodyPr wrap="square" rtlCol="0">
            <a:spAutoFit/>
          </a:bodyPr>
          <a:lstStyle/>
          <a:p>
            <a:r>
              <a:rPr lang="en-US"/>
              <a:t>Linking Constants: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Title 1"/>
          <p:cNvSpPr>
            <a:spLocks noGrp="1"/>
          </p:cNvSpPr>
          <p:nvPr>
            <p:ph type="title"/>
          </p:nvPr>
        </p:nvSpPr>
        <p:spPr/>
        <p:txBody>
          <a:bodyPr/>
          <a:lstStyle/>
          <a:p>
            <a:r>
              <a:rPr lang="en-US" b="1">
                <a:latin typeface="Calibri" charset="0"/>
                <a:ea typeface="ＭＳ Ｐゴシック" charset="0"/>
              </a:rPr>
              <a:t>(3) Equipercentile Equating</a:t>
            </a:r>
          </a:p>
        </p:txBody>
      </p:sp>
      <p:sp>
        <p:nvSpPr>
          <p:cNvPr id="52226" name="Content Placeholder 2"/>
          <p:cNvSpPr>
            <a:spLocks noGrp="1"/>
          </p:cNvSpPr>
          <p:nvPr>
            <p:ph idx="1"/>
          </p:nvPr>
        </p:nvSpPr>
        <p:spPr/>
        <p:txBody>
          <a:bodyPr/>
          <a:lstStyle/>
          <a:p>
            <a:pPr marL="0" indent="0">
              <a:buNone/>
            </a:pPr>
            <a:r>
              <a:rPr lang="en-US">
                <a:latin typeface="Calibri" charset="0"/>
                <a:ea typeface="ＭＳ Ｐゴシック" charset="0"/>
              </a:rPr>
              <a:t>To equate scores on the new form to scores on the reference form in a group of test-takers, transform each score on the new form to the score on the reference form that has the same percentile rank in that group.</a:t>
            </a:r>
          </a:p>
          <a:p>
            <a:pPr marL="0" indent="0">
              <a:buNone/>
            </a:pPr>
            <a:endParaRPr lang="en-US">
              <a:latin typeface="Calibri" charset="0"/>
              <a:ea typeface="ＭＳ Ｐゴシック" charset="0"/>
            </a:endParaRPr>
          </a:p>
          <a:p>
            <a:pPr marL="0" indent="0">
              <a:buNone/>
            </a:pPr>
            <a:r>
              <a:rPr lang="en-US">
                <a:latin typeface="Calibri" charset="0"/>
                <a:ea typeface="ＭＳ Ｐゴシック" charset="0"/>
              </a:rPr>
              <a:t>Steps:</a:t>
            </a:r>
          </a:p>
          <a:p>
            <a:pPr marL="514350" indent="-514350">
              <a:buAutoNum type="arabicPeriod"/>
            </a:pPr>
            <a:r>
              <a:rPr lang="en-US">
                <a:latin typeface="Calibri" charset="0"/>
                <a:ea typeface="ＭＳ Ｐゴシック" charset="0"/>
              </a:rPr>
              <a:t>Find the percentile rank for a score on new form</a:t>
            </a:r>
          </a:p>
          <a:p>
            <a:pPr marL="514350" indent="-514350">
              <a:buAutoNum type="arabicPeriod"/>
            </a:pPr>
            <a:r>
              <a:rPr lang="en-US">
                <a:latin typeface="Calibri" charset="0"/>
                <a:ea typeface="ＭＳ Ｐゴシック" charset="0"/>
              </a:rPr>
              <a:t>Find the inverse of that percentile rank to get the corresponding score on a reference form.</a:t>
            </a:r>
          </a:p>
        </p:txBody>
      </p:sp>
      <p:sp>
        <p:nvSpPr>
          <p:cNvPr id="2" name="Slide Number Placeholder 1"/>
          <p:cNvSpPr>
            <a:spLocks noGrp="1"/>
          </p:cNvSpPr>
          <p:nvPr>
            <p:ph type="sldNum" sz="quarter" idx="12"/>
          </p:nvPr>
        </p:nvSpPr>
        <p:spPr/>
        <p:txBody>
          <a:bodyPr/>
          <a:lstStyle/>
          <a:p>
            <a:pPr>
              <a:defRPr/>
            </a:pPr>
            <a:fld id="{EC183674-A9ED-404F-B1CE-2FB45E89D5F6}" type="slidenum">
              <a:rPr lang="en-US"/>
              <a:pPr>
                <a:defRPr/>
              </a:pPr>
              <a:t>21</a:t>
            </a:fld>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Percentile Ranks</a:t>
            </a:r>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24000" y="1513924"/>
            <a:ext cx="8770105" cy="4763074"/>
          </a:xfrm>
        </p:spPr>
      </p:pic>
      <p:sp>
        <p:nvSpPr>
          <p:cNvPr id="4" name="Slide Number Placeholder 3"/>
          <p:cNvSpPr>
            <a:spLocks noGrp="1"/>
          </p:cNvSpPr>
          <p:nvPr>
            <p:ph type="sldNum" sz="quarter" idx="12"/>
          </p:nvPr>
        </p:nvSpPr>
        <p:spPr/>
        <p:txBody>
          <a:bodyPr/>
          <a:lstStyle/>
          <a:p>
            <a:pPr>
              <a:defRPr/>
            </a:pPr>
            <a:fld id="{EC183674-A9ED-404F-B1CE-2FB45E89D5F6}" type="slidenum">
              <a:rPr lang="en-US"/>
              <a:pPr>
                <a:defRPr/>
              </a:pPr>
              <a:t>22</a:t>
            </a:fld>
            <a:endParaRPr lang="en-US" dirty="0"/>
          </a:p>
        </p:txBody>
      </p:sp>
    </p:spTree>
    <p:extLst>
      <p:ext uri="{BB962C8B-B14F-4D97-AF65-F5344CB8AC3E}">
        <p14:creationId xmlns:p14="http://schemas.microsoft.com/office/powerpoint/2010/main" val="5097892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a:t>Challenges with </a:t>
            </a:r>
            <a:br>
              <a:rPr lang="en-US" sz="4000" b="1"/>
            </a:br>
            <a:r>
              <a:rPr lang="en-US" sz="4000" b="1"/>
              <a:t>Equipercentile Equating</a:t>
            </a:r>
          </a:p>
        </p:txBody>
      </p:sp>
      <p:sp>
        <p:nvSpPr>
          <p:cNvPr id="3" name="Content Placeholder 2"/>
          <p:cNvSpPr>
            <a:spLocks noGrp="1"/>
          </p:cNvSpPr>
          <p:nvPr>
            <p:ph idx="1"/>
          </p:nvPr>
        </p:nvSpPr>
        <p:spPr/>
        <p:txBody>
          <a:bodyPr/>
          <a:lstStyle/>
          <a:p>
            <a:r>
              <a:rPr lang="en-US" sz="2400"/>
              <a:t>Since equipercentile equating makes the fewest assumptions, why not always do this?</a:t>
            </a:r>
          </a:p>
          <a:p>
            <a:r>
              <a:rPr lang="en-US" sz="2400"/>
              <a:t>Because the equipercentile approach implicitly assumes we have two continuous variables.</a:t>
            </a:r>
          </a:p>
          <a:p>
            <a:r>
              <a:rPr lang="en-US" sz="2400"/>
              <a:t>But raw test scores are discrete</a:t>
            </a:r>
          </a:p>
          <a:p>
            <a:r>
              <a:rPr lang="en-US" sz="2400"/>
              <a:t>So we need to “continuize” test scores to make this work</a:t>
            </a:r>
          </a:p>
          <a:p>
            <a:r>
              <a:rPr lang="en-US" sz="2400"/>
              <a:t>In addition, if we have two relatively small samples of student from target populations, distributions might be choppy due because some total scores may be infrequently observed</a:t>
            </a:r>
          </a:p>
          <a:p>
            <a:r>
              <a:rPr lang="en-US" sz="2400"/>
              <a:t>“Smoothing” is often done on the two score distributions before they are equated.</a:t>
            </a:r>
          </a:p>
          <a:p>
            <a:endParaRPr lang="en-US"/>
          </a:p>
          <a:p>
            <a:endParaRPr lang="en-US"/>
          </a:p>
          <a:p>
            <a:endParaRPr lang="en-US"/>
          </a:p>
        </p:txBody>
      </p:sp>
      <p:sp>
        <p:nvSpPr>
          <p:cNvPr id="4" name="Slide Number Placeholder 3"/>
          <p:cNvSpPr>
            <a:spLocks noGrp="1"/>
          </p:cNvSpPr>
          <p:nvPr>
            <p:ph type="sldNum" sz="quarter" idx="12"/>
          </p:nvPr>
        </p:nvSpPr>
        <p:spPr/>
        <p:txBody>
          <a:bodyPr/>
          <a:lstStyle/>
          <a:p>
            <a:pPr>
              <a:defRPr/>
            </a:pPr>
            <a:fld id="{EC183674-A9ED-404F-B1CE-2FB45E89D5F6}" type="slidenum">
              <a:rPr lang="en-US"/>
              <a:pPr>
                <a:defRPr/>
              </a:pPr>
              <a:t>23</a:t>
            </a:fld>
            <a:endParaRPr lang="en-US" dirty="0"/>
          </a:p>
        </p:txBody>
      </p:sp>
    </p:spTree>
    <p:extLst>
      <p:ext uri="{BB962C8B-B14F-4D97-AF65-F5344CB8AC3E}">
        <p14:creationId xmlns:p14="http://schemas.microsoft.com/office/powerpoint/2010/main" val="40055009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More General Problem</a:t>
            </a:r>
          </a:p>
        </p:txBody>
      </p:sp>
      <p:sp>
        <p:nvSpPr>
          <p:cNvPr id="3" name="Content Placeholder 2"/>
          <p:cNvSpPr>
            <a:spLocks noGrp="1"/>
          </p:cNvSpPr>
          <p:nvPr>
            <p:ph idx="1"/>
          </p:nvPr>
        </p:nvSpPr>
        <p:spPr/>
        <p:txBody>
          <a:bodyPr/>
          <a:lstStyle/>
          <a:p>
            <a:r>
              <a:rPr lang="en-US"/>
              <a:t>Creating a score scale that is distinct from raw score points on a test</a:t>
            </a:r>
          </a:p>
          <a:p>
            <a:pPr lvl="1"/>
            <a:r>
              <a:rPr lang="en-US"/>
              <a:t>Grain size of the scale?</a:t>
            </a:r>
          </a:p>
          <a:p>
            <a:pPr lvl="1"/>
            <a:r>
              <a:rPr lang="en-US"/>
              <a:t>Truncation at top and bottom?</a:t>
            </a:r>
          </a:p>
          <a:p>
            <a:pPr lvl="1"/>
            <a:r>
              <a:rPr lang="en-US"/>
              <a:t>Rounding to nearest integer?</a:t>
            </a:r>
          </a:p>
        </p:txBody>
      </p:sp>
      <p:sp>
        <p:nvSpPr>
          <p:cNvPr id="4" name="Slide Number Placeholder 3"/>
          <p:cNvSpPr>
            <a:spLocks noGrp="1"/>
          </p:cNvSpPr>
          <p:nvPr>
            <p:ph type="sldNum" sz="quarter" idx="12"/>
          </p:nvPr>
        </p:nvSpPr>
        <p:spPr/>
        <p:txBody>
          <a:bodyPr/>
          <a:lstStyle/>
          <a:p>
            <a:pPr>
              <a:defRPr/>
            </a:pPr>
            <a:fld id="{EC183674-A9ED-404F-B1CE-2FB45E89D5F6}" type="slidenum">
              <a:rPr lang="en-US"/>
              <a:pPr>
                <a:defRPr/>
              </a:pPr>
              <a:t>24</a:t>
            </a:fld>
            <a:endParaRPr lang="en-US" dirty="0"/>
          </a:p>
        </p:txBody>
      </p:sp>
    </p:spTree>
    <p:extLst>
      <p:ext uri="{BB962C8B-B14F-4D97-AF65-F5344CB8AC3E}">
        <p14:creationId xmlns:p14="http://schemas.microsoft.com/office/powerpoint/2010/main" val="30246178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Example: An Initial Graphical Comparison</a:t>
            </a:r>
          </a:p>
        </p:txBody>
      </p:sp>
      <p:pic>
        <p:nvPicPr>
          <p:cNvPr id="5" name="Content Placeholder 4" descr="Screen Shot 2014-03-16 at 9.40.24 PM.png"/>
          <p:cNvPicPr>
            <a:picLocks noGrp="1" noChangeAspect="1"/>
          </p:cNvPicPr>
          <p:nvPr>
            <p:ph idx="1"/>
          </p:nvPr>
        </p:nvPicPr>
        <p:blipFill>
          <a:blip r:embed="rId2">
            <a:extLst>
              <a:ext uri="{28A0092B-C50C-407E-A947-70E740481C1C}">
                <a14:useLocalDpi xmlns:a14="http://schemas.microsoft.com/office/drawing/2010/main" val="0"/>
              </a:ext>
            </a:extLst>
          </a:blip>
          <a:srcRect l="-1241" r="-1241"/>
          <a:stretch>
            <a:fillRect/>
          </a:stretch>
        </p:blipFill>
        <p:spPr/>
      </p:pic>
      <p:sp>
        <p:nvSpPr>
          <p:cNvPr id="3" name="Slide Number Placeholder 2"/>
          <p:cNvSpPr>
            <a:spLocks noGrp="1"/>
          </p:cNvSpPr>
          <p:nvPr>
            <p:ph type="sldNum" sz="quarter" idx="12"/>
          </p:nvPr>
        </p:nvSpPr>
        <p:spPr/>
        <p:txBody>
          <a:bodyPr/>
          <a:lstStyle/>
          <a:p>
            <a:pPr>
              <a:defRPr/>
            </a:pPr>
            <a:fld id="{EC183674-A9ED-404F-B1CE-2FB45E89D5F6}" type="slidenum">
              <a:rPr lang="en-US"/>
              <a:pPr>
                <a:defRPr/>
              </a:pPr>
              <a:t>25</a:t>
            </a:fld>
            <a:endParaRPr lang="en-US" dirty="0"/>
          </a:p>
        </p:txBody>
      </p:sp>
    </p:spTree>
    <p:extLst>
      <p:ext uri="{BB962C8B-B14F-4D97-AF65-F5344CB8AC3E}">
        <p14:creationId xmlns:p14="http://schemas.microsoft.com/office/powerpoint/2010/main" val="26530085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Comparing CDFs</a:t>
            </a:r>
          </a:p>
        </p:txBody>
      </p:sp>
      <p:pic>
        <p:nvPicPr>
          <p:cNvPr id="4" name="Content Placeholder 3" descr="Screen Shot 2014-03-16 at 9.23.08 PM.png"/>
          <p:cNvPicPr>
            <a:picLocks noGrp="1" noChangeAspect="1"/>
          </p:cNvPicPr>
          <p:nvPr>
            <p:ph idx="1"/>
          </p:nvPr>
        </p:nvPicPr>
        <p:blipFill>
          <a:blip r:embed="rId2">
            <a:extLst>
              <a:ext uri="{28A0092B-C50C-407E-A947-70E740481C1C}">
                <a14:useLocalDpi xmlns:a14="http://schemas.microsoft.com/office/drawing/2010/main" val="0"/>
              </a:ext>
            </a:extLst>
          </a:blip>
          <a:srcRect l="-17399" r="-17399"/>
          <a:stretch>
            <a:fillRect/>
          </a:stretch>
        </p:blipFill>
        <p:spPr/>
      </p:pic>
      <p:sp>
        <p:nvSpPr>
          <p:cNvPr id="3" name="Slide Number Placeholder 2"/>
          <p:cNvSpPr>
            <a:spLocks noGrp="1"/>
          </p:cNvSpPr>
          <p:nvPr>
            <p:ph type="sldNum" sz="quarter" idx="12"/>
          </p:nvPr>
        </p:nvSpPr>
        <p:spPr/>
        <p:txBody>
          <a:bodyPr/>
          <a:lstStyle/>
          <a:p>
            <a:pPr>
              <a:defRPr/>
            </a:pPr>
            <a:fld id="{EC183674-A9ED-404F-B1CE-2FB45E89D5F6}" type="slidenum">
              <a:rPr lang="en-US"/>
              <a:pPr>
                <a:defRPr/>
              </a:pPr>
              <a:t>26</a:t>
            </a:fld>
            <a:endParaRPr lang="en-US" dirty="0"/>
          </a:p>
        </p:txBody>
      </p:sp>
    </p:spTree>
    <p:extLst>
      <p:ext uri="{BB962C8B-B14F-4D97-AF65-F5344CB8AC3E}">
        <p14:creationId xmlns:p14="http://schemas.microsoft.com/office/powerpoint/2010/main" val="6503616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b="1"/>
              <a:t>After Smoothing the Score Distributions</a:t>
            </a:r>
          </a:p>
        </p:txBody>
      </p:sp>
      <p:pic>
        <p:nvPicPr>
          <p:cNvPr id="6" name="Content Placeholder 5" descr="Screen Shot 2014-03-16 at 9.41.22 PM.png"/>
          <p:cNvPicPr>
            <a:picLocks noGrp="1" noChangeAspect="1"/>
          </p:cNvPicPr>
          <p:nvPr>
            <p:ph idx="1"/>
          </p:nvPr>
        </p:nvPicPr>
        <p:blipFill>
          <a:blip r:embed="rId2">
            <a:extLst>
              <a:ext uri="{28A0092B-C50C-407E-A947-70E740481C1C}">
                <a14:useLocalDpi xmlns:a14="http://schemas.microsoft.com/office/drawing/2010/main" val="0"/>
              </a:ext>
            </a:extLst>
          </a:blip>
          <a:srcRect t="-1182" b="-1182"/>
          <a:stretch>
            <a:fillRect/>
          </a:stretch>
        </p:blipFill>
        <p:spPr/>
      </p:pic>
      <p:sp>
        <p:nvSpPr>
          <p:cNvPr id="3" name="Slide Number Placeholder 2"/>
          <p:cNvSpPr>
            <a:spLocks noGrp="1"/>
          </p:cNvSpPr>
          <p:nvPr>
            <p:ph type="sldNum" sz="quarter" idx="12"/>
          </p:nvPr>
        </p:nvSpPr>
        <p:spPr/>
        <p:txBody>
          <a:bodyPr/>
          <a:lstStyle/>
          <a:p>
            <a:pPr>
              <a:defRPr/>
            </a:pPr>
            <a:fld id="{EC183674-A9ED-404F-B1CE-2FB45E89D5F6}" type="slidenum">
              <a:rPr lang="en-US"/>
              <a:pPr>
                <a:defRPr/>
              </a:pPr>
              <a:t>27</a:t>
            </a:fld>
            <a:endParaRPr lang="en-US" dirty="0"/>
          </a:p>
        </p:txBody>
      </p:sp>
    </p:spTree>
    <p:extLst>
      <p:ext uri="{BB962C8B-B14F-4D97-AF65-F5344CB8AC3E}">
        <p14:creationId xmlns:p14="http://schemas.microsoft.com/office/powerpoint/2010/main" val="5731131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228600"/>
            <a:ext cx="9220200" cy="1143000"/>
          </a:xfrm>
        </p:spPr>
        <p:txBody>
          <a:bodyPr/>
          <a:lstStyle/>
          <a:p>
            <a:r>
              <a:rPr lang="en-US" sz="3200" b="1"/>
              <a:t>Methods of Observed Score Equating for NEAT Design</a:t>
            </a:r>
            <a:endParaRPr lang="en-US" sz="3200"/>
          </a:p>
        </p:txBody>
      </p:sp>
      <p:sp>
        <p:nvSpPr>
          <p:cNvPr id="3" name="Content Placeholder 2"/>
          <p:cNvSpPr>
            <a:spLocks noGrp="1"/>
          </p:cNvSpPr>
          <p:nvPr>
            <p:ph idx="1"/>
          </p:nvPr>
        </p:nvSpPr>
        <p:spPr/>
        <p:txBody>
          <a:bodyPr/>
          <a:lstStyle/>
          <a:p>
            <a:pPr marL="514350" indent="-514350">
              <a:buFont typeface="+mj-lt"/>
              <a:buAutoNum type="arabicPeriod"/>
            </a:pPr>
            <a:r>
              <a:rPr lang="en-US" sz="2800"/>
              <a:t>Chained Linear Equating</a:t>
            </a:r>
          </a:p>
          <a:p>
            <a:pPr marL="514350" indent="-514350">
              <a:buFont typeface="+mj-lt"/>
              <a:buAutoNum type="arabicPeriod"/>
            </a:pPr>
            <a:r>
              <a:rPr lang="en-US" sz="2800"/>
              <a:t>Chained Equipercentile Equating</a:t>
            </a:r>
          </a:p>
          <a:p>
            <a:pPr marL="514350" indent="-514350">
              <a:buFont typeface="+mj-lt"/>
              <a:buAutoNum type="arabicPeriod"/>
            </a:pPr>
            <a:r>
              <a:rPr lang="en-US" sz="2800"/>
              <a:t>Frequency Distribution Equating</a:t>
            </a:r>
          </a:p>
          <a:p>
            <a:pPr marL="514350" indent="-514350">
              <a:buFont typeface="+mj-lt"/>
              <a:buAutoNum type="arabicPeriod"/>
            </a:pPr>
            <a:r>
              <a:rPr lang="en-US" sz="2800"/>
              <a:t>Tucker Equating</a:t>
            </a:r>
          </a:p>
          <a:p>
            <a:pPr marL="514350" indent="-514350">
              <a:buFont typeface="+mj-lt"/>
              <a:buAutoNum type="arabicPeriod"/>
            </a:pPr>
            <a:r>
              <a:rPr lang="en-US" sz="2800"/>
              <a:t>Levine Equating</a:t>
            </a:r>
          </a:p>
          <a:p>
            <a:pPr marL="514350" indent="-514350">
              <a:buFont typeface="+mj-lt"/>
              <a:buAutoNum type="arabicPeriod"/>
            </a:pPr>
            <a:endParaRPr lang="en-US" sz="2800"/>
          </a:p>
          <a:p>
            <a:pPr marL="0" indent="0">
              <a:buNone/>
            </a:pPr>
            <a:r>
              <a:rPr lang="en-US" sz="2800"/>
              <a:t>For more on these methods, see Livingston (2004) or Kolen &amp; Brennan (2014).</a:t>
            </a:r>
          </a:p>
        </p:txBody>
      </p:sp>
      <p:sp>
        <p:nvSpPr>
          <p:cNvPr id="4" name="Slide Number Placeholder 3"/>
          <p:cNvSpPr>
            <a:spLocks noGrp="1"/>
          </p:cNvSpPr>
          <p:nvPr>
            <p:ph type="sldNum" sz="quarter" idx="12"/>
          </p:nvPr>
        </p:nvSpPr>
        <p:spPr/>
        <p:txBody>
          <a:bodyPr/>
          <a:lstStyle/>
          <a:p>
            <a:pPr>
              <a:defRPr/>
            </a:pPr>
            <a:fld id="{EC183674-A9ED-404F-B1CE-2FB45E89D5F6}" type="slidenum">
              <a:rPr lang="en-US"/>
              <a:pPr>
                <a:defRPr/>
              </a:pPr>
              <a:t>28</a:t>
            </a:fld>
            <a:endParaRPr lang="en-US" dirty="0"/>
          </a:p>
        </p:txBody>
      </p:sp>
    </p:spTree>
    <p:extLst>
      <p:ext uri="{BB962C8B-B14F-4D97-AF65-F5344CB8AC3E}">
        <p14:creationId xmlns:p14="http://schemas.microsoft.com/office/powerpoint/2010/main" val="12138872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Choosing Common Items for “Anchor Test”</a:t>
            </a:r>
          </a:p>
        </p:txBody>
      </p:sp>
      <p:sp>
        <p:nvSpPr>
          <p:cNvPr id="3" name="Content Placeholder 2"/>
          <p:cNvSpPr>
            <a:spLocks noGrp="1"/>
          </p:cNvSpPr>
          <p:nvPr>
            <p:ph idx="1"/>
          </p:nvPr>
        </p:nvSpPr>
        <p:spPr/>
        <p:txBody>
          <a:bodyPr/>
          <a:lstStyle/>
          <a:p>
            <a:pPr marL="514350" indent="-514350">
              <a:buFont typeface="+mj-lt"/>
              <a:buAutoNum type="arabicPeriod"/>
            </a:pPr>
            <a:r>
              <a:rPr lang="en-US"/>
              <a:t>Mini-test criterion (item should represent the same content as the test on the whole)</a:t>
            </a:r>
          </a:p>
          <a:p>
            <a:pPr marL="514350" indent="-514350">
              <a:buFont typeface="+mj-lt"/>
              <a:buAutoNum type="arabicPeriod"/>
            </a:pPr>
            <a:r>
              <a:rPr lang="en-US"/>
              <a:t>At least 20% of total items (but it is really the number that matters here, 20% of short test will likely be insufficient)</a:t>
            </a:r>
          </a:p>
          <a:p>
            <a:pPr marL="514350" indent="-514350">
              <a:buFont typeface="+mj-lt"/>
              <a:buAutoNum type="arabicPeriod"/>
            </a:pPr>
            <a:r>
              <a:rPr lang="en-US"/>
              <a:t>Should vary in difficulty</a:t>
            </a:r>
          </a:p>
          <a:p>
            <a:pPr marL="514350" indent="-514350">
              <a:buFont typeface="+mj-lt"/>
              <a:buAutoNum type="arabicPeriod"/>
            </a:pPr>
            <a:r>
              <a:rPr lang="en-US"/>
              <a:t>Same location on test—beware context effects! </a:t>
            </a:r>
          </a:p>
          <a:p>
            <a:pPr marL="514350" indent="-514350">
              <a:buFont typeface="+mj-lt"/>
              <a:buAutoNum type="arabicPeriod"/>
            </a:pPr>
            <a:r>
              <a:rPr lang="en-US"/>
              <a:t>Keep together with collection in common prompt.</a:t>
            </a:r>
          </a:p>
        </p:txBody>
      </p:sp>
      <p:sp>
        <p:nvSpPr>
          <p:cNvPr id="4" name="Slide Number Placeholder 3"/>
          <p:cNvSpPr>
            <a:spLocks noGrp="1"/>
          </p:cNvSpPr>
          <p:nvPr>
            <p:ph type="sldNum" sz="quarter" idx="12"/>
          </p:nvPr>
        </p:nvSpPr>
        <p:spPr/>
        <p:txBody>
          <a:bodyPr/>
          <a:lstStyle/>
          <a:p>
            <a:pPr>
              <a:defRPr/>
            </a:pPr>
            <a:fld id="{EC183674-A9ED-404F-B1CE-2FB45E89D5F6}" type="slidenum">
              <a:rPr lang="en-US"/>
              <a:pPr>
                <a:defRPr/>
              </a:pPr>
              <a:t>29</a:t>
            </a:fld>
            <a:endParaRPr lang="en-US" dirty="0"/>
          </a:p>
        </p:txBody>
      </p:sp>
    </p:spTree>
    <p:extLst>
      <p:ext uri="{BB962C8B-B14F-4D97-AF65-F5344CB8AC3E}">
        <p14:creationId xmlns:p14="http://schemas.microsoft.com/office/powerpoint/2010/main" val="37123925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00AA7F-24FF-0143-83D1-61F3480ACB4D}"/>
              </a:ext>
            </a:extLst>
          </p:cNvPr>
          <p:cNvSpPr>
            <a:spLocks noGrp="1"/>
          </p:cNvSpPr>
          <p:nvPr>
            <p:ph type="title"/>
          </p:nvPr>
        </p:nvSpPr>
        <p:spPr/>
        <p:txBody>
          <a:bodyPr/>
          <a:lstStyle/>
          <a:p>
            <a:r>
              <a:rPr lang="en-US" b="1"/>
              <a:t>Doing Observed Score Equating in R</a:t>
            </a:r>
          </a:p>
        </p:txBody>
      </p:sp>
      <p:sp>
        <p:nvSpPr>
          <p:cNvPr id="3" name="Content Placeholder 2">
            <a:extLst>
              <a:ext uri="{FF2B5EF4-FFF2-40B4-BE49-F238E27FC236}">
                <a16:creationId xmlns:a16="http://schemas.microsoft.com/office/drawing/2014/main" id="{E669046F-DD99-514B-B864-601A51C6E089}"/>
              </a:ext>
            </a:extLst>
          </p:cNvPr>
          <p:cNvSpPr>
            <a:spLocks noGrp="1"/>
          </p:cNvSpPr>
          <p:nvPr>
            <p:ph idx="1"/>
          </p:nvPr>
        </p:nvSpPr>
        <p:spPr/>
        <p:txBody>
          <a:bodyPr/>
          <a:lstStyle/>
          <a:p>
            <a:r>
              <a:rPr lang="en-US" sz="2800"/>
              <a:t>Albano, A. D. (2016). equate: An R package for observed-score linking and equating. </a:t>
            </a:r>
            <a:r>
              <a:rPr lang="en-US" sz="2800" i="1"/>
              <a:t>Journal of Statistical Software, 74</a:t>
            </a:r>
            <a:r>
              <a:rPr lang="en-US" sz="2800"/>
              <a:t>(8), 1–36.</a:t>
            </a:r>
          </a:p>
          <a:p>
            <a:r>
              <a:rPr lang="en-US" sz="2800"/>
              <a:t>You really don’t need this package if you are just doing mean or linear observed score equating—all you need are the means of SDs of two test forms to be equated…provided you have implemented a single or equivalent groups design.</a:t>
            </a:r>
          </a:p>
          <a:p>
            <a:r>
              <a:rPr lang="en-US" sz="2800"/>
              <a:t>But equipercentile equating is a lot more complicated, and this package provides a lot of nice options for doing this.</a:t>
            </a:r>
          </a:p>
          <a:p>
            <a:pPr marL="0" indent="0">
              <a:buNone/>
            </a:pPr>
            <a:endParaRPr lang="en-US" sz="2800"/>
          </a:p>
          <a:p>
            <a:endParaRPr lang="en-US"/>
          </a:p>
        </p:txBody>
      </p:sp>
      <p:sp>
        <p:nvSpPr>
          <p:cNvPr id="4" name="Slide Number Placeholder 3">
            <a:extLst>
              <a:ext uri="{FF2B5EF4-FFF2-40B4-BE49-F238E27FC236}">
                <a16:creationId xmlns:a16="http://schemas.microsoft.com/office/drawing/2014/main" id="{0841CC5E-9DBC-E74B-858D-63F4F79EFF23}"/>
              </a:ext>
            </a:extLst>
          </p:cNvPr>
          <p:cNvSpPr>
            <a:spLocks noGrp="1"/>
          </p:cNvSpPr>
          <p:nvPr>
            <p:ph type="sldNum" sz="quarter" idx="12"/>
          </p:nvPr>
        </p:nvSpPr>
        <p:spPr/>
        <p:txBody>
          <a:bodyPr/>
          <a:lstStyle/>
          <a:p>
            <a:pPr>
              <a:defRPr/>
            </a:pPr>
            <a:fld id="{EC183674-A9ED-404F-B1CE-2FB45E89D5F6}" type="slidenum">
              <a:rPr lang="en-US"/>
              <a:pPr>
                <a:defRPr/>
              </a:pPr>
              <a:t>30</a:t>
            </a:fld>
            <a:endParaRPr lang="en-US" dirty="0"/>
          </a:p>
        </p:txBody>
      </p:sp>
    </p:spTree>
    <p:extLst>
      <p:ext uri="{BB962C8B-B14F-4D97-AF65-F5344CB8AC3E}">
        <p14:creationId xmlns:p14="http://schemas.microsoft.com/office/powerpoint/2010/main" val="3428261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1"/>
          <p:cNvSpPr>
            <a:spLocks noChangeArrowheads="1"/>
          </p:cNvSpPr>
          <p:nvPr/>
        </p:nvSpPr>
        <p:spPr bwMode="auto">
          <a:xfrm>
            <a:off x="3276600" y="2743200"/>
            <a:ext cx="5672130" cy="70788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r>
              <a:rPr lang="en-US" sz="4000" b="1"/>
              <a:t>Test Equating with IRT</a:t>
            </a:r>
            <a:endParaRPr lang="en-US" sz="4000"/>
          </a:p>
        </p:txBody>
      </p:sp>
      <p:sp>
        <p:nvSpPr>
          <p:cNvPr id="2" name="Slide Number Placeholder 1"/>
          <p:cNvSpPr>
            <a:spLocks noGrp="1"/>
          </p:cNvSpPr>
          <p:nvPr>
            <p:ph type="sldNum" sz="quarter" idx="12"/>
          </p:nvPr>
        </p:nvSpPr>
        <p:spPr/>
        <p:txBody>
          <a:bodyPr/>
          <a:lstStyle/>
          <a:p>
            <a:pPr>
              <a:defRPr/>
            </a:pPr>
            <a:fld id="{C312B7D6-AC34-7D41-8912-F5064E5072B8}" type="slidenum">
              <a:rPr lang="en-US"/>
              <a:pPr>
                <a:defRPr/>
              </a:pPr>
              <a:t>31</a:t>
            </a:fld>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Three Approaches</a:t>
            </a:r>
          </a:p>
        </p:txBody>
      </p:sp>
      <p:sp>
        <p:nvSpPr>
          <p:cNvPr id="3" name="Content Placeholder 2"/>
          <p:cNvSpPr>
            <a:spLocks noGrp="1"/>
          </p:cNvSpPr>
          <p:nvPr>
            <p:ph idx="1"/>
          </p:nvPr>
        </p:nvSpPr>
        <p:spPr>
          <a:xfrm>
            <a:off x="609600" y="1646238"/>
            <a:ext cx="11201400" cy="4525963"/>
          </a:xfrm>
        </p:spPr>
        <p:txBody>
          <a:bodyPr/>
          <a:lstStyle/>
          <a:p>
            <a:pPr marL="514350" indent="-514350">
              <a:buFont typeface="+mj-lt"/>
              <a:buAutoNum type="arabicPeriod"/>
            </a:pPr>
            <a:r>
              <a:rPr lang="en-US"/>
              <a:t>Separate Calibration (sometimes called “post-equating”)</a:t>
            </a:r>
          </a:p>
          <a:p>
            <a:pPr marL="514350" indent="-514350">
              <a:buFont typeface="+mj-lt"/>
              <a:buAutoNum type="arabicPeriod"/>
            </a:pPr>
            <a:r>
              <a:rPr lang="en-US"/>
              <a:t>Concurrent Calibration</a:t>
            </a:r>
          </a:p>
          <a:p>
            <a:pPr marL="514350" indent="-514350">
              <a:buFont typeface="+mj-lt"/>
              <a:buAutoNum type="arabicPeriod"/>
            </a:pPr>
            <a:r>
              <a:rPr lang="en-US"/>
              <a:t>Anchored Calibration (also known as “pre-equating”)</a:t>
            </a:r>
          </a:p>
        </p:txBody>
      </p:sp>
      <p:sp>
        <p:nvSpPr>
          <p:cNvPr id="4" name="Slide Number Placeholder 3"/>
          <p:cNvSpPr>
            <a:spLocks noGrp="1"/>
          </p:cNvSpPr>
          <p:nvPr>
            <p:ph type="sldNum" sz="quarter" idx="12"/>
          </p:nvPr>
        </p:nvSpPr>
        <p:spPr/>
        <p:txBody>
          <a:bodyPr/>
          <a:lstStyle/>
          <a:p>
            <a:pPr>
              <a:defRPr/>
            </a:pPr>
            <a:fld id="{EC183674-A9ED-404F-B1CE-2FB45E89D5F6}" type="slidenum">
              <a:rPr lang="en-US"/>
              <a:pPr>
                <a:defRPr/>
              </a:pPr>
              <a:t>32</a:t>
            </a:fld>
            <a:endParaRPr lang="en-US" dirty="0"/>
          </a:p>
        </p:txBody>
      </p:sp>
    </p:spTree>
    <p:extLst>
      <p:ext uri="{BB962C8B-B14F-4D97-AF65-F5344CB8AC3E}">
        <p14:creationId xmlns:p14="http://schemas.microsoft.com/office/powerpoint/2010/main" val="31413006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5F132F2-E3CF-6C41-A4D8-A2386A8734BD}"/>
              </a:ext>
            </a:extLst>
          </p:cNvPr>
          <p:cNvSpPr>
            <a:spLocks noGrp="1"/>
          </p:cNvSpPr>
          <p:nvPr>
            <p:ph type="title"/>
          </p:nvPr>
        </p:nvSpPr>
        <p:spPr/>
        <p:txBody>
          <a:bodyPr/>
          <a:lstStyle/>
          <a:p>
            <a:r>
              <a:rPr lang="en-US" b="1"/>
              <a:t>The Basic Idea</a:t>
            </a:r>
          </a:p>
        </p:txBody>
      </p:sp>
      <p:sp>
        <p:nvSpPr>
          <p:cNvPr id="4" name="Content Placeholder 3">
            <a:extLst>
              <a:ext uri="{FF2B5EF4-FFF2-40B4-BE49-F238E27FC236}">
                <a16:creationId xmlns:a16="http://schemas.microsoft.com/office/drawing/2014/main" id="{E1525048-D213-1F4F-9740-B2E3511A24CA}"/>
              </a:ext>
            </a:extLst>
          </p:cNvPr>
          <p:cNvSpPr>
            <a:spLocks noGrp="1"/>
          </p:cNvSpPr>
          <p:nvPr>
            <p:ph idx="1"/>
          </p:nvPr>
        </p:nvSpPr>
        <p:spPr/>
        <p:txBody>
          <a:bodyPr/>
          <a:lstStyle/>
          <a:p>
            <a:r>
              <a:rPr lang="en-US" sz="2800"/>
              <a:t>In IRT equating we need to find a way to put the item parameters from different test forms onto the same scale. Once this is done, we can use these item parameters to estimate theta in various ways, and all of the theta estimates should be directly comparable. </a:t>
            </a:r>
            <a:endParaRPr lang="en-US" sz="2800">
              <a:effectLst/>
            </a:endParaRPr>
          </a:p>
          <a:p>
            <a:r>
              <a:rPr lang="en-US" sz="2800"/>
              <a:t>Linking with IRT relies on the property of parameter invariance. The implication of this property (if the IRT model shows adequate fit to the data) is that item parameters estimated in any population/sample should be the same </a:t>
            </a:r>
            <a:r>
              <a:rPr lang="en-US" sz="2800" i="1"/>
              <a:t>up to a linear transformation </a:t>
            </a:r>
            <a:r>
              <a:rPr lang="en-US" sz="2800"/>
              <a:t>(meaning they should be perfectly correlated). </a:t>
            </a:r>
            <a:endParaRPr lang="en-US" sz="2800">
              <a:effectLst/>
            </a:endParaRPr>
          </a:p>
          <a:p>
            <a:endParaRPr lang="en-US"/>
          </a:p>
        </p:txBody>
      </p:sp>
      <p:sp>
        <p:nvSpPr>
          <p:cNvPr id="2" name="Slide Number Placeholder 1">
            <a:extLst>
              <a:ext uri="{FF2B5EF4-FFF2-40B4-BE49-F238E27FC236}">
                <a16:creationId xmlns:a16="http://schemas.microsoft.com/office/drawing/2014/main" id="{DC39B34C-7F7A-F646-B8EA-C60EA1AA121B}"/>
              </a:ext>
            </a:extLst>
          </p:cNvPr>
          <p:cNvSpPr>
            <a:spLocks noGrp="1"/>
          </p:cNvSpPr>
          <p:nvPr>
            <p:ph type="sldNum" sz="quarter" idx="12"/>
          </p:nvPr>
        </p:nvSpPr>
        <p:spPr/>
        <p:txBody>
          <a:bodyPr/>
          <a:lstStyle/>
          <a:p>
            <a:pPr>
              <a:defRPr/>
            </a:pPr>
            <a:fld id="{C312B7D6-AC34-7D41-8912-F5064E5072B8}" type="slidenum">
              <a:rPr lang="en-US"/>
              <a:pPr>
                <a:defRPr/>
              </a:pPr>
              <a:t>33</a:t>
            </a:fld>
            <a:endParaRPr lang="en-US" dirty="0"/>
          </a:p>
        </p:txBody>
      </p:sp>
    </p:spTree>
    <p:extLst>
      <p:ext uri="{BB962C8B-B14F-4D97-AF65-F5344CB8AC3E}">
        <p14:creationId xmlns:p14="http://schemas.microsoft.com/office/powerpoint/2010/main" val="329137253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2123B7-7289-E143-AEAA-25FAFF600120}"/>
              </a:ext>
            </a:extLst>
          </p:cNvPr>
          <p:cNvSpPr>
            <a:spLocks noGrp="1"/>
          </p:cNvSpPr>
          <p:nvPr>
            <p:ph type="title"/>
          </p:nvPr>
        </p:nvSpPr>
        <p:spPr/>
        <p:txBody>
          <a:bodyPr/>
          <a:lstStyle/>
          <a:p>
            <a:r>
              <a:rPr lang="en-US" b="1"/>
              <a:t>“Up to a Linear Transformation”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C9CDD4-6899-414D-823D-127EBBEED05C}"/>
                  </a:ext>
                </a:extLst>
              </p:cNvPr>
              <p:cNvSpPr>
                <a:spLocks noGrp="1"/>
              </p:cNvSpPr>
              <p:nvPr>
                <p:ph idx="1"/>
              </p:nvPr>
            </p:nvSpPr>
            <p:spPr/>
            <p:txBody>
              <a:bodyPr/>
              <a:lstStyle/>
              <a:p>
                <a:r>
                  <a:rPr lang="en-US"/>
                  <a:t>Say we have item and person parameters: </a:t>
                </a:r>
                <a14:m>
                  <m:oMath xmlns:m="http://schemas.openxmlformats.org/officeDocument/2006/math">
                    <m:d>
                      <m:dPr>
                        <m:begChr m:val="{"/>
                        <m:endChr m:val="}"/>
                        <m:ctrlPr>
                          <a:rPr lang="en-US" i="1">
                            <a:latin typeface="Cambria Math" panose="02040503050406030204" pitchFamily="18" charset="0"/>
                          </a:rPr>
                        </m:ctrlPr>
                      </m:dPr>
                      <m:e>
                        <m:r>
                          <a:rPr lang="en-US" i="1">
                            <a:latin typeface="Cambria Math" panose="02040503050406030204" pitchFamily="18" charset="0"/>
                          </a:rPr>
                          <m:t>𝑎</m:t>
                        </m:r>
                        <m:r>
                          <a:rPr lang="en-US" i="1">
                            <a:latin typeface="Cambria Math" panose="02040503050406030204" pitchFamily="18" charset="0"/>
                          </a:rPr>
                          <m:t>,</m:t>
                        </m:r>
                        <m:r>
                          <a:rPr lang="en-US" i="1">
                            <a:latin typeface="Cambria Math" panose="02040503050406030204" pitchFamily="18" charset="0"/>
                          </a:rPr>
                          <m:t>𝑏</m:t>
                        </m:r>
                        <m:r>
                          <a:rPr lang="en-US" i="1">
                            <a:latin typeface="Cambria Math" panose="02040503050406030204" pitchFamily="18" charset="0"/>
                          </a:rPr>
                          <m:t>,</m:t>
                        </m:r>
                        <m:r>
                          <a:rPr lang="en-US" i="1">
                            <a:latin typeface="Cambria Math" panose="02040503050406030204" pitchFamily="18" charset="0"/>
                          </a:rPr>
                          <m:t>𝑐</m:t>
                        </m:r>
                      </m:e>
                    </m:d>
                  </m:oMath>
                </a14:m>
                <a:r>
                  <a:rPr lang="en-US"/>
                  <a:t> and </a:t>
                </a:r>
                <a14:m>
                  <m:oMath xmlns:m="http://schemas.openxmlformats.org/officeDocument/2006/math">
                    <m:r>
                      <a:rPr lang="en-US" i="1">
                        <a:latin typeface="Cambria Math" panose="02040503050406030204" pitchFamily="18" charset="0"/>
                      </a:rPr>
                      <m:t>{</m:t>
                    </m:r>
                    <m:r>
                      <a:rPr lang="en-US" i="1">
                        <a:latin typeface="Cambria Math" panose="02040503050406030204" pitchFamily="18" charset="0"/>
                      </a:rPr>
                      <m:t>𝜃</m:t>
                    </m:r>
                    <m:r>
                      <a:rPr lang="en-US" i="1">
                        <a:latin typeface="Cambria Math" panose="02040503050406030204" pitchFamily="18" charset="0"/>
                      </a:rPr>
                      <m:t>}</m:t>
                    </m:r>
                  </m:oMath>
                </a14:m>
                <a:endParaRPr lang="en-US"/>
              </a:p>
              <a:p>
                <a:r>
                  <a:rPr lang="en-US"/>
                  <a:t>We transform </a:t>
                </a:r>
                <a:r>
                  <a:rPr lang="en-US" u="sng"/>
                  <a:t>all</a:t>
                </a:r>
                <a:r>
                  <a:rPr lang="en-US"/>
                  <a:t> of them linearly as follows</a:t>
                </a:r>
              </a:p>
              <a:p>
                <a:pPr marL="0" indent="0">
                  <a:buNone/>
                </a:pPr>
                <a14:m>
                  <m:oMathPara xmlns:m="http://schemas.openxmlformats.org/officeDocument/2006/math">
                    <m:oMathParaPr>
                      <m:jc m:val="centerGroup"/>
                    </m:oMathParaPr>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𝜃</m:t>
                          </m:r>
                        </m:e>
                        <m:sup>
                          <m:r>
                            <a:rPr lang="en-US" i="1">
                              <a:latin typeface="Cambria Math" panose="02040503050406030204" pitchFamily="18" charset="0"/>
                            </a:rPr>
                            <m:t>∗</m:t>
                          </m:r>
                        </m:sup>
                      </m:sSup>
                      <m:r>
                        <a:rPr lang="en-US" i="1">
                          <a:latin typeface="Cambria Math" panose="02040503050406030204" pitchFamily="18" charset="0"/>
                        </a:rPr>
                        <m:t>=</m:t>
                      </m:r>
                      <m:r>
                        <a:rPr lang="en-US" b="0" i="1">
                          <a:latin typeface="Cambria Math" panose="02040503050406030204" pitchFamily="18" charset="0"/>
                        </a:rPr>
                        <m:t>𝐴</m:t>
                      </m:r>
                      <m:r>
                        <a:rPr lang="en-US" i="1">
                          <a:latin typeface="Cambria Math" panose="02040503050406030204" pitchFamily="18" charset="0"/>
                        </a:rPr>
                        <m:t>𝜃</m:t>
                      </m:r>
                      <m:r>
                        <a:rPr lang="en-US" i="1">
                          <a:latin typeface="Cambria Math" panose="02040503050406030204" pitchFamily="18" charset="0"/>
                        </a:rPr>
                        <m:t>+</m:t>
                      </m:r>
                      <m:r>
                        <a:rPr lang="en-US" b="0" i="1">
                          <a:latin typeface="Cambria Math" panose="02040503050406030204" pitchFamily="18" charset="0"/>
                        </a:rPr>
                        <m:t>𝐵</m:t>
                      </m:r>
                    </m:oMath>
                  </m:oMathPara>
                </a14:m>
                <a:endParaRPr lang="en-US"/>
              </a:p>
              <a:p>
                <a:pPr marL="0" indent="0">
                  <a:buNone/>
                </a:pPr>
                <a14:m>
                  <m:oMathPara xmlns:m="http://schemas.openxmlformats.org/officeDocument/2006/math">
                    <m:oMathParaPr>
                      <m:jc m:val="centerGroup"/>
                    </m:oMathParaPr>
                    <m:oMath xmlns:m="http://schemas.openxmlformats.org/officeDocument/2006/math">
                      <m:r>
                        <m:rPr>
                          <m:lit/>
                        </m:rPr>
                        <a:rPr lang="en-US" i="1">
                          <a:latin typeface="Cambria Math" panose="02040503050406030204" pitchFamily="18" charset="0"/>
                        </a:rPr>
                        <m:t> </m:t>
                      </m:r>
                      <m:sSup>
                        <m:sSupPr>
                          <m:ctrlPr>
                            <a:rPr lang="en-US" i="1">
                              <a:latin typeface="Cambria Math" panose="02040503050406030204" pitchFamily="18" charset="0"/>
                            </a:rPr>
                          </m:ctrlPr>
                        </m:sSupPr>
                        <m:e>
                          <m:r>
                            <a:rPr lang="en-US" i="1">
                              <a:latin typeface="Cambria Math" panose="02040503050406030204" pitchFamily="18" charset="0"/>
                            </a:rPr>
                            <m:t>𝑏</m:t>
                          </m:r>
                        </m:e>
                        <m:sup>
                          <m:r>
                            <a:rPr lang="en-US" i="1">
                              <a:latin typeface="Cambria Math" panose="02040503050406030204" pitchFamily="18" charset="0"/>
                            </a:rPr>
                            <m:t>∗</m:t>
                          </m:r>
                        </m:sup>
                      </m:sSup>
                      <m:r>
                        <a:rPr lang="en-US" i="1">
                          <a:latin typeface="Cambria Math" panose="02040503050406030204" pitchFamily="18" charset="0"/>
                        </a:rPr>
                        <m:t>=</m:t>
                      </m:r>
                      <m:r>
                        <a:rPr lang="en-US" b="0" i="1">
                          <a:latin typeface="Cambria Math" panose="02040503050406030204" pitchFamily="18" charset="0"/>
                        </a:rPr>
                        <m:t>𝐴</m:t>
                      </m:r>
                      <m:r>
                        <a:rPr lang="en-US" i="1">
                          <a:latin typeface="Cambria Math" panose="02040503050406030204" pitchFamily="18" charset="0"/>
                        </a:rPr>
                        <m:t>𝑏</m:t>
                      </m:r>
                      <m:r>
                        <a:rPr lang="en-US" i="1">
                          <a:latin typeface="Cambria Math" panose="02040503050406030204" pitchFamily="18" charset="0"/>
                        </a:rPr>
                        <m:t>+</m:t>
                      </m:r>
                      <m:r>
                        <a:rPr lang="en-US" b="0" i="1">
                          <a:latin typeface="Cambria Math" panose="02040503050406030204" pitchFamily="18" charset="0"/>
                        </a:rPr>
                        <m:t>𝐵</m:t>
                      </m:r>
                    </m:oMath>
                  </m:oMathPara>
                </a14:m>
                <a:endParaRPr lang="en-US"/>
              </a:p>
              <a:p>
                <a:pPr marL="0" indent="0">
                  <a:buNone/>
                </a:pPr>
                <a14:m>
                  <m:oMathPara xmlns:m="http://schemas.openxmlformats.org/officeDocument/2006/math">
                    <m:oMathParaPr>
                      <m:jc m:val="centerGroup"/>
                    </m:oMathParaPr>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𝑎</m:t>
                          </m:r>
                        </m:e>
                        <m:sup>
                          <m:r>
                            <a:rPr lang="en-US" i="1">
                              <a:latin typeface="Cambria Math" panose="02040503050406030204" pitchFamily="18" charset="0"/>
                            </a:rPr>
                            <m:t>∗</m:t>
                          </m:r>
                        </m:sup>
                      </m:sSup>
                      <m:r>
                        <a:rPr lang="en-US" i="1">
                          <a:latin typeface="Cambria Math" panose="02040503050406030204" pitchFamily="18" charset="0"/>
                        </a:rPr>
                        <m:t>=</m:t>
                      </m:r>
                      <m:r>
                        <a:rPr lang="en-US" i="1">
                          <a:latin typeface="Cambria Math" panose="02040503050406030204" pitchFamily="18" charset="0"/>
                        </a:rPr>
                        <m:t>𝑎</m:t>
                      </m:r>
                      <m:r>
                        <a:rPr lang="en-US" i="1">
                          <a:latin typeface="Cambria Math" panose="02040503050406030204" pitchFamily="18" charset="0"/>
                        </a:rPr>
                        <m:t>/</m:t>
                      </m:r>
                      <m:r>
                        <a:rPr lang="en-US" b="0" i="1">
                          <a:latin typeface="Cambria Math" panose="02040503050406030204" pitchFamily="18" charset="0"/>
                        </a:rPr>
                        <m:t>𝐴</m:t>
                      </m:r>
                    </m:oMath>
                  </m:oMathPara>
                </a14:m>
                <a:endParaRPr lang="en-US"/>
              </a:p>
              <a:p>
                <a:pPr marL="0" indent="0">
                  <a:buNone/>
                </a:pPr>
                <a14:m>
                  <m:oMathPara xmlns:m="http://schemas.openxmlformats.org/officeDocument/2006/math">
                    <m:oMathParaPr>
                      <m:jc m:val="centerGroup"/>
                    </m:oMathParaPr>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𝑐</m:t>
                          </m:r>
                        </m:e>
                        <m:sup>
                          <m:r>
                            <a:rPr lang="en-US" i="1">
                              <a:latin typeface="Cambria Math" panose="02040503050406030204" pitchFamily="18" charset="0"/>
                            </a:rPr>
                            <m:t>∗</m:t>
                          </m:r>
                        </m:sup>
                      </m:sSup>
                      <m:r>
                        <a:rPr lang="en-US" i="1">
                          <a:latin typeface="Cambria Math" panose="02040503050406030204" pitchFamily="18" charset="0"/>
                        </a:rPr>
                        <m:t>=</m:t>
                      </m:r>
                      <m:r>
                        <a:rPr lang="en-US" i="1">
                          <a:latin typeface="Cambria Math" panose="02040503050406030204" pitchFamily="18" charset="0"/>
                        </a:rPr>
                        <m:t>𝑐</m:t>
                      </m:r>
                    </m:oMath>
                  </m:oMathPara>
                </a14:m>
                <a:endParaRPr lang="en-US"/>
              </a:p>
              <a:p>
                <a:r>
                  <a:rPr lang="en-US"/>
                  <a:t>These transformation will leave the ICCs unaffected. That is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𝑃</m:t>
                        </m:r>
                      </m:e>
                      <m:sup>
                        <m:r>
                          <a:rPr lang="en-US" i="1">
                            <a:latin typeface="Cambria Math" panose="02040503050406030204" pitchFamily="18" charset="0"/>
                          </a:rPr>
                          <m:t>∗</m:t>
                        </m:r>
                      </m:sup>
                    </m:sSup>
                    <m:d>
                      <m:dPr>
                        <m:begChr m:val="|"/>
                        <m:endChr m:val="|"/>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𝜃</m:t>
                            </m:r>
                          </m:e>
                          <m:sup>
                            <m:r>
                              <a:rPr lang="en-US" i="1">
                                <a:latin typeface="Cambria Math" panose="02040503050406030204" pitchFamily="18" charset="0"/>
                              </a:rPr>
                              <m:t>∗</m:t>
                            </m:r>
                          </m:sup>
                        </m:sSup>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𝑎</m:t>
                            </m:r>
                          </m:e>
                          <m:sup>
                            <m:r>
                              <a:rPr lang="en-US" i="1">
                                <a:latin typeface="Cambria Math" panose="02040503050406030204" pitchFamily="18" charset="0"/>
                              </a:rPr>
                              <m:t>∗</m:t>
                            </m:r>
                          </m:sup>
                        </m:sSup>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𝑏</m:t>
                            </m:r>
                          </m:e>
                          <m:sup>
                            <m:r>
                              <a:rPr lang="en-US" i="1">
                                <a:latin typeface="Cambria Math" panose="02040503050406030204" pitchFamily="18" charset="0"/>
                              </a:rPr>
                              <m:t>∗</m:t>
                            </m:r>
                          </m:sup>
                        </m:sSup>
                        <m:r>
                          <a:rPr lang="en-US" i="1">
                            <a:latin typeface="Cambria Math" panose="02040503050406030204" pitchFamily="18" charset="0"/>
                          </a:rPr>
                          <m:t>, </m:t>
                        </m:r>
                        <m:sSup>
                          <m:sSupPr>
                            <m:ctrlPr>
                              <a:rPr lang="en-US" i="1">
                                <a:latin typeface="Cambria Math" panose="02040503050406030204" pitchFamily="18" charset="0"/>
                              </a:rPr>
                            </m:ctrlPr>
                          </m:sSupPr>
                          <m:e>
                            <m:r>
                              <a:rPr lang="en-US" i="1">
                                <a:latin typeface="Cambria Math" panose="02040503050406030204" pitchFamily="18" charset="0"/>
                              </a:rPr>
                              <m:t>𝑐</m:t>
                            </m:r>
                          </m:e>
                          <m:sup>
                            <m:r>
                              <a:rPr lang="en-US" i="1">
                                <a:latin typeface="Cambria Math" panose="02040503050406030204" pitchFamily="18" charset="0"/>
                              </a:rPr>
                              <m:t>∗</m:t>
                            </m:r>
                          </m:sup>
                        </m:sSup>
                        <m:r>
                          <a:rPr lang="en-US" i="1">
                            <a:latin typeface="Cambria Math" panose="02040503050406030204" pitchFamily="18" charset="0"/>
                          </a:rPr>
                          <m:t>=</m:t>
                        </m:r>
                        <m:r>
                          <a:rPr lang="en-US" i="1">
                            <a:latin typeface="Cambria Math" panose="02040503050406030204" pitchFamily="18" charset="0"/>
                          </a:rPr>
                          <m:t>𝑃</m:t>
                        </m:r>
                      </m:e>
                    </m:d>
                    <m:r>
                      <a:rPr lang="en-US" i="1">
                        <a:latin typeface="Cambria Math" panose="02040503050406030204" pitchFamily="18" charset="0"/>
                      </a:rPr>
                      <m:t>𝜃</m:t>
                    </m:r>
                    <m:r>
                      <a:rPr lang="en-US" i="1">
                        <a:latin typeface="Cambria Math" panose="02040503050406030204" pitchFamily="18" charset="0"/>
                      </a:rPr>
                      <m:t>,</m:t>
                    </m:r>
                    <m:r>
                      <a:rPr lang="en-US" i="1">
                        <a:latin typeface="Cambria Math" panose="02040503050406030204" pitchFamily="18" charset="0"/>
                      </a:rPr>
                      <m:t>𝑎</m:t>
                    </m:r>
                    <m:r>
                      <a:rPr lang="en-US" i="1">
                        <a:latin typeface="Cambria Math" panose="02040503050406030204" pitchFamily="18" charset="0"/>
                      </a:rPr>
                      <m:t>,</m:t>
                    </m:r>
                    <m:r>
                      <a:rPr lang="en-US" i="1">
                        <a:latin typeface="Cambria Math" panose="02040503050406030204" pitchFamily="18" charset="0"/>
                      </a:rPr>
                      <m:t>𝑏</m:t>
                    </m:r>
                    <m:r>
                      <a:rPr lang="en-US" i="1">
                        <a:latin typeface="Cambria Math" panose="02040503050406030204" pitchFamily="18" charset="0"/>
                      </a:rPr>
                      <m:t>,</m:t>
                    </m:r>
                    <m:r>
                      <a:rPr lang="en-US" i="1">
                        <a:latin typeface="Cambria Math" panose="02040503050406030204" pitchFamily="18" charset="0"/>
                      </a:rPr>
                      <m:t>𝑐</m:t>
                    </m:r>
                  </m:oMath>
                </a14:m>
                <a:endParaRPr lang="en-US"/>
              </a:p>
              <a:p>
                <a:endParaRPr lang="en-US"/>
              </a:p>
            </p:txBody>
          </p:sp>
        </mc:Choice>
        <mc:Fallback xmlns="">
          <p:sp>
            <p:nvSpPr>
              <p:cNvPr id="3" name="Content Placeholder 2">
                <a:extLst>
                  <a:ext uri="{FF2B5EF4-FFF2-40B4-BE49-F238E27FC236}">
                    <a16:creationId xmlns:a16="http://schemas.microsoft.com/office/drawing/2014/main" id="{F2C9CDD4-6899-414D-823D-127EBBEED05C}"/>
                  </a:ext>
                </a:extLst>
              </p:cNvPr>
              <p:cNvSpPr>
                <a:spLocks noGrp="1" noRot="1" noChangeAspect="1" noMove="1" noResize="1" noEditPoints="1" noAdjustHandles="1" noChangeArrowheads="1" noChangeShapeType="1" noTextEdit="1"/>
              </p:cNvSpPr>
              <p:nvPr>
                <p:ph idx="1"/>
              </p:nvPr>
            </p:nvSpPr>
            <p:spPr>
              <a:blipFill>
                <a:blip r:embed="rId2"/>
                <a:stretch>
                  <a:fillRect l="-1387" t="-1681"/>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005A0693-8FD0-5748-946C-A4A86E595DD0}"/>
              </a:ext>
            </a:extLst>
          </p:cNvPr>
          <p:cNvSpPr>
            <a:spLocks noGrp="1"/>
          </p:cNvSpPr>
          <p:nvPr>
            <p:ph type="sldNum" sz="quarter" idx="12"/>
          </p:nvPr>
        </p:nvSpPr>
        <p:spPr/>
        <p:txBody>
          <a:bodyPr/>
          <a:lstStyle/>
          <a:p>
            <a:pPr>
              <a:defRPr/>
            </a:pPr>
            <a:fld id="{EC183674-A9ED-404F-B1CE-2FB45E89D5F6}" type="slidenum">
              <a:rPr lang="en-US"/>
              <a:pPr>
                <a:defRPr/>
              </a:pPr>
              <a:t>34</a:t>
            </a:fld>
            <a:endParaRPr lang="en-US" dirty="0"/>
          </a:p>
        </p:txBody>
      </p:sp>
    </p:spTree>
    <p:extLst>
      <p:ext uri="{BB962C8B-B14F-4D97-AF65-F5344CB8AC3E}">
        <p14:creationId xmlns:p14="http://schemas.microsoft.com/office/powerpoint/2010/main" val="387744462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3E4908-CD0B-C746-9423-ABCF906EAB61}"/>
              </a:ext>
            </a:extLst>
          </p:cNvPr>
          <p:cNvSpPr>
            <a:spLocks noGrp="1"/>
          </p:cNvSpPr>
          <p:nvPr>
            <p:ph type="title"/>
          </p:nvPr>
        </p:nvSpPr>
        <p:spPr/>
        <p:txBody>
          <a:bodyPr/>
          <a:lstStyle/>
          <a:p>
            <a:r>
              <a:rPr lang="en-US" sz="4000" b="1"/>
              <a:t>Impact of Scale Identification Constraints on Item Parameter Estimates</a:t>
            </a:r>
          </a:p>
        </p:txBody>
      </p:sp>
      <p:sp>
        <p:nvSpPr>
          <p:cNvPr id="3" name="Content Placeholder 2">
            <a:extLst>
              <a:ext uri="{FF2B5EF4-FFF2-40B4-BE49-F238E27FC236}">
                <a16:creationId xmlns:a16="http://schemas.microsoft.com/office/drawing/2014/main" id="{4B0AF0C6-D999-6D49-BDFF-9CAD2A2BF491}"/>
              </a:ext>
            </a:extLst>
          </p:cNvPr>
          <p:cNvSpPr>
            <a:spLocks noGrp="1"/>
          </p:cNvSpPr>
          <p:nvPr>
            <p:ph idx="1"/>
          </p:nvPr>
        </p:nvSpPr>
        <p:spPr/>
        <p:txBody>
          <a:bodyPr/>
          <a:lstStyle/>
          <a:p>
            <a:pPr marL="0" indent="0">
              <a:buNone/>
            </a:pPr>
            <a:r>
              <a:rPr lang="en-US" sz="2400"/>
              <a:t>We usually identify the scale of an IRT model by assuming </a:t>
            </a:r>
            <a:r>
              <a:rPr lang="el-GR" sz="2400"/>
              <a:t>θ</a:t>
            </a:r>
            <a:r>
              <a:rPr lang="en-US" sz="2400"/>
              <a:t> ~</a:t>
            </a:r>
            <a:r>
              <a:rPr lang="el-GR" sz="2400"/>
              <a:t> </a:t>
            </a:r>
            <a:r>
              <a:rPr lang="en-US" sz="2400" i="1"/>
              <a:t>N</a:t>
            </a:r>
            <a:r>
              <a:rPr lang="en-US" sz="2400"/>
              <a:t>(0,1). All of the item parameters are estimated </a:t>
            </a:r>
            <a:r>
              <a:rPr lang="en-US" sz="2400" i="1"/>
              <a:t>relative </a:t>
            </a:r>
            <a:r>
              <a:rPr lang="en-US" sz="2400"/>
              <a:t>to this scale. Imagine a moderately difficult item. If we estimate item parameters in a sample with high ability, the </a:t>
            </a:r>
            <a:r>
              <a:rPr lang="en-US" sz="2400" i="1"/>
              <a:t>b </a:t>
            </a:r>
            <a:r>
              <a:rPr lang="en-US" sz="2400"/>
              <a:t>value for the item will probably be slightly negative - in this sample, someone slightly below the mean has a 50% chance of answering it correctly. But, if we estimate item parameters in a low ability sample, the </a:t>
            </a:r>
            <a:r>
              <a:rPr lang="en-US" sz="2400" i="1"/>
              <a:t>b </a:t>
            </a:r>
            <a:r>
              <a:rPr lang="en-US" sz="2400"/>
              <a:t>value will probably be positive and possibly large, since only people well above the mean in this sample have a 50% chance of answering the item correctly. This is not a violation of parameter invariance. It happens because the item parameter estimates are on a scale </a:t>
            </a:r>
            <a:r>
              <a:rPr lang="en-US" sz="2400" i="1"/>
              <a:t>relative </a:t>
            </a:r>
            <a:r>
              <a:rPr lang="en-US" sz="2400"/>
              <a:t>to the sample being used. But all other item parameters will shift up or down in unison, so that estimates from both samples are perfectly correlated. A violation of parameter invariance would occur if some items shifted by more/less than other items. </a:t>
            </a:r>
            <a:endParaRPr lang="en-US" sz="2400">
              <a:effectLst/>
            </a:endParaRPr>
          </a:p>
          <a:p>
            <a:pPr marL="0" indent="0">
              <a:buNone/>
            </a:pPr>
            <a:endParaRPr lang="en-US"/>
          </a:p>
        </p:txBody>
      </p:sp>
      <p:sp>
        <p:nvSpPr>
          <p:cNvPr id="4" name="Slide Number Placeholder 3">
            <a:extLst>
              <a:ext uri="{FF2B5EF4-FFF2-40B4-BE49-F238E27FC236}">
                <a16:creationId xmlns:a16="http://schemas.microsoft.com/office/drawing/2014/main" id="{1D5050C5-C28C-6F47-B50C-6B0F652E9E04}"/>
              </a:ext>
            </a:extLst>
          </p:cNvPr>
          <p:cNvSpPr>
            <a:spLocks noGrp="1"/>
          </p:cNvSpPr>
          <p:nvPr>
            <p:ph type="sldNum" sz="quarter" idx="12"/>
          </p:nvPr>
        </p:nvSpPr>
        <p:spPr/>
        <p:txBody>
          <a:bodyPr/>
          <a:lstStyle/>
          <a:p>
            <a:pPr>
              <a:defRPr/>
            </a:pPr>
            <a:fld id="{EC183674-A9ED-404F-B1CE-2FB45E89D5F6}" type="slidenum">
              <a:rPr lang="en-US"/>
              <a:pPr>
                <a:defRPr/>
              </a:pPr>
              <a:t>35</a:t>
            </a:fld>
            <a:endParaRPr lang="en-US" dirty="0"/>
          </a:p>
        </p:txBody>
      </p:sp>
    </p:spTree>
    <p:extLst>
      <p:ext uri="{BB962C8B-B14F-4D97-AF65-F5344CB8AC3E}">
        <p14:creationId xmlns:p14="http://schemas.microsoft.com/office/powerpoint/2010/main" val="12309727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934971-9D72-134E-81BD-2D89CBFA968F}"/>
              </a:ext>
            </a:extLst>
          </p:cNvPr>
          <p:cNvSpPr>
            <a:spLocks noGrp="1"/>
          </p:cNvSpPr>
          <p:nvPr>
            <p:ph type="title"/>
          </p:nvPr>
        </p:nvSpPr>
        <p:spPr/>
        <p:txBody>
          <a:bodyPr/>
          <a:lstStyle/>
          <a:p>
            <a:r>
              <a:rPr lang="en-US" sz="4000" b="1"/>
              <a:t>Ramifications When Using a</a:t>
            </a:r>
            <a:br>
              <a:rPr lang="en-US" sz="4000" b="1"/>
            </a:br>
            <a:r>
              <a:rPr lang="en-US" sz="4000" b="1"/>
              <a:t> NEAT Design with IRT</a:t>
            </a:r>
          </a:p>
        </p:txBody>
      </p:sp>
      <p:sp>
        <p:nvSpPr>
          <p:cNvPr id="3" name="Content Placeholder 2">
            <a:extLst>
              <a:ext uri="{FF2B5EF4-FFF2-40B4-BE49-F238E27FC236}">
                <a16:creationId xmlns:a16="http://schemas.microsoft.com/office/drawing/2014/main" id="{8D44FF4B-7810-A94D-ACBE-28533DEAD5BB}"/>
              </a:ext>
            </a:extLst>
          </p:cNvPr>
          <p:cNvSpPr>
            <a:spLocks noGrp="1"/>
          </p:cNvSpPr>
          <p:nvPr>
            <p:ph idx="1"/>
          </p:nvPr>
        </p:nvSpPr>
        <p:spPr/>
        <p:txBody>
          <a:bodyPr/>
          <a:lstStyle/>
          <a:p>
            <a:r>
              <a:rPr lang="en-US" sz="2800"/>
              <a:t>Say we calibrate our IRT model </a:t>
            </a:r>
            <a:r>
              <a:rPr lang="en-US" sz="2800" i="1"/>
              <a:t>separately</a:t>
            </a:r>
            <a:r>
              <a:rPr lang="en-US" sz="2800"/>
              <a:t> for nonequivalent groups taking two test forms with a subset of common items.</a:t>
            </a:r>
          </a:p>
          <a:p>
            <a:r>
              <a:rPr lang="en-US" sz="2800"/>
              <a:t>Now, if the two groups were equivalent, we expect to get the same item parameter estimates.</a:t>
            </a:r>
          </a:p>
          <a:p>
            <a:r>
              <a:rPr lang="en-US" sz="2800"/>
              <a:t>If they are not the same, part of the reason could be that the groups are non-equivalent (but also possible we have DIF or estimation error).</a:t>
            </a:r>
          </a:p>
          <a:p>
            <a:r>
              <a:rPr lang="en-US" sz="2800"/>
              <a:t>If it’s just because the two groups differ in ability distributions, we should be able to equate the parameters for the common items using a linear transformation.</a:t>
            </a:r>
          </a:p>
          <a:p>
            <a:r>
              <a:rPr lang="en-US" sz="2800"/>
              <a:t>The challenge is to estimate the “linking constants” (A and B)</a:t>
            </a:r>
          </a:p>
          <a:p>
            <a:pPr marL="0" indent="0">
              <a:buNone/>
            </a:pPr>
            <a:endParaRPr lang="en-US"/>
          </a:p>
        </p:txBody>
      </p:sp>
      <p:sp>
        <p:nvSpPr>
          <p:cNvPr id="4" name="Slide Number Placeholder 3">
            <a:extLst>
              <a:ext uri="{FF2B5EF4-FFF2-40B4-BE49-F238E27FC236}">
                <a16:creationId xmlns:a16="http://schemas.microsoft.com/office/drawing/2014/main" id="{7453FBBD-3D30-894C-87EF-C904146ABE6C}"/>
              </a:ext>
            </a:extLst>
          </p:cNvPr>
          <p:cNvSpPr>
            <a:spLocks noGrp="1"/>
          </p:cNvSpPr>
          <p:nvPr>
            <p:ph type="sldNum" sz="quarter" idx="12"/>
          </p:nvPr>
        </p:nvSpPr>
        <p:spPr/>
        <p:txBody>
          <a:bodyPr/>
          <a:lstStyle/>
          <a:p>
            <a:pPr>
              <a:defRPr/>
            </a:pPr>
            <a:fld id="{EC183674-A9ED-404F-B1CE-2FB45E89D5F6}" type="slidenum">
              <a:rPr lang="en-US"/>
              <a:pPr>
                <a:defRPr/>
              </a:pPr>
              <a:t>36</a:t>
            </a:fld>
            <a:endParaRPr lang="en-US" dirty="0"/>
          </a:p>
        </p:txBody>
      </p:sp>
    </p:spTree>
    <p:extLst>
      <p:ext uri="{BB962C8B-B14F-4D97-AF65-F5344CB8AC3E}">
        <p14:creationId xmlns:p14="http://schemas.microsoft.com/office/powerpoint/2010/main" val="410406017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itle 1"/>
          <p:cNvSpPr>
            <a:spLocks noGrp="1"/>
          </p:cNvSpPr>
          <p:nvPr>
            <p:ph type="title"/>
          </p:nvPr>
        </p:nvSpPr>
        <p:spPr/>
        <p:txBody>
          <a:bodyPr/>
          <a:lstStyle/>
          <a:p>
            <a:pPr eaLnBrk="1" hangingPunct="1"/>
            <a:r>
              <a:rPr lang="en-US" b="1">
                <a:latin typeface="Calibri" charset="0"/>
                <a:ea typeface="ＭＳ Ｐゴシック" charset="0"/>
              </a:rPr>
              <a:t>Separate Calibration with NEAT Design</a:t>
            </a:r>
          </a:p>
        </p:txBody>
      </p:sp>
      <p:sp>
        <p:nvSpPr>
          <p:cNvPr id="23554" name="Content Placeholder 2"/>
          <p:cNvSpPr>
            <a:spLocks noGrp="1"/>
          </p:cNvSpPr>
          <p:nvPr>
            <p:ph idx="1"/>
          </p:nvPr>
        </p:nvSpPr>
        <p:spPr/>
        <p:txBody>
          <a:bodyPr/>
          <a:lstStyle/>
          <a:p>
            <a:pPr eaLnBrk="1" hangingPunct="1"/>
            <a:r>
              <a:rPr lang="en-US" sz="2800">
                <a:latin typeface="Calibri" charset="0"/>
                <a:ea typeface="ＭＳ Ｐゴシック" charset="0"/>
              </a:rPr>
              <a:t>Leveraging the property of parameter invariance.</a:t>
            </a:r>
          </a:p>
          <a:p>
            <a:pPr eaLnBrk="1" hangingPunct="1"/>
            <a:r>
              <a:rPr lang="en-US" sz="2800">
                <a:latin typeface="Calibri" charset="0"/>
                <a:ea typeface="ＭＳ Ｐゴシック" charset="0"/>
              </a:rPr>
              <a:t>If the model fits the data, then item parameter estimates should be the same regardless of the group used to estimate them.</a:t>
            </a:r>
          </a:p>
          <a:p>
            <a:pPr eaLnBrk="1" hangingPunct="1"/>
            <a:r>
              <a:rPr lang="en-US" sz="2800">
                <a:latin typeface="Calibri" charset="0"/>
                <a:ea typeface="ＭＳ Ｐゴシック" charset="0"/>
              </a:rPr>
              <a:t>So the idea is this—any difference observed in parameters for common items must be an artifact of the way the scale was anchored (i.e., forcing two different groups of students to have same mean and SD of ability)</a:t>
            </a:r>
          </a:p>
          <a:p>
            <a:pPr eaLnBrk="1" hangingPunct="1"/>
            <a:r>
              <a:rPr lang="en-US" sz="2800">
                <a:latin typeface="Calibri" charset="0"/>
                <a:ea typeface="ＭＳ Ｐゴシック" charset="0"/>
              </a:rPr>
              <a:t>The item parameters should be linearly related.</a:t>
            </a:r>
          </a:p>
          <a:p>
            <a:pPr eaLnBrk="1" hangingPunct="1"/>
            <a:r>
              <a:rPr lang="en-US" sz="2800">
                <a:latin typeface="Calibri" charset="0"/>
                <a:ea typeface="ＭＳ Ｐゴシック" charset="0"/>
              </a:rPr>
              <a:t>So we establish the link between tests on basis of common items and then extrapolate to unique items to place all items on same scale.</a:t>
            </a:r>
          </a:p>
          <a:p>
            <a:pPr eaLnBrk="1" hangingPunct="1">
              <a:buFont typeface="Arial" charset="0"/>
              <a:buNone/>
            </a:pPr>
            <a:endParaRPr lang="en-US" sz="2400">
              <a:latin typeface="Calibri" charset="0"/>
              <a:ea typeface="ＭＳ Ｐゴシック" charset="0"/>
            </a:endParaRPr>
          </a:p>
          <a:p>
            <a:pPr lvl="1" eaLnBrk="1" hangingPunct="1">
              <a:buFont typeface="Arial" charset="0"/>
              <a:buNone/>
            </a:pPr>
            <a:endParaRPr lang="en-US" sz="2200">
              <a:latin typeface="Calibri" charset="0"/>
              <a:ea typeface="ＭＳ Ｐゴシック" charset="0"/>
            </a:endParaRPr>
          </a:p>
          <a:p>
            <a:pPr eaLnBrk="1" hangingPunct="1"/>
            <a:endParaRPr lang="en-US" sz="2600">
              <a:latin typeface="Calibri" charset="0"/>
              <a:ea typeface="ＭＳ Ｐゴシック" charset="0"/>
            </a:endParaRPr>
          </a:p>
          <a:p>
            <a:pPr eaLnBrk="1" hangingPunct="1"/>
            <a:endParaRPr lang="en-US" sz="2200">
              <a:latin typeface="Calibri" charset="0"/>
              <a:ea typeface="ＭＳ Ｐゴシック" charset="0"/>
            </a:endParaRPr>
          </a:p>
        </p:txBody>
      </p:sp>
      <p:sp>
        <p:nvSpPr>
          <p:cNvPr id="2" name="Slide Number Placeholder 1"/>
          <p:cNvSpPr>
            <a:spLocks noGrp="1"/>
          </p:cNvSpPr>
          <p:nvPr>
            <p:ph type="sldNum" sz="quarter" idx="12"/>
          </p:nvPr>
        </p:nvSpPr>
        <p:spPr/>
        <p:txBody>
          <a:bodyPr/>
          <a:lstStyle/>
          <a:p>
            <a:pPr>
              <a:defRPr/>
            </a:pPr>
            <a:fld id="{EC183674-A9ED-404F-B1CE-2FB45E89D5F6}" type="slidenum">
              <a:rPr lang="en-US"/>
              <a:pPr>
                <a:defRPr/>
              </a:pPr>
              <a:t>37</a:t>
            </a:fld>
            <a:endParaRPr lang="en-US" dirty="0"/>
          </a:p>
        </p:txBody>
      </p:sp>
    </p:spTree>
    <p:extLst>
      <p:ext uri="{BB962C8B-B14F-4D97-AF65-F5344CB8AC3E}">
        <p14:creationId xmlns:p14="http://schemas.microsoft.com/office/powerpoint/2010/main" val="257100457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Title 1"/>
          <p:cNvSpPr>
            <a:spLocks noGrp="1"/>
          </p:cNvSpPr>
          <p:nvPr>
            <p:ph type="title"/>
          </p:nvPr>
        </p:nvSpPr>
        <p:spPr/>
        <p:txBody>
          <a:bodyPr/>
          <a:lstStyle/>
          <a:p>
            <a:pPr eaLnBrk="1" hangingPunct="1"/>
            <a:r>
              <a:rPr lang="en-US" b="1">
                <a:latin typeface="Calibri" charset="0"/>
                <a:ea typeface="ＭＳ Ｐゴシック" charset="0"/>
              </a:rPr>
              <a:t>IRT Linking Equations</a:t>
            </a:r>
          </a:p>
        </p:txBody>
      </p:sp>
      <p:sp>
        <p:nvSpPr>
          <p:cNvPr id="24578" name="Content Placeholder 2"/>
          <p:cNvSpPr>
            <a:spLocks noGrp="1"/>
          </p:cNvSpPr>
          <p:nvPr>
            <p:ph idx="1"/>
          </p:nvPr>
        </p:nvSpPr>
        <p:spPr>
          <a:xfrm>
            <a:off x="1981200" y="1590675"/>
            <a:ext cx="8229600" cy="3886200"/>
          </a:xfrm>
        </p:spPr>
        <p:txBody>
          <a:bodyPr/>
          <a:lstStyle/>
          <a:p>
            <a:pPr eaLnBrk="1" hangingPunct="1"/>
            <a:r>
              <a:rPr lang="en-US" sz="2600">
                <a:latin typeface="Calibri" charset="0"/>
                <a:ea typeface="ＭＳ Ｐゴシック" charset="0"/>
              </a:rPr>
              <a:t>If parameters for each of two test forms are estimated separately, a linear transformation is used to place the parameters from one test—the </a:t>
            </a:r>
            <a:r>
              <a:rPr lang="ja-JP" altLang="en-US" sz="2600">
                <a:latin typeface="Calibri" charset="0"/>
                <a:ea typeface="ＭＳ Ｐゴシック" charset="0"/>
              </a:rPr>
              <a:t>“</a:t>
            </a:r>
            <a:r>
              <a:rPr lang="en-US" altLang="ja-JP" sz="2600">
                <a:latin typeface="Calibri" charset="0"/>
                <a:ea typeface="ＭＳ Ｐゴシック" charset="0"/>
              </a:rPr>
              <a:t>From</a:t>
            </a:r>
            <a:r>
              <a:rPr lang="ja-JP" altLang="en-US" sz="2600">
                <a:latin typeface="Calibri" charset="0"/>
                <a:ea typeface="ＭＳ Ｐゴシック" charset="0"/>
              </a:rPr>
              <a:t>”</a:t>
            </a:r>
            <a:r>
              <a:rPr lang="en-US" altLang="ja-JP" sz="2600">
                <a:latin typeface="Calibri" charset="0"/>
                <a:ea typeface="ＭＳ Ｐゴシック" charset="0"/>
              </a:rPr>
              <a:t> scale (F)—onto the scale of the other—the </a:t>
            </a:r>
            <a:r>
              <a:rPr lang="ja-JP" altLang="en-US" sz="2600">
                <a:latin typeface="Calibri" charset="0"/>
                <a:ea typeface="ＭＳ Ｐゴシック" charset="0"/>
              </a:rPr>
              <a:t>“</a:t>
            </a:r>
            <a:r>
              <a:rPr lang="en-US" altLang="ja-JP" sz="2600">
                <a:latin typeface="Calibri" charset="0"/>
                <a:ea typeface="ＭＳ Ｐゴシック" charset="0"/>
              </a:rPr>
              <a:t>To</a:t>
            </a:r>
            <a:r>
              <a:rPr lang="ja-JP" altLang="en-US" sz="2600">
                <a:latin typeface="Calibri" charset="0"/>
                <a:ea typeface="ＭＳ Ｐゴシック" charset="0"/>
              </a:rPr>
              <a:t>”</a:t>
            </a:r>
            <a:r>
              <a:rPr lang="en-US" altLang="ja-JP" sz="2600">
                <a:latin typeface="Calibri" charset="0"/>
                <a:ea typeface="ＭＳ Ｐゴシック" charset="0"/>
              </a:rPr>
              <a:t> scale (T).</a:t>
            </a:r>
          </a:p>
          <a:p>
            <a:pPr eaLnBrk="1" hangingPunct="1">
              <a:buFont typeface="Arial" charset="0"/>
              <a:buNone/>
            </a:pPr>
            <a:endParaRPr lang="en-US" sz="2600">
              <a:latin typeface="Calibri" charset="0"/>
              <a:ea typeface="ＭＳ Ｐゴシック" charset="0"/>
            </a:endParaRPr>
          </a:p>
          <a:p>
            <a:pPr eaLnBrk="1" hangingPunct="1"/>
            <a:r>
              <a:rPr lang="en-US" sz="3000">
                <a:latin typeface="Calibri" charset="0"/>
                <a:ea typeface="ＭＳ Ｐゴシック" charset="0"/>
              </a:rPr>
              <a:t>Ability Estimates</a:t>
            </a:r>
          </a:p>
          <a:p>
            <a:pPr eaLnBrk="1" hangingPunct="1">
              <a:buFont typeface="Arial" charset="0"/>
              <a:buNone/>
            </a:pPr>
            <a:endParaRPr lang="en-US" sz="3000">
              <a:latin typeface="Calibri" charset="0"/>
              <a:ea typeface="ＭＳ Ｐゴシック" charset="0"/>
            </a:endParaRPr>
          </a:p>
          <a:p>
            <a:pPr eaLnBrk="1" hangingPunct="1"/>
            <a:r>
              <a:rPr lang="en-US" sz="3000">
                <a:latin typeface="Calibri" charset="0"/>
                <a:ea typeface="ＭＳ Ｐゴシック" charset="0"/>
              </a:rPr>
              <a:t>Item Parameters</a:t>
            </a:r>
          </a:p>
        </p:txBody>
      </p:sp>
      <p:graphicFrame>
        <p:nvGraphicFramePr>
          <p:cNvPr id="24579" name="Content Placeholder 3"/>
          <p:cNvGraphicFramePr>
            <a:graphicFrameLocks noChangeAspect="1"/>
          </p:cNvGraphicFramePr>
          <p:nvPr/>
        </p:nvGraphicFramePr>
        <p:xfrm>
          <a:off x="5469467" y="3810000"/>
          <a:ext cx="1965325" cy="490538"/>
        </p:xfrm>
        <a:graphic>
          <a:graphicData uri="http://schemas.openxmlformats.org/presentationml/2006/ole">
            <mc:AlternateContent xmlns:mc="http://schemas.openxmlformats.org/markup-compatibility/2006">
              <mc:Choice xmlns:v="urn:schemas-microsoft-com:vml" Requires="v">
                <p:oleObj name="Equation" r:id="rId2" imgW="863225" imgH="215806" progId="Equation.3">
                  <p:embed/>
                </p:oleObj>
              </mc:Choice>
              <mc:Fallback>
                <p:oleObj name="Equation" r:id="rId2" imgW="863225" imgH="215806" progId="Equation.3">
                  <p:embed/>
                  <p:pic>
                    <p:nvPicPr>
                      <p:cNvPr id="24579" name="Content Placeholder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69467" y="3810000"/>
                        <a:ext cx="1965325" cy="490538"/>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7"/>
                                </a:srgbClr>
                              </a:outerShdw>
                            </a:effectLst>
                          </a14:hiddenEffects>
                        </a:ext>
                      </a:extLst>
                    </p:spPr>
                  </p:pic>
                </p:oleObj>
              </mc:Fallback>
            </mc:AlternateContent>
          </a:graphicData>
        </a:graphic>
      </p:graphicFrame>
      <p:graphicFrame>
        <p:nvGraphicFramePr>
          <p:cNvPr id="24580" name="Object 4"/>
          <p:cNvGraphicFramePr>
            <a:graphicFrameLocks noChangeAspect="1"/>
          </p:cNvGraphicFramePr>
          <p:nvPr/>
        </p:nvGraphicFramePr>
        <p:xfrm>
          <a:off x="5258329" y="4729426"/>
          <a:ext cx="1219200" cy="839788"/>
        </p:xfrm>
        <a:graphic>
          <a:graphicData uri="http://schemas.openxmlformats.org/presentationml/2006/ole">
            <mc:AlternateContent xmlns:mc="http://schemas.openxmlformats.org/markup-compatibility/2006">
              <mc:Choice xmlns:v="urn:schemas-microsoft-com:vml" Requires="v">
                <p:oleObj name="Equation" r:id="rId4" imgW="571252" imgH="393529" progId="Equation.3">
                  <p:embed/>
                </p:oleObj>
              </mc:Choice>
              <mc:Fallback>
                <p:oleObj name="Equation" r:id="rId4" imgW="571252" imgH="393529" progId="Equation.3">
                  <p:embed/>
                  <p:pic>
                    <p:nvPicPr>
                      <p:cNvPr id="2458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58329" y="4729426"/>
                        <a:ext cx="1219200" cy="839788"/>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7"/>
                                </a:srgbClr>
                              </a:outerShdw>
                            </a:effectLst>
                          </a14:hiddenEffects>
                        </a:ext>
                      </a:extLst>
                    </p:spPr>
                  </p:pic>
                </p:oleObj>
              </mc:Fallback>
            </mc:AlternateContent>
          </a:graphicData>
        </a:graphic>
      </p:graphicFrame>
      <p:graphicFrame>
        <p:nvGraphicFramePr>
          <p:cNvPr id="24581" name="Object 4"/>
          <p:cNvGraphicFramePr>
            <a:graphicFrameLocks noChangeAspect="1"/>
          </p:cNvGraphicFramePr>
          <p:nvPr/>
        </p:nvGraphicFramePr>
        <p:xfrm>
          <a:off x="7162800" y="4915163"/>
          <a:ext cx="1933575" cy="468313"/>
        </p:xfrm>
        <a:graphic>
          <a:graphicData uri="http://schemas.openxmlformats.org/presentationml/2006/ole">
            <mc:AlternateContent xmlns:mc="http://schemas.openxmlformats.org/markup-compatibility/2006">
              <mc:Choice xmlns:v="urn:schemas-microsoft-com:vml" Requires="v">
                <p:oleObj name="Equation" r:id="rId6" imgW="888614" imgH="215806" progId="Equation.3">
                  <p:embed/>
                </p:oleObj>
              </mc:Choice>
              <mc:Fallback>
                <p:oleObj name="Equation" r:id="rId6" imgW="888614" imgH="215806" progId="Equation.3">
                  <p:embed/>
                  <p:pic>
                    <p:nvPicPr>
                      <p:cNvPr id="24581"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162800" y="4915163"/>
                        <a:ext cx="1933575" cy="468313"/>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7"/>
                                </a:srgbClr>
                              </a:outerShdw>
                            </a:effectLst>
                          </a14:hiddenEffects>
                        </a:ext>
                      </a:extLst>
                    </p:spPr>
                  </p:pic>
                </p:oleObj>
              </mc:Fallback>
            </mc:AlternateContent>
          </a:graphicData>
        </a:graphic>
      </p:graphicFrame>
      <p:sp>
        <p:nvSpPr>
          <p:cNvPr id="2" name="Slide Number Placeholder 1"/>
          <p:cNvSpPr>
            <a:spLocks noGrp="1"/>
          </p:cNvSpPr>
          <p:nvPr>
            <p:ph type="sldNum" sz="quarter" idx="12"/>
          </p:nvPr>
        </p:nvSpPr>
        <p:spPr/>
        <p:txBody>
          <a:bodyPr/>
          <a:lstStyle/>
          <a:p>
            <a:pPr>
              <a:defRPr/>
            </a:pPr>
            <a:fld id="{EC183674-A9ED-404F-B1CE-2FB45E89D5F6}" type="slidenum">
              <a:rPr lang="en-US"/>
              <a:pPr>
                <a:defRPr/>
              </a:pPr>
              <a:t>38</a:t>
            </a:fld>
            <a:endParaRPr lang="en-US" dirty="0"/>
          </a:p>
        </p:txBody>
      </p:sp>
      <p:sp>
        <p:nvSpPr>
          <p:cNvPr id="3" name="TextBox 2">
            <a:extLst>
              <a:ext uri="{FF2B5EF4-FFF2-40B4-BE49-F238E27FC236}">
                <a16:creationId xmlns:a16="http://schemas.microsoft.com/office/drawing/2014/main" id="{FDAAF579-8360-A048-96A3-8531F22F6E15}"/>
              </a:ext>
            </a:extLst>
          </p:cNvPr>
          <p:cNvSpPr txBox="1"/>
          <p:nvPr/>
        </p:nvSpPr>
        <p:spPr>
          <a:xfrm>
            <a:off x="4648200" y="5879756"/>
            <a:ext cx="2057929" cy="381000"/>
          </a:xfrm>
          <a:prstGeom prst="rect">
            <a:avLst/>
          </a:prstGeom>
          <a:noFill/>
        </p:spPr>
        <p:txBody>
          <a:bodyPr wrap="square" rtlCol="0">
            <a:spAutoFit/>
          </a:bodyPr>
          <a:lstStyle/>
          <a:p>
            <a:r>
              <a:rPr lang="en-US"/>
              <a:t>discrimination</a:t>
            </a:r>
          </a:p>
        </p:txBody>
      </p:sp>
      <p:sp>
        <p:nvSpPr>
          <p:cNvPr id="9" name="TextBox 8">
            <a:extLst>
              <a:ext uri="{FF2B5EF4-FFF2-40B4-BE49-F238E27FC236}">
                <a16:creationId xmlns:a16="http://schemas.microsoft.com/office/drawing/2014/main" id="{233FF855-F0FA-824A-BC96-4C9EFA0C6BED}"/>
              </a:ext>
            </a:extLst>
          </p:cNvPr>
          <p:cNvSpPr txBox="1"/>
          <p:nvPr/>
        </p:nvSpPr>
        <p:spPr>
          <a:xfrm>
            <a:off x="7009871" y="5943600"/>
            <a:ext cx="2057929" cy="381000"/>
          </a:xfrm>
          <a:prstGeom prst="rect">
            <a:avLst/>
          </a:prstGeom>
          <a:noFill/>
        </p:spPr>
        <p:txBody>
          <a:bodyPr wrap="square" rtlCol="0">
            <a:spAutoFit/>
          </a:bodyPr>
          <a:lstStyle/>
          <a:p>
            <a:r>
              <a:rPr lang="en-US"/>
              <a:t>difficulty</a:t>
            </a:r>
          </a:p>
        </p:txBody>
      </p:sp>
      <p:cxnSp>
        <p:nvCxnSpPr>
          <p:cNvPr id="5" name="Straight Arrow Connector 4">
            <a:extLst>
              <a:ext uri="{FF2B5EF4-FFF2-40B4-BE49-F238E27FC236}">
                <a16:creationId xmlns:a16="http://schemas.microsoft.com/office/drawing/2014/main" id="{BAA73818-9027-F643-9B8E-98A15468D97A}"/>
              </a:ext>
            </a:extLst>
          </p:cNvPr>
          <p:cNvCxnSpPr/>
          <p:nvPr/>
        </p:nvCxnSpPr>
        <p:spPr>
          <a:xfrm flipV="1">
            <a:off x="5410200" y="5486400"/>
            <a:ext cx="0" cy="3905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F6B4CDAD-A1B2-474E-99F2-67D45C7B7EC5}"/>
              </a:ext>
            </a:extLst>
          </p:cNvPr>
          <p:cNvCxnSpPr/>
          <p:nvPr/>
        </p:nvCxnSpPr>
        <p:spPr>
          <a:xfrm flipV="1">
            <a:off x="7315200" y="5476875"/>
            <a:ext cx="0" cy="3905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9073376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Title 1"/>
          <p:cNvSpPr>
            <a:spLocks noGrp="1"/>
          </p:cNvSpPr>
          <p:nvPr>
            <p:ph type="title"/>
          </p:nvPr>
        </p:nvSpPr>
        <p:spPr/>
        <p:txBody>
          <a:bodyPr/>
          <a:lstStyle/>
          <a:p>
            <a:pPr eaLnBrk="1" hangingPunct="1"/>
            <a:r>
              <a:rPr lang="en-US" b="1">
                <a:latin typeface="Calibri" charset="0"/>
                <a:ea typeface="ＭＳ Ｐゴシック" charset="0"/>
              </a:rPr>
              <a:t>Estimating Linking Constant: Moment Methods</a:t>
            </a:r>
          </a:p>
        </p:txBody>
      </p:sp>
      <p:sp>
        <p:nvSpPr>
          <p:cNvPr id="25602" name="Content Placeholder 2"/>
          <p:cNvSpPr>
            <a:spLocks noGrp="1"/>
          </p:cNvSpPr>
          <p:nvPr>
            <p:ph idx="1"/>
          </p:nvPr>
        </p:nvSpPr>
        <p:spPr>
          <a:xfrm>
            <a:off x="609600" y="1600201"/>
            <a:ext cx="10972800" cy="4756150"/>
          </a:xfrm>
        </p:spPr>
        <p:txBody>
          <a:bodyPr/>
          <a:lstStyle/>
          <a:p>
            <a:pPr eaLnBrk="1" hangingPunct="1"/>
            <a:r>
              <a:rPr lang="en-US">
                <a:latin typeface="Calibri" charset="0"/>
                <a:ea typeface="ＭＳ Ｐゴシック" charset="0"/>
              </a:rPr>
              <a:t>Mean/Sigma Approach</a:t>
            </a:r>
          </a:p>
          <a:p>
            <a:pPr eaLnBrk="1" hangingPunct="1">
              <a:buFont typeface="Arial" charset="0"/>
              <a:buNone/>
            </a:pPr>
            <a:endParaRPr lang="en-US">
              <a:latin typeface="Calibri" charset="0"/>
              <a:ea typeface="ＭＳ Ｐゴシック" charset="0"/>
            </a:endParaRPr>
          </a:p>
          <a:p>
            <a:pPr eaLnBrk="1" hangingPunct="1"/>
            <a:endParaRPr lang="en-US">
              <a:latin typeface="Calibri" charset="0"/>
              <a:ea typeface="ＭＳ Ｐゴシック" charset="0"/>
            </a:endParaRPr>
          </a:p>
          <a:p>
            <a:pPr eaLnBrk="1" hangingPunct="1"/>
            <a:r>
              <a:rPr lang="en-US">
                <a:latin typeface="Calibri" charset="0"/>
                <a:ea typeface="ＭＳ Ｐゴシック" charset="0"/>
              </a:rPr>
              <a:t>Mean/Mean Approach</a:t>
            </a:r>
          </a:p>
          <a:p>
            <a:pPr eaLnBrk="1" hangingPunct="1"/>
            <a:endParaRPr lang="en-US">
              <a:latin typeface="Calibri" charset="0"/>
              <a:ea typeface="ＭＳ Ｐゴシック" charset="0"/>
            </a:endParaRPr>
          </a:p>
          <a:p>
            <a:pPr eaLnBrk="1" hangingPunct="1">
              <a:buFont typeface="Arial" charset="0"/>
              <a:buNone/>
            </a:pPr>
            <a:endParaRPr lang="en-US" sz="2000">
              <a:latin typeface="Calibri" charset="0"/>
              <a:ea typeface="ＭＳ Ｐゴシック" charset="0"/>
            </a:endParaRPr>
          </a:p>
          <a:p>
            <a:pPr eaLnBrk="1" hangingPunct="1">
              <a:buFont typeface="Arial" charset="0"/>
              <a:buNone/>
            </a:pPr>
            <a:endParaRPr lang="en-US" sz="2400">
              <a:latin typeface="Calibri" charset="0"/>
              <a:ea typeface="ＭＳ Ｐゴシック" charset="0"/>
            </a:endParaRPr>
          </a:p>
        </p:txBody>
      </p:sp>
      <p:graphicFrame>
        <p:nvGraphicFramePr>
          <p:cNvPr id="25603" name="Object 2"/>
          <p:cNvGraphicFramePr>
            <a:graphicFrameLocks noChangeAspect="1"/>
          </p:cNvGraphicFramePr>
          <p:nvPr/>
        </p:nvGraphicFramePr>
        <p:xfrm>
          <a:off x="3733801" y="2362200"/>
          <a:ext cx="1331913" cy="838200"/>
        </p:xfrm>
        <a:graphic>
          <a:graphicData uri="http://schemas.openxmlformats.org/presentationml/2006/ole">
            <mc:AlternateContent xmlns:mc="http://schemas.openxmlformats.org/markup-compatibility/2006">
              <mc:Choice xmlns:v="urn:schemas-microsoft-com:vml" Requires="v">
                <p:oleObj name="Equation" r:id="rId2" imgW="685800" imgH="431800" progId="Equation.3">
                  <p:embed/>
                </p:oleObj>
              </mc:Choice>
              <mc:Fallback>
                <p:oleObj name="Equation" r:id="rId2" imgW="685800" imgH="431800" progId="Equation.3">
                  <p:embed/>
                  <p:pic>
                    <p:nvPicPr>
                      <p:cNvPr id="25603"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33801" y="2362200"/>
                        <a:ext cx="1331913" cy="83820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7"/>
                                </a:srgbClr>
                              </a:outerShdw>
                            </a:effectLst>
                          </a14:hiddenEffects>
                        </a:ext>
                      </a:extLst>
                    </p:spPr>
                  </p:pic>
                </p:oleObj>
              </mc:Fallback>
            </mc:AlternateContent>
          </a:graphicData>
        </a:graphic>
      </p:graphicFrame>
      <p:graphicFrame>
        <p:nvGraphicFramePr>
          <p:cNvPr id="25604" name="Object 3"/>
          <p:cNvGraphicFramePr>
            <a:graphicFrameLocks noChangeAspect="1"/>
          </p:cNvGraphicFramePr>
          <p:nvPr/>
        </p:nvGraphicFramePr>
        <p:xfrm>
          <a:off x="5740400" y="2514600"/>
          <a:ext cx="2387600" cy="431800"/>
        </p:xfrm>
        <a:graphic>
          <a:graphicData uri="http://schemas.openxmlformats.org/presentationml/2006/ole">
            <mc:AlternateContent xmlns:mc="http://schemas.openxmlformats.org/markup-compatibility/2006">
              <mc:Choice xmlns:v="urn:schemas-microsoft-com:vml" Requires="v">
                <p:oleObj name="Equation" r:id="rId4" imgW="1193800" imgH="215900" progId="Equation.3">
                  <p:embed/>
                </p:oleObj>
              </mc:Choice>
              <mc:Fallback>
                <p:oleObj name="Equation" r:id="rId4" imgW="1193800" imgH="215900" progId="Equation.3">
                  <p:embed/>
                  <p:pic>
                    <p:nvPicPr>
                      <p:cNvPr id="25604"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40400" y="2514600"/>
                        <a:ext cx="2387600" cy="43180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7"/>
                                </a:srgbClr>
                              </a:outerShdw>
                            </a:effectLst>
                          </a14:hiddenEffects>
                        </a:ext>
                      </a:extLst>
                    </p:spPr>
                  </p:pic>
                </p:oleObj>
              </mc:Fallback>
            </mc:AlternateContent>
          </a:graphicData>
        </a:graphic>
      </p:graphicFrame>
      <p:graphicFrame>
        <p:nvGraphicFramePr>
          <p:cNvPr id="25605" name="Object 4"/>
          <p:cNvGraphicFramePr>
            <a:graphicFrameLocks noChangeAspect="1"/>
          </p:cNvGraphicFramePr>
          <p:nvPr/>
        </p:nvGraphicFramePr>
        <p:xfrm>
          <a:off x="3709989" y="4191000"/>
          <a:ext cx="1381125" cy="838200"/>
        </p:xfrm>
        <a:graphic>
          <a:graphicData uri="http://schemas.openxmlformats.org/presentationml/2006/ole">
            <mc:AlternateContent xmlns:mc="http://schemas.openxmlformats.org/markup-compatibility/2006">
              <mc:Choice xmlns:v="urn:schemas-microsoft-com:vml" Requires="v">
                <p:oleObj name="Equation" r:id="rId6" imgW="710891" imgH="431613" progId="Equation.3">
                  <p:embed/>
                </p:oleObj>
              </mc:Choice>
              <mc:Fallback>
                <p:oleObj name="Equation" r:id="rId6" imgW="710891" imgH="431613" progId="Equation.3">
                  <p:embed/>
                  <p:pic>
                    <p:nvPicPr>
                      <p:cNvPr id="25605"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09989" y="4191000"/>
                        <a:ext cx="1381125" cy="83820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7"/>
                                </a:srgbClr>
                              </a:outerShdw>
                            </a:effectLst>
                          </a14:hiddenEffects>
                        </a:ext>
                      </a:extLst>
                    </p:spPr>
                  </p:pic>
                </p:oleObj>
              </mc:Fallback>
            </mc:AlternateContent>
          </a:graphicData>
        </a:graphic>
      </p:graphicFrame>
      <p:graphicFrame>
        <p:nvGraphicFramePr>
          <p:cNvPr id="25606" name="Object 5"/>
          <p:cNvGraphicFramePr>
            <a:graphicFrameLocks noChangeAspect="1"/>
          </p:cNvGraphicFramePr>
          <p:nvPr/>
        </p:nvGraphicFramePr>
        <p:xfrm>
          <a:off x="5753100" y="4343400"/>
          <a:ext cx="2362200" cy="431800"/>
        </p:xfrm>
        <a:graphic>
          <a:graphicData uri="http://schemas.openxmlformats.org/presentationml/2006/ole">
            <mc:AlternateContent xmlns:mc="http://schemas.openxmlformats.org/markup-compatibility/2006">
              <mc:Choice xmlns:v="urn:schemas-microsoft-com:vml" Requires="v">
                <p:oleObj name="Equation" r:id="rId8" imgW="1180588" imgH="215806" progId="Equation.3">
                  <p:embed/>
                </p:oleObj>
              </mc:Choice>
              <mc:Fallback>
                <p:oleObj name="Equation" r:id="rId8" imgW="1180588" imgH="215806" progId="Equation.3">
                  <p:embed/>
                  <p:pic>
                    <p:nvPicPr>
                      <p:cNvPr id="25606"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753100" y="4343400"/>
                        <a:ext cx="2362200" cy="43180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7"/>
                                </a:srgbClr>
                              </a:outerShdw>
                            </a:effectLst>
                          </a14:hiddenEffects>
                        </a:ext>
                      </a:extLst>
                    </p:spPr>
                  </p:pic>
                </p:oleObj>
              </mc:Fallback>
            </mc:AlternateContent>
          </a:graphicData>
        </a:graphic>
      </p:graphicFrame>
      <p:sp>
        <p:nvSpPr>
          <p:cNvPr id="2" name="Slide Number Placeholder 1"/>
          <p:cNvSpPr>
            <a:spLocks noGrp="1"/>
          </p:cNvSpPr>
          <p:nvPr>
            <p:ph type="sldNum" sz="quarter" idx="12"/>
          </p:nvPr>
        </p:nvSpPr>
        <p:spPr/>
        <p:txBody>
          <a:bodyPr/>
          <a:lstStyle/>
          <a:p>
            <a:pPr>
              <a:defRPr/>
            </a:pPr>
            <a:fld id="{EC183674-A9ED-404F-B1CE-2FB45E89D5F6}" type="slidenum">
              <a:rPr lang="en-US"/>
              <a:pPr>
                <a:defRPr/>
              </a:pPr>
              <a:t>39</a:t>
            </a:fld>
            <a:endParaRPr lang="en-US" dirty="0"/>
          </a:p>
        </p:txBody>
      </p:sp>
      <p:sp>
        <p:nvSpPr>
          <p:cNvPr id="3" name="TextBox 2">
            <a:extLst>
              <a:ext uri="{FF2B5EF4-FFF2-40B4-BE49-F238E27FC236}">
                <a16:creationId xmlns:a16="http://schemas.microsoft.com/office/drawing/2014/main" id="{7186D91D-E76C-6BF7-59EB-80123BC2AFC5}"/>
              </a:ext>
            </a:extLst>
          </p:cNvPr>
          <p:cNvSpPr txBox="1"/>
          <p:nvPr/>
        </p:nvSpPr>
        <p:spPr>
          <a:xfrm>
            <a:off x="609600" y="5383033"/>
            <a:ext cx="10363200" cy="1200329"/>
          </a:xfrm>
          <a:prstGeom prst="rect">
            <a:avLst/>
          </a:prstGeom>
          <a:noFill/>
          <a:ln>
            <a:solidFill>
              <a:schemeClr val="accent1"/>
            </a:solidFill>
          </a:ln>
        </p:spPr>
        <p:txBody>
          <a:bodyPr wrap="square" rtlCol="0">
            <a:spAutoFit/>
          </a:bodyPr>
          <a:lstStyle/>
          <a:p>
            <a:r>
              <a:rPr lang="en-US" sz="2400">
                <a:latin typeface="Calibri" charset="0"/>
                <a:ea typeface="ＭＳ Ｐゴシック" charset="0"/>
              </a:rPr>
              <a:t>The means and SDs are computed for the common items only (even if difficulty and discrimination parameters have been estimated for both common and unique items in the ”From” and “To” forms)</a:t>
            </a:r>
            <a:endParaRPr lang="en-US"/>
          </a:p>
        </p:txBody>
      </p:sp>
    </p:spTree>
    <p:extLst>
      <p:ext uri="{BB962C8B-B14F-4D97-AF65-F5344CB8AC3E}">
        <p14:creationId xmlns:p14="http://schemas.microsoft.com/office/powerpoint/2010/main" val="425577018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Title 1"/>
          <p:cNvSpPr>
            <a:spLocks noGrp="1"/>
          </p:cNvSpPr>
          <p:nvPr>
            <p:ph type="title"/>
          </p:nvPr>
        </p:nvSpPr>
        <p:spPr/>
        <p:txBody>
          <a:bodyPr/>
          <a:lstStyle/>
          <a:p>
            <a:pPr eaLnBrk="1" hangingPunct="1"/>
            <a:r>
              <a:rPr lang="en-US" b="1">
                <a:latin typeface="Calibri" charset="0"/>
                <a:ea typeface="ＭＳ Ｐゴシック" charset="0"/>
              </a:rPr>
              <a:t>Characteristic Curve Method</a:t>
            </a:r>
          </a:p>
        </p:txBody>
      </p:sp>
      <p:sp>
        <p:nvSpPr>
          <p:cNvPr id="26626" name="Content Placeholder 2"/>
          <p:cNvSpPr>
            <a:spLocks noGrp="1"/>
          </p:cNvSpPr>
          <p:nvPr>
            <p:ph idx="1"/>
          </p:nvPr>
        </p:nvSpPr>
        <p:spPr>
          <a:xfrm>
            <a:off x="609600" y="1568676"/>
            <a:ext cx="4419600" cy="1371600"/>
          </a:xfrm>
        </p:spPr>
        <p:txBody>
          <a:bodyPr/>
          <a:lstStyle/>
          <a:p>
            <a:pPr eaLnBrk="1" hangingPunct="1"/>
            <a:r>
              <a:rPr lang="en-US">
                <a:latin typeface="Calibri" charset="0"/>
                <a:ea typeface="ＭＳ Ｐゴシック" charset="0"/>
              </a:rPr>
              <a:t>Stocking &amp; Lord (1983)</a:t>
            </a:r>
          </a:p>
        </p:txBody>
      </p:sp>
      <p:graphicFrame>
        <p:nvGraphicFramePr>
          <p:cNvPr id="26628" name="Object 3"/>
          <p:cNvGraphicFramePr>
            <a:graphicFrameLocks noChangeAspect="1"/>
          </p:cNvGraphicFramePr>
          <p:nvPr/>
        </p:nvGraphicFramePr>
        <p:xfrm>
          <a:off x="4495800" y="4343401"/>
          <a:ext cx="2763838" cy="669925"/>
        </p:xfrm>
        <a:graphic>
          <a:graphicData uri="http://schemas.openxmlformats.org/presentationml/2006/ole">
            <mc:AlternateContent xmlns:mc="http://schemas.openxmlformats.org/markup-compatibility/2006">
              <mc:Choice xmlns:v="urn:schemas-microsoft-com:vml" Requires="v">
                <p:oleObj name="Equation" r:id="rId2" imgW="1727200" imgH="419100" progId="Equation.3">
                  <p:embed/>
                </p:oleObj>
              </mc:Choice>
              <mc:Fallback>
                <p:oleObj name="Equation" r:id="rId2" imgW="1727200" imgH="419100" progId="Equation.3">
                  <p:embed/>
                  <p:pic>
                    <p:nvPicPr>
                      <p:cNvPr id="26628"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95800" y="4343401"/>
                        <a:ext cx="2763838" cy="66992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7"/>
                                </a:srgbClr>
                              </a:outerShdw>
                            </a:effectLst>
                          </a14:hiddenEffects>
                        </a:ext>
                      </a:extLst>
                    </p:spPr>
                  </p:pic>
                </p:oleObj>
              </mc:Fallback>
            </mc:AlternateContent>
          </a:graphicData>
        </a:graphic>
      </p:graphicFrame>
      <p:graphicFrame>
        <p:nvGraphicFramePr>
          <p:cNvPr id="26629" name="Object 4"/>
          <p:cNvGraphicFramePr>
            <a:graphicFrameLocks noChangeAspect="1"/>
          </p:cNvGraphicFramePr>
          <p:nvPr/>
        </p:nvGraphicFramePr>
        <p:xfrm>
          <a:off x="4343400" y="5181600"/>
          <a:ext cx="3271838" cy="996950"/>
        </p:xfrm>
        <a:graphic>
          <a:graphicData uri="http://schemas.openxmlformats.org/presentationml/2006/ole">
            <mc:AlternateContent xmlns:mc="http://schemas.openxmlformats.org/markup-compatibility/2006">
              <mc:Choice xmlns:v="urn:schemas-microsoft-com:vml" Requires="v">
                <p:oleObj name="Equation" r:id="rId4" imgW="2044700" imgH="622300" progId="Equation.3">
                  <p:embed/>
                </p:oleObj>
              </mc:Choice>
              <mc:Fallback>
                <p:oleObj name="Equation" r:id="rId4" imgW="2044700" imgH="622300" progId="Equation.3">
                  <p:embed/>
                  <p:pic>
                    <p:nvPicPr>
                      <p:cNvPr id="26629"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43400" y="5181600"/>
                        <a:ext cx="3271838" cy="99695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7"/>
                                </a:srgbClr>
                              </a:outerShdw>
                            </a:effectLst>
                          </a14:hiddenEffects>
                        </a:ext>
                      </a:extLst>
                    </p:spPr>
                  </p:pic>
                </p:oleObj>
              </mc:Fallback>
            </mc:AlternateContent>
          </a:graphicData>
        </a:graphic>
      </p:graphicFrame>
      <p:sp>
        <p:nvSpPr>
          <p:cNvPr id="26630" name="TextBox 6"/>
          <p:cNvSpPr txBox="1">
            <a:spLocks noChangeArrowheads="1"/>
          </p:cNvSpPr>
          <p:nvPr/>
        </p:nvSpPr>
        <p:spPr bwMode="auto">
          <a:xfrm>
            <a:off x="4419601" y="3962400"/>
            <a:ext cx="2936875" cy="369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a:latin typeface="Calibri" charset="0"/>
              </a:rPr>
              <a:t>where (under the 3PL model)</a:t>
            </a:r>
          </a:p>
        </p:txBody>
      </p:sp>
      <p:graphicFrame>
        <p:nvGraphicFramePr>
          <p:cNvPr id="26632" name="Object 5"/>
          <p:cNvGraphicFramePr>
            <a:graphicFrameLocks noChangeAspect="1"/>
          </p:cNvGraphicFramePr>
          <p:nvPr>
            <p:extLst>
              <p:ext uri="{D42A27DB-BD31-4B8C-83A1-F6EECF244321}">
                <p14:modId xmlns:p14="http://schemas.microsoft.com/office/powerpoint/2010/main" val="2496373949"/>
              </p:ext>
            </p:extLst>
          </p:nvPr>
        </p:nvGraphicFramePr>
        <p:xfrm>
          <a:off x="3992777" y="2270918"/>
          <a:ext cx="3595688" cy="771525"/>
        </p:xfrm>
        <a:graphic>
          <a:graphicData uri="http://schemas.openxmlformats.org/presentationml/2006/ole">
            <mc:AlternateContent xmlns:mc="http://schemas.openxmlformats.org/markup-compatibility/2006">
              <mc:Choice xmlns:v="urn:schemas-microsoft-com:vml" Requires="v">
                <p:oleObj name="Equation" r:id="rId6" imgW="2247900" imgH="482600" progId="Equation.3">
                  <p:embed/>
                </p:oleObj>
              </mc:Choice>
              <mc:Fallback>
                <p:oleObj name="Equation" r:id="rId6" imgW="2247900" imgH="482600" progId="Equation.3">
                  <p:embed/>
                  <p:pic>
                    <p:nvPicPr>
                      <p:cNvPr id="26632"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92777" y="2270918"/>
                        <a:ext cx="3595688" cy="77152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7"/>
                                </a:srgbClr>
                              </a:outerShdw>
                            </a:effectLst>
                          </a14:hiddenEffects>
                        </a:ext>
                      </a:extLst>
                    </p:spPr>
                  </p:pic>
                </p:oleObj>
              </mc:Fallback>
            </mc:AlternateContent>
          </a:graphicData>
        </a:graphic>
      </p:graphicFrame>
      <p:graphicFrame>
        <p:nvGraphicFramePr>
          <p:cNvPr id="26634" name="Object 9"/>
          <p:cNvGraphicFramePr>
            <a:graphicFrameLocks noChangeAspect="1"/>
          </p:cNvGraphicFramePr>
          <p:nvPr>
            <p:extLst>
              <p:ext uri="{D42A27DB-BD31-4B8C-83A1-F6EECF244321}">
                <p14:modId xmlns:p14="http://schemas.microsoft.com/office/powerpoint/2010/main" val="1311875828"/>
              </p:ext>
            </p:extLst>
          </p:nvPr>
        </p:nvGraphicFramePr>
        <p:xfrm>
          <a:off x="4648200" y="3264296"/>
          <a:ext cx="1922463" cy="476250"/>
        </p:xfrm>
        <a:graphic>
          <a:graphicData uri="http://schemas.openxmlformats.org/presentationml/2006/ole">
            <mc:AlternateContent xmlns:mc="http://schemas.openxmlformats.org/markup-compatibility/2006">
              <mc:Choice xmlns:v="urn:schemas-microsoft-com:vml" Requires="v">
                <p:oleObj name="Equation" r:id="rId8" imgW="1384300" imgH="342900" progId="Equation.3">
                  <p:embed/>
                </p:oleObj>
              </mc:Choice>
              <mc:Fallback>
                <p:oleObj name="Equation" r:id="rId8" imgW="1384300" imgH="342900" progId="Equation.3">
                  <p:embed/>
                  <p:pic>
                    <p:nvPicPr>
                      <p:cNvPr id="26634" name="Object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648200" y="3264296"/>
                        <a:ext cx="1922463" cy="47625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7"/>
                                </a:srgbClr>
                              </a:outerShdw>
                            </a:effectLst>
                          </a14:hiddenEffects>
                        </a:ext>
                      </a:extLst>
                    </p:spPr>
                  </p:pic>
                </p:oleObj>
              </mc:Fallback>
            </mc:AlternateContent>
          </a:graphicData>
        </a:graphic>
      </p:graphicFrame>
      <p:sp>
        <p:nvSpPr>
          <p:cNvPr id="2" name="Slide Number Placeholder 1"/>
          <p:cNvSpPr>
            <a:spLocks noGrp="1"/>
          </p:cNvSpPr>
          <p:nvPr>
            <p:ph type="sldNum" sz="quarter" idx="12"/>
          </p:nvPr>
        </p:nvSpPr>
        <p:spPr/>
        <p:txBody>
          <a:bodyPr/>
          <a:lstStyle/>
          <a:p>
            <a:pPr>
              <a:defRPr/>
            </a:pPr>
            <a:fld id="{EC183674-A9ED-404F-B1CE-2FB45E89D5F6}" type="slidenum">
              <a:rPr lang="en-US"/>
              <a:pPr>
                <a:defRPr/>
              </a:pPr>
              <a:t>40</a:t>
            </a:fld>
            <a:endParaRPr lang="en-US" dirty="0"/>
          </a:p>
        </p:txBody>
      </p:sp>
    </p:spTree>
    <p:extLst>
      <p:ext uri="{BB962C8B-B14F-4D97-AF65-F5344CB8AC3E}">
        <p14:creationId xmlns:p14="http://schemas.microsoft.com/office/powerpoint/2010/main" val="199305161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49" name="Picture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36701" y="0"/>
            <a:ext cx="6869113" cy="6858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7650" name="TextBox 4"/>
          <p:cNvSpPr txBox="1">
            <a:spLocks noChangeArrowheads="1"/>
          </p:cNvSpPr>
          <p:nvPr/>
        </p:nvSpPr>
        <p:spPr bwMode="auto">
          <a:xfrm>
            <a:off x="5272088" y="1219201"/>
            <a:ext cx="576262" cy="2460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000">
                <a:latin typeface="Times New Roman" charset="0"/>
                <a:cs typeface="Times New Roman" charset="0"/>
              </a:rPr>
              <a:t>To</a:t>
            </a:r>
          </a:p>
        </p:txBody>
      </p:sp>
      <p:sp>
        <p:nvSpPr>
          <p:cNvPr id="27651" name="TextBox 5"/>
          <p:cNvSpPr txBox="1">
            <a:spLocks noChangeArrowheads="1"/>
          </p:cNvSpPr>
          <p:nvPr/>
        </p:nvSpPr>
        <p:spPr bwMode="auto">
          <a:xfrm>
            <a:off x="6567488" y="1219201"/>
            <a:ext cx="812800" cy="2460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000">
                <a:latin typeface="Times New Roman" charset="0"/>
                <a:cs typeface="Times New Roman" charset="0"/>
              </a:rPr>
              <a:t>From</a:t>
            </a:r>
          </a:p>
        </p:txBody>
      </p:sp>
      <p:cxnSp>
        <p:nvCxnSpPr>
          <p:cNvPr id="8" name="Straight Connector 7"/>
          <p:cNvCxnSpPr/>
          <p:nvPr/>
        </p:nvCxnSpPr>
        <p:spPr>
          <a:xfrm rot="5400000" flipH="1" flipV="1">
            <a:off x="4356894" y="3124994"/>
            <a:ext cx="1524000" cy="1588"/>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rot="5400000" flipH="1" flipV="1">
            <a:off x="5158582" y="1845470"/>
            <a:ext cx="1143000" cy="1587"/>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rot="5400000" flipH="1" flipV="1">
            <a:off x="6299994" y="1162844"/>
            <a:ext cx="381000" cy="1588"/>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rot="5400000" flipH="1" flipV="1">
            <a:off x="4128294" y="4801394"/>
            <a:ext cx="609600" cy="1588"/>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27656" name="TextBox 17"/>
          <p:cNvSpPr txBox="1">
            <a:spLocks noChangeArrowheads="1"/>
          </p:cNvSpPr>
          <p:nvPr/>
        </p:nvSpPr>
        <p:spPr bwMode="auto">
          <a:xfrm>
            <a:off x="8077200" y="609600"/>
            <a:ext cx="2362200" cy="53546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a:latin typeface="Calibri" charset="0"/>
              </a:rPr>
              <a:t>For either the ICCs or the TCCs</a:t>
            </a:r>
          </a:p>
          <a:p>
            <a:pPr eaLnBrk="1" hangingPunct="1"/>
            <a:endParaRPr lang="en-US" sz="1800">
              <a:latin typeface="Calibri" charset="0"/>
            </a:endParaRPr>
          </a:p>
          <a:p>
            <a:pPr eaLnBrk="1" hangingPunct="1">
              <a:buFontTx/>
              <a:buAutoNum type="arabicPeriod"/>
            </a:pPr>
            <a:r>
              <a:rPr lang="en-US" sz="1800">
                <a:latin typeface="Calibri" charset="0"/>
              </a:rPr>
              <a:t>For given values of </a:t>
            </a:r>
            <a:r>
              <a:rPr lang="el-GR" sz="1800">
                <a:latin typeface="Calibri" charset="0"/>
              </a:rPr>
              <a:t>θ</a:t>
            </a:r>
            <a:r>
              <a:rPr lang="en-US" sz="1800">
                <a:latin typeface="Calibri" charset="0"/>
              </a:rPr>
              <a:t>, take the difference between the response probabilities</a:t>
            </a:r>
          </a:p>
          <a:p>
            <a:pPr eaLnBrk="1" hangingPunct="1">
              <a:buFontTx/>
              <a:buAutoNum type="arabicPeriod"/>
            </a:pPr>
            <a:endParaRPr lang="en-US" sz="1800">
              <a:latin typeface="Calibri" charset="0"/>
            </a:endParaRPr>
          </a:p>
          <a:p>
            <a:pPr eaLnBrk="1" hangingPunct="1">
              <a:buFontTx/>
              <a:buAutoNum type="arabicPeriod"/>
            </a:pPr>
            <a:r>
              <a:rPr lang="en-US" sz="1800">
                <a:latin typeface="Calibri" charset="0"/>
              </a:rPr>
              <a:t>Square the differences</a:t>
            </a:r>
          </a:p>
          <a:p>
            <a:pPr eaLnBrk="1" hangingPunct="1">
              <a:buFontTx/>
              <a:buAutoNum type="arabicPeriod"/>
            </a:pPr>
            <a:endParaRPr lang="en-US" sz="1800">
              <a:latin typeface="Calibri" charset="0"/>
            </a:endParaRPr>
          </a:p>
          <a:p>
            <a:pPr eaLnBrk="1" hangingPunct="1">
              <a:buFontTx/>
              <a:buAutoNum type="arabicPeriod"/>
            </a:pPr>
            <a:r>
              <a:rPr lang="en-US" sz="1800">
                <a:latin typeface="Calibri" charset="0"/>
              </a:rPr>
              <a:t>Sum the squared differences across all theta values</a:t>
            </a:r>
          </a:p>
          <a:p>
            <a:pPr eaLnBrk="1" hangingPunct="1">
              <a:buFontTx/>
              <a:buAutoNum type="arabicPeriod"/>
            </a:pPr>
            <a:endParaRPr lang="en-US" sz="1800">
              <a:latin typeface="Calibri" charset="0"/>
            </a:endParaRPr>
          </a:p>
          <a:p>
            <a:pPr eaLnBrk="1" hangingPunct="1">
              <a:buFontTx/>
              <a:buAutoNum type="arabicPeriod"/>
            </a:pPr>
            <a:r>
              <a:rPr lang="en-US" sz="1800">
                <a:latin typeface="Calibri" charset="0"/>
              </a:rPr>
              <a:t>Find the linking constants A and B that minimize these differences</a:t>
            </a:r>
          </a:p>
        </p:txBody>
      </p:sp>
      <p:sp>
        <p:nvSpPr>
          <p:cNvPr id="2" name="Slide Number Placeholder 1"/>
          <p:cNvSpPr>
            <a:spLocks noGrp="1"/>
          </p:cNvSpPr>
          <p:nvPr>
            <p:ph type="sldNum" sz="quarter" idx="12"/>
          </p:nvPr>
        </p:nvSpPr>
        <p:spPr/>
        <p:txBody>
          <a:bodyPr/>
          <a:lstStyle/>
          <a:p>
            <a:pPr>
              <a:defRPr/>
            </a:pPr>
            <a:fld id="{EC183674-A9ED-404F-B1CE-2FB45E89D5F6}" type="slidenum">
              <a:rPr lang="en-US"/>
              <a:pPr>
                <a:defRPr/>
              </a:pPr>
              <a:t>41</a:t>
            </a:fld>
            <a:endParaRPr lang="en-US" dirty="0"/>
          </a:p>
        </p:txBody>
      </p:sp>
    </p:spTree>
    <p:extLst>
      <p:ext uri="{BB962C8B-B14F-4D97-AF65-F5344CB8AC3E}">
        <p14:creationId xmlns:p14="http://schemas.microsoft.com/office/powerpoint/2010/main" val="109209481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BEA323-49E4-D641-AFBA-79A8ECE2CE0F}"/>
              </a:ext>
            </a:extLst>
          </p:cNvPr>
          <p:cNvSpPr>
            <a:spLocks noGrp="1"/>
          </p:cNvSpPr>
          <p:nvPr>
            <p:ph type="title"/>
          </p:nvPr>
        </p:nvSpPr>
        <p:spPr/>
        <p:txBody>
          <a:bodyPr/>
          <a:lstStyle/>
          <a:p>
            <a:r>
              <a:rPr lang="en-US" b="1"/>
              <a:t>Concurrent Calibration</a:t>
            </a:r>
          </a:p>
        </p:txBody>
      </p:sp>
      <p:sp>
        <p:nvSpPr>
          <p:cNvPr id="3" name="Content Placeholder 2">
            <a:extLst>
              <a:ext uri="{FF2B5EF4-FFF2-40B4-BE49-F238E27FC236}">
                <a16:creationId xmlns:a16="http://schemas.microsoft.com/office/drawing/2014/main" id="{6A9EE839-7775-924F-8077-D9BACCCF2A33}"/>
              </a:ext>
            </a:extLst>
          </p:cNvPr>
          <p:cNvSpPr>
            <a:spLocks noGrp="1"/>
          </p:cNvSpPr>
          <p:nvPr>
            <p:ph idx="1"/>
          </p:nvPr>
        </p:nvSpPr>
        <p:spPr/>
        <p:txBody>
          <a:bodyPr/>
          <a:lstStyle/>
          <a:p>
            <a:pPr marL="0" indent="0">
              <a:buNone/>
            </a:pPr>
            <a:r>
              <a:rPr lang="en-US" sz="2400"/>
              <a:t>Say we administer two different test forms under either a single group or equivalent group design.</a:t>
            </a:r>
          </a:p>
          <a:p>
            <a:r>
              <a:rPr lang="en-US" sz="2400"/>
              <a:t>In the world of IRT, all we need to do is a concurrent calibration of both test forms and all the unique items contained on the two forms will be on the same scale.</a:t>
            </a:r>
          </a:p>
          <a:p>
            <a:pPr marL="0" indent="0">
              <a:buNone/>
            </a:pPr>
            <a:r>
              <a:rPr lang="en-US" sz="2400"/>
              <a:t>Say we administer two different forms under a NEAT design</a:t>
            </a:r>
          </a:p>
          <a:p>
            <a:r>
              <a:rPr lang="en-US" sz="2400"/>
              <a:t>We can still just do a concurrent calibration with data in our response matrix that is missing by design, but we need to take into account that there are two different populations. Known as a “multi-group” IRT calibration.</a:t>
            </a:r>
          </a:p>
          <a:p>
            <a:r>
              <a:rPr lang="en-US" sz="2400"/>
              <a:t>In mirt, can see </a:t>
            </a:r>
            <a:r>
              <a:rPr lang="en-US" sz="2400">
                <a:hlinkClick r:id="rId2"/>
              </a:rPr>
              <a:t>https://philchalmers.github.io/mirt/html/multipleGroup.html</a:t>
            </a:r>
            <a:endParaRPr lang="en-US" sz="2400"/>
          </a:p>
          <a:p>
            <a:pPr marL="0" indent="0">
              <a:buNone/>
            </a:pPr>
            <a:endParaRPr lang="en-US"/>
          </a:p>
        </p:txBody>
      </p:sp>
      <p:sp>
        <p:nvSpPr>
          <p:cNvPr id="4" name="Slide Number Placeholder 3">
            <a:extLst>
              <a:ext uri="{FF2B5EF4-FFF2-40B4-BE49-F238E27FC236}">
                <a16:creationId xmlns:a16="http://schemas.microsoft.com/office/drawing/2014/main" id="{EB45D15F-8152-8A44-A33D-E4716241254C}"/>
              </a:ext>
            </a:extLst>
          </p:cNvPr>
          <p:cNvSpPr>
            <a:spLocks noGrp="1"/>
          </p:cNvSpPr>
          <p:nvPr>
            <p:ph type="sldNum" sz="quarter" idx="12"/>
          </p:nvPr>
        </p:nvSpPr>
        <p:spPr/>
        <p:txBody>
          <a:bodyPr/>
          <a:lstStyle/>
          <a:p>
            <a:pPr>
              <a:defRPr/>
            </a:pPr>
            <a:fld id="{EC183674-A9ED-404F-B1CE-2FB45E89D5F6}" type="slidenum">
              <a:rPr lang="en-US"/>
              <a:pPr>
                <a:defRPr/>
              </a:pPr>
              <a:t>42</a:t>
            </a:fld>
            <a:endParaRPr lang="en-US" dirty="0"/>
          </a:p>
        </p:txBody>
      </p:sp>
    </p:spTree>
    <p:extLst>
      <p:ext uri="{BB962C8B-B14F-4D97-AF65-F5344CB8AC3E}">
        <p14:creationId xmlns:p14="http://schemas.microsoft.com/office/powerpoint/2010/main" val="414128174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Common Item Linking in IRT </a:t>
            </a:r>
            <a:br>
              <a:rPr lang="en-US" b="1"/>
            </a:br>
            <a:r>
              <a:rPr lang="en-US" b="1"/>
              <a:t>(Separate or Concurrent Calibration)</a:t>
            </a:r>
          </a:p>
        </p:txBody>
      </p:sp>
      <p:pic>
        <p:nvPicPr>
          <p:cNvPr id="4" name="Content Placeholder 3" descr="Screen Shot 2014-03-16 at 10.42.19 PM.png"/>
          <p:cNvPicPr>
            <a:picLocks noGrp="1" noChangeAspect="1"/>
          </p:cNvPicPr>
          <p:nvPr>
            <p:ph idx="1"/>
          </p:nvPr>
        </p:nvPicPr>
        <p:blipFill>
          <a:blip r:embed="rId2">
            <a:extLst>
              <a:ext uri="{28A0092B-C50C-407E-A947-70E740481C1C}">
                <a14:useLocalDpi xmlns:a14="http://schemas.microsoft.com/office/drawing/2010/main" val="0"/>
              </a:ext>
            </a:extLst>
          </a:blip>
          <a:srcRect t="1283" b="1283"/>
          <a:stretch>
            <a:fillRect/>
          </a:stretch>
        </p:blipFill>
        <p:spPr/>
      </p:pic>
      <p:sp>
        <p:nvSpPr>
          <p:cNvPr id="5" name="TextBox 4"/>
          <p:cNvSpPr txBox="1"/>
          <p:nvPr/>
        </p:nvSpPr>
        <p:spPr>
          <a:xfrm>
            <a:off x="3886200" y="6096000"/>
            <a:ext cx="3810000" cy="381000"/>
          </a:xfrm>
          <a:prstGeom prst="rect">
            <a:avLst/>
          </a:prstGeom>
          <a:noFill/>
        </p:spPr>
        <p:txBody>
          <a:bodyPr wrap="square" rtlCol="0">
            <a:spAutoFit/>
          </a:bodyPr>
          <a:lstStyle/>
          <a:p>
            <a:r>
              <a:rPr lang="en-US"/>
              <a:t>Source: Luecht &amp; Camara, 2011</a:t>
            </a:r>
          </a:p>
        </p:txBody>
      </p:sp>
      <p:sp>
        <p:nvSpPr>
          <p:cNvPr id="3" name="Slide Number Placeholder 2"/>
          <p:cNvSpPr>
            <a:spLocks noGrp="1"/>
          </p:cNvSpPr>
          <p:nvPr>
            <p:ph type="sldNum" sz="quarter" idx="12"/>
          </p:nvPr>
        </p:nvSpPr>
        <p:spPr/>
        <p:txBody>
          <a:bodyPr/>
          <a:lstStyle/>
          <a:p>
            <a:pPr>
              <a:defRPr/>
            </a:pPr>
            <a:fld id="{EC183674-A9ED-404F-B1CE-2FB45E89D5F6}" type="slidenum">
              <a:rPr lang="en-US"/>
              <a:pPr>
                <a:defRPr/>
              </a:pPr>
              <a:t>43</a:t>
            </a:fld>
            <a:endParaRPr lang="en-US" dirty="0"/>
          </a:p>
        </p:txBody>
      </p:sp>
    </p:spTree>
    <p:extLst>
      <p:ext uri="{BB962C8B-B14F-4D97-AF65-F5344CB8AC3E}">
        <p14:creationId xmlns:p14="http://schemas.microsoft.com/office/powerpoint/2010/main" val="144045029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Pre-Equating Design (Anchored Calibrations)</a:t>
            </a:r>
          </a:p>
        </p:txBody>
      </p:sp>
      <p:pic>
        <p:nvPicPr>
          <p:cNvPr id="4" name="Content Placeholder 3" descr="Screen Shot 2014-03-16 at 10.43.42 PM.png"/>
          <p:cNvPicPr>
            <a:picLocks noGrp="1" noChangeAspect="1"/>
          </p:cNvPicPr>
          <p:nvPr>
            <p:ph idx="1"/>
          </p:nvPr>
        </p:nvPicPr>
        <p:blipFill>
          <a:blip r:embed="rId2">
            <a:extLst>
              <a:ext uri="{28A0092B-C50C-407E-A947-70E740481C1C}">
                <a14:useLocalDpi xmlns:a14="http://schemas.microsoft.com/office/drawing/2010/main" val="0"/>
              </a:ext>
            </a:extLst>
          </a:blip>
          <a:srcRect l="-22069" r="-22069"/>
          <a:stretch>
            <a:fillRect/>
          </a:stretch>
        </p:blipFill>
        <p:spPr/>
      </p:pic>
      <p:sp>
        <p:nvSpPr>
          <p:cNvPr id="5" name="TextBox 4"/>
          <p:cNvSpPr txBox="1"/>
          <p:nvPr/>
        </p:nvSpPr>
        <p:spPr>
          <a:xfrm>
            <a:off x="3886200" y="6248400"/>
            <a:ext cx="3810000" cy="381000"/>
          </a:xfrm>
          <a:prstGeom prst="rect">
            <a:avLst/>
          </a:prstGeom>
          <a:noFill/>
        </p:spPr>
        <p:txBody>
          <a:bodyPr wrap="square" rtlCol="0">
            <a:spAutoFit/>
          </a:bodyPr>
          <a:lstStyle/>
          <a:p>
            <a:r>
              <a:rPr lang="en-US"/>
              <a:t>Source: Luecht &amp; Camara, 2011</a:t>
            </a:r>
          </a:p>
        </p:txBody>
      </p:sp>
      <p:sp>
        <p:nvSpPr>
          <p:cNvPr id="3" name="Slide Number Placeholder 2"/>
          <p:cNvSpPr>
            <a:spLocks noGrp="1"/>
          </p:cNvSpPr>
          <p:nvPr>
            <p:ph type="sldNum" sz="quarter" idx="12"/>
          </p:nvPr>
        </p:nvSpPr>
        <p:spPr/>
        <p:txBody>
          <a:bodyPr/>
          <a:lstStyle/>
          <a:p>
            <a:pPr>
              <a:defRPr/>
            </a:pPr>
            <a:fld id="{EC183674-A9ED-404F-B1CE-2FB45E89D5F6}" type="slidenum">
              <a:rPr lang="en-US"/>
              <a:pPr>
                <a:defRPr/>
              </a:pPr>
              <a:t>44</a:t>
            </a:fld>
            <a:endParaRPr lang="en-US" dirty="0"/>
          </a:p>
        </p:txBody>
      </p:sp>
    </p:spTree>
    <p:extLst>
      <p:ext uri="{BB962C8B-B14F-4D97-AF65-F5344CB8AC3E}">
        <p14:creationId xmlns:p14="http://schemas.microsoft.com/office/powerpoint/2010/main" val="46964644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itle 1"/>
          <p:cNvSpPr>
            <a:spLocks noGrp="1"/>
          </p:cNvSpPr>
          <p:nvPr>
            <p:ph type="title"/>
          </p:nvPr>
        </p:nvSpPr>
        <p:spPr/>
        <p:txBody>
          <a:bodyPr/>
          <a:lstStyle/>
          <a:p>
            <a:r>
              <a:rPr lang="en-US" b="1">
                <a:latin typeface="Calibri" charset="0"/>
                <a:ea typeface="ＭＳ Ｐゴシック" charset="0"/>
              </a:rPr>
              <a:t>IRT Test Linking in Large-Scale Assessments</a:t>
            </a:r>
          </a:p>
        </p:txBody>
      </p:sp>
      <p:sp>
        <p:nvSpPr>
          <p:cNvPr id="21506" name="Content Placeholder 2"/>
          <p:cNvSpPr>
            <a:spLocks noGrp="1"/>
          </p:cNvSpPr>
          <p:nvPr>
            <p:ph idx="1"/>
          </p:nvPr>
        </p:nvSpPr>
        <p:spPr/>
        <p:txBody>
          <a:bodyPr/>
          <a:lstStyle/>
          <a:p>
            <a:r>
              <a:rPr lang="en-US">
                <a:latin typeface="Calibri" charset="0"/>
                <a:ea typeface="ＭＳ Ｐゴシック" charset="0"/>
              </a:rPr>
              <a:t>Horizontal Equating</a:t>
            </a:r>
          </a:p>
          <a:p>
            <a:pPr lvl="1"/>
            <a:r>
              <a:rPr lang="en-US">
                <a:latin typeface="Calibri" charset="0"/>
                <a:ea typeface="ＭＳ Ｐゴシック" charset="0"/>
              </a:rPr>
              <a:t>Different </a:t>
            </a:r>
            <a:r>
              <a:rPr lang="en-US" altLang="ja-JP">
                <a:latin typeface="Calibri" charset="0"/>
                <a:ea typeface="ＭＳ Ｐゴシック" charset="0"/>
              </a:rPr>
              <a:t>test forms within same grade and time of administration (here equivalent groups is a reasonable assumption)</a:t>
            </a:r>
          </a:p>
          <a:p>
            <a:pPr lvl="1"/>
            <a:r>
              <a:rPr lang="en-US">
                <a:latin typeface="Calibri" charset="0"/>
                <a:ea typeface="ＭＳ Ｐゴシック" charset="0"/>
              </a:rPr>
              <a:t>Different tests within same grade across time periods (not necessarily equivalent groups anymore)</a:t>
            </a:r>
          </a:p>
          <a:p>
            <a:r>
              <a:rPr lang="en-US">
                <a:latin typeface="Calibri" charset="0"/>
                <a:ea typeface="ＭＳ Ｐゴシック" charset="0"/>
              </a:rPr>
              <a:t>Vertical Scaling/Equating</a:t>
            </a:r>
          </a:p>
          <a:p>
            <a:pPr lvl="1"/>
            <a:r>
              <a:rPr lang="en-US">
                <a:latin typeface="Calibri" charset="0"/>
                <a:ea typeface="ＭＳ Ｐゴシック" charset="0"/>
              </a:rPr>
              <a:t>Different tests across grades (though usually in same time period). </a:t>
            </a:r>
          </a:p>
        </p:txBody>
      </p:sp>
      <p:sp>
        <p:nvSpPr>
          <p:cNvPr id="2" name="Slide Number Placeholder 1"/>
          <p:cNvSpPr>
            <a:spLocks noGrp="1"/>
          </p:cNvSpPr>
          <p:nvPr>
            <p:ph type="sldNum" sz="quarter" idx="12"/>
          </p:nvPr>
        </p:nvSpPr>
        <p:spPr/>
        <p:txBody>
          <a:bodyPr/>
          <a:lstStyle/>
          <a:p>
            <a:pPr>
              <a:defRPr/>
            </a:pPr>
            <a:fld id="{EC183674-A9ED-404F-B1CE-2FB45E89D5F6}" type="slidenum">
              <a:rPr lang="en-US"/>
              <a:pPr>
                <a:defRPr/>
              </a:pPr>
              <a:t>45</a:t>
            </a:fld>
            <a:endParaRPr 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a:t>Why Use IRT over Observed Score Equating Methods?</a:t>
            </a:r>
          </a:p>
        </p:txBody>
      </p:sp>
      <p:sp>
        <p:nvSpPr>
          <p:cNvPr id="3" name="Content Placeholder 2"/>
          <p:cNvSpPr>
            <a:spLocks noGrp="1"/>
          </p:cNvSpPr>
          <p:nvPr>
            <p:ph idx="1"/>
          </p:nvPr>
        </p:nvSpPr>
        <p:spPr/>
        <p:txBody>
          <a:bodyPr/>
          <a:lstStyle/>
          <a:p>
            <a:pPr marL="514350" indent="-514350">
              <a:buFont typeface="+mj-lt"/>
              <a:buAutoNum type="arabicPeriod"/>
            </a:pPr>
            <a:r>
              <a:rPr lang="en-US"/>
              <a:t>If assumptions hold, then provides great flexibility in test form construction and maintenance.</a:t>
            </a:r>
          </a:p>
          <a:p>
            <a:pPr marL="514350" indent="-514350">
              <a:buFont typeface="+mj-lt"/>
              <a:buAutoNum type="arabicPeriod"/>
            </a:pPr>
            <a:r>
              <a:rPr lang="en-US"/>
              <a:t>Very easy (too easy?) to implement</a:t>
            </a:r>
          </a:p>
          <a:p>
            <a:pPr marL="514350" indent="-514350">
              <a:buFont typeface="+mj-lt"/>
              <a:buAutoNum type="arabicPeriod"/>
            </a:pPr>
            <a:r>
              <a:rPr lang="en-US"/>
              <a:t>Might argue that if IRT produces an interval scale (Rasch Model), then we no longer have to worry about discrete nature of variables being equated (as is the case in equipercentile methods)</a:t>
            </a:r>
          </a:p>
          <a:p>
            <a:pPr marL="514350" indent="-514350">
              <a:buFont typeface="+mj-lt"/>
              <a:buAutoNum type="arabicPeriod"/>
            </a:pPr>
            <a:endParaRPr lang="en-US"/>
          </a:p>
          <a:p>
            <a:pPr marL="514350" indent="-514350">
              <a:buFont typeface="+mj-lt"/>
              <a:buAutoNum type="arabicPeriod"/>
            </a:pPr>
            <a:endParaRPr lang="en-US"/>
          </a:p>
        </p:txBody>
      </p:sp>
      <p:sp>
        <p:nvSpPr>
          <p:cNvPr id="4" name="Slide Number Placeholder 3"/>
          <p:cNvSpPr>
            <a:spLocks noGrp="1"/>
          </p:cNvSpPr>
          <p:nvPr>
            <p:ph type="sldNum" sz="quarter" idx="12"/>
          </p:nvPr>
        </p:nvSpPr>
        <p:spPr/>
        <p:txBody>
          <a:bodyPr/>
          <a:lstStyle/>
          <a:p>
            <a:pPr>
              <a:defRPr/>
            </a:pPr>
            <a:fld id="{EC183674-A9ED-404F-B1CE-2FB45E89D5F6}" type="slidenum">
              <a:rPr lang="en-US"/>
              <a:pPr>
                <a:defRPr/>
              </a:pPr>
              <a:t>46</a:t>
            </a:fld>
            <a:endParaRPr lang="en-US" dirty="0"/>
          </a:p>
        </p:txBody>
      </p:sp>
    </p:spTree>
    <p:extLst>
      <p:ext uri="{BB962C8B-B14F-4D97-AF65-F5344CB8AC3E}">
        <p14:creationId xmlns:p14="http://schemas.microsoft.com/office/powerpoint/2010/main" val="417266683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760A3C-22B3-C440-957D-55590933BF4B}"/>
              </a:ext>
            </a:extLst>
          </p:cNvPr>
          <p:cNvSpPr>
            <a:spLocks noGrp="1"/>
          </p:cNvSpPr>
          <p:nvPr>
            <p:ph type="title"/>
          </p:nvPr>
        </p:nvSpPr>
        <p:spPr/>
        <p:txBody>
          <a:bodyPr/>
          <a:lstStyle/>
          <a:p>
            <a:r>
              <a:rPr lang="en-US" b="1"/>
              <a:t>Doing Separate IRT Equating in R</a:t>
            </a:r>
          </a:p>
        </p:txBody>
      </p:sp>
      <p:sp>
        <p:nvSpPr>
          <p:cNvPr id="3" name="Content Placeholder 2">
            <a:extLst>
              <a:ext uri="{FF2B5EF4-FFF2-40B4-BE49-F238E27FC236}">
                <a16:creationId xmlns:a16="http://schemas.microsoft.com/office/drawing/2014/main" id="{AA1D3DA8-D9C3-734D-99AE-C2DBBDBF9D7C}"/>
              </a:ext>
            </a:extLst>
          </p:cNvPr>
          <p:cNvSpPr>
            <a:spLocks noGrp="1"/>
          </p:cNvSpPr>
          <p:nvPr>
            <p:ph idx="1"/>
          </p:nvPr>
        </p:nvSpPr>
        <p:spPr/>
        <p:txBody>
          <a:bodyPr/>
          <a:lstStyle/>
          <a:p>
            <a:pPr marL="0" indent="0">
              <a:buNone/>
            </a:pPr>
            <a:endParaRPr lang="en-US"/>
          </a:p>
          <a:p>
            <a:pPr marL="0" indent="0">
              <a:buNone/>
            </a:pPr>
            <a:r>
              <a:rPr lang="en-US"/>
              <a:t>See “IRT Equating in mirt.html” (easy to update this with additional functions using something like Claude Code)</a:t>
            </a:r>
          </a:p>
          <a:p>
            <a:pPr marL="0" indent="0">
              <a:buNone/>
            </a:pPr>
            <a:endParaRPr lang="en-US"/>
          </a:p>
          <a:p>
            <a:pPr marL="0" indent="0">
              <a:buNone/>
            </a:pPr>
            <a:r>
              <a:rPr lang="en-US"/>
              <a:t>Another option…</a:t>
            </a:r>
          </a:p>
          <a:p>
            <a:pPr marL="0" indent="0">
              <a:buNone/>
            </a:pPr>
            <a:endParaRPr lang="en-US"/>
          </a:p>
          <a:p>
            <a:pPr marL="0" indent="0">
              <a:buNone/>
            </a:pPr>
            <a:r>
              <a:rPr lang="en-US"/>
              <a:t>Weeks, J. P. (2010) </a:t>
            </a:r>
            <a:r>
              <a:rPr lang="en-US" b="1"/>
              <a:t>plink</a:t>
            </a:r>
            <a:r>
              <a:rPr lang="en-US"/>
              <a:t>: An R package for linking mixed-format tests using IRT-based methods. </a:t>
            </a:r>
            <a:r>
              <a:rPr lang="en-US" i="1"/>
              <a:t>Journal of Statistical Software</a:t>
            </a:r>
            <a:r>
              <a:rPr lang="en-US"/>
              <a:t>, </a:t>
            </a:r>
            <a:r>
              <a:rPr lang="en-US" b="1"/>
              <a:t>35(12)</a:t>
            </a:r>
            <a:r>
              <a:rPr lang="en-US"/>
              <a:t>, 1–33. URL </a:t>
            </a:r>
            <a:r>
              <a:rPr lang="en-US">
                <a:hlinkClick r:id="rId2"/>
              </a:rPr>
              <a:t>http://www.jstatsoft.org/v35/i12/</a:t>
            </a:r>
            <a:endParaRPr lang="en-US"/>
          </a:p>
          <a:p>
            <a:pPr marL="0" indent="0">
              <a:buNone/>
            </a:pPr>
            <a:endParaRPr lang="en-US"/>
          </a:p>
        </p:txBody>
      </p:sp>
      <p:sp>
        <p:nvSpPr>
          <p:cNvPr id="4" name="Slide Number Placeholder 3">
            <a:extLst>
              <a:ext uri="{FF2B5EF4-FFF2-40B4-BE49-F238E27FC236}">
                <a16:creationId xmlns:a16="http://schemas.microsoft.com/office/drawing/2014/main" id="{5840314C-BA39-994D-B642-B9B9D0D7C622}"/>
              </a:ext>
            </a:extLst>
          </p:cNvPr>
          <p:cNvSpPr>
            <a:spLocks noGrp="1"/>
          </p:cNvSpPr>
          <p:nvPr>
            <p:ph type="sldNum" sz="quarter" idx="12"/>
          </p:nvPr>
        </p:nvSpPr>
        <p:spPr/>
        <p:txBody>
          <a:bodyPr/>
          <a:lstStyle/>
          <a:p>
            <a:pPr>
              <a:defRPr/>
            </a:pPr>
            <a:fld id="{EC183674-A9ED-404F-B1CE-2FB45E89D5F6}" type="slidenum">
              <a:rPr lang="en-US"/>
              <a:pPr>
                <a:defRPr/>
              </a:pPr>
              <a:t>47</a:t>
            </a:fld>
            <a:endParaRPr lang="en-US" dirty="0"/>
          </a:p>
        </p:txBody>
      </p:sp>
    </p:spTree>
    <p:extLst>
      <p:ext uri="{BB962C8B-B14F-4D97-AF65-F5344CB8AC3E}">
        <p14:creationId xmlns:p14="http://schemas.microsoft.com/office/powerpoint/2010/main" val="218228586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F31881-DB6F-3EE7-2EE4-D69A0B9E907C}"/>
              </a:ext>
            </a:extLst>
          </p:cNvPr>
          <p:cNvSpPr>
            <a:spLocks noGrp="1"/>
          </p:cNvSpPr>
          <p:nvPr>
            <p:ph type="title"/>
          </p:nvPr>
        </p:nvSpPr>
        <p:spPr/>
        <p:txBody>
          <a:bodyPr/>
          <a:lstStyle/>
          <a:p>
            <a:r>
              <a:rPr lang="en-US" b="1"/>
              <a:t>References</a:t>
            </a:r>
          </a:p>
        </p:txBody>
      </p:sp>
      <p:sp>
        <p:nvSpPr>
          <p:cNvPr id="3" name="Content Placeholder 2">
            <a:extLst>
              <a:ext uri="{FF2B5EF4-FFF2-40B4-BE49-F238E27FC236}">
                <a16:creationId xmlns:a16="http://schemas.microsoft.com/office/drawing/2014/main" id="{205E96C6-65E9-53FF-E2C3-BAA104D2DABA}"/>
              </a:ext>
            </a:extLst>
          </p:cNvPr>
          <p:cNvSpPr>
            <a:spLocks noGrp="1"/>
          </p:cNvSpPr>
          <p:nvPr>
            <p:ph idx="1"/>
          </p:nvPr>
        </p:nvSpPr>
        <p:spPr/>
        <p:txBody>
          <a:bodyPr/>
          <a:lstStyle/>
          <a:p>
            <a:r>
              <a:rPr lang="en-US"/>
              <a:t>Kolen, M. &amp; Brennan, R. (2004) Test Equating, Scaling, and Linking. Springer. </a:t>
            </a:r>
            <a:r>
              <a:rPr lang="en-US">
                <a:hlinkClick r:id="rId2"/>
              </a:rPr>
              <a:t>https://link.springer.com/book/10.1007/978-1-4757-4310-4</a:t>
            </a:r>
            <a:endParaRPr lang="en-US"/>
          </a:p>
          <a:p>
            <a:endParaRPr lang="en-US">
              <a:effectLst/>
              <a:latin typeface="Calibri" panose="020F0502020204030204" pitchFamily="34" charset="0"/>
              <a:ea typeface="Times New Roman" panose="02020603050405020304" pitchFamily="18" charset="0"/>
              <a:cs typeface="Calibri" panose="020F0502020204030204" pitchFamily="34" charset="0"/>
            </a:endParaRPr>
          </a:p>
          <a:p>
            <a:r>
              <a:rPr lang="en-US">
                <a:effectLst/>
                <a:latin typeface="Calibri" panose="020F0502020204030204" pitchFamily="34" charset="0"/>
                <a:ea typeface="Times New Roman" panose="02020603050405020304" pitchFamily="18" charset="0"/>
                <a:cs typeface="Calibri" panose="020F0502020204030204" pitchFamily="34" charset="0"/>
              </a:rPr>
              <a:t>Holland, P. &amp; Dorans, N. (2006).  Linking and Equating. In R. Brennan (ed) </a:t>
            </a:r>
            <a:r>
              <a:rPr lang="en-US" i="1">
                <a:effectLst/>
                <a:latin typeface="Calibri" panose="020F0502020204030204" pitchFamily="34" charset="0"/>
                <a:ea typeface="Times New Roman" panose="02020603050405020304" pitchFamily="18" charset="0"/>
                <a:cs typeface="Calibri" panose="020F0502020204030204" pitchFamily="34" charset="0"/>
              </a:rPr>
              <a:t>Educational Measurement</a:t>
            </a:r>
            <a:r>
              <a:rPr lang="en-US">
                <a:effectLst/>
                <a:latin typeface="Calibri" panose="020F0502020204030204" pitchFamily="34" charset="0"/>
                <a:ea typeface="Times New Roman" panose="02020603050405020304" pitchFamily="18" charset="0"/>
                <a:cs typeface="Calibri" panose="020F0502020204030204" pitchFamily="34" charset="0"/>
              </a:rPr>
              <a:t>, 4</a:t>
            </a:r>
            <a:r>
              <a:rPr lang="en-US" baseline="30000">
                <a:effectLst/>
                <a:latin typeface="Calibri" panose="020F0502020204030204" pitchFamily="34" charset="0"/>
                <a:ea typeface="Times New Roman" panose="02020603050405020304" pitchFamily="18" charset="0"/>
                <a:cs typeface="Calibri" panose="020F0502020204030204" pitchFamily="34" charset="0"/>
              </a:rPr>
              <a:t>th</a:t>
            </a:r>
            <a:r>
              <a:rPr lang="en-US">
                <a:effectLst/>
                <a:latin typeface="Calibri" panose="020F0502020204030204" pitchFamily="34" charset="0"/>
                <a:ea typeface="Times New Roman" panose="02020603050405020304" pitchFamily="18" charset="0"/>
                <a:cs typeface="Calibri" panose="020F0502020204030204" pitchFamily="34" charset="0"/>
              </a:rPr>
              <a:t> Edition.</a:t>
            </a:r>
          </a:p>
          <a:p>
            <a:endParaRPr lang="en-US"/>
          </a:p>
          <a:p>
            <a:endParaRPr lang="en-US"/>
          </a:p>
        </p:txBody>
      </p:sp>
      <p:sp>
        <p:nvSpPr>
          <p:cNvPr id="4" name="Slide Number Placeholder 3">
            <a:extLst>
              <a:ext uri="{FF2B5EF4-FFF2-40B4-BE49-F238E27FC236}">
                <a16:creationId xmlns:a16="http://schemas.microsoft.com/office/drawing/2014/main" id="{D208866F-14EC-F190-71F1-F4502C1DCA28}"/>
              </a:ext>
            </a:extLst>
          </p:cNvPr>
          <p:cNvSpPr>
            <a:spLocks noGrp="1"/>
          </p:cNvSpPr>
          <p:nvPr>
            <p:ph type="sldNum" sz="quarter" idx="12"/>
          </p:nvPr>
        </p:nvSpPr>
        <p:spPr/>
        <p:txBody>
          <a:bodyPr/>
          <a:lstStyle/>
          <a:p>
            <a:pPr>
              <a:defRPr/>
            </a:pPr>
            <a:fld id="{EC183674-A9ED-404F-B1CE-2FB45E89D5F6}" type="slidenum">
              <a:rPr lang="en-US"/>
              <a:pPr>
                <a:defRPr/>
              </a:pPr>
              <a:t>48</a:t>
            </a:fld>
            <a:endParaRPr lang="en-US" dirty="0"/>
          </a:p>
        </p:txBody>
      </p:sp>
    </p:spTree>
    <p:extLst>
      <p:ext uri="{BB962C8B-B14F-4D97-AF65-F5344CB8AC3E}">
        <p14:creationId xmlns:p14="http://schemas.microsoft.com/office/powerpoint/2010/main" val="40238452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28029</TotalTime>
  <Words>3136</Words>
  <Application>Microsoft Macintosh PowerPoint</Application>
  <PresentationFormat>Widescreen</PresentationFormat>
  <Paragraphs>319</Paragraphs>
  <Slides>48</Slides>
  <Notes>1</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48</vt:i4>
      </vt:variant>
    </vt:vector>
  </HeadingPairs>
  <TitlesOfParts>
    <vt:vector size="54" baseType="lpstr">
      <vt:lpstr>Arial</vt:lpstr>
      <vt:lpstr>Calibri</vt:lpstr>
      <vt:lpstr>Cambria Math</vt:lpstr>
      <vt:lpstr>Times New Roman</vt:lpstr>
      <vt:lpstr>Office Theme</vt:lpstr>
      <vt:lpstr>Equation</vt:lpstr>
      <vt:lpstr>Making Scores Comparable:  Test Equating</vt:lpstr>
      <vt:lpstr>Activity</vt:lpstr>
      <vt:lpstr>Outline</vt:lpstr>
      <vt:lpstr>PowerPoint Presentation</vt:lpstr>
      <vt:lpstr>Why link and equate tests?</vt:lpstr>
      <vt:lpstr>Equating vs. Linking (Holland &amp; Dorans, 2006)</vt:lpstr>
      <vt:lpstr>A Test Linking Framework</vt:lpstr>
      <vt:lpstr>Holland &amp; Dorans Terminology</vt:lpstr>
      <vt:lpstr>Test Equating Requirements</vt:lpstr>
      <vt:lpstr>Sources of Confusion</vt:lpstr>
      <vt:lpstr>Disclaimer</vt:lpstr>
      <vt:lpstr>PowerPoint Presentation</vt:lpstr>
      <vt:lpstr>Fundamental Challenge</vt:lpstr>
      <vt:lpstr>Equating/Linking Designs</vt:lpstr>
      <vt:lpstr>Equating/Linking Designs</vt:lpstr>
      <vt:lpstr>PowerPoint Presentation</vt:lpstr>
      <vt:lpstr>Observed Score Equating for  Single or Equivalent Groups Designs </vt:lpstr>
      <vt:lpstr>(1) Mean Equating</vt:lpstr>
      <vt:lpstr>(2) Linear Equating</vt:lpstr>
      <vt:lpstr>Linear Equating in Action</vt:lpstr>
      <vt:lpstr>(3) Equipercentile Equating</vt:lpstr>
      <vt:lpstr>Percentile Ranks</vt:lpstr>
      <vt:lpstr>Challenges with  Equipercentile Equating</vt:lpstr>
      <vt:lpstr>More General Problem</vt:lpstr>
      <vt:lpstr>Example: An Initial Graphical Comparison</vt:lpstr>
      <vt:lpstr>Comparing CDFs</vt:lpstr>
      <vt:lpstr>After Smoothing the Score Distributions</vt:lpstr>
      <vt:lpstr>Methods of Observed Score Equating for NEAT Design</vt:lpstr>
      <vt:lpstr>Choosing Common Items for “Anchor Test”</vt:lpstr>
      <vt:lpstr>Doing Observed Score Equating in R</vt:lpstr>
      <vt:lpstr>PowerPoint Presentation</vt:lpstr>
      <vt:lpstr>Three Approaches</vt:lpstr>
      <vt:lpstr>The Basic Idea</vt:lpstr>
      <vt:lpstr>“Up to a Linear Transformation”</vt:lpstr>
      <vt:lpstr>Impact of Scale Identification Constraints on Item Parameter Estimates</vt:lpstr>
      <vt:lpstr>Ramifications When Using a  NEAT Design with IRT</vt:lpstr>
      <vt:lpstr>Separate Calibration with NEAT Design</vt:lpstr>
      <vt:lpstr>IRT Linking Equations</vt:lpstr>
      <vt:lpstr>Estimating Linking Constant: Moment Methods</vt:lpstr>
      <vt:lpstr>Characteristic Curve Method</vt:lpstr>
      <vt:lpstr>PowerPoint Presentation</vt:lpstr>
      <vt:lpstr>Concurrent Calibration</vt:lpstr>
      <vt:lpstr>Common Item Linking in IRT  (Separate or Concurrent Calibration)</vt:lpstr>
      <vt:lpstr>Pre-Equating Design (Anchored Calibrations)</vt:lpstr>
      <vt:lpstr>IRT Test Linking in Large-Scale Assessments</vt:lpstr>
      <vt:lpstr>Why Use IRT over Observed Score Equating Methods?</vt:lpstr>
      <vt:lpstr>Doing Separate IRT Equating in R</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IRT Test Linking</dc:title>
  <dc:creator>Jonathan Weeks</dc:creator>
  <cp:lastModifiedBy>Derek Briggs</cp:lastModifiedBy>
  <cp:revision>94</cp:revision>
  <dcterms:created xsi:type="dcterms:W3CDTF">2008-04-15T17:00:57Z</dcterms:created>
  <dcterms:modified xsi:type="dcterms:W3CDTF">2026-03-24T04:33:11Z</dcterms:modified>
</cp:coreProperties>
</file>