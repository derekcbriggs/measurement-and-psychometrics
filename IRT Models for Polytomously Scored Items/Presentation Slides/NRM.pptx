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06" r:id="rId3"/>
    <p:sldId id="257" r:id="rId4"/>
    <p:sldId id="307" r:id="rId5"/>
    <p:sldId id="308" r:id="rId6"/>
    <p:sldId id="309" r:id="rId7"/>
    <p:sldId id="310" r:id="rId8"/>
    <p:sldId id="311" r:id="rId9"/>
    <p:sldId id="312" r:id="rId10"/>
    <p:sldId id="314" r:id="rId11"/>
    <p:sldId id="315" r:id="rId12"/>
    <p:sldId id="313" r:id="rId13"/>
    <p:sldId id="31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5840"/>
  </p:normalViewPr>
  <p:slideViewPr>
    <p:cSldViewPr snapToGrid="0" snapToObjects="1">
      <p:cViewPr varScale="1">
        <p:scale>
          <a:sx n="128" d="100"/>
          <a:sy n="128" d="100"/>
        </p:scale>
        <p:origin x="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9CDAA-38F4-F249-AC63-84A4F92024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1EC5E24-D902-5A4B-A8C1-EEA958097F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89BBB0-2049-AF45-8318-3317DBB4F225}"/>
              </a:ext>
            </a:extLst>
          </p:cNvPr>
          <p:cNvSpPr>
            <a:spLocks noGrp="1"/>
          </p:cNvSpPr>
          <p:nvPr>
            <p:ph type="dt" sz="half" idx="10"/>
          </p:nvPr>
        </p:nvSpPr>
        <p:spPr/>
        <p:txBody>
          <a:bodyPr/>
          <a:lstStyle/>
          <a:p>
            <a:fld id="{F25245A4-D22E-4449-B60F-5086BA5274AB}" type="datetimeFigureOut">
              <a:t>3/17/24</a:t>
            </a:fld>
            <a:endParaRPr lang="en-US"/>
          </a:p>
        </p:txBody>
      </p:sp>
      <p:sp>
        <p:nvSpPr>
          <p:cNvPr id="5" name="Footer Placeholder 4">
            <a:extLst>
              <a:ext uri="{FF2B5EF4-FFF2-40B4-BE49-F238E27FC236}">
                <a16:creationId xmlns:a16="http://schemas.microsoft.com/office/drawing/2014/main" id="{E5D29EC8-C9C1-C243-BE92-D33CDCFEB6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016F5C-7D2A-3E4C-B703-BAF950A78A4F}"/>
              </a:ext>
            </a:extLst>
          </p:cNvPr>
          <p:cNvSpPr>
            <a:spLocks noGrp="1"/>
          </p:cNvSpPr>
          <p:nvPr>
            <p:ph type="sldNum" sz="quarter" idx="12"/>
          </p:nvPr>
        </p:nvSpPr>
        <p:spPr/>
        <p:txBody>
          <a:bodyPr/>
          <a:lstStyle/>
          <a:p>
            <a:fld id="{ADBED3A8-E239-CF40-BBC1-740ADFB417C6}" type="slidenum">
              <a:t>‹#›</a:t>
            </a:fld>
            <a:endParaRPr lang="en-US"/>
          </a:p>
        </p:txBody>
      </p:sp>
    </p:spTree>
    <p:extLst>
      <p:ext uri="{BB962C8B-B14F-4D97-AF65-F5344CB8AC3E}">
        <p14:creationId xmlns:p14="http://schemas.microsoft.com/office/powerpoint/2010/main" val="2400065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ADB16-BE90-9C45-A2F1-851AD458C7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F9B871-D97A-0A46-9E0A-BE7993A336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FC2D41-950D-E648-9AE0-139464C2424B}"/>
              </a:ext>
            </a:extLst>
          </p:cNvPr>
          <p:cNvSpPr>
            <a:spLocks noGrp="1"/>
          </p:cNvSpPr>
          <p:nvPr>
            <p:ph type="dt" sz="half" idx="10"/>
          </p:nvPr>
        </p:nvSpPr>
        <p:spPr/>
        <p:txBody>
          <a:bodyPr/>
          <a:lstStyle/>
          <a:p>
            <a:fld id="{F25245A4-D22E-4449-B60F-5086BA5274AB}" type="datetimeFigureOut">
              <a:t>3/17/24</a:t>
            </a:fld>
            <a:endParaRPr lang="en-US"/>
          </a:p>
        </p:txBody>
      </p:sp>
      <p:sp>
        <p:nvSpPr>
          <p:cNvPr id="5" name="Footer Placeholder 4">
            <a:extLst>
              <a:ext uri="{FF2B5EF4-FFF2-40B4-BE49-F238E27FC236}">
                <a16:creationId xmlns:a16="http://schemas.microsoft.com/office/drawing/2014/main" id="{A522E0E1-1074-CB4D-9DBD-CCA066A34A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E35018-7CD7-C643-9D59-4935C96E838F}"/>
              </a:ext>
            </a:extLst>
          </p:cNvPr>
          <p:cNvSpPr>
            <a:spLocks noGrp="1"/>
          </p:cNvSpPr>
          <p:nvPr>
            <p:ph type="sldNum" sz="quarter" idx="12"/>
          </p:nvPr>
        </p:nvSpPr>
        <p:spPr/>
        <p:txBody>
          <a:bodyPr/>
          <a:lstStyle/>
          <a:p>
            <a:fld id="{ADBED3A8-E239-CF40-BBC1-740ADFB417C6}" type="slidenum">
              <a:t>‹#›</a:t>
            </a:fld>
            <a:endParaRPr lang="en-US"/>
          </a:p>
        </p:txBody>
      </p:sp>
    </p:spTree>
    <p:extLst>
      <p:ext uri="{BB962C8B-B14F-4D97-AF65-F5344CB8AC3E}">
        <p14:creationId xmlns:p14="http://schemas.microsoft.com/office/powerpoint/2010/main" val="2465713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9A8C5-380C-3D4F-9E2C-9DEA931D60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C470A1-18BE-144A-9D1B-0ACA73BCAB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3B6A87-16E8-7440-A6B4-CA7829CD8C14}"/>
              </a:ext>
            </a:extLst>
          </p:cNvPr>
          <p:cNvSpPr>
            <a:spLocks noGrp="1"/>
          </p:cNvSpPr>
          <p:nvPr>
            <p:ph type="dt" sz="half" idx="10"/>
          </p:nvPr>
        </p:nvSpPr>
        <p:spPr/>
        <p:txBody>
          <a:bodyPr/>
          <a:lstStyle/>
          <a:p>
            <a:fld id="{F25245A4-D22E-4449-B60F-5086BA5274AB}" type="datetimeFigureOut">
              <a:t>3/17/24</a:t>
            </a:fld>
            <a:endParaRPr lang="en-US"/>
          </a:p>
        </p:txBody>
      </p:sp>
      <p:sp>
        <p:nvSpPr>
          <p:cNvPr id="5" name="Footer Placeholder 4">
            <a:extLst>
              <a:ext uri="{FF2B5EF4-FFF2-40B4-BE49-F238E27FC236}">
                <a16:creationId xmlns:a16="http://schemas.microsoft.com/office/drawing/2014/main" id="{087C8F7F-7C7A-3D44-8ECC-DFB384F314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89A43B-9A00-404C-8F32-5404A965521F}"/>
              </a:ext>
            </a:extLst>
          </p:cNvPr>
          <p:cNvSpPr>
            <a:spLocks noGrp="1"/>
          </p:cNvSpPr>
          <p:nvPr>
            <p:ph type="sldNum" sz="quarter" idx="12"/>
          </p:nvPr>
        </p:nvSpPr>
        <p:spPr/>
        <p:txBody>
          <a:bodyPr/>
          <a:lstStyle/>
          <a:p>
            <a:fld id="{ADBED3A8-E239-CF40-BBC1-740ADFB417C6}" type="slidenum">
              <a:t>‹#›</a:t>
            </a:fld>
            <a:endParaRPr lang="en-US"/>
          </a:p>
        </p:txBody>
      </p:sp>
    </p:spTree>
    <p:extLst>
      <p:ext uri="{BB962C8B-B14F-4D97-AF65-F5344CB8AC3E}">
        <p14:creationId xmlns:p14="http://schemas.microsoft.com/office/powerpoint/2010/main" val="3036759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907F6-3764-1E40-A6ED-8729391118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BC273C-B8BB-6B45-8A3C-A3C33BE444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63C1EA-63EA-6240-8613-882190A457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B8CD62B-2A8D-EA46-AA4F-0C867FB1919E}"/>
              </a:ext>
            </a:extLst>
          </p:cNvPr>
          <p:cNvSpPr>
            <a:spLocks noGrp="1"/>
          </p:cNvSpPr>
          <p:nvPr>
            <p:ph type="dt" sz="half" idx="10"/>
          </p:nvPr>
        </p:nvSpPr>
        <p:spPr/>
        <p:txBody>
          <a:bodyPr/>
          <a:lstStyle/>
          <a:p>
            <a:fld id="{F25245A4-D22E-4449-B60F-5086BA5274AB}" type="datetimeFigureOut">
              <a:t>3/17/24</a:t>
            </a:fld>
            <a:endParaRPr lang="en-US"/>
          </a:p>
        </p:txBody>
      </p:sp>
      <p:sp>
        <p:nvSpPr>
          <p:cNvPr id="6" name="Footer Placeholder 5">
            <a:extLst>
              <a:ext uri="{FF2B5EF4-FFF2-40B4-BE49-F238E27FC236}">
                <a16:creationId xmlns:a16="http://schemas.microsoft.com/office/drawing/2014/main" id="{BA45CF8A-E1D3-B84A-B1E7-53577D8D8B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40CCA0-B688-8341-B2CF-E13372C95598}"/>
              </a:ext>
            </a:extLst>
          </p:cNvPr>
          <p:cNvSpPr>
            <a:spLocks noGrp="1"/>
          </p:cNvSpPr>
          <p:nvPr>
            <p:ph type="sldNum" sz="quarter" idx="12"/>
          </p:nvPr>
        </p:nvSpPr>
        <p:spPr/>
        <p:txBody>
          <a:bodyPr/>
          <a:lstStyle/>
          <a:p>
            <a:fld id="{ADBED3A8-E239-CF40-BBC1-740ADFB417C6}" type="slidenum">
              <a:t>‹#›</a:t>
            </a:fld>
            <a:endParaRPr lang="en-US"/>
          </a:p>
        </p:txBody>
      </p:sp>
    </p:spTree>
    <p:extLst>
      <p:ext uri="{BB962C8B-B14F-4D97-AF65-F5344CB8AC3E}">
        <p14:creationId xmlns:p14="http://schemas.microsoft.com/office/powerpoint/2010/main" val="1662300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8DD4C-5AAF-A84C-9CDE-F06ECEC373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9CCD93-FB96-B84D-9860-28B2B494DA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6113C9-7871-A44A-A013-D01FE78068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A5A7B81-4BBD-E747-B899-49DF15AC48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ECBE99-058E-B946-BC1B-CF93E95631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327F87-4B7C-364C-84D2-F5C0BE297E01}"/>
              </a:ext>
            </a:extLst>
          </p:cNvPr>
          <p:cNvSpPr>
            <a:spLocks noGrp="1"/>
          </p:cNvSpPr>
          <p:nvPr>
            <p:ph type="dt" sz="half" idx="10"/>
          </p:nvPr>
        </p:nvSpPr>
        <p:spPr/>
        <p:txBody>
          <a:bodyPr/>
          <a:lstStyle/>
          <a:p>
            <a:fld id="{F25245A4-D22E-4449-B60F-5086BA5274AB}" type="datetimeFigureOut">
              <a:t>3/17/24</a:t>
            </a:fld>
            <a:endParaRPr lang="en-US"/>
          </a:p>
        </p:txBody>
      </p:sp>
      <p:sp>
        <p:nvSpPr>
          <p:cNvPr id="8" name="Footer Placeholder 7">
            <a:extLst>
              <a:ext uri="{FF2B5EF4-FFF2-40B4-BE49-F238E27FC236}">
                <a16:creationId xmlns:a16="http://schemas.microsoft.com/office/drawing/2014/main" id="{58F53F1A-C3B9-9F4B-BE9D-7B5187EDD3C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9A1400-6D3D-164C-A7A0-198753256BF7}"/>
              </a:ext>
            </a:extLst>
          </p:cNvPr>
          <p:cNvSpPr>
            <a:spLocks noGrp="1"/>
          </p:cNvSpPr>
          <p:nvPr>
            <p:ph type="sldNum" sz="quarter" idx="12"/>
          </p:nvPr>
        </p:nvSpPr>
        <p:spPr/>
        <p:txBody>
          <a:bodyPr/>
          <a:lstStyle/>
          <a:p>
            <a:fld id="{ADBED3A8-E239-CF40-BBC1-740ADFB417C6}" type="slidenum">
              <a:t>‹#›</a:t>
            </a:fld>
            <a:endParaRPr lang="en-US"/>
          </a:p>
        </p:txBody>
      </p:sp>
    </p:spTree>
    <p:extLst>
      <p:ext uri="{BB962C8B-B14F-4D97-AF65-F5344CB8AC3E}">
        <p14:creationId xmlns:p14="http://schemas.microsoft.com/office/powerpoint/2010/main" val="971777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75DE5-EFD8-DC4D-9953-37C8063A81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BA9435-4E3D-9747-AFFF-8FD40386F1BE}"/>
              </a:ext>
            </a:extLst>
          </p:cNvPr>
          <p:cNvSpPr>
            <a:spLocks noGrp="1"/>
          </p:cNvSpPr>
          <p:nvPr>
            <p:ph type="dt" sz="half" idx="10"/>
          </p:nvPr>
        </p:nvSpPr>
        <p:spPr/>
        <p:txBody>
          <a:bodyPr/>
          <a:lstStyle/>
          <a:p>
            <a:fld id="{F25245A4-D22E-4449-B60F-5086BA5274AB}" type="datetimeFigureOut">
              <a:t>3/17/24</a:t>
            </a:fld>
            <a:endParaRPr lang="en-US"/>
          </a:p>
        </p:txBody>
      </p:sp>
      <p:sp>
        <p:nvSpPr>
          <p:cNvPr id="4" name="Footer Placeholder 3">
            <a:extLst>
              <a:ext uri="{FF2B5EF4-FFF2-40B4-BE49-F238E27FC236}">
                <a16:creationId xmlns:a16="http://schemas.microsoft.com/office/drawing/2014/main" id="{F6113BB0-96BB-F040-8A10-DFF9A752C3F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8BA596-94A1-C24D-828A-54B628DBAF02}"/>
              </a:ext>
            </a:extLst>
          </p:cNvPr>
          <p:cNvSpPr>
            <a:spLocks noGrp="1"/>
          </p:cNvSpPr>
          <p:nvPr>
            <p:ph type="sldNum" sz="quarter" idx="12"/>
          </p:nvPr>
        </p:nvSpPr>
        <p:spPr/>
        <p:txBody>
          <a:bodyPr/>
          <a:lstStyle/>
          <a:p>
            <a:fld id="{ADBED3A8-E239-CF40-BBC1-740ADFB417C6}" type="slidenum">
              <a:t>‹#›</a:t>
            </a:fld>
            <a:endParaRPr lang="en-US"/>
          </a:p>
        </p:txBody>
      </p:sp>
    </p:spTree>
    <p:extLst>
      <p:ext uri="{BB962C8B-B14F-4D97-AF65-F5344CB8AC3E}">
        <p14:creationId xmlns:p14="http://schemas.microsoft.com/office/powerpoint/2010/main" val="3562223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485506-4ED7-924B-9010-115CC97DE333}"/>
              </a:ext>
            </a:extLst>
          </p:cNvPr>
          <p:cNvSpPr>
            <a:spLocks noGrp="1"/>
          </p:cNvSpPr>
          <p:nvPr>
            <p:ph type="dt" sz="half" idx="10"/>
          </p:nvPr>
        </p:nvSpPr>
        <p:spPr/>
        <p:txBody>
          <a:bodyPr/>
          <a:lstStyle/>
          <a:p>
            <a:fld id="{F25245A4-D22E-4449-B60F-5086BA5274AB}" type="datetimeFigureOut">
              <a:t>3/17/24</a:t>
            </a:fld>
            <a:endParaRPr lang="en-US"/>
          </a:p>
        </p:txBody>
      </p:sp>
      <p:sp>
        <p:nvSpPr>
          <p:cNvPr id="3" name="Footer Placeholder 2">
            <a:extLst>
              <a:ext uri="{FF2B5EF4-FFF2-40B4-BE49-F238E27FC236}">
                <a16:creationId xmlns:a16="http://schemas.microsoft.com/office/drawing/2014/main" id="{86CC975D-3897-D649-A4B3-F45B217491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F108E5-EB43-924C-A0B1-B4BE2CAE465D}"/>
              </a:ext>
            </a:extLst>
          </p:cNvPr>
          <p:cNvSpPr>
            <a:spLocks noGrp="1"/>
          </p:cNvSpPr>
          <p:nvPr>
            <p:ph type="sldNum" sz="quarter" idx="12"/>
          </p:nvPr>
        </p:nvSpPr>
        <p:spPr/>
        <p:txBody>
          <a:bodyPr/>
          <a:lstStyle/>
          <a:p>
            <a:fld id="{ADBED3A8-E239-CF40-BBC1-740ADFB417C6}" type="slidenum">
              <a:t>‹#›</a:t>
            </a:fld>
            <a:endParaRPr lang="en-US"/>
          </a:p>
        </p:txBody>
      </p:sp>
    </p:spTree>
    <p:extLst>
      <p:ext uri="{BB962C8B-B14F-4D97-AF65-F5344CB8AC3E}">
        <p14:creationId xmlns:p14="http://schemas.microsoft.com/office/powerpoint/2010/main" val="4232050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13B5A-CB5B-D640-B232-7F1089E8B7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CEA89D-708A-0148-99E1-BFA2A958FA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C7889B-E2EE-3744-9AEB-3C237A54AA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0C37C2-DFCF-924B-8F29-AFED062DE528}"/>
              </a:ext>
            </a:extLst>
          </p:cNvPr>
          <p:cNvSpPr>
            <a:spLocks noGrp="1"/>
          </p:cNvSpPr>
          <p:nvPr>
            <p:ph type="dt" sz="half" idx="10"/>
          </p:nvPr>
        </p:nvSpPr>
        <p:spPr/>
        <p:txBody>
          <a:bodyPr/>
          <a:lstStyle/>
          <a:p>
            <a:fld id="{F25245A4-D22E-4449-B60F-5086BA5274AB}" type="datetimeFigureOut">
              <a:t>3/17/24</a:t>
            </a:fld>
            <a:endParaRPr lang="en-US"/>
          </a:p>
        </p:txBody>
      </p:sp>
      <p:sp>
        <p:nvSpPr>
          <p:cNvPr id="6" name="Footer Placeholder 5">
            <a:extLst>
              <a:ext uri="{FF2B5EF4-FFF2-40B4-BE49-F238E27FC236}">
                <a16:creationId xmlns:a16="http://schemas.microsoft.com/office/drawing/2014/main" id="{FB741836-948D-C643-9AB9-30733DDE1D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B4CA4B-A8D5-684A-84F6-56964A01B2B2}"/>
              </a:ext>
            </a:extLst>
          </p:cNvPr>
          <p:cNvSpPr>
            <a:spLocks noGrp="1"/>
          </p:cNvSpPr>
          <p:nvPr>
            <p:ph type="sldNum" sz="quarter" idx="12"/>
          </p:nvPr>
        </p:nvSpPr>
        <p:spPr/>
        <p:txBody>
          <a:bodyPr/>
          <a:lstStyle/>
          <a:p>
            <a:fld id="{ADBED3A8-E239-CF40-BBC1-740ADFB417C6}" type="slidenum">
              <a:t>‹#›</a:t>
            </a:fld>
            <a:endParaRPr lang="en-US"/>
          </a:p>
        </p:txBody>
      </p:sp>
    </p:spTree>
    <p:extLst>
      <p:ext uri="{BB962C8B-B14F-4D97-AF65-F5344CB8AC3E}">
        <p14:creationId xmlns:p14="http://schemas.microsoft.com/office/powerpoint/2010/main" val="1716930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D4AD9-AABE-8C40-8D24-FAFFE46981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E6223F-14D5-D843-89BF-DDF92FF5A9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E92888-E34F-DD4D-9039-61E94C53E4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73A26B-56B0-8149-ACE2-2DB2FF353ADA}"/>
              </a:ext>
            </a:extLst>
          </p:cNvPr>
          <p:cNvSpPr>
            <a:spLocks noGrp="1"/>
          </p:cNvSpPr>
          <p:nvPr>
            <p:ph type="dt" sz="half" idx="10"/>
          </p:nvPr>
        </p:nvSpPr>
        <p:spPr/>
        <p:txBody>
          <a:bodyPr/>
          <a:lstStyle/>
          <a:p>
            <a:fld id="{F25245A4-D22E-4449-B60F-5086BA5274AB}" type="datetimeFigureOut">
              <a:t>3/17/24</a:t>
            </a:fld>
            <a:endParaRPr lang="en-US"/>
          </a:p>
        </p:txBody>
      </p:sp>
      <p:sp>
        <p:nvSpPr>
          <p:cNvPr id="6" name="Footer Placeholder 5">
            <a:extLst>
              <a:ext uri="{FF2B5EF4-FFF2-40B4-BE49-F238E27FC236}">
                <a16:creationId xmlns:a16="http://schemas.microsoft.com/office/drawing/2014/main" id="{B3577247-1EF7-B849-B6E9-A717FA100C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03B518-37D3-BF4E-8B9D-143935C123B7}"/>
              </a:ext>
            </a:extLst>
          </p:cNvPr>
          <p:cNvSpPr>
            <a:spLocks noGrp="1"/>
          </p:cNvSpPr>
          <p:nvPr>
            <p:ph type="sldNum" sz="quarter" idx="12"/>
          </p:nvPr>
        </p:nvSpPr>
        <p:spPr/>
        <p:txBody>
          <a:bodyPr/>
          <a:lstStyle/>
          <a:p>
            <a:fld id="{ADBED3A8-E239-CF40-BBC1-740ADFB417C6}" type="slidenum">
              <a:t>‹#›</a:t>
            </a:fld>
            <a:endParaRPr lang="en-US"/>
          </a:p>
        </p:txBody>
      </p:sp>
    </p:spTree>
    <p:extLst>
      <p:ext uri="{BB962C8B-B14F-4D97-AF65-F5344CB8AC3E}">
        <p14:creationId xmlns:p14="http://schemas.microsoft.com/office/powerpoint/2010/main" val="3976868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58992-7D30-C847-A31B-A22A8D96E77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043C29-8DE7-FB49-AB26-1FABCDE204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AA2102-3CFD-F543-935D-23525361ECFD}"/>
              </a:ext>
            </a:extLst>
          </p:cNvPr>
          <p:cNvSpPr>
            <a:spLocks noGrp="1"/>
          </p:cNvSpPr>
          <p:nvPr>
            <p:ph type="dt" sz="half" idx="10"/>
          </p:nvPr>
        </p:nvSpPr>
        <p:spPr/>
        <p:txBody>
          <a:bodyPr/>
          <a:lstStyle/>
          <a:p>
            <a:fld id="{F25245A4-D22E-4449-B60F-5086BA5274AB}" type="datetimeFigureOut">
              <a:t>3/17/24</a:t>
            </a:fld>
            <a:endParaRPr lang="en-US"/>
          </a:p>
        </p:txBody>
      </p:sp>
      <p:sp>
        <p:nvSpPr>
          <p:cNvPr id="5" name="Footer Placeholder 4">
            <a:extLst>
              <a:ext uri="{FF2B5EF4-FFF2-40B4-BE49-F238E27FC236}">
                <a16:creationId xmlns:a16="http://schemas.microsoft.com/office/drawing/2014/main" id="{6D151C8A-5B2F-A84D-9BBB-2AE6B1E620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9AD42C-0EF5-7949-85BC-AB357CA5CFC0}"/>
              </a:ext>
            </a:extLst>
          </p:cNvPr>
          <p:cNvSpPr>
            <a:spLocks noGrp="1"/>
          </p:cNvSpPr>
          <p:nvPr>
            <p:ph type="sldNum" sz="quarter" idx="12"/>
          </p:nvPr>
        </p:nvSpPr>
        <p:spPr/>
        <p:txBody>
          <a:bodyPr/>
          <a:lstStyle/>
          <a:p>
            <a:fld id="{ADBED3A8-E239-CF40-BBC1-740ADFB417C6}" type="slidenum">
              <a:t>‹#›</a:t>
            </a:fld>
            <a:endParaRPr lang="en-US"/>
          </a:p>
        </p:txBody>
      </p:sp>
    </p:spTree>
    <p:extLst>
      <p:ext uri="{BB962C8B-B14F-4D97-AF65-F5344CB8AC3E}">
        <p14:creationId xmlns:p14="http://schemas.microsoft.com/office/powerpoint/2010/main" val="2740786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C3D532-64D4-2F40-BA2B-F468C3850B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6D4FA30-FED0-1D41-901D-815177484F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91FFBF-0D5C-5C4B-850E-A89AEE2912C2}"/>
              </a:ext>
            </a:extLst>
          </p:cNvPr>
          <p:cNvSpPr>
            <a:spLocks noGrp="1"/>
          </p:cNvSpPr>
          <p:nvPr>
            <p:ph type="dt" sz="half" idx="10"/>
          </p:nvPr>
        </p:nvSpPr>
        <p:spPr/>
        <p:txBody>
          <a:bodyPr/>
          <a:lstStyle/>
          <a:p>
            <a:fld id="{F25245A4-D22E-4449-B60F-5086BA5274AB}" type="datetimeFigureOut">
              <a:t>3/17/24</a:t>
            </a:fld>
            <a:endParaRPr lang="en-US"/>
          </a:p>
        </p:txBody>
      </p:sp>
      <p:sp>
        <p:nvSpPr>
          <p:cNvPr id="5" name="Footer Placeholder 4">
            <a:extLst>
              <a:ext uri="{FF2B5EF4-FFF2-40B4-BE49-F238E27FC236}">
                <a16:creationId xmlns:a16="http://schemas.microsoft.com/office/drawing/2014/main" id="{24F454CD-B81C-CE40-926B-ADF24C1D7B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3DAB3C-69AE-BA41-9026-CB3A8DBCF3E1}"/>
              </a:ext>
            </a:extLst>
          </p:cNvPr>
          <p:cNvSpPr>
            <a:spLocks noGrp="1"/>
          </p:cNvSpPr>
          <p:nvPr>
            <p:ph type="sldNum" sz="quarter" idx="12"/>
          </p:nvPr>
        </p:nvSpPr>
        <p:spPr/>
        <p:txBody>
          <a:bodyPr/>
          <a:lstStyle/>
          <a:p>
            <a:fld id="{ADBED3A8-E239-CF40-BBC1-740ADFB417C6}" type="slidenum">
              <a:t>‹#›</a:t>
            </a:fld>
            <a:endParaRPr lang="en-US"/>
          </a:p>
        </p:txBody>
      </p:sp>
    </p:spTree>
    <p:extLst>
      <p:ext uri="{BB962C8B-B14F-4D97-AF65-F5344CB8AC3E}">
        <p14:creationId xmlns:p14="http://schemas.microsoft.com/office/powerpoint/2010/main" val="2326780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14B435-9FA3-0748-AB99-A3544D4FAA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C7948C4-E271-3C45-9E00-3D08F311A6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2739B6-C06B-E640-BD97-3E67378729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5245A4-D22E-4449-B60F-5086BA5274AB}" type="datetimeFigureOut">
              <a:t>3/17/24</a:t>
            </a:fld>
            <a:endParaRPr lang="en-US"/>
          </a:p>
        </p:txBody>
      </p:sp>
      <p:sp>
        <p:nvSpPr>
          <p:cNvPr id="5" name="Footer Placeholder 4">
            <a:extLst>
              <a:ext uri="{FF2B5EF4-FFF2-40B4-BE49-F238E27FC236}">
                <a16:creationId xmlns:a16="http://schemas.microsoft.com/office/drawing/2014/main" id="{DB9CF436-1FE5-FB4E-9806-7E33903286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0347A8A-D78B-4449-AD95-62C457AEE5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BED3A8-E239-CF40-BBC1-740ADFB417C6}" type="slidenum">
              <a:t>‹#›</a:t>
            </a:fld>
            <a:endParaRPr lang="en-US"/>
          </a:p>
        </p:txBody>
      </p:sp>
    </p:spTree>
    <p:extLst>
      <p:ext uri="{BB962C8B-B14F-4D97-AF65-F5344CB8AC3E}">
        <p14:creationId xmlns:p14="http://schemas.microsoft.com/office/powerpoint/2010/main" val="25706097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3D809-717B-9149-9892-9E667C057BC6}"/>
              </a:ext>
            </a:extLst>
          </p:cNvPr>
          <p:cNvSpPr>
            <a:spLocks noGrp="1"/>
          </p:cNvSpPr>
          <p:nvPr>
            <p:ph type="ctrTitle"/>
          </p:nvPr>
        </p:nvSpPr>
        <p:spPr/>
        <p:txBody>
          <a:bodyPr/>
          <a:lstStyle/>
          <a:p>
            <a:r>
              <a:rPr lang="en-US"/>
              <a:t>Nominal Response Model</a:t>
            </a:r>
          </a:p>
        </p:txBody>
      </p:sp>
      <p:sp>
        <p:nvSpPr>
          <p:cNvPr id="3" name="Subtitle 2">
            <a:extLst>
              <a:ext uri="{FF2B5EF4-FFF2-40B4-BE49-F238E27FC236}">
                <a16:creationId xmlns:a16="http://schemas.microsoft.com/office/drawing/2014/main" id="{0F50327E-36CA-2041-9E52-0721B5771C3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41527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Original Nominal Response Model (NRM) Equation (Bock, 1972)</a:t>
            </a:r>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p:txBody>
              <a:bodyPr>
                <a:normAutofit lnSpcReduction="10000"/>
              </a:bodyPr>
              <a:lstStyle/>
              <a:p>
                <a:r>
                  <a:rPr lang="en-US" dirty="0"/>
                  <a:t>The nominal response model is appropriate if there is </a:t>
                </a:r>
                <a:r>
                  <a:rPr lang="en-US" b="1" u="sng" dirty="0"/>
                  <a:t>no order</a:t>
                </a:r>
                <a:r>
                  <a:rPr lang="en-US" dirty="0"/>
                  <a:t> to the response categories.</a:t>
                </a:r>
              </a:p>
              <a:p>
                <a:r>
                  <a:rPr lang="en-US" dirty="0"/>
                  <a:t>We then model the probabilities as: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charset="0"/>
                                </a:rPr>
                                <m:t>𝑋</m:t>
                              </m:r>
                            </m:e>
                            <m:sub>
                              <m:r>
                                <a:rPr lang="en-US" b="0" i="1" smtClean="0">
                                  <a:latin typeface="Cambria Math" charset="0"/>
                                </a:rPr>
                                <m:t>𝑖𝑠</m:t>
                              </m:r>
                            </m:sub>
                          </m:sSub>
                          <m:r>
                            <a:rPr lang="en-US" b="0" i="1" smtClean="0">
                              <a:latin typeface="Cambria Math" charset="0"/>
                            </a:rPr>
                            <m:t>=</m:t>
                          </m:r>
                          <m:r>
                            <a:rPr lang="en-US" b="0" i="1" smtClean="0">
                              <a:latin typeface="Cambria Math" charset="0"/>
                            </a:rPr>
                            <m:t>𝑗</m:t>
                          </m:r>
                        </m:e>
                      </m:d>
                      <m:r>
                        <a:rPr lang="en-US" b="0" i="1" smtClean="0">
                          <a:latin typeface="Cambria Math" charset="0"/>
                        </a:rPr>
                        <m:t>=</m:t>
                      </m:r>
                      <m:f>
                        <m:fPr>
                          <m:ctrlPr>
                            <a:rPr lang="en-US" b="0" i="1" smtClean="0">
                              <a:latin typeface="Cambria Math" panose="02040503050406030204" pitchFamily="18" charset="0"/>
                            </a:rPr>
                          </m:ctrlPr>
                        </m:fPr>
                        <m:num>
                          <m:func>
                            <m:funcPr>
                              <m:ctrlPr>
                                <a:rPr lang="en-US" b="0" i="1" smtClean="0">
                                  <a:latin typeface="Cambria Math" panose="02040503050406030204" pitchFamily="18" charset="0"/>
                                </a:rPr>
                              </m:ctrlPr>
                            </m:funcPr>
                            <m:fName>
                              <m:r>
                                <m:rPr>
                                  <m:sty m:val="p"/>
                                </m:rPr>
                                <a:rPr lang="en-US" b="0" i="0" smtClean="0">
                                  <a:latin typeface="Cambria Math" charset="0"/>
                                </a:rPr>
                                <m:t>exp</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charset="0"/>
                                        </a:rPr>
                                        <m:t>𝛼</m:t>
                                      </m:r>
                                    </m:e>
                                    <m:sub>
                                      <m:r>
                                        <a:rPr lang="en-US" b="0" i="1" smtClean="0">
                                          <a:latin typeface="Cambria Math" charset="0"/>
                                        </a:rPr>
                                        <m:t>𝑖𝑗</m:t>
                                      </m:r>
                                    </m:sub>
                                  </m:sSub>
                                  <m:sSub>
                                    <m:sSubPr>
                                      <m:ctrlPr>
                                        <a:rPr lang="en-US" b="0" i="1" smtClean="0">
                                          <a:latin typeface="Cambria Math" panose="02040503050406030204" pitchFamily="18" charset="0"/>
                                        </a:rPr>
                                      </m:ctrlPr>
                                    </m:sSubPr>
                                    <m:e>
                                      <m:r>
                                        <a:rPr lang="en-US" b="0" i="1" smtClean="0">
                                          <a:latin typeface="Cambria Math" charset="0"/>
                                        </a:rPr>
                                        <m:t>𝜃</m:t>
                                      </m:r>
                                    </m:e>
                                    <m:sub>
                                      <m:r>
                                        <a:rPr lang="en-US" b="0" i="1" smtClean="0">
                                          <a:latin typeface="Cambria Math" charset="0"/>
                                        </a:rPr>
                                        <m:t>𝑠</m:t>
                                      </m:r>
                                    </m:sub>
                                  </m:sSub>
                                  <m:r>
                                    <a:rPr lang="en-US" b="0" i="1" smtClean="0">
                                      <a:latin typeface="Cambria Math" charset="0"/>
                                    </a:rPr>
                                    <m:t>+</m:t>
                                  </m:r>
                                  <m:sSub>
                                    <m:sSubPr>
                                      <m:ctrlPr>
                                        <a:rPr lang="en-US" b="0" i="1" smtClean="0">
                                          <a:latin typeface="Cambria Math" panose="02040503050406030204" pitchFamily="18" charset="0"/>
                                        </a:rPr>
                                      </m:ctrlPr>
                                    </m:sSubPr>
                                    <m:e>
                                      <m:r>
                                        <a:rPr lang="en-US" b="0" i="1" smtClean="0">
                                          <a:latin typeface="Cambria Math" charset="0"/>
                                        </a:rPr>
                                        <m:t>𝑐</m:t>
                                      </m:r>
                                    </m:e>
                                    <m:sub>
                                      <m:r>
                                        <a:rPr lang="en-US" b="0" i="1" smtClean="0">
                                          <a:latin typeface="Cambria Math" charset="0"/>
                                        </a:rPr>
                                        <m:t>𝑖𝑗</m:t>
                                      </m:r>
                                    </m:sub>
                                  </m:sSub>
                                </m:e>
                              </m:d>
                            </m:e>
                          </m:func>
                        </m:num>
                        <m:den>
                          <m:nary>
                            <m:naryPr>
                              <m:chr m:val="∑"/>
                              <m:ctrlPr>
                                <a:rPr lang="is-IS" b="0" i="1" smtClean="0">
                                  <a:latin typeface="Cambria Math" panose="02040503050406030204" pitchFamily="18" charset="0"/>
                                </a:rPr>
                              </m:ctrlPr>
                            </m:naryPr>
                            <m:sub>
                              <m:r>
                                <m:rPr>
                                  <m:brk m:alnAt="23"/>
                                </m:rPr>
                                <a:rPr lang="en-US" b="0" i="1" smtClean="0">
                                  <a:latin typeface="Cambria Math" charset="0"/>
                                </a:rPr>
                                <m:t>𝑗</m:t>
                              </m:r>
                              <m:r>
                                <a:rPr lang="en-US" b="0" i="1" smtClean="0">
                                  <a:latin typeface="Cambria Math" charset="0"/>
                                </a:rPr>
                                <m:t>=0</m:t>
                              </m:r>
                            </m:sub>
                            <m:sup>
                              <m:sSub>
                                <m:sSubPr>
                                  <m:ctrlPr>
                                    <a:rPr lang="en-US" b="0" i="1" smtClean="0">
                                      <a:latin typeface="Cambria Math" panose="02040503050406030204" pitchFamily="18" charset="0"/>
                                    </a:rPr>
                                  </m:ctrlPr>
                                </m:sSubPr>
                                <m:e>
                                  <m:r>
                                    <a:rPr lang="en-US" b="0" i="1" smtClean="0">
                                      <a:latin typeface="Cambria Math" charset="0"/>
                                    </a:rPr>
                                    <m:t>𝑚</m:t>
                                  </m:r>
                                </m:e>
                                <m:sub>
                                  <m:r>
                                    <a:rPr lang="en-US" b="0" i="1" smtClean="0">
                                      <a:latin typeface="Cambria Math" charset="0"/>
                                    </a:rPr>
                                    <m:t>𝑖</m:t>
                                  </m:r>
                                </m:sub>
                              </m:sSub>
                            </m:sup>
                            <m:e>
                              <m:func>
                                <m:funcPr>
                                  <m:ctrlPr>
                                    <a:rPr lang="en-US" b="0" i="1" smtClean="0">
                                      <a:latin typeface="Cambria Math" panose="02040503050406030204" pitchFamily="18" charset="0"/>
                                    </a:rPr>
                                  </m:ctrlPr>
                                </m:funcPr>
                                <m:fName>
                                  <m:r>
                                    <m:rPr>
                                      <m:sty m:val="p"/>
                                    </m:rPr>
                                    <a:rPr lang="en-US" b="0" i="0" smtClean="0">
                                      <a:latin typeface="Cambria Math" charset="0"/>
                                    </a:rPr>
                                    <m:t>exp</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charset="0"/>
                                            </a:rPr>
                                            <m:t>𝛼</m:t>
                                          </m:r>
                                        </m:e>
                                        <m:sub>
                                          <m:r>
                                            <a:rPr lang="en-US" b="0" i="1" smtClean="0">
                                              <a:latin typeface="Cambria Math" charset="0"/>
                                            </a:rPr>
                                            <m:t>𝑖𝑗</m:t>
                                          </m:r>
                                        </m:sub>
                                      </m:sSub>
                                      <m:sSub>
                                        <m:sSubPr>
                                          <m:ctrlPr>
                                            <a:rPr lang="en-US" b="0" i="1" smtClean="0">
                                              <a:latin typeface="Cambria Math" panose="02040503050406030204" pitchFamily="18" charset="0"/>
                                            </a:rPr>
                                          </m:ctrlPr>
                                        </m:sSubPr>
                                        <m:e>
                                          <m:r>
                                            <a:rPr lang="en-US" b="0" i="1" smtClean="0">
                                              <a:latin typeface="Cambria Math" charset="0"/>
                                            </a:rPr>
                                            <m:t>𝜃</m:t>
                                          </m:r>
                                        </m:e>
                                        <m:sub>
                                          <m:r>
                                            <a:rPr lang="en-US" b="0" i="1" smtClean="0">
                                              <a:latin typeface="Cambria Math" charset="0"/>
                                            </a:rPr>
                                            <m:t>𝑠</m:t>
                                          </m:r>
                                        </m:sub>
                                      </m:sSub>
                                      <m:r>
                                        <a:rPr lang="en-US" b="0" i="1" smtClean="0">
                                          <a:latin typeface="Cambria Math" charset="0"/>
                                        </a:rPr>
                                        <m:t>+</m:t>
                                      </m:r>
                                      <m:sSub>
                                        <m:sSubPr>
                                          <m:ctrlPr>
                                            <a:rPr lang="en-US" b="0" i="1" smtClean="0">
                                              <a:latin typeface="Cambria Math" panose="02040503050406030204" pitchFamily="18" charset="0"/>
                                            </a:rPr>
                                          </m:ctrlPr>
                                        </m:sSubPr>
                                        <m:e>
                                          <m:r>
                                            <a:rPr lang="en-US" b="0" i="1" smtClean="0">
                                              <a:latin typeface="Cambria Math" charset="0"/>
                                            </a:rPr>
                                            <m:t>𝑐</m:t>
                                          </m:r>
                                        </m:e>
                                        <m:sub>
                                          <m:r>
                                            <a:rPr lang="en-US" b="0" i="1" smtClean="0">
                                              <a:latin typeface="Cambria Math" charset="0"/>
                                            </a:rPr>
                                            <m:t>𝑖𝑗</m:t>
                                          </m:r>
                                        </m:sub>
                                      </m:sSub>
                                    </m:e>
                                  </m:d>
                                </m:e>
                              </m:func>
                            </m:e>
                          </m:nary>
                        </m:den>
                      </m:f>
                    </m:oMath>
                  </m:oMathPara>
                </a14:m>
                <a:endParaRPr lang="en-US" dirty="0"/>
              </a:p>
              <a:p>
                <a:r>
                  <a:rPr lang="en-US" dirty="0"/>
                  <a:t>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𝑚</m:t>
                        </m:r>
                      </m:e>
                      <m:sub>
                        <m:r>
                          <a:rPr lang="en-US" b="0" i="1" smtClean="0">
                            <a:latin typeface="Cambria Math" charset="0"/>
                          </a:rPr>
                          <m:t>𝑖</m:t>
                        </m:r>
                      </m:sub>
                    </m:sSub>
                  </m:oMath>
                </a14:m>
                <a:r>
                  <a:rPr lang="en-US" dirty="0"/>
                  <a:t> is the highest category. Note that although the categories still have numeric values, those are just “codes” but not meant to imply ordering.</a:t>
                </a:r>
              </a:p>
              <a:p>
                <a:r>
                  <a:rPr lang="en-US" dirty="0"/>
                  <a:t>Bock’s original identification constraint was that the a’s and c’s </a:t>
                </a:r>
                <a:r>
                  <a:rPr lang="en-US" u="sng" dirty="0"/>
                  <a:t>within each item</a:t>
                </a:r>
                <a:r>
                  <a:rPr lang="en-US" dirty="0"/>
                  <a:t> had to sum to 0.</a:t>
                </a: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blipFill>
                <a:blip r:embed="rId2"/>
                <a:stretch>
                  <a:fillRect l="-1086" t="-3198" r="-965" b="-5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0B97A0ED-0713-854E-AE67-C1B678B4A72A}" type="slidenum">
              <a:rPr lang="en-US" smtClean="0"/>
              <a:t>2</a:t>
            </a:fld>
            <a:endParaRPr lang="en-US"/>
          </a:p>
        </p:txBody>
      </p:sp>
    </p:spTree>
    <p:extLst>
      <p:ext uri="{BB962C8B-B14F-4D97-AF65-F5344CB8AC3E}">
        <p14:creationId xmlns:p14="http://schemas.microsoft.com/office/powerpoint/2010/main" val="417965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D6A3D-9D6B-344C-8E1B-A8396B57034F}"/>
              </a:ext>
            </a:extLst>
          </p:cNvPr>
          <p:cNvSpPr>
            <a:spLocks noGrp="1"/>
          </p:cNvSpPr>
          <p:nvPr>
            <p:ph type="title"/>
          </p:nvPr>
        </p:nvSpPr>
        <p:spPr/>
        <p:txBody>
          <a:bodyPr/>
          <a:lstStyle/>
          <a:p>
            <a:r>
              <a:rPr lang="en-US"/>
              <a:t>Interpretation of NRM Parameters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A4B85EB-F481-334A-BD06-5A270F612BF2}"/>
                  </a:ext>
                </a:extLst>
              </p:cNvPr>
              <p:cNvSpPr>
                <a:spLocks noGrp="1"/>
              </p:cNvSpPr>
              <p:nvPr>
                <p:ph idx="1"/>
              </p:nvPr>
            </p:nvSpPr>
            <p:spPr/>
            <p:txBody>
              <a:bodyPr/>
              <a:lstStyle/>
              <a:p>
                <a:r>
                  <a:rPr lang="en-US" sz="2400"/>
                  <a:t>One of the worst things about this model is that the item category slope and intercept parameters are very hard to visualize and interpret.</a:t>
                </a:r>
              </a:p>
              <a:p>
                <a:r>
                  <a:rPr lang="en-US" sz="2400"/>
                  <a:t>So let’s start with a simpler scenario.</a:t>
                </a:r>
              </a:p>
              <a:p>
                <a:r>
                  <a:rPr lang="en-US" sz="2400"/>
                  <a:t>What if underlying each category there was some continuous value </a:t>
                </a:r>
                <a14:m>
                  <m:oMath xmlns:m="http://schemas.openxmlformats.org/officeDocument/2006/math">
                    <m:sSub>
                      <m:sSubPr>
                        <m:ctrlPr>
                          <a:rPr lang="en-US" sz="2400" b="0" i="1">
                            <a:latin typeface="Cambria Math" panose="02040503050406030204" pitchFamily="18" charset="0"/>
                          </a:rPr>
                        </m:ctrlPr>
                      </m:sSubPr>
                      <m:e>
                        <m:r>
                          <a:rPr lang="en-US" sz="2400" b="0" i="1">
                            <a:latin typeface="Cambria Math" panose="02040503050406030204" pitchFamily="18" charset="0"/>
                          </a:rPr>
                          <m:t>𝑧</m:t>
                        </m:r>
                      </m:e>
                      <m:sub>
                        <m:r>
                          <a:rPr lang="en-US" sz="2400" b="0" i="1">
                            <a:latin typeface="Cambria Math" panose="02040503050406030204" pitchFamily="18" charset="0"/>
                          </a:rPr>
                          <m:t>𝑘</m:t>
                        </m:r>
                      </m:sub>
                    </m:sSub>
                  </m:oMath>
                </a14:m>
                <a:endParaRPr lang="en-US" sz="2400"/>
              </a:p>
              <a:p>
                <a:r>
                  <a:rPr lang="en-US" sz="2400"/>
                  <a:t>z is a common variable each response category has a different linear relationship to it.</a:t>
                </a:r>
              </a:p>
              <a:p>
                <a:pPr marL="0" indent="0">
                  <a:buNone/>
                </a:pPr>
                <a:endParaRPr lang="en-US" b="0" i="1">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𝑧</m:t>
                          </m:r>
                        </m:e>
                        <m:sub>
                          <m:r>
                            <a:rPr lang="en-US" b="0" i="1">
                              <a:latin typeface="Cambria Math" panose="02040503050406030204" pitchFamily="18" charset="0"/>
                            </a:rPr>
                            <m:t>𝑘</m:t>
                          </m:r>
                        </m:sub>
                      </m:sSub>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𝑎</m:t>
                          </m:r>
                        </m:e>
                        <m:sub>
                          <m:r>
                            <a:rPr lang="en-US" b="0" i="1">
                              <a:latin typeface="Cambria Math" panose="02040503050406030204" pitchFamily="18" charset="0"/>
                            </a:rPr>
                            <m:t>𝑘</m:t>
                          </m:r>
                        </m:sub>
                      </m:sSub>
                      <m:r>
                        <a:rPr lang="en-US" b="0" i="1">
                          <a:latin typeface="Cambria Math" panose="02040503050406030204" pitchFamily="18" charset="0"/>
                        </a:rPr>
                        <m:t>𝜃</m:t>
                      </m:r>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𝑐</m:t>
                          </m:r>
                        </m:e>
                        <m:sub>
                          <m:r>
                            <a:rPr lang="en-US" b="0" i="1">
                              <a:latin typeface="Cambria Math" panose="02040503050406030204" pitchFamily="18" charset="0"/>
                            </a:rPr>
                            <m:t>𝑘</m:t>
                          </m:r>
                        </m:sub>
                      </m:sSub>
                    </m:oMath>
                  </m:oMathPara>
                </a14:m>
                <a:endParaRPr lang="en-US"/>
              </a:p>
            </p:txBody>
          </p:sp>
        </mc:Choice>
        <mc:Fallback xmlns="">
          <p:sp>
            <p:nvSpPr>
              <p:cNvPr id="3" name="Content Placeholder 2">
                <a:extLst>
                  <a:ext uri="{FF2B5EF4-FFF2-40B4-BE49-F238E27FC236}">
                    <a16:creationId xmlns:a16="http://schemas.microsoft.com/office/drawing/2014/main" id="{1A4B85EB-F481-334A-BD06-5A270F612BF2}"/>
                  </a:ext>
                </a:extLst>
              </p:cNvPr>
              <p:cNvSpPr>
                <a:spLocks noGrp="1" noRot="1" noChangeAspect="1" noMove="1" noResize="1" noEditPoints="1" noAdjustHandles="1" noChangeArrowheads="1" noChangeShapeType="1" noTextEdit="1"/>
              </p:cNvSpPr>
              <p:nvPr>
                <p:ph idx="1"/>
              </p:nvPr>
            </p:nvSpPr>
            <p:spPr>
              <a:blipFill>
                <a:blip r:embed="rId2"/>
                <a:stretch>
                  <a:fillRect l="-844" t="-1744"/>
                </a:stretch>
              </a:blipFill>
            </p:spPr>
            <p:txBody>
              <a:bodyPr/>
              <a:lstStyle/>
              <a:p>
                <a:r>
                  <a:rPr lang="en-US">
                    <a:noFill/>
                  </a:rPr>
                  <a:t> </a:t>
                </a:r>
              </a:p>
            </p:txBody>
          </p:sp>
        </mc:Fallback>
      </mc:AlternateContent>
      <p:pic>
        <p:nvPicPr>
          <p:cNvPr id="5" name="Picture 4" descr="A picture containing shape&#10;&#10;Description automatically generated">
            <a:extLst>
              <a:ext uri="{FF2B5EF4-FFF2-40B4-BE49-F238E27FC236}">
                <a16:creationId xmlns:a16="http://schemas.microsoft.com/office/drawing/2014/main" id="{FE53DC89-DE28-9342-BD94-C7CA008B0AD7}"/>
              </a:ext>
            </a:extLst>
          </p:cNvPr>
          <p:cNvPicPr>
            <a:picLocks noChangeAspect="1"/>
          </p:cNvPicPr>
          <p:nvPr/>
        </p:nvPicPr>
        <p:blipFill>
          <a:blip r:embed="rId3"/>
          <a:stretch>
            <a:fillRect/>
          </a:stretch>
        </p:blipFill>
        <p:spPr>
          <a:xfrm>
            <a:off x="3737927" y="4030663"/>
            <a:ext cx="3329231" cy="2827337"/>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1C5C53D-2782-104B-899F-5D1D72C550D2}"/>
                  </a:ext>
                </a:extLst>
              </p:cNvPr>
              <p:cNvSpPr txBox="1"/>
              <p:nvPr/>
            </p:nvSpPr>
            <p:spPr>
              <a:xfrm>
                <a:off x="7147168" y="4834890"/>
                <a:ext cx="3719905" cy="923330"/>
              </a:xfrm>
              <a:prstGeom prst="rect">
                <a:avLst/>
              </a:prstGeom>
              <a:noFill/>
            </p:spPr>
            <p:txBody>
              <a:bodyPr wrap="square" rtlCol="0">
                <a:spAutoFit/>
              </a:bodyPr>
              <a:lstStyle/>
              <a:p>
                <a:r>
                  <a:rPr lang="en-US"/>
                  <a:t>The steeper lines are the ones with larger a’s, the intercept c is just the value of z when </a:t>
                </a:r>
                <a14:m>
                  <m:oMath xmlns:m="http://schemas.openxmlformats.org/officeDocument/2006/math">
                    <m:r>
                      <a:rPr lang="en-US" b="0" i="1">
                        <a:latin typeface="Cambria Math" panose="02040503050406030204" pitchFamily="18" charset="0"/>
                      </a:rPr>
                      <m:t>𝜃</m:t>
                    </m:r>
                    <m:r>
                      <a:rPr lang="en-US" b="0" i="1">
                        <a:latin typeface="Cambria Math" panose="02040503050406030204" pitchFamily="18" charset="0"/>
                      </a:rPr>
                      <m:t>=0.</m:t>
                    </m:r>
                  </m:oMath>
                </a14:m>
                <a:endParaRPr lang="en-US"/>
              </a:p>
            </p:txBody>
          </p:sp>
        </mc:Choice>
        <mc:Fallback xmlns="">
          <p:sp>
            <p:nvSpPr>
              <p:cNvPr id="6" name="TextBox 5">
                <a:extLst>
                  <a:ext uri="{FF2B5EF4-FFF2-40B4-BE49-F238E27FC236}">
                    <a16:creationId xmlns:a16="http://schemas.microsoft.com/office/drawing/2014/main" id="{D1C5C53D-2782-104B-899F-5D1D72C550D2}"/>
                  </a:ext>
                </a:extLst>
              </p:cNvPr>
              <p:cNvSpPr txBox="1">
                <a:spLocks noRot="1" noChangeAspect="1" noMove="1" noResize="1" noEditPoints="1" noAdjustHandles="1" noChangeArrowheads="1" noChangeShapeType="1" noTextEdit="1"/>
              </p:cNvSpPr>
              <p:nvPr/>
            </p:nvSpPr>
            <p:spPr>
              <a:xfrm>
                <a:off x="7147168" y="4834890"/>
                <a:ext cx="3719905" cy="923330"/>
              </a:xfrm>
              <a:prstGeom prst="rect">
                <a:avLst/>
              </a:prstGeom>
              <a:blipFill>
                <a:blip r:embed="rId4"/>
                <a:stretch>
                  <a:fillRect l="-1361" t="-2703" b="-9459"/>
                </a:stretch>
              </a:blipFill>
            </p:spPr>
            <p:txBody>
              <a:bodyPr/>
              <a:lstStyle/>
              <a:p>
                <a:r>
                  <a:rPr lang="en-US">
                    <a:noFill/>
                  </a:rPr>
                  <a:t> </a:t>
                </a:r>
              </a:p>
            </p:txBody>
          </p:sp>
        </mc:Fallback>
      </mc:AlternateContent>
    </p:spTree>
    <p:extLst>
      <p:ext uri="{BB962C8B-B14F-4D97-AF65-F5344CB8AC3E}">
        <p14:creationId xmlns:p14="http://schemas.microsoft.com/office/powerpoint/2010/main" val="3987901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B0304-767D-2148-9D38-0BAF1D8BA787}"/>
              </a:ext>
            </a:extLst>
          </p:cNvPr>
          <p:cNvSpPr>
            <a:spLocks noGrp="1"/>
          </p:cNvSpPr>
          <p:nvPr>
            <p:ph type="title"/>
          </p:nvPr>
        </p:nvSpPr>
        <p:spPr/>
        <p:txBody>
          <a:bodyPr/>
          <a:lstStyle/>
          <a:p>
            <a:r>
              <a:rPr lang="en-US"/>
              <a:t>Multivariate link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84BEF53-529B-5D41-9B14-3383E2A3B3F3}"/>
                  </a:ext>
                </a:extLst>
              </p:cNvPr>
              <p:cNvSpPr>
                <a:spLocks noGrp="1"/>
              </p:cNvSpPr>
              <p:nvPr>
                <p:ph idx="1"/>
              </p:nvPr>
            </p:nvSpPr>
            <p:spPr/>
            <p:txBody>
              <a:bodyPr>
                <a:normAutofit lnSpcReduction="10000"/>
              </a:bodyPr>
              <a:lstStyle/>
              <a:p>
                <a:pPr marL="0" indent="0">
                  <a:buNone/>
                </a:pPr>
                <a:r>
                  <a:rPr lang="en-US" sz="2400"/>
                  <a:t>Here is how Thissen et al (2010, 48) explain what happens next</a:t>
                </a:r>
              </a:p>
              <a:p>
                <a:pPr marL="0" indent="0">
                  <a:buNone/>
                </a:pPr>
                <a:endParaRPr lang="en-US" sz="2400"/>
              </a:p>
              <a:p>
                <a:pPr marL="0" indent="0">
                  <a:buNone/>
                </a:pPr>
                <a:r>
                  <a:rPr lang="en-US" sz="2400"/>
                  <a:t>To change those straight lines into a model that yields probabilities (between 0 and 1) for each response, as functions of </a:t>
                </a:r>
                <a14:m>
                  <m:oMath xmlns:m="http://schemas.openxmlformats.org/officeDocument/2006/math">
                    <m:r>
                      <a:rPr lang="en-US" sz="2400" b="0" i="1">
                        <a:latin typeface="Cambria Math" panose="02040503050406030204" pitchFamily="18" charset="0"/>
                      </a:rPr>
                      <m:t>𝜃</m:t>
                    </m:r>
                  </m:oMath>
                </a14:m>
                <a:r>
                  <a:rPr lang="en-US" sz="2400"/>
                  <a:t>, we use the so-called multivariate logistic link function</a:t>
                </a:r>
              </a:p>
              <a:p>
                <a:pPr marL="0" indent="0" algn="ctr">
                  <a:buNone/>
                </a:pPr>
                <a14:m>
                  <m:oMath xmlns:m="http://schemas.openxmlformats.org/officeDocument/2006/math">
                    <m:f>
                      <m:fPr>
                        <m:ctrlPr>
                          <a:rPr lang="en-US" sz="3200" i="1">
                            <a:latin typeface="Cambria Math" panose="02040503050406030204" pitchFamily="18" charset="0"/>
                          </a:rPr>
                        </m:ctrlPr>
                      </m:fPr>
                      <m:num>
                        <m:func>
                          <m:funcPr>
                            <m:ctrlPr>
                              <a:rPr lang="en-US" sz="3200" b="0" i="1">
                                <a:latin typeface="Cambria Math" panose="02040503050406030204" pitchFamily="18" charset="0"/>
                              </a:rPr>
                            </m:ctrlPr>
                          </m:funcPr>
                          <m:fName>
                            <m:r>
                              <m:rPr>
                                <m:sty m:val="p"/>
                              </m:rPr>
                              <a:rPr lang="en-US" sz="3200" b="0" i="0">
                                <a:latin typeface="Cambria Math" panose="02040503050406030204" pitchFamily="18" charset="0"/>
                              </a:rPr>
                              <m:t>exp</m:t>
                            </m:r>
                          </m:fName>
                          <m:e>
                            <m:d>
                              <m:dPr>
                                <m:ctrlPr>
                                  <a:rPr lang="en-US" sz="3200" b="0" i="1">
                                    <a:latin typeface="Cambria Math" panose="02040503050406030204" pitchFamily="18" charset="0"/>
                                  </a:rPr>
                                </m:ctrlPr>
                              </m:dPr>
                              <m:e>
                                <m:sSub>
                                  <m:sSubPr>
                                    <m:ctrlPr>
                                      <a:rPr lang="en-US" sz="3200" b="0" i="1">
                                        <a:latin typeface="Cambria Math" panose="02040503050406030204" pitchFamily="18" charset="0"/>
                                      </a:rPr>
                                    </m:ctrlPr>
                                  </m:sSubPr>
                                  <m:e>
                                    <m:r>
                                      <a:rPr lang="en-US" sz="3200" b="0" i="1">
                                        <a:latin typeface="Cambria Math" panose="02040503050406030204" pitchFamily="18" charset="0"/>
                                      </a:rPr>
                                      <m:t>𝑧</m:t>
                                    </m:r>
                                  </m:e>
                                  <m:sub>
                                    <m:r>
                                      <a:rPr lang="en-US" sz="3200" b="0" i="1">
                                        <a:latin typeface="Cambria Math" panose="02040503050406030204" pitchFamily="18" charset="0"/>
                                      </a:rPr>
                                      <m:t>𝑘</m:t>
                                    </m:r>
                                  </m:sub>
                                </m:sSub>
                              </m:e>
                            </m:d>
                          </m:e>
                        </m:func>
                      </m:num>
                      <m:den>
                        <m:nary>
                          <m:naryPr>
                            <m:chr m:val="∑"/>
                            <m:supHide m:val="on"/>
                            <m:ctrlPr>
                              <a:rPr lang="en-US" sz="3200" i="1">
                                <a:latin typeface="Cambria Math" panose="02040503050406030204" pitchFamily="18" charset="0"/>
                              </a:rPr>
                            </m:ctrlPr>
                          </m:naryPr>
                          <m:sub>
                            <m:r>
                              <m:rPr>
                                <m:brk m:alnAt="7"/>
                              </m:rPr>
                              <a:rPr lang="en-US" sz="3200" b="0" i="1">
                                <a:latin typeface="Cambria Math" panose="02040503050406030204" pitchFamily="18" charset="0"/>
                              </a:rPr>
                              <m:t>𝑖</m:t>
                            </m:r>
                          </m:sub>
                          <m:sup/>
                          <m:e>
                            <m:r>
                              <m:rPr>
                                <m:sty m:val="p"/>
                              </m:rPr>
                              <a:rPr lang="en-US" sz="3200" b="0" i="0">
                                <a:latin typeface="Cambria Math" panose="02040503050406030204" pitchFamily="18" charset="0"/>
                              </a:rPr>
                              <m:t>exp</m:t>
                            </m:r>
                            <m:r>
                              <a:rPr lang="en-US" sz="3200" b="0" i="1">
                                <a:latin typeface="Cambria Math" panose="02040503050406030204" pitchFamily="18" charset="0"/>
                              </a:rPr>
                              <m:t>⁡(</m:t>
                            </m:r>
                            <m:sSub>
                              <m:sSubPr>
                                <m:ctrlPr>
                                  <a:rPr lang="en-US" sz="3200" b="0" i="1">
                                    <a:latin typeface="Cambria Math" panose="02040503050406030204" pitchFamily="18" charset="0"/>
                                  </a:rPr>
                                </m:ctrlPr>
                              </m:sSubPr>
                              <m:e>
                                <m:r>
                                  <a:rPr lang="en-US" sz="3200" b="0" i="1">
                                    <a:latin typeface="Cambria Math" panose="02040503050406030204" pitchFamily="18" charset="0"/>
                                  </a:rPr>
                                  <m:t>𝑧</m:t>
                                </m:r>
                              </m:e>
                              <m:sub>
                                <m:r>
                                  <a:rPr lang="en-US" sz="3200" b="0" i="1">
                                    <a:latin typeface="Cambria Math" panose="02040503050406030204" pitchFamily="18" charset="0"/>
                                  </a:rPr>
                                  <m:t>𝑖</m:t>
                                </m:r>
                              </m:sub>
                            </m:sSub>
                            <m:r>
                              <a:rPr lang="en-US" sz="3200" b="0" i="1">
                                <a:latin typeface="Cambria Math" panose="02040503050406030204" pitchFamily="18" charset="0"/>
                              </a:rPr>
                              <m:t>)</m:t>
                            </m:r>
                          </m:e>
                        </m:nary>
                      </m:den>
                    </m:f>
                  </m:oMath>
                </a14:m>
                <a:r>
                  <a:rPr lang="en-US" sz="3200"/>
                  <a:t> </a:t>
                </a:r>
              </a:p>
              <a:p>
                <a:pPr marL="0" indent="0">
                  <a:buNone/>
                </a:pPr>
                <a:r>
                  <a:rPr lang="en-US" sz="2400"/>
                  <a:t>The function is often used in statistical models to transform a linear model into a probability model for categorical data. Exponentiation for the valies of z_k makes them all positive, and then division of each of those positive line values by the sum of all of them is guaranteed to transform the straight lines into curves (expressed relative to a probability metric on y-axis).</a:t>
                </a:r>
              </a:p>
            </p:txBody>
          </p:sp>
        </mc:Choice>
        <mc:Fallback xmlns="">
          <p:sp>
            <p:nvSpPr>
              <p:cNvPr id="3" name="Content Placeholder 2">
                <a:extLst>
                  <a:ext uri="{FF2B5EF4-FFF2-40B4-BE49-F238E27FC236}">
                    <a16:creationId xmlns:a16="http://schemas.microsoft.com/office/drawing/2014/main" id="{384BEF53-529B-5D41-9B14-3383E2A3B3F3}"/>
                  </a:ext>
                </a:extLst>
              </p:cNvPr>
              <p:cNvSpPr>
                <a:spLocks noGrp="1" noRot="1" noChangeAspect="1" noMove="1" noResize="1" noEditPoints="1" noAdjustHandles="1" noChangeArrowheads="1" noChangeShapeType="1" noTextEdit="1"/>
              </p:cNvSpPr>
              <p:nvPr>
                <p:ph idx="1"/>
              </p:nvPr>
            </p:nvSpPr>
            <p:spPr>
              <a:blipFill>
                <a:blip r:embed="rId2"/>
                <a:stretch>
                  <a:fillRect l="-965" t="-2616" r="-603"/>
                </a:stretch>
              </a:blipFill>
            </p:spPr>
            <p:txBody>
              <a:bodyPr/>
              <a:lstStyle/>
              <a:p>
                <a:r>
                  <a:rPr lang="en-US">
                    <a:noFill/>
                  </a:rPr>
                  <a:t> </a:t>
                </a:r>
              </a:p>
            </p:txBody>
          </p:sp>
        </mc:Fallback>
      </mc:AlternateContent>
    </p:spTree>
    <p:extLst>
      <p:ext uri="{BB962C8B-B14F-4D97-AF65-F5344CB8AC3E}">
        <p14:creationId xmlns:p14="http://schemas.microsoft.com/office/powerpoint/2010/main" val="3066583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57F0B-D692-A748-9AA3-3BA69B107D46}"/>
              </a:ext>
            </a:extLst>
          </p:cNvPr>
          <p:cNvSpPr>
            <a:spLocks noGrp="1"/>
          </p:cNvSpPr>
          <p:nvPr>
            <p:ph type="title"/>
          </p:nvPr>
        </p:nvSpPr>
        <p:spPr/>
        <p:txBody>
          <a:bodyPr/>
          <a:lstStyle/>
          <a:p>
            <a:r>
              <a:rPr lang="en-US"/>
              <a:t>The new visualization</a:t>
            </a:r>
          </a:p>
        </p:txBody>
      </p:sp>
      <p:pic>
        <p:nvPicPr>
          <p:cNvPr id="5" name="Content Placeholder 4" descr="Diagram&#10;&#10;Description automatically generated">
            <a:extLst>
              <a:ext uri="{FF2B5EF4-FFF2-40B4-BE49-F238E27FC236}">
                <a16:creationId xmlns:a16="http://schemas.microsoft.com/office/drawing/2014/main" id="{BE99C142-52A6-6D4B-9974-6F9B41E76026}"/>
              </a:ext>
            </a:extLst>
          </p:cNvPr>
          <p:cNvPicPr>
            <a:picLocks noGrp="1" noChangeAspect="1"/>
          </p:cNvPicPr>
          <p:nvPr>
            <p:ph idx="1"/>
          </p:nvPr>
        </p:nvPicPr>
        <p:blipFill>
          <a:blip r:embed="rId2"/>
          <a:stretch>
            <a:fillRect/>
          </a:stretch>
        </p:blipFill>
        <p:spPr>
          <a:xfrm>
            <a:off x="460109" y="1847849"/>
            <a:ext cx="10893691" cy="4645026"/>
          </a:xfrm>
        </p:spPr>
      </p:pic>
      <p:sp>
        <p:nvSpPr>
          <p:cNvPr id="6" name="TextBox 5">
            <a:extLst>
              <a:ext uri="{FF2B5EF4-FFF2-40B4-BE49-F238E27FC236}">
                <a16:creationId xmlns:a16="http://schemas.microsoft.com/office/drawing/2014/main" id="{C437957F-95F1-C84D-BB9D-3B000B5FFB3F}"/>
              </a:ext>
            </a:extLst>
          </p:cNvPr>
          <p:cNvSpPr txBox="1"/>
          <p:nvPr/>
        </p:nvSpPr>
        <p:spPr>
          <a:xfrm>
            <a:off x="460109" y="3071813"/>
            <a:ext cx="1525854" cy="1200329"/>
          </a:xfrm>
          <a:prstGeom prst="rect">
            <a:avLst/>
          </a:prstGeom>
          <a:noFill/>
        </p:spPr>
        <p:txBody>
          <a:bodyPr wrap="square" rtlCol="0">
            <a:spAutoFit/>
          </a:bodyPr>
          <a:lstStyle/>
          <a:p>
            <a:r>
              <a:rPr lang="en-US"/>
              <a:t>Here the a’s and c’s are easy to interpret</a:t>
            </a:r>
          </a:p>
        </p:txBody>
      </p:sp>
      <p:sp>
        <p:nvSpPr>
          <p:cNvPr id="7" name="TextBox 6">
            <a:extLst>
              <a:ext uri="{FF2B5EF4-FFF2-40B4-BE49-F238E27FC236}">
                <a16:creationId xmlns:a16="http://schemas.microsoft.com/office/drawing/2014/main" id="{7EC62819-CDF5-4D45-AD7D-991783FFDD7F}"/>
              </a:ext>
            </a:extLst>
          </p:cNvPr>
          <p:cNvSpPr txBox="1"/>
          <p:nvPr/>
        </p:nvSpPr>
        <p:spPr>
          <a:xfrm>
            <a:off x="9313597" y="2970033"/>
            <a:ext cx="1525854" cy="646331"/>
          </a:xfrm>
          <a:prstGeom prst="rect">
            <a:avLst/>
          </a:prstGeom>
          <a:noFill/>
        </p:spPr>
        <p:txBody>
          <a:bodyPr wrap="square" rtlCol="0">
            <a:spAutoFit/>
          </a:bodyPr>
          <a:lstStyle/>
          <a:p>
            <a:r>
              <a:rPr lang="en-US"/>
              <a:t>Here they are not!</a:t>
            </a:r>
          </a:p>
        </p:txBody>
      </p:sp>
    </p:spTree>
    <p:extLst>
      <p:ext uri="{BB962C8B-B14F-4D97-AF65-F5344CB8AC3E}">
        <p14:creationId xmlns:p14="http://schemas.microsoft.com/office/powerpoint/2010/main" val="3367848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A78E5-1FFD-AB4F-9178-E91E6E0E374B}"/>
              </a:ext>
            </a:extLst>
          </p:cNvPr>
          <p:cNvSpPr>
            <a:spLocks noGrp="1"/>
          </p:cNvSpPr>
          <p:nvPr>
            <p:ph type="title"/>
          </p:nvPr>
        </p:nvSpPr>
        <p:spPr/>
        <p:txBody>
          <a:bodyPr/>
          <a:lstStyle/>
          <a:p>
            <a:r>
              <a:rPr lang="en-US"/>
              <a:t>Some Helpful Examples</a:t>
            </a:r>
          </a:p>
        </p:txBody>
      </p:sp>
      <p:pic>
        <p:nvPicPr>
          <p:cNvPr id="7" name="Content Placeholder 6" descr="Engineering drawing, polygon&#10;&#10;Description automatically generated">
            <a:extLst>
              <a:ext uri="{FF2B5EF4-FFF2-40B4-BE49-F238E27FC236}">
                <a16:creationId xmlns:a16="http://schemas.microsoft.com/office/drawing/2014/main" id="{97A6AFE3-A91F-E148-B118-C1A17FF0A51A}"/>
              </a:ext>
            </a:extLst>
          </p:cNvPr>
          <p:cNvPicPr>
            <a:picLocks noGrp="1" noChangeAspect="1"/>
          </p:cNvPicPr>
          <p:nvPr>
            <p:ph sz="half" idx="1"/>
          </p:nvPr>
        </p:nvPicPr>
        <p:blipFill>
          <a:blip r:embed="rId2"/>
          <a:stretch>
            <a:fillRect/>
          </a:stretch>
        </p:blipFill>
        <p:spPr>
          <a:xfrm>
            <a:off x="703278" y="1425575"/>
            <a:ext cx="5165694" cy="4351338"/>
          </a:xfrm>
        </p:spPr>
      </p:pic>
      <p:pic>
        <p:nvPicPr>
          <p:cNvPr id="9" name="Content Placeholder 8" descr="Table&#10;&#10;Description automatically generated">
            <a:extLst>
              <a:ext uri="{FF2B5EF4-FFF2-40B4-BE49-F238E27FC236}">
                <a16:creationId xmlns:a16="http://schemas.microsoft.com/office/drawing/2014/main" id="{DF6F40C5-608A-CA46-A94D-47BA646E84C5}"/>
              </a:ext>
            </a:extLst>
          </p:cNvPr>
          <p:cNvPicPr>
            <a:picLocks noGrp="1" noChangeAspect="1"/>
          </p:cNvPicPr>
          <p:nvPr>
            <p:ph sz="half" idx="2"/>
          </p:nvPr>
        </p:nvPicPr>
        <p:blipFill>
          <a:blip r:embed="rId3"/>
          <a:stretch>
            <a:fillRect/>
          </a:stretch>
        </p:blipFill>
        <p:spPr>
          <a:xfrm>
            <a:off x="5868972" y="1429088"/>
            <a:ext cx="6192637" cy="2349324"/>
          </a:xfrm>
        </p:spPr>
      </p:pic>
      <p:sp>
        <p:nvSpPr>
          <p:cNvPr id="10" name="TextBox 9">
            <a:extLst>
              <a:ext uri="{FF2B5EF4-FFF2-40B4-BE49-F238E27FC236}">
                <a16:creationId xmlns:a16="http://schemas.microsoft.com/office/drawing/2014/main" id="{747AB56B-0493-004D-B0D8-D57ACAD387C7}"/>
              </a:ext>
            </a:extLst>
          </p:cNvPr>
          <p:cNvSpPr txBox="1"/>
          <p:nvPr/>
        </p:nvSpPr>
        <p:spPr>
          <a:xfrm>
            <a:off x="567954" y="6169709"/>
            <a:ext cx="10119096" cy="646331"/>
          </a:xfrm>
          <a:prstGeom prst="rect">
            <a:avLst/>
          </a:prstGeom>
          <a:noFill/>
        </p:spPr>
        <p:txBody>
          <a:bodyPr wrap="square" rtlCol="0">
            <a:spAutoFit/>
          </a:bodyPr>
          <a:lstStyle/>
          <a:p>
            <a:r>
              <a:rPr lang="en-US"/>
              <a:t>Note that in this example the locations of the a’s and c’s are being identified by setting the lowest category a and c to be 0. (This is actually not what happens in mirt)</a:t>
            </a:r>
          </a:p>
        </p:txBody>
      </p:sp>
      <p:sp>
        <p:nvSpPr>
          <p:cNvPr id="11" name="TextBox 10">
            <a:extLst>
              <a:ext uri="{FF2B5EF4-FFF2-40B4-BE49-F238E27FC236}">
                <a16:creationId xmlns:a16="http://schemas.microsoft.com/office/drawing/2014/main" id="{3D8C7B39-E60E-CF44-99F7-98062036C844}"/>
              </a:ext>
            </a:extLst>
          </p:cNvPr>
          <p:cNvSpPr txBox="1"/>
          <p:nvPr/>
        </p:nvSpPr>
        <p:spPr>
          <a:xfrm>
            <a:off x="5868972" y="3778412"/>
            <a:ext cx="5634038" cy="2031325"/>
          </a:xfrm>
          <a:prstGeom prst="rect">
            <a:avLst/>
          </a:prstGeom>
          <a:noFill/>
        </p:spPr>
        <p:txBody>
          <a:bodyPr wrap="square" rtlCol="0">
            <a:spAutoFit/>
          </a:bodyPr>
          <a:lstStyle/>
          <a:p>
            <a:r>
              <a:rPr lang="en-US"/>
              <a:t>The only clear interpretation is that the order of the a’s tells you something about both the order and weight to be given in each category. The lowest/highest a values will be monotonically decreasing /increasing along theta. The categories with a’s in between will have curves with one one distinct peak. Location of peak can be predicted by order of the a’s. </a:t>
            </a:r>
          </a:p>
        </p:txBody>
      </p:sp>
    </p:spTree>
    <p:extLst>
      <p:ext uri="{BB962C8B-B14F-4D97-AF65-F5344CB8AC3E}">
        <p14:creationId xmlns:p14="http://schemas.microsoft.com/office/powerpoint/2010/main" val="3966660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74C8C-3165-E24B-AAC1-71B29A4C4F27}"/>
              </a:ext>
            </a:extLst>
          </p:cNvPr>
          <p:cNvSpPr>
            <a:spLocks noGrp="1"/>
          </p:cNvSpPr>
          <p:nvPr>
            <p:ph type="title"/>
          </p:nvPr>
        </p:nvSpPr>
        <p:spPr/>
        <p:txBody>
          <a:bodyPr/>
          <a:lstStyle/>
          <a:p>
            <a:r>
              <a:rPr lang="en-US"/>
              <a:t>Expressing NRM parameters relative to adjacent categories. </a:t>
            </a:r>
          </a:p>
        </p:txBody>
      </p:sp>
      <p:sp>
        <p:nvSpPr>
          <p:cNvPr id="6" name="Content Placeholder 5">
            <a:extLst>
              <a:ext uri="{FF2B5EF4-FFF2-40B4-BE49-F238E27FC236}">
                <a16:creationId xmlns:a16="http://schemas.microsoft.com/office/drawing/2014/main" id="{477DE8D0-9549-C34C-B14B-BCD393E1CBF5}"/>
              </a:ext>
            </a:extLst>
          </p:cNvPr>
          <p:cNvSpPr>
            <a:spLocks noGrp="1"/>
          </p:cNvSpPr>
          <p:nvPr>
            <p:ph idx="1"/>
          </p:nvPr>
        </p:nvSpPr>
        <p:spPr/>
        <p:txBody>
          <a:bodyPr/>
          <a:lstStyle/>
          <a:p>
            <a:r>
              <a:rPr lang="en-US"/>
              <a:t>One you have some idea for order based on a’s, with some work, you can re-express the a and c parameters in terms of the locations of Andrich thresholds and the discrimination at these thresholds.</a:t>
            </a:r>
          </a:p>
        </p:txBody>
      </p:sp>
      <p:pic>
        <p:nvPicPr>
          <p:cNvPr id="8" name="Picture 7" descr="Diagram, schematic&#10;&#10;Description automatically generated">
            <a:extLst>
              <a:ext uri="{FF2B5EF4-FFF2-40B4-BE49-F238E27FC236}">
                <a16:creationId xmlns:a16="http://schemas.microsoft.com/office/drawing/2014/main" id="{2938A41C-ED02-F642-B440-CF19E38F9566}"/>
              </a:ext>
            </a:extLst>
          </p:cNvPr>
          <p:cNvPicPr>
            <a:picLocks noChangeAspect="1"/>
          </p:cNvPicPr>
          <p:nvPr/>
        </p:nvPicPr>
        <p:blipFill>
          <a:blip r:embed="rId2"/>
          <a:stretch>
            <a:fillRect/>
          </a:stretch>
        </p:blipFill>
        <p:spPr>
          <a:xfrm>
            <a:off x="838200" y="3114675"/>
            <a:ext cx="9347181" cy="3197225"/>
          </a:xfrm>
          <a:prstGeom prst="rect">
            <a:avLst/>
          </a:prstGeom>
        </p:spPr>
      </p:pic>
    </p:spTree>
    <p:extLst>
      <p:ext uri="{BB962C8B-B14F-4D97-AF65-F5344CB8AC3E}">
        <p14:creationId xmlns:p14="http://schemas.microsoft.com/office/powerpoint/2010/main" val="1362352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FEDA0-5DDC-D746-B2E4-0F1499669E0B}"/>
              </a:ext>
            </a:extLst>
          </p:cNvPr>
          <p:cNvSpPr>
            <a:spLocks noGrp="1"/>
          </p:cNvSpPr>
          <p:nvPr>
            <p:ph type="title"/>
          </p:nvPr>
        </p:nvSpPr>
        <p:spPr/>
        <p:txBody>
          <a:bodyPr/>
          <a:lstStyle/>
          <a:p>
            <a:r>
              <a:rPr lang="en-US"/>
              <a:t>An Example Getting Andrich Parameters</a:t>
            </a:r>
          </a:p>
        </p:txBody>
      </p:sp>
      <p:pic>
        <p:nvPicPr>
          <p:cNvPr id="5" name="Content Placeholder 4" descr="Graphical user interface, chart&#10;&#10;Description automatically generated">
            <a:extLst>
              <a:ext uri="{FF2B5EF4-FFF2-40B4-BE49-F238E27FC236}">
                <a16:creationId xmlns:a16="http://schemas.microsoft.com/office/drawing/2014/main" id="{1C66BDF8-01C9-4044-90AE-CA66CB7D167F}"/>
              </a:ext>
            </a:extLst>
          </p:cNvPr>
          <p:cNvPicPr>
            <a:picLocks noGrp="1" noChangeAspect="1"/>
          </p:cNvPicPr>
          <p:nvPr>
            <p:ph idx="1"/>
          </p:nvPr>
        </p:nvPicPr>
        <p:blipFill>
          <a:blip r:embed="rId2"/>
          <a:stretch>
            <a:fillRect/>
          </a:stretch>
        </p:blipFill>
        <p:spPr>
          <a:xfrm>
            <a:off x="1201898" y="1825625"/>
            <a:ext cx="7787954" cy="4351338"/>
          </a:xfr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9BAA71F-B862-8F42-8A32-2894C1B1D5B1}"/>
                  </a:ext>
                </a:extLst>
              </p:cNvPr>
              <p:cNvSpPr txBox="1"/>
              <p:nvPr/>
            </p:nvSpPr>
            <p:spPr>
              <a:xfrm>
                <a:off x="8909842" y="3094453"/>
                <a:ext cx="2668748" cy="6690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b="0" i="1">
                              <a:latin typeface="Cambria Math" panose="02040503050406030204" pitchFamily="18" charset="0"/>
                            </a:rPr>
                            <m:t>.37−(−.26)</m:t>
                          </m:r>
                        </m:num>
                        <m:den>
                          <m:r>
                            <a:rPr lang="en-US" b="0" i="1">
                              <a:latin typeface="Cambria Math" panose="02040503050406030204" pitchFamily="18" charset="0"/>
                            </a:rPr>
                            <m:t>−.56−(−.97)</m:t>
                          </m:r>
                        </m:den>
                      </m:f>
                      <m:r>
                        <a:rPr lang="en-US" b="0" i="1">
                          <a:latin typeface="Cambria Math" panose="02040503050406030204" pitchFamily="18" charset="0"/>
                        </a:rPr>
                        <m:t>=1.53</m:t>
                      </m:r>
                    </m:oMath>
                  </m:oMathPara>
                </a14:m>
                <a:endParaRPr lang="en-US"/>
              </a:p>
            </p:txBody>
          </p:sp>
        </mc:Choice>
        <mc:Fallback xmlns="">
          <p:sp>
            <p:nvSpPr>
              <p:cNvPr id="6" name="TextBox 5">
                <a:extLst>
                  <a:ext uri="{FF2B5EF4-FFF2-40B4-BE49-F238E27FC236}">
                    <a16:creationId xmlns:a16="http://schemas.microsoft.com/office/drawing/2014/main" id="{89BAA71F-B862-8F42-8A32-2894C1B1D5B1}"/>
                  </a:ext>
                </a:extLst>
              </p:cNvPr>
              <p:cNvSpPr txBox="1">
                <a:spLocks noRot="1" noChangeAspect="1" noMove="1" noResize="1" noEditPoints="1" noAdjustHandles="1" noChangeArrowheads="1" noChangeShapeType="1" noTextEdit="1"/>
              </p:cNvSpPr>
              <p:nvPr/>
            </p:nvSpPr>
            <p:spPr>
              <a:xfrm>
                <a:off x="8909842" y="3094453"/>
                <a:ext cx="2668748" cy="669094"/>
              </a:xfrm>
              <a:prstGeom prst="rect">
                <a:avLst/>
              </a:prstGeom>
              <a:blipFill>
                <a:blip r:embed="rId3"/>
                <a:stretch>
                  <a:fillRect b="-7407"/>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34C5B6B7-CFB5-764B-B9B0-CB8778154CD1}"/>
              </a:ext>
            </a:extLst>
          </p:cNvPr>
          <p:cNvSpPr txBox="1"/>
          <p:nvPr/>
        </p:nvSpPr>
        <p:spPr>
          <a:xfrm>
            <a:off x="9102247" y="4149090"/>
            <a:ext cx="2363948" cy="1477328"/>
          </a:xfrm>
          <a:prstGeom prst="rect">
            <a:avLst/>
          </a:prstGeom>
          <a:noFill/>
        </p:spPr>
        <p:txBody>
          <a:bodyPr wrap="square" rtlCol="0">
            <a:spAutoFit/>
          </a:bodyPr>
          <a:lstStyle/>
          <a:p>
            <a:r>
              <a:rPr lang="en-US"/>
              <a:t>The location where a person has a 50% chance at responding in category 1 vs 2 is 1.53 logits</a:t>
            </a:r>
          </a:p>
        </p:txBody>
      </p:sp>
    </p:spTree>
    <p:extLst>
      <p:ext uri="{BB962C8B-B14F-4D97-AF65-F5344CB8AC3E}">
        <p14:creationId xmlns:p14="http://schemas.microsoft.com/office/powerpoint/2010/main" val="974672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A1137-412C-284A-B685-0122DE664C39}"/>
              </a:ext>
            </a:extLst>
          </p:cNvPr>
          <p:cNvSpPr>
            <a:spLocks noGrp="1"/>
          </p:cNvSpPr>
          <p:nvPr>
            <p:ph type="title"/>
          </p:nvPr>
        </p:nvSpPr>
        <p:spPr/>
        <p:txBody>
          <a:bodyPr/>
          <a:lstStyle/>
          <a:p>
            <a:r>
              <a:rPr lang="en-US"/>
              <a:t>A New NRM Parameterization</a:t>
            </a:r>
          </a:p>
        </p:txBody>
      </p:sp>
      <p:pic>
        <p:nvPicPr>
          <p:cNvPr id="5" name="Content Placeholder 4" descr="Text, letter&#10;&#10;Description automatically generated">
            <a:extLst>
              <a:ext uri="{FF2B5EF4-FFF2-40B4-BE49-F238E27FC236}">
                <a16:creationId xmlns:a16="http://schemas.microsoft.com/office/drawing/2014/main" id="{B639B801-17CE-F840-8B07-53F078E6712A}"/>
              </a:ext>
            </a:extLst>
          </p:cNvPr>
          <p:cNvPicPr>
            <a:picLocks noGrp="1" noChangeAspect="1"/>
          </p:cNvPicPr>
          <p:nvPr>
            <p:ph idx="1"/>
          </p:nvPr>
        </p:nvPicPr>
        <p:blipFill>
          <a:blip r:embed="rId2"/>
          <a:stretch>
            <a:fillRect/>
          </a:stretch>
        </p:blipFill>
        <p:spPr>
          <a:xfrm>
            <a:off x="432752" y="2114549"/>
            <a:ext cx="7453948" cy="3495439"/>
          </a:xfrm>
        </p:spPr>
      </p:pic>
      <p:sp>
        <p:nvSpPr>
          <p:cNvPr id="6" name="TextBox 5">
            <a:extLst>
              <a:ext uri="{FF2B5EF4-FFF2-40B4-BE49-F238E27FC236}">
                <a16:creationId xmlns:a16="http://schemas.microsoft.com/office/drawing/2014/main" id="{CBDA9C8A-749F-3F4E-A975-F3DECB598796}"/>
              </a:ext>
            </a:extLst>
          </p:cNvPr>
          <p:cNvSpPr txBox="1"/>
          <p:nvPr/>
        </p:nvSpPr>
        <p:spPr>
          <a:xfrm>
            <a:off x="8281987" y="2343151"/>
            <a:ext cx="3228975" cy="3416320"/>
          </a:xfrm>
          <a:prstGeom prst="rect">
            <a:avLst/>
          </a:prstGeom>
          <a:noFill/>
        </p:spPr>
        <p:txBody>
          <a:bodyPr wrap="square" rtlCol="0">
            <a:spAutoFit/>
          </a:bodyPr>
          <a:lstStyle/>
          <a:p>
            <a:r>
              <a:rPr lang="en-US"/>
              <a:t>This is the default parameterization for the nrm used in mirt. What it accomplishes is that it separates an overall discrimination for the item (a_i) from the empirically derived weights or scores to be assigned to each category (a_k+1). To do this, two categories have to be selected as highest and lowest scored in advance.</a:t>
            </a:r>
          </a:p>
        </p:txBody>
      </p:sp>
    </p:spTree>
    <p:extLst>
      <p:ext uri="{BB962C8B-B14F-4D97-AF65-F5344CB8AC3E}">
        <p14:creationId xmlns:p14="http://schemas.microsoft.com/office/powerpoint/2010/main" val="3627988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A78E5-1FFD-AB4F-9178-E91E6E0E374B}"/>
              </a:ext>
            </a:extLst>
          </p:cNvPr>
          <p:cNvSpPr>
            <a:spLocks noGrp="1"/>
          </p:cNvSpPr>
          <p:nvPr>
            <p:ph type="title"/>
          </p:nvPr>
        </p:nvSpPr>
        <p:spPr/>
        <p:txBody>
          <a:bodyPr/>
          <a:lstStyle/>
          <a:p>
            <a:r>
              <a:rPr lang="en-US"/>
              <a:t>Comparing the two parameterizations</a:t>
            </a:r>
          </a:p>
        </p:txBody>
      </p:sp>
      <p:pic>
        <p:nvPicPr>
          <p:cNvPr id="7" name="Content Placeholder 6" descr="Engineering drawing, polygon&#10;&#10;Description automatically generated">
            <a:extLst>
              <a:ext uri="{FF2B5EF4-FFF2-40B4-BE49-F238E27FC236}">
                <a16:creationId xmlns:a16="http://schemas.microsoft.com/office/drawing/2014/main" id="{97A6AFE3-A91F-E148-B118-C1A17FF0A51A}"/>
              </a:ext>
            </a:extLst>
          </p:cNvPr>
          <p:cNvPicPr>
            <a:picLocks noGrp="1" noChangeAspect="1"/>
          </p:cNvPicPr>
          <p:nvPr>
            <p:ph sz="half" idx="1"/>
          </p:nvPr>
        </p:nvPicPr>
        <p:blipFill>
          <a:blip r:embed="rId2"/>
          <a:stretch>
            <a:fillRect/>
          </a:stretch>
        </p:blipFill>
        <p:spPr>
          <a:xfrm>
            <a:off x="703278" y="1425575"/>
            <a:ext cx="5165694" cy="4351338"/>
          </a:xfrm>
        </p:spPr>
      </p:pic>
      <p:pic>
        <p:nvPicPr>
          <p:cNvPr id="9" name="Content Placeholder 8" descr="Table&#10;&#10;Description automatically generated">
            <a:extLst>
              <a:ext uri="{FF2B5EF4-FFF2-40B4-BE49-F238E27FC236}">
                <a16:creationId xmlns:a16="http://schemas.microsoft.com/office/drawing/2014/main" id="{DF6F40C5-608A-CA46-A94D-47BA646E84C5}"/>
              </a:ext>
            </a:extLst>
          </p:cNvPr>
          <p:cNvPicPr>
            <a:picLocks noGrp="1" noChangeAspect="1"/>
          </p:cNvPicPr>
          <p:nvPr>
            <p:ph sz="half" idx="2"/>
          </p:nvPr>
        </p:nvPicPr>
        <p:blipFill>
          <a:blip r:embed="rId3"/>
          <a:stretch>
            <a:fillRect/>
          </a:stretch>
        </p:blipFill>
        <p:spPr>
          <a:xfrm>
            <a:off x="5868972" y="1429088"/>
            <a:ext cx="6192637" cy="2349324"/>
          </a:xfrm>
        </p:spPr>
      </p:pic>
      <p:pic>
        <p:nvPicPr>
          <p:cNvPr id="4" name="Picture 3" descr="Table&#10;&#10;Description automatically generated">
            <a:extLst>
              <a:ext uri="{FF2B5EF4-FFF2-40B4-BE49-F238E27FC236}">
                <a16:creationId xmlns:a16="http://schemas.microsoft.com/office/drawing/2014/main" id="{10734D1F-DCE6-5046-910A-978F82DBA2DE}"/>
              </a:ext>
            </a:extLst>
          </p:cNvPr>
          <p:cNvPicPr>
            <a:picLocks noChangeAspect="1"/>
          </p:cNvPicPr>
          <p:nvPr/>
        </p:nvPicPr>
        <p:blipFill>
          <a:blip r:embed="rId4"/>
          <a:stretch>
            <a:fillRect/>
          </a:stretch>
        </p:blipFill>
        <p:spPr>
          <a:xfrm>
            <a:off x="5868973" y="3861958"/>
            <a:ext cx="6192636" cy="2202595"/>
          </a:xfrm>
          <a:prstGeom prst="rect">
            <a:avLst/>
          </a:prstGeom>
        </p:spPr>
      </p:pic>
      <p:sp>
        <p:nvSpPr>
          <p:cNvPr id="5" name="TextBox 4">
            <a:extLst>
              <a:ext uri="{FF2B5EF4-FFF2-40B4-BE49-F238E27FC236}">
                <a16:creationId xmlns:a16="http://schemas.microsoft.com/office/drawing/2014/main" id="{5E970D24-C02A-0A47-97DC-39E8AD94355A}"/>
              </a:ext>
            </a:extLst>
          </p:cNvPr>
          <p:cNvSpPr txBox="1"/>
          <p:nvPr/>
        </p:nvSpPr>
        <p:spPr>
          <a:xfrm>
            <a:off x="1985963" y="6272213"/>
            <a:ext cx="7629525" cy="369332"/>
          </a:xfrm>
          <a:prstGeom prst="rect">
            <a:avLst/>
          </a:prstGeom>
          <a:noFill/>
        </p:spPr>
        <p:txBody>
          <a:bodyPr wrap="square" rtlCol="0">
            <a:spAutoFit/>
          </a:bodyPr>
          <a:lstStyle/>
          <a:p>
            <a:r>
              <a:rPr lang="en-US"/>
              <a:t>Note that nothing really changed with regard to the (uniterpretable c’s)</a:t>
            </a:r>
          </a:p>
        </p:txBody>
      </p:sp>
    </p:spTree>
    <p:extLst>
      <p:ext uri="{BB962C8B-B14F-4D97-AF65-F5344CB8AC3E}">
        <p14:creationId xmlns:p14="http://schemas.microsoft.com/office/powerpoint/2010/main" val="1017445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148D0C-3164-994A-80C0-8EDF84FC0C46}"/>
              </a:ext>
            </a:extLst>
          </p:cNvPr>
          <p:cNvSpPr>
            <a:spLocks noGrp="1"/>
          </p:cNvSpPr>
          <p:nvPr>
            <p:ph type="title"/>
          </p:nvPr>
        </p:nvSpPr>
        <p:spPr/>
        <p:txBody>
          <a:bodyPr/>
          <a:lstStyle/>
          <a:p>
            <a:r>
              <a:rPr lang="en-US"/>
              <a:t>Output in mirt</a:t>
            </a:r>
          </a:p>
        </p:txBody>
      </p:sp>
      <p:sp>
        <p:nvSpPr>
          <p:cNvPr id="7" name="Content Placeholder 6">
            <a:extLst>
              <a:ext uri="{FF2B5EF4-FFF2-40B4-BE49-F238E27FC236}">
                <a16:creationId xmlns:a16="http://schemas.microsoft.com/office/drawing/2014/main" id="{8366A0EF-1239-064A-842B-5ED9B064A530}"/>
              </a:ext>
            </a:extLst>
          </p:cNvPr>
          <p:cNvSpPr>
            <a:spLocks noGrp="1"/>
          </p:cNvSpPr>
          <p:nvPr>
            <p:ph sz="half" idx="1"/>
          </p:nvPr>
        </p:nvSpPr>
        <p:spPr/>
        <p:txBody>
          <a:bodyPr>
            <a:normAutofit/>
          </a:bodyPr>
          <a:lstStyle/>
          <a:p>
            <a:r>
              <a:rPr lang="en-US" sz="2000"/>
              <a:t>coef(nrm, simplify=TRUE,IRTpars=TRUE)</a:t>
            </a:r>
          </a:p>
        </p:txBody>
      </p:sp>
      <p:sp>
        <p:nvSpPr>
          <p:cNvPr id="8" name="Content Placeholder 7">
            <a:extLst>
              <a:ext uri="{FF2B5EF4-FFF2-40B4-BE49-F238E27FC236}">
                <a16:creationId xmlns:a16="http://schemas.microsoft.com/office/drawing/2014/main" id="{8951BB96-F30E-D44B-A0BC-25F32158EDD6}"/>
              </a:ext>
            </a:extLst>
          </p:cNvPr>
          <p:cNvSpPr>
            <a:spLocks noGrp="1"/>
          </p:cNvSpPr>
          <p:nvPr>
            <p:ph sz="half" idx="2"/>
          </p:nvPr>
        </p:nvSpPr>
        <p:spPr/>
        <p:txBody>
          <a:bodyPr>
            <a:normAutofit/>
          </a:bodyPr>
          <a:lstStyle/>
          <a:p>
            <a:r>
              <a:rPr lang="en-US" sz="2400"/>
              <a:t>coef(nrm, simplify=TRUE) </a:t>
            </a:r>
          </a:p>
        </p:txBody>
      </p:sp>
      <p:pic>
        <p:nvPicPr>
          <p:cNvPr id="10" name="Picture 9" descr="Table&#10;&#10;Description automatically generated">
            <a:extLst>
              <a:ext uri="{FF2B5EF4-FFF2-40B4-BE49-F238E27FC236}">
                <a16:creationId xmlns:a16="http://schemas.microsoft.com/office/drawing/2014/main" id="{F6A9E294-16EA-2A4A-91F0-B12EEC45D3F7}"/>
              </a:ext>
            </a:extLst>
          </p:cNvPr>
          <p:cNvPicPr>
            <a:picLocks noChangeAspect="1"/>
          </p:cNvPicPr>
          <p:nvPr/>
        </p:nvPicPr>
        <p:blipFill>
          <a:blip r:embed="rId2"/>
          <a:stretch>
            <a:fillRect/>
          </a:stretch>
        </p:blipFill>
        <p:spPr>
          <a:xfrm>
            <a:off x="838200" y="2259057"/>
            <a:ext cx="4716780" cy="4520248"/>
          </a:xfrm>
          <a:prstGeom prst="rect">
            <a:avLst/>
          </a:prstGeom>
        </p:spPr>
      </p:pic>
      <p:pic>
        <p:nvPicPr>
          <p:cNvPr id="12" name="Picture 11" descr="Table&#10;&#10;Description automatically generated">
            <a:extLst>
              <a:ext uri="{FF2B5EF4-FFF2-40B4-BE49-F238E27FC236}">
                <a16:creationId xmlns:a16="http://schemas.microsoft.com/office/drawing/2014/main" id="{54B6A2BC-8C6D-0442-BCE7-CABA09A6F959}"/>
              </a:ext>
            </a:extLst>
          </p:cNvPr>
          <p:cNvPicPr>
            <a:picLocks noChangeAspect="1"/>
          </p:cNvPicPr>
          <p:nvPr/>
        </p:nvPicPr>
        <p:blipFill>
          <a:blip r:embed="rId3"/>
          <a:stretch>
            <a:fillRect/>
          </a:stretch>
        </p:blipFill>
        <p:spPr>
          <a:xfrm>
            <a:off x="6096000" y="2259057"/>
            <a:ext cx="4579620" cy="4598943"/>
          </a:xfrm>
          <a:prstGeom prst="rect">
            <a:avLst/>
          </a:prstGeom>
        </p:spPr>
      </p:pic>
      <p:sp>
        <p:nvSpPr>
          <p:cNvPr id="2" name="TextBox 1">
            <a:extLst>
              <a:ext uri="{FF2B5EF4-FFF2-40B4-BE49-F238E27FC236}">
                <a16:creationId xmlns:a16="http://schemas.microsoft.com/office/drawing/2014/main" id="{670BAB8D-40B6-8F1D-9D6D-064B46330FBC}"/>
              </a:ext>
            </a:extLst>
          </p:cNvPr>
          <p:cNvSpPr txBox="1"/>
          <p:nvPr/>
        </p:nvSpPr>
        <p:spPr>
          <a:xfrm>
            <a:off x="5644432" y="476789"/>
            <a:ext cx="4274820" cy="923330"/>
          </a:xfrm>
          <a:prstGeom prst="rect">
            <a:avLst/>
          </a:prstGeom>
          <a:noFill/>
        </p:spPr>
        <p:txBody>
          <a:bodyPr wrap="square" rtlCol="0">
            <a:spAutoFit/>
          </a:bodyPr>
          <a:lstStyle/>
          <a:p>
            <a:r>
              <a:rPr lang="en-US"/>
              <a:t>Notice that all the a’s for our verbal aggression items are in ascending order by no, maybe, yes category—as we’d expect.</a:t>
            </a:r>
          </a:p>
        </p:txBody>
      </p:sp>
      <p:cxnSp>
        <p:nvCxnSpPr>
          <p:cNvPr id="4" name="Straight Arrow Connector 3">
            <a:extLst>
              <a:ext uri="{FF2B5EF4-FFF2-40B4-BE49-F238E27FC236}">
                <a16:creationId xmlns:a16="http://schemas.microsoft.com/office/drawing/2014/main" id="{BB89B4DE-EBB8-51EB-5022-3CB765C372FB}"/>
              </a:ext>
            </a:extLst>
          </p:cNvPr>
          <p:cNvCxnSpPr/>
          <p:nvPr/>
        </p:nvCxnSpPr>
        <p:spPr>
          <a:xfrm flipH="1">
            <a:off x="5456583" y="1400119"/>
            <a:ext cx="639417" cy="8589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3232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381FF-9CD5-2A45-9C78-31BCDD18DBC4}"/>
              </a:ext>
            </a:extLst>
          </p:cNvPr>
          <p:cNvSpPr>
            <a:spLocks noGrp="1"/>
          </p:cNvSpPr>
          <p:nvPr>
            <p:ph type="title"/>
          </p:nvPr>
        </p:nvSpPr>
        <p:spPr/>
        <p:txBody>
          <a:bodyPr/>
          <a:lstStyle/>
          <a:p>
            <a:r>
              <a:rPr lang="en-US"/>
              <a:t>General Strategy of using NRM</a:t>
            </a:r>
          </a:p>
        </p:txBody>
      </p:sp>
      <p:sp>
        <p:nvSpPr>
          <p:cNvPr id="3" name="Content Placeholder 2">
            <a:extLst>
              <a:ext uri="{FF2B5EF4-FFF2-40B4-BE49-F238E27FC236}">
                <a16:creationId xmlns:a16="http://schemas.microsoft.com/office/drawing/2014/main" id="{6300DD1C-EA75-F443-98F7-482A7811A4E7}"/>
              </a:ext>
            </a:extLst>
          </p:cNvPr>
          <p:cNvSpPr>
            <a:spLocks noGrp="1"/>
          </p:cNvSpPr>
          <p:nvPr>
            <p:ph idx="1"/>
          </p:nvPr>
        </p:nvSpPr>
        <p:spPr/>
        <p:txBody>
          <a:bodyPr/>
          <a:lstStyle/>
          <a:p>
            <a:pPr marL="514350" indent="-514350">
              <a:buFont typeface="+mj-lt"/>
              <a:buAutoNum type="arabicPeriod"/>
            </a:pPr>
            <a:r>
              <a:rPr lang="en-US"/>
              <a:t>Fit the model</a:t>
            </a:r>
          </a:p>
          <a:p>
            <a:pPr marL="514350" indent="-514350">
              <a:buFont typeface="+mj-lt"/>
              <a:buAutoNum type="arabicPeriod"/>
            </a:pPr>
            <a:r>
              <a:rPr lang="en-US"/>
              <a:t>Look for evidence of category order based on estimates of a’s</a:t>
            </a:r>
          </a:p>
          <a:p>
            <a:pPr marL="514350" indent="-514350">
              <a:buFont typeface="+mj-lt"/>
              <a:buAutoNum type="arabicPeriod"/>
            </a:pPr>
            <a:r>
              <a:rPr lang="en-US"/>
              <a:t>Once you know order, compute Andrich thresholds</a:t>
            </a:r>
          </a:p>
        </p:txBody>
      </p:sp>
    </p:spTree>
    <p:extLst>
      <p:ext uri="{BB962C8B-B14F-4D97-AF65-F5344CB8AC3E}">
        <p14:creationId xmlns:p14="http://schemas.microsoft.com/office/powerpoint/2010/main" val="1712456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98C87-FABC-474E-AD34-89CD77E53B4E}"/>
              </a:ext>
            </a:extLst>
          </p:cNvPr>
          <p:cNvSpPr>
            <a:spLocks noGrp="1"/>
          </p:cNvSpPr>
          <p:nvPr>
            <p:ph type="title"/>
          </p:nvPr>
        </p:nvSpPr>
        <p:spPr/>
        <p:txBody>
          <a:bodyPr/>
          <a:lstStyle/>
          <a:p>
            <a:r>
              <a:rPr lang="en-US"/>
              <a:t>Thing to Note!</a:t>
            </a:r>
          </a:p>
        </p:txBody>
      </p:sp>
      <p:sp>
        <p:nvSpPr>
          <p:cNvPr id="3" name="Content Placeholder 2">
            <a:extLst>
              <a:ext uri="{FF2B5EF4-FFF2-40B4-BE49-F238E27FC236}">
                <a16:creationId xmlns:a16="http://schemas.microsoft.com/office/drawing/2014/main" id="{A33FC4F3-4A96-3544-B1C7-66CEDDD005CE}"/>
              </a:ext>
            </a:extLst>
          </p:cNvPr>
          <p:cNvSpPr>
            <a:spLocks noGrp="1"/>
          </p:cNvSpPr>
          <p:nvPr>
            <p:ph idx="1"/>
          </p:nvPr>
        </p:nvSpPr>
        <p:spPr/>
        <p:txBody>
          <a:bodyPr/>
          <a:lstStyle/>
          <a:p>
            <a:r>
              <a:rPr lang="en-US"/>
              <a:t>Just because a’s are ordered, does not mean that the thresholds will be! </a:t>
            </a:r>
          </a:p>
          <a:p>
            <a:r>
              <a:rPr lang="en-US"/>
              <a:t>In fact, they aren’t ordered in any of the examples provided by Bock!</a:t>
            </a:r>
          </a:p>
        </p:txBody>
      </p:sp>
    </p:spTree>
    <p:extLst>
      <p:ext uri="{BB962C8B-B14F-4D97-AF65-F5344CB8AC3E}">
        <p14:creationId xmlns:p14="http://schemas.microsoft.com/office/powerpoint/2010/main" val="13495555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TotalTime>
  <Words>709</Words>
  <Application>Microsoft Macintosh PowerPoint</Application>
  <PresentationFormat>Widescreen</PresentationFormat>
  <Paragraphs>48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Cambria Math</vt:lpstr>
      <vt:lpstr>Office Theme</vt:lpstr>
      <vt:lpstr>Nominal Response Model</vt:lpstr>
      <vt:lpstr>Original Nominal Response Model (NRM) Equation (Bock, 1972)</vt:lpstr>
      <vt:lpstr>Interpretation of NRM Parameters</vt:lpstr>
      <vt:lpstr>Multivariate link function</vt:lpstr>
      <vt:lpstr>The new visualization</vt:lpstr>
      <vt:lpstr>Some Helpful Examples</vt:lpstr>
      <vt:lpstr>Expressing NRM parameters relative to adjacent categories. </vt:lpstr>
      <vt:lpstr>An Example Getting Andrich Parameters</vt:lpstr>
      <vt:lpstr>A New NRM Parameterization</vt:lpstr>
      <vt:lpstr>Comparing the two parameterizations</vt:lpstr>
      <vt:lpstr>Output in mirt</vt:lpstr>
      <vt:lpstr>General Strategy of using NRM</vt:lpstr>
      <vt:lpstr>Thing to Note!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Nominal Response Model</dc:title>
  <dc:creator>Derek Briggs</dc:creator>
  <cp:lastModifiedBy>Derek Briggs</cp:lastModifiedBy>
  <cp:revision>5</cp:revision>
  <dcterms:created xsi:type="dcterms:W3CDTF">2022-03-14T18:33:55Z</dcterms:created>
  <dcterms:modified xsi:type="dcterms:W3CDTF">2024-03-18T04:44:48Z</dcterms:modified>
</cp:coreProperties>
</file>