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1"/>
  </p:notesMasterIdLst>
  <p:handoutMasterIdLst>
    <p:handoutMasterId r:id="rId52"/>
  </p:handoutMasterIdLst>
  <p:sldIdLst>
    <p:sldId id="337" r:id="rId2"/>
    <p:sldId id="342" r:id="rId3"/>
    <p:sldId id="410" r:id="rId4"/>
    <p:sldId id="389" r:id="rId5"/>
    <p:sldId id="344" r:id="rId6"/>
    <p:sldId id="346" r:id="rId7"/>
    <p:sldId id="350" r:id="rId8"/>
    <p:sldId id="349" r:id="rId9"/>
    <p:sldId id="354" r:id="rId10"/>
    <p:sldId id="351" r:id="rId11"/>
    <p:sldId id="345" r:id="rId12"/>
    <p:sldId id="347" r:id="rId13"/>
    <p:sldId id="348" r:id="rId14"/>
    <p:sldId id="408" r:id="rId15"/>
    <p:sldId id="357" r:id="rId16"/>
    <p:sldId id="358" r:id="rId17"/>
    <p:sldId id="267" r:id="rId18"/>
    <p:sldId id="361" r:id="rId19"/>
    <p:sldId id="277" r:id="rId20"/>
    <p:sldId id="362" r:id="rId21"/>
    <p:sldId id="418" r:id="rId22"/>
    <p:sldId id="417" r:id="rId23"/>
    <p:sldId id="363" r:id="rId24"/>
    <p:sldId id="365" r:id="rId25"/>
    <p:sldId id="270" r:id="rId26"/>
    <p:sldId id="271" r:id="rId27"/>
    <p:sldId id="373" r:id="rId28"/>
    <p:sldId id="374" r:id="rId29"/>
    <p:sldId id="366" r:id="rId30"/>
    <p:sldId id="368" r:id="rId31"/>
    <p:sldId id="372" r:id="rId32"/>
    <p:sldId id="371" r:id="rId33"/>
    <p:sldId id="364" r:id="rId34"/>
    <p:sldId id="419" r:id="rId35"/>
    <p:sldId id="411" r:id="rId36"/>
    <p:sldId id="412" r:id="rId37"/>
    <p:sldId id="272" r:id="rId38"/>
    <p:sldId id="273" r:id="rId39"/>
    <p:sldId id="262" r:id="rId40"/>
    <p:sldId id="327" r:id="rId41"/>
    <p:sldId id="413" r:id="rId42"/>
    <p:sldId id="263" r:id="rId43"/>
    <p:sldId id="414" r:id="rId44"/>
    <p:sldId id="264" r:id="rId45"/>
    <p:sldId id="268" r:id="rId46"/>
    <p:sldId id="269" r:id="rId47"/>
    <p:sldId id="370" r:id="rId48"/>
    <p:sldId id="409" r:id="rId49"/>
    <p:sldId id="41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CFB879"/>
    <a:srgbClr val="D3B979"/>
    <a:srgbClr val="D2C121"/>
    <a:srgbClr val="D2B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38"/>
    <p:restoredTop sz="91164" autoAdjust="0"/>
  </p:normalViewPr>
  <p:slideViewPr>
    <p:cSldViewPr snapToGrid="0">
      <p:cViewPr varScale="1">
        <p:scale>
          <a:sx n="115" d="100"/>
          <a:sy n="115" d="100"/>
        </p:scale>
        <p:origin x="472" y="20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1" d="100"/>
          <a:sy n="61" d="100"/>
        </p:scale>
        <p:origin x="2056"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DCFF85-BE72-CD4C-95C6-48191A19BC54}" type="datetimeFigureOut">
              <a:rPr lang="en-US"/>
              <a:t>4/5/26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25BE46F-6214-8845-AB47-B16DD503C137}" type="slidenum">
              <a:rPr/>
              <a:t>‹#›</a:t>
            </a:fld>
            <a:endParaRPr lang="en-US"/>
          </a:p>
        </p:txBody>
      </p:sp>
    </p:spTree>
    <p:extLst>
      <p:ext uri="{BB962C8B-B14F-4D97-AF65-F5344CB8AC3E}">
        <p14:creationId xmlns:p14="http://schemas.microsoft.com/office/powerpoint/2010/main" val="2964475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955782-019E-074F-AFED-00A29A84EADD}" type="datetimeFigureOut">
              <a:rPr lang="en-US"/>
              <a:t>4/5/26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C7F9A6-0AD0-7D45-B33A-49768EBF544A}" type="slidenum">
              <a:rPr/>
              <a:t>‹#›</a:t>
            </a:fld>
            <a:endParaRPr lang="en-US"/>
          </a:p>
        </p:txBody>
      </p:sp>
    </p:spTree>
    <p:extLst>
      <p:ext uri="{BB962C8B-B14F-4D97-AF65-F5344CB8AC3E}">
        <p14:creationId xmlns:p14="http://schemas.microsoft.com/office/powerpoint/2010/main" val="416409397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www.smarterbalanced.org</a:t>
            </a:r>
            <a:r>
              <a:rPr lang="en-US"/>
              <a:t>/assessments/development/percentiles/</a:t>
            </a:r>
          </a:p>
          <a:p>
            <a:endParaRPr lang="en-US"/>
          </a:p>
          <a:p>
            <a:r>
              <a:rPr lang="en-US" sz="1200" i="1" kern="1200">
                <a:solidFill>
                  <a:schemeClr val="tx1"/>
                </a:solidFill>
                <a:effectLst/>
                <a:latin typeface="+mn-lt"/>
                <a:ea typeface="+mn-ea"/>
                <a:cs typeface="+mn-cs"/>
              </a:rPr>
              <a:t>Accelerated Math</a:t>
            </a:r>
            <a:r>
              <a:rPr lang="en-US" sz="1200" kern="1200">
                <a:solidFill>
                  <a:schemeClr val="tx1"/>
                </a:solidFill>
                <a:effectLst/>
                <a:latin typeface="+mn-lt"/>
                <a:ea typeface="+mn-ea"/>
                <a:cs typeface="+mn-cs"/>
              </a:rPr>
              <a:t>®, published by Renaissance Learning, is a software tool that provides practice problems for students in grades K–12</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and provides teachers with reports to monitor student progress. </a:t>
            </a:r>
            <a:r>
              <a:rPr lang="en-US" sz="1200" i="1" kern="1200">
                <a:solidFill>
                  <a:schemeClr val="tx1"/>
                </a:solidFill>
                <a:effectLst/>
                <a:latin typeface="+mn-lt"/>
                <a:ea typeface="+mn-ea"/>
                <a:cs typeface="+mn-cs"/>
              </a:rPr>
              <a:t>Accelerated Math</a:t>
            </a:r>
            <a:r>
              <a:rPr lang="en-US" sz="1200" kern="1200">
                <a:solidFill>
                  <a:schemeClr val="tx1"/>
                </a:solidFill>
                <a:effectLst/>
                <a:latin typeface="+mn-lt"/>
                <a:ea typeface="+mn-ea"/>
                <a:cs typeface="+mn-cs"/>
              </a:rPr>
              <a:t>® creates individualized student assignments, scores the assignments, and generates reports on student progress. The software is typically used with the math curriculum being used </a:t>
            </a:r>
            <a:endParaRPr lang="en-US"/>
          </a:p>
          <a:p>
            <a:r>
              <a:rPr lang="en-US" sz="1200" kern="1200">
                <a:solidFill>
                  <a:schemeClr val="tx1"/>
                </a:solidFill>
                <a:effectLst/>
                <a:latin typeface="+mn-lt"/>
                <a:ea typeface="+mn-ea"/>
                <a:cs typeface="+mn-cs"/>
              </a:rPr>
              <a:t>in the classroom to add practice for students and help teachers differentiate instruction through the program’s progress-monitoring data. This review focuses on studies of </a:t>
            </a:r>
            <a:r>
              <a:rPr lang="en-US" sz="1200" i="1" kern="1200">
                <a:solidFill>
                  <a:schemeClr val="tx1"/>
                </a:solidFill>
                <a:effectLst/>
                <a:latin typeface="+mn-lt"/>
                <a:ea typeface="+mn-ea"/>
                <a:cs typeface="+mn-cs"/>
              </a:rPr>
              <a:t>Accelerated Math</a:t>
            </a:r>
            <a:r>
              <a:rPr lang="en-US" sz="1200" kern="1200">
                <a:solidFill>
                  <a:schemeClr val="tx1"/>
                </a:solidFill>
                <a:effectLst/>
                <a:latin typeface="+mn-lt"/>
                <a:ea typeface="+mn-ea"/>
                <a:cs typeface="+mn-cs"/>
              </a:rPr>
              <a:t>®’s use in kindergarten through pre-algebra classes. </a:t>
            </a:r>
            <a:endParaRPr lang="en-US"/>
          </a:p>
          <a:p>
            <a:endParaRPr lang="en-US"/>
          </a:p>
        </p:txBody>
      </p:sp>
      <p:sp>
        <p:nvSpPr>
          <p:cNvPr id="4" name="Slide Number Placeholder 3"/>
          <p:cNvSpPr>
            <a:spLocks noGrp="1"/>
          </p:cNvSpPr>
          <p:nvPr>
            <p:ph type="sldNum" sz="quarter" idx="5"/>
          </p:nvPr>
        </p:nvSpPr>
        <p:spPr/>
        <p:txBody>
          <a:bodyPr/>
          <a:lstStyle/>
          <a:p>
            <a:fld id="{C1C7F9A6-0AD0-7D45-B33A-49768EBF544A}" type="slidenum">
              <a:rPr lang="en-US"/>
              <a:t>5</a:t>
            </a:fld>
            <a:endParaRPr lang="en-US"/>
          </a:p>
        </p:txBody>
      </p:sp>
    </p:spTree>
    <p:extLst>
      <p:ext uri="{BB962C8B-B14F-4D97-AF65-F5344CB8AC3E}">
        <p14:creationId xmlns:p14="http://schemas.microsoft.com/office/powerpoint/2010/main" val="1045325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prnorm(.19) = .575</a:t>
            </a:r>
          </a:p>
          <a:p>
            <a:endParaRPr lang="en-US"/>
          </a:p>
          <a:p>
            <a:r>
              <a:rPr lang="en-US"/>
              <a:t>According to Cohen’s Conventions, an ES of .19 is considered a “small” effect.</a:t>
            </a:r>
          </a:p>
          <a:p>
            <a:r>
              <a:rPr lang="en-US"/>
              <a:t>The WWC benchmark for a “substantively” important effect is .25, so this wouldn’t be considered practically significant.</a:t>
            </a:r>
          </a:p>
        </p:txBody>
      </p:sp>
      <p:sp>
        <p:nvSpPr>
          <p:cNvPr id="4" name="Slide Number Placeholder 3"/>
          <p:cNvSpPr>
            <a:spLocks noGrp="1"/>
          </p:cNvSpPr>
          <p:nvPr>
            <p:ph type="sldNum" sz="quarter" idx="5"/>
          </p:nvPr>
        </p:nvSpPr>
        <p:spPr/>
        <p:txBody>
          <a:bodyPr/>
          <a:lstStyle/>
          <a:p>
            <a:fld id="{C1C7F9A6-0AD0-7D45-B33A-49768EBF544A}" type="slidenum">
              <a:rPr lang="en-US"/>
              <a:t>9</a:t>
            </a:fld>
            <a:endParaRPr lang="en-US"/>
          </a:p>
        </p:txBody>
      </p:sp>
    </p:spTree>
    <p:extLst>
      <p:ext uri="{BB962C8B-B14F-4D97-AF65-F5344CB8AC3E}">
        <p14:creationId xmlns:p14="http://schemas.microsoft.com/office/powerpoint/2010/main" val="75040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1C7F9A6-0AD0-7D45-B33A-49768EBF544A}" type="slidenum">
              <a:rPr lang="en-US"/>
              <a:t>10</a:t>
            </a:fld>
            <a:endParaRPr lang="en-US"/>
          </a:p>
        </p:txBody>
      </p:sp>
    </p:spTree>
    <p:extLst>
      <p:ext uri="{BB962C8B-B14F-4D97-AF65-F5344CB8AC3E}">
        <p14:creationId xmlns:p14="http://schemas.microsoft.com/office/powerpoint/2010/main" val="3374474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1C7F9A6-0AD0-7D45-B33A-49768EBF544A}" type="slidenum">
              <a:rPr lang="en-US"/>
              <a:t>12</a:t>
            </a:fld>
            <a:endParaRPr lang="en-US"/>
          </a:p>
        </p:txBody>
      </p:sp>
    </p:spTree>
    <p:extLst>
      <p:ext uri="{BB962C8B-B14F-4D97-AF65-F5344CB8AC3E}">
        <p14:creationId xmlns:p14="http://schemas.microsoft.com/office/powerpoint/2010/main" val="2521492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Thurstone illustrated his approach with Binet items translated into English and administered to 3000 London school children by Burt.</a:t>
            </a:r>
          </a:p>
          <a:p>
            <a:endParaRPr lang="en-US"/>
          </a:p>
        </p:txBody>
      </p:sp>
      <p:sp>
        <p:nvSpPr>
          <p:cNvPr id="4" name="Slide Number Placeholder 3"/>
          <p:cNvSpPr>
            <a:spLocks noGrp="1"/>
          </p:cNvSpPr>
          <p:nvPr>
            <p:ph type="sldNum" sz="quarter" idx="5"/>
          </p:nvPr>
        </p:nvSpPr>
        <p:spPr/>
        <p:txBody>
          <a:bodyPr/>
          <a:lstStyle/>
          <a:p>
            <a:fld id="{C1C7F9A6-0AD0-7D45-B33A-49768EBF544A}" type="slidenum">
              <a:rPr lang="en-US"/>
              <a:t>24</a:t>
            </a:fld>
            <a:endParaRPr lang="en-US"/>
          </a:p>
        </p:txBody>
      </p:sp>
    </p:spTree>
    <p:extLst>
      <p:ext uri="{BB962C8B-B14F-4D97-AF65-F5344CB8AC3E}">
        <p14:creationId xmlns:p14="http://schemas.microsoft.com/office/powerpoint/2010/main" val="605831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This equation, if known, would transform the values of X2 common items (upper age scale) to be on the scale of X1 common item (lower age scale)</a:t>
            </a:r>
          </a:p>
          <a:p>
            <a:endParaRPr lang="en-US"/>
          </a:p>
        </p:txBody>
      </p:sp>
      <p:sp>
        <p:nvSpPr>
          <p:cNvPr id="4" name="Slide Number Placeholder 3"/>
          <p:cNvSpPr>
            <a:spLocks noGrp="1"/>
          </p:cNvSpPr>
          <p:nvPr>
            <p:ph type="sldNum" sz="quarter" idx="5"/>
          </p:nvPr>
        </p:nvSpPr>
        <p:spPr/>
        <p:txBody>
          <a:bodyPr/>
          <a:lstStyle/>
          <a:p>
            <a:fld id="{C1C7F9A6-0AD0-7D45-B33A-49768EBF544A}" type="slidenum">
              <a:rPr lang="en-US"/>
              <a:t>26</a:t>
            </a:fld>
            <a:endParaRPr lang="en-US"/>
          </a:p>
        </p:txBody>
      </p:sp>
    </p:spTree>
    <p:extLst>
      <p:ext uri="{BB962C8B-B14F-4D97-AF65-F5344CB8AC3E}">
        <p14:creationId xmlns:p14="http://schemas.microsoft.com/office/powerpoint/2010/main" val="3095382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C7F9A6-0AD0-7D45-B33A-49768EBF544A}" type="slidenum">
              <a:rPr lang="en-US"/>
              <a:t>47</a:t>
            </a:fld>
            <a:endParaRPr lang="en-US" dirty="0"/>
          </a:p>
        </p:txBody>
      </p:sp>
    </p:spTree>
    <p:extLst>
      <p:ext uri="{BB962C8B-B14F-4D97-AF65-F5344CB8AC3E}">
        <p14:creationId xmlns:p14="http://schemas.microsoft.com/office/powerpoint/2010/main" val="3360425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4B5F56-9FC4-BF46-93BD-BB1252F74798}" type="datetime1">
              <a:rPr lang="en-US"/>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2692397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EC5C7-F8B4-DA49-89CF-9B57959032B9}" type="datetime1">
              <a:rPr lang="en-US"/>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208557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024E23-CBC5-B845-8816-BF73FBC6775F}" type="datetime1">
              <a:rPr lang="en-US"/>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3632920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C61448-60E5-4E49-8E81-75C6CABC010E}" type="datetime1">
              <a:rPr lang="en-US"/>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43604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ED3F89-174D-0E41-9FEE-3FE33179D36C}" type="datetime1">
              <a:rPr lang="en-US"/>
              <a:t>4/5/26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2235303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AFF8A6-AF9B-7344-894C-77F3822D8793}" type="datetime1">
              <a:rPr lang="en-US"/>
              <a:t>4/5/26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1542006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DBF8F9-5B7F-4D4E-994D-F957C0DD46B1}" type="datetime1">
              <a:rPr lang="en-US"/>
              <a:t>4/5/26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751070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D76856-4794-404C-9D9C-2DC730BB4E6F}" type="datetime1">
              <a:rPr lang="en-US"/>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389160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572653-F51B-7A47-B690-DA54CBB2EFA5}" type="datetime1">
              <a:rPr lang="en-US"/>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69300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C3080E-176A-504F-8473-64A8E7BB4E49}" type="datetime1">
              <a:rPr lang="en-US"/>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2736687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D1138-73A4-7D47-A48C-97FAF140F772}" type="datetime1">
              <a:rPr lang="en-US"/>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D2A749-B6C7-C240-8A90-1E79A2210C21}" type="slidenum">
              <a:rPr/>
              <a:t>‹#›</a:t>
            </a:fld>
            <a:endParaRPr lang="en-US"/>
          </a:p>
        </p:txBody>
      </p:sp>
    </p:spTree>
    <p:extLst>
      <p:ext uri="{BB962C8B-B14F-4D97-AF65-F5344CB8AC3E}">
        <p14:creationId xmlns:p14="http://schemas.microsoft.com/office/powerpoint/2010/main" val="2311146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BE144-C061-DF46-89AE-90832A02F0F2}" type="datetime1">
              <a:rPr lang="en-US"/>
              <a:t>4/5/26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2A749-B6C7-C240-8A90-1E79A2210C21}" type="slidenum">
              <a:rPr/>
              <a:t>‹#›</a:t>
            </a:fld>
            <a:endParaRPr lang="en-US"/>
          </a:p>
        </p:txBody>
      </p:sp>
      <p:cxnSp>
        <p:nvCxnSpPr>
          <p:cNvPr id="7" name="Straight Connector 6"/>
          <p:cNvCxnSpPr/>
          <p:nvPr userDrawn="1"/>
        </p:nvCxnSpPr>
        <p:spPr>
          <a:xfrm>
            <a:off x="609600" y="6096000"/>
            <a:ext cx="10972800" cy="1588"/>
          </a:xfrm>
          <a:prstGeom prst="line">
            <a:avLst/>
          </a:prstGeom>
          <a:ln w="6350"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Boulder FL master.eps"/>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609600" y="6172200"/>
            <a:ext cx="2844800" cy="431030"/>
          </a:xfrm>
          <a:prstGeom prst="rect">
            <a:avLst/>
          </a:prstGeom>
        </p:spPr>
      </p:pic>
    </p:spTree>
    <p:extLst>
      <p:ext uri="{BB962C8B-B14F-4D97-AF65-F5344CB8AC3E}">
        <p14:creationId xmlns:p14="http://schemas.microsoft.com/office/powerpoint/2010/main" val="24976369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51" r:id="rId14"/>
    <p:sldLayoutId id="2147483652" r:id="rId15"/>
    <p:sldLayoutId id="2147483653" r:id="rId16"/>
    <p:sldLayoutId id="2147483654" r:id="rId17"/>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renaissance.com/products/practice/accelerated-math/"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www.npr.org/sections/codeswitch/2014/02/10/267561895/it-took-a-eugenicist-to-come-up-with-moron"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0.wmf"/><Relationship Id="rId4" Type="http://schemas.openxmlformats.org/officeDocument/2006/relationships/oleObject" Target="../embeddings/oleObject2.bin"/></Relationships>
</file>

<file path=ppt/slides/_rels/slide4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tif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4608" y="645707"/>
            <a:ext cx="9782783" cy="2387600"/>
          </a:xfrm>
        </p:spPr>
        <p:txBody>
          <a:bodyPr>
            <a:normAutofit/>
          </a:bodyPr>
          <a:lstStyle/>
          <a:p>
            <a:r>
              <a:rPr lang="en-US" b="1" dirty="0"/>
              <a:t>Vertical Scaling and Growth</a:t>
            </a:r>
          </a:p>
        </p:txBody>
      </p:sp>
      <p:sp>
        <p:nvSpPr>
          <p:cNvPr id="3" name="Subtitle 2"/>
          <p:cNvSpPr>
            <a:spLocks noGrp="1"/>
          </p:cNvSpPr>
          <p:nvPr>
            <p:ph type="subTitle" idx="1"/>
          </p:nvPr>
        </p:nvSpPr>
        <p:spPr>
          <a:xfrm>
            <a:off x="1523999" y="3302000"/>
            <a:ext cx="9144000" cy="2254013"/>
          </a:xfrm>
        </p:spPr>
        <p:txBody>
          <a:bodyPr>
            <a:noAutofit/>
          </a:bodyPr>
          <a:lstStyle/>
          <a:p>
            <a:r>
              <a:rPr lang="en-US" sz="3200" dirty="0"/>
              <a:t>Derek Briggs</a:t>
            </a:r>
          </a:p>
          <a:p>
            <a:r>
              <a:rPr lang="en-US" dirty="0"/>
              <a:t>EDUC 8720</a:t>
            </a:r>
            <a:endParaRPr lang="en-US" sz="3200" dirty="0"/>
          </a:p>
        </p:txBody>
      </p:sp>
    </p:spTree>
    <p:extLst>
      <p:ext uri="{BB962C8B-B14F-4D97-AF65-F5344CB8AC3E}">
        <p14:creationId xmlns:p14="http://schemas.microsoft.com/office/powerpoint/2010/main" val="28678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E0B6-4BFC-A247-B4D1-42B53DEE9CB8}"/>
              </a:ext>
            </a:extLst>
          </p:cNvPr>
          <p:cNvSpPr>
            <a:spLocks noGrp="1"/>
          </p:cNvSpPr>
          <p:nvPr>
            <p:ph type="title"/>
          </p:nvPr>
        </p:nvSpPr>
        <p:spPr/>
        <p:txBody>
          <a:bodyPr/>
          <a:lstStyle/>
          <a:p>
            <a:r>
              <a:rPr lang="en-US" b="1" dirty="0"/>
              <a:t>Learning Objectives</a:t>
            </a:r>
          </a:p>
        </p:txBody>
      </p:sp>
      <p:sp>
        <p:nvSpPr>
          <p:cNvPr id="3" name="Content Placeholder 2">
            <a:extLst>
              <a:ext uri="{FF2B5EF4-FFF2-40B4-BE49-F238E27FC236}">
                <a16:creationId xmlns:a16="http://schemas.microsoft.com/office/drawing/2014/main" id="{01D783D2-7247-644C-A5F5-7467096591EE}"/>
              </a:ext>
            </a:extLst>
          </p:cNvPr>
          <p:cNvSpPr>
            <a:spLocks noGrp="1"/>
          </p:cNvSpPr>
          <p:nvPr>
            <p:ph idx="1"/>
          </p:nvPr>
        </p:nvSpPr>
        <p:spPr/>
        <p:txBody>
          <a:bodyPr>
            <a:normAutofit/>
          </a:bodyPr>
          <a:lstStyle/>
          <a:p>
            <a:r>
              <a:rPr lang="en-US" sz="2800" dirty="0"/>
              <a:t>To see the connection between vertical scaling and growth</a:t>
            </a:r>
          </a:p>
          <a:p>
            <a:r>
              <a:rPr lang="en-US" sz="2800" dirty="0"/>
              <a:t>To appreciate that it matters how the unit of a vertical scale is established.</a:t>
            </a:r>
          </a:p>
          <a:p>
            <a:r>
              <a:rPr lang="en-US" sz="2800" dirty="0"/>
              <a:t>To appreciate salient distinctions in vertical scale designs</a:t>
            </a:r>
          </a:p>
          <a:p>
            <a:pPr lvl="1"/>
            <a:r>
              <a:rPr lang="en-US" sz="2400" dirty="0"/>
              <a:t>Domain over which growth is defined</a:t>
            </a:r>
          </a:p>
          <a:p>
            <a:pPr lvl="1"/>
            <a:r>
              <a:rPr lang="en-US" sz="2400" dirty="0"/>
              <a:t>Way that common items are selected</a:t>
            </a:r>
          </a:p>
          <a:p>
            <a:r>
              <a:rPr lang="en-US" sz="2800" dirty="0"/>
              <a:t>To be able to understand how to interpret chained “linking constants” in the context of an IRT calibration approach.</a:t>
            </a:r>
          </a:p>
          <a:p>
            <a:endParaRPr lang="en-US" dirty="0"/>
          </a:p>
        </p:txBody>
      </p:sp>
      <p:sp>
        <p:nvSpPr>
          <p:cNvPr id="4" name="Slide Number Placeholder 3">
            <a:extLst>
              <a:ext uri="{FF2B5EF4-FFF2-40B4-BE49-F238E27FC236}">
                <a16:creationId xmlns:a16="http://schemas.microsoft.com/office/drawing/2014/main" id="{87FBF443-3862-3546-9CDB-0BCA25783952}"/>
              </a:ext>
            </a:extLst>
          </p:cNvPr>
          <p:cNvSpPr>
            <a:spLocks noGrp="1"/>
          </p:cNvSpPr>
          <p:nvPr>
            <p:ph type="sldNum" sz="quarter" idx="12"/>
          </p:nvPr>
        </p:nvSpPr>
        <p:spPr/>
        <p:txBody>
          <a:bodyPr/>
          <a:lstStyle/>
          <a:p>
            <a:fld id="{EFD2A749-B6C7-C240-8A90-1E79A2210C21}" type="slidenum">
              <a:rPr lang="en-US" smtClean="0"/>
              <a:t>2</a:t>
            </a:fld>
            <a:endParaRPr lang="en-US" dirty="0"/>
          </a:p>
        </p:txBody>
      </p:sp>
    </p:spTree>
    <p:extLst>
      <p:ext uri="{BB962C8B-B14F-4D97-AF65-F5344CB8AC3E}">
        <p14:creationId xmlns:p14="http://schemas.microsoft.com/office/powerpoint/2010/main" val="494404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E0B6-4BFC-A247-B4D1-42B53DEE9CB8}"/>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01D783D2-7247-644C-A5F5-7467096591EE}"/>
              </a:ext>
            </a:extLst>
          </p:cNvPr>
          <p:cNvSpPr>
            <a:spLocks noGrp="1"/>
          </p:cNvSpPr>
          <p:nvPr>
            <p:ph idx="1"/>
          </p:nvPr>
        </p:nvSpPr>
        <p:spPr/>
        <p:txBody>
          <a:bodyPr>
            <a:normAutofit/>
          </a:bodyPr>
          <a:lstStyle/>
          <a:p>
            <a:r>
              <a:rPr lang="en-US" dirty="0"/>
              <a:t>Motivation: Practically Significant Differences?</a:t>
            </a:r>
          </a:p>
          <a:p>
            <a:r>
              <a:rPr lang="en-US" dirty="0"/>
              <a:t>Historical Background: Thurstone Scaling</a:t>
            </a:r>
          </a:p>
          <a:p>
            <a:r>
              <a:rPr lang="en-US" dirty="0"/>
              <a:t>Conventional IRT Methods</a:t>
            </a:r>
          </a:p>
          <a:p>
            <a:r>
              <a:rPr lang="en-US" dirty="0"/>
              <a:t>Activity: IRT Methods in Action</a:t>
            </a:r>
          </a:p>
          <a:p>
            <a:pPr marL="0" indent="0">
              <a:buNone/>
            </a:pPr>
            <a:endParaRPr lang="en-US" dirty="0"/>
          </a:p>
        </p:txBody>
      </p:sp>
      <p:sp>
        <p:nvSpPr>
          <p:cNvPr id="4" name="Slide Number Placeholder 3">
            <a:extLst>
              <a:ext uri="{FF2B5EF4-FFF2-40B4-BE49-F238E27FC236}">
                <a16:creationId xmlns:a16="http://schemas.microsoft.com/office/drawing/2014/main" id="{87FBF443-3862-3546-9CDB-0BCA25783952}"/>
              </a:ext>
            </a:extLst>
          </p:cNvPr>
          <p:cNvSpPr>
            <a:spLocks noGrp="1"/>
          </p:cNvSpPr>
          <p:nvPr>
            <p:ph type="sldNum" sz="quarter" idx="12"/>
          </p:nvPr>
        </p:nvSpPr>
        <p:spPr/>
        <p:txBody>
          <a:bodyPr/>
          <a:lstStyle/>
          <a:p>
            <a:fld id="{EFD2A749-B6C7-C240-8A90-1E79A2210C21}" type="slidenum">
              <a:rPr lang="en-US" smtClean="0"/>
              <a:t>3</a:t>
            </a:fld>
            <a:endParaRPr lang="en-US" dirty="0"/>
          </a:p>
        </p:txBody>
      </p:sp>
    </p:spTree>
    <p:extLst>
      <p:ext uri="{BB962C8B-B14F-4D97-AF65-F5344CB8AC3E}">
        <p14:creationId xmlns:p14="http://schemas.microsoft.com/office/powerpoint/2010/main" val="312749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D1C20E-D9E3-A94D-ADB5-E48A0D989D1A}"/>
              </a:ext>
            </a:extLst>
          </p:cNvPr>
          <p:cNvSpPr>
            <a:spLocks noGrp="1"/>
          </p:cNvSpPr>
          <p:nvPr>
            <p:ph type="sldNum" sz="quarter" idx="12"/>
          </p:nvPr>
        </p:nvSpPr>
        <p:spPr/>
        <p:txBody>
          <a:bodyPr/>
          <a:lstStyle/>
          <a:p>
            <a:fld id="{EFD2A749-B6C7-C240-8A90-1E79A2210C21}" type="slidenum">
              <a:rPr lang="en-US"/>
              <a:t>4</a:t>
            </a:fld>
            <a:endParaRPr lang="en-US" dirty="0"/>
          </a:p>
        </p:txBody>
      </p:sp>
      <p:sp>
        <p:nvSpPr>
          <p:cNvPr id="5" name="TextBox 4">
            <a:extLst>
              <a:ext uri="{FF2B5EF4-FFF2-40B4-BE49-F238E27FC236}">
                <a16:creationId xmlns:a16="http://schemas.microsoft.com/office/drawing/2014/main" id="{5BEC2270-1999-964D-ADEF-E292B42D29DA}"/>
              </a:ext>
            </a:extLst>
          </p:cNvPr>
          <p:cNvSpPr txBox="1"/>
          <p:nvPr/>
        </p:nvSpPr>
        <p:spPr>
          <a:xfrm>
            <a:off x="2955074" y="2352907"/>
            <a:ext cx="7657962" cy="1077218"/>
          </a:xfrm>
          <a:prstGeom prst="rect">
            <a:avLst/>
          </a:prstGeom>
          <a:noFill/>
        </p:spPr>
        <p:txBody>
          <a:bodyPr wrap="square" rtlCol="0">
            <a:spAutoFit/>
          </a:bodyPr>
          <a:lstStyle/>
          <a:p>
            <a:r>
              <a:rPr lang="en-US" sz="3200" b="1" dirty="0"/>
              <a:t>Motivating Context: Practically Significant Differences in Learning Outcomes</a:t>
            </a:r>
          </a:p>
        </p:txBody>
      </p:sp>
    </p:spTree>
    <p:extLst>
      <p:ext uri="{BB962C8B-B14F-4D97-AF65-F5344CB8AC3E}">
        <p14:creationId xmlns:p14="http://schemas.microsoft.com/office/powerpoint/2010/main" val="2594286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79B0-3D98-BF4F-B143-22E0C5C334AE}"/>
              </a:ext>
            </a:extLst>
          </p:cNvPr>
          <p:cNvSpPr>
            <a:spLocks noGrp="1"/>
          </p:cNvSpPr>
          <p:nvPr>
            <p:ph type="title"/>
          </p:nvPr>
        </p:nvSpPr>
        <p:spPr/>
        <p:txBody>
          <a:bodyPr/>
          <a:lstStyle/>
          <a:p>
            <a:pPr algn="l"/>
            <a:r>
              <a:rPr lang="en-US" b="1" dirty="0"/>
              <a:t>A Hypothetical Scenario </a:t>
            </a:r>
          </a:p>
        </p:txBody>
      </p:sp>
      <p:sp>
        <p:nvSpPr>
          <p:cNvPr id="3" name="Content Placeholder 2">
            <a:extLst>
              <a:ext uri="{FF2B5EF4-FFF2-40B4-BE49-F238E27FC236}">
                <a16:creationId xmlns:a16="http://schemas.microsoft.com/office/drawing/2014/main" id="{450BC3D3-DEB9-C044-BC62-D46BEA5F607A}"/>
              </a:ext>
            </a:extLst>
          </p:cNvPr>
          <p:cNvSpPr>
            <a:spLocks noGrp="1"/>
          </p:cNvSpPr>
          <p:nvPr>
            <p:ph idx="1"/>
          </p:nvPr>
        </p:nvSpPr>
        <p:spPr>
          <a:xfrm>
            <a:off x="609600" y="1611352"/>
            <a:ext cx="10972800" cy="4525963"/>
          </a:xfrm>
        </p:spPr>
        <p:txBody>
          <a:bodyPr>
            <a:normAutofit/>
          </a:bodyPr>
          <a:lstStyle/>
          <a:p>
            <a:r>
              <a:rPr lang="en-US" sz="2800" dirty="0"/>
              <a:t>A randomized cluster trial is conducted to estimate the effect of exposure to Renaissance Learning’s </a:t>
            </a:r>
            <a:r>
              <a:rPr lang="en-US" sz="2800" dirty="0">
                <a:hlinkClick r:id="rId3"/>
              </a:rPr>
              <a:t>Accelerated Math</a:t>
            </a:r>
            <a:r>
              <a:rPr lang="en-US" sz="2800" dirty="0"/>
              <a:t> intervention.</a:t>
            </a:r>
          </a:p>
          <a:p>
            <a:r>
              <a:rPr lang="en-US" sz="2800" dirty="0"/>
              <a:t>California middle school students in </a:t>
            </a:r>
            <a:r>
              <a:rPr lang="en-US" sz="2800" b="1" dirty="0"/>
              <a:t>grade 6</a:t>
            </a:r>
            <a:r>
              <a:rPr lang="en-US" sz="2800" dirty="0"/>
              <a:t> are the target population</a:t>
            </a:r>
          </a:p>
          <a:p>
            <a:r>
              <a:rPr lang="en-US" sz="2800" dirty="0"/>
              <a:t>The outcome of interest is the score on the end of year  Smarter-Balanced (SBAC) summative assessment in math. </a:t>
            </a:r>
          </a:p>
          <a:p>
            <a:r>
              <a:rPr lang="en-US" sz="2800" dirty="0"/>
              <a:t>The main effect estimate (treatment – control) is 20 points on the SBAC score scale.</a:t>
            </a:r>
          </a:p>
          <a:p>
            <a:pPr marL="0" indent="0">
              <a:buNone/>
            </a:pPr>
            <a:endParaRPr lang="en-US" sz="2800" dirty="0"/>
          </a:p>
          <a:p>
            <a:endParaRPr lang="en-US" sz="2800" dirty="0"/>
          </a:p>
        </p:txBody>
      </p:sp>
      <p:sp>
        <p:nvSpPr>
          <p:cNvPr id="4" name="Slide Number Placeholder 3">
            <a:extLst>
              <a:ext uri="{FF2B5EF4-FFF2-40B4-BE49-F238E27FC236}">
                <a16:creationId xmlns:a16="http://schemas.microsoft.com/office/drawing/2014/main" id="{4171CAF1-E3B8-724F-9A01-7B8BE32DDADF}"/>
              </a:ext>
            </a:extLst>
          </p:cNvPr>
          <p:cNvSpPr>
            <a:spLocks noGrp="1"/>
          </p:cNvSpPr>
          <p:nvPr>
            <p:ph type="sldNum" sz="quarter" idx="12"/>
          </p:nvPr>
        </p:nvSpPr>
        <p:spPr/>
        <p:txBody>
          <a:bodyPr/>
          <a:lstStyle/>
          <a:p>
            <a:fld id="{EFD2A749-B6C7-C240-8A90-1E79A2210C21}" type="slidenum">
              <a:rPr lang="en-US"/>
              <a:t>5</a:t>
            </a:fld>
            <a:endParaRPr lang="en-US" dirty="0"/>
          </a:p>
        </p:txBody>
      </p:sp>
    </p:spTree>
    <p:extLst>
      <p:ext uri="{BB962C8B-B14F-4D97-AF65-F5344CB8AC3E}">
        <p14:creationId xmlns:p14="http://schemas.microsoft.com/office/powerpoint/2010/main" val="419208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87DE48-53DD-6F46-8FE0-F63262E2C2DD}"/>
              </a:ext>
            </a:extLst>
          </p:cNvPr>
          <p:cNvSpPr>
            <a:spLocks noGrp="1"/>
          </p:cNvSpPr>
          <p:nvPr>
            <p:ph type="sldNum" sz="quarter" idx="12"/>
          </p:nvPr>
        </p:nvSpPr>
        <p:spPr/>
        <p:txBody>
          <a:bodyPr/>
          <a:lstStyle/>
          <a:p>
            <a:fld id="{EFD2A749-B6C7-C240-8A90-1E79A2210C21}" type="slidenum">
              <a:rPr lang="en-US"/>
              <a:t>6</a:t>
            </a:fld>
            <a:endParaRPr lang="en-US"/>
          </a:p>
        </p:txBody>
      </p:sp>
      <p:sp>
        <p:nvSpPr>
          <p:cNvPr id="5" name="TextBox 4">
            <a:extLst>
              <a:ext uri="{FF2B5EF4-FFF2-40B4-BE49-F238E27FC236}">
                <a16:creationId xmlns:a16="http://schemas.microsoft.com/office/drawing/2014/main" id="{D48E0B9B-2214-5E49-9393-E05561DEAE7D}"/>
              </a:ext>
            </a:extLst>
          </p:cNvPr>
          <p:cNvSpPr txBox="1"/>
          <p:nvPr/>
        </p:nvSpPr>
        <p:spPr>
          <a:xfrm>
            <a:off x="1703794" y="2098558"/>
            <a:ext cx="8885816" cy="2554545"/>
          </a:xfrm>
          <a:prstGeom prst="rect">
            <a:avLst/>
          </a:prstGeom>
          <a:noFill/>
        </p:spPr>
        <p:txBody>
          <a:bodyPr wrap="square" rtlCol="0">
            <a:spAutoFit/>
          </a:bodyPr>
          <a:lstStyle/>
          <a:p>
            <a:pPr marL="514350" indent="-514350">
              <a:buFont typeface="+mj-lt"/>
              <a:buAutoNum type="arabicPeriod"/>
            </a:pPr>
            <a:r>
              <a:rPr lang="en-US" sz="3200"/>
              <a:t>How should the effect of the Accelerated Math treatment be communicated?</a:t>
            </a:r>
          </a:p>
          <a:p>
            <a:pPr marL="514350" indent="-514350">
              <a:buFont typeface="+mj-lt"/>
              <a:buAutoNum type="arabicPeriod"/>
            </a:pPr>
            <a:r>
              <a:rPr lang="en-US" sz="3200"/>
              <a:t>How should the practical significance of the effect be evaluated?</a:t>
            </a:r>
          </a:p>
          <a:p>
            <a:endParaRPr lang="en-US" sz="3200"/>
          </a:p>
        </p:txBody>
      </p:sp>
    </p:spTree>
    <p:extLst>
      <p:ext uri="{BB962C8B-B14F-4D97-AF65-F5344CB8AC3E}">
        <p14:creationId xmlns:p14="http://schemas.microsoft.com/office/powerpoint/2010/main" val="2775008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96274C-B3F3-594D-8AD8-BC67E0822166}"/>
              </a:ext>
            </a:extLst>
          </p:cNvPr>
          <p:cNvSpPr>
            <a:spLocks noGrp="1"/>
          </p:cNvSpPr>
          <p:nvPr>
            <p:ph type="title"/>
          </p:nvPr>
        </p:nvSpPr>
        <p:spPr>
          <a:xfrm>
            <a:off x="476921" y="274638"/>
            <a:ext cx="11105479" cy="1143000"/>
          </a:xfrm>
        </p:spPr>
        <p:txBody>
          <a:bodyPr>
            <a:normAutofit fontScale="90000"/>
          </a:bodyPr>
          <a:lstStyle/>
          <a:p>
            <a:r>
              <a:rPr lang="en-US" b="1"/>
              <a:t>An answer that is not wrong per se, but insufficient</a:t>
            </a:r>
          </a:p>
        </p:txBody>
      </p:sp>
      <p:sp>
        <p:nvSpPr>
          <p:cNvPr id="5" name="Content Placeholder 4">
            <a:extLst>
              <a:ext uri="{FF2B5EF4-FFF2-40B4-BE49-F238E27FC236}">
                <a16:creationId xmlns:a16="http://schemas.microsoft.com/office/drawing/2014/main" id="{A6D63120-9513-4042-B7A7-BF0377E7BC3C}"/>
              </a:ext>
            </a:extLst>
          </p:cNvPr>
          <p:cNvSpPr>
            <a:spLocks noGrp="1"/>
          </p:cNvSpPr>
          <p:nvPr>
            <p:ph sz="half" idx="1"/>
          </p:nvPr>
        </p:nvSpPr>
        <p:spPr>
          <a:xfrm>
            <a:off x="609599" y="1600201"/>
            <a:ext cx="11105479" cy="4525963"/>
          </a:xfrm>
        </p:spPr>
        <p:txBody>
          <a:bodyPr>
            <a:normAutofit/>
          </a:bodyPr>
          <a:lstStyle/>
          <a:p>
            <a:pPr marL="0" indent="0">
              <a:buNone/>
            </a:pPr>
            <a:r>
              <a:rPr lang="en-US" sz="2400"/>
              <a:t>“The Accelerated Math intervention had a small but statistically significant (p &lt; .05) effect size of 0.19.”</a:t>
            </a:r>
          </a:p>
        </p:txBody>
      </p:sp>
      <p:sp>
        <p:nvSpPr>
          <p:cNvPr id="2" name="Slide Number Placeholder 1">
            <a:extLst>
              <a:ext uri="{FF2B5EF4-FFF2-40B4-BE49-F238E27FC236}">
                <a16:creationId xmlns:a16="http://schemas.microsoft.com/office/drawing/2014/main" id="{9EFB052A-8778-2B4B-81B8-E17DD107BBAA}"/>
              </a:ext>
            </a:extLst>
          </p:cNvPr>
          <p:cNvSpPr>
            <a:spLocks noGrp="1"/>
          </p:cNvSpPr>
          <p:nvPr>
            <p:ph type="sldNum" sz="quarter" idx="12"/>
          </p:nvPr>
        </p:nvSpPr>
        <p:spPr/>
        <p:txBody>
          <a:bodyPr/>
          <a:lstStyle/>
          <a:p>
            <a:fld id="{EFD2A749-B6C7-C240-8A90-1E79A2210C21}" type="slidenum">
              <a:rPr lang="en-US"/>
              <a:t>7</a:t>
            </a:fld>
            <a:endParaRPr lang="en-US"/>
          </a:p>
        </p:txBody>
      </p:sp>
      <p:pic>
        <p:nvPicPr>
          <p:cNvPr id="7" name="Picture 6">
            <a:extLst>
              <a:ext uri="{FF2B5EF4-FFF2-40B4-BE49-F238E27FC236}">
                <a16:creationId xmlns:a16="http://schemas.microsoft.com/office/drawing/2014/main" id="{02254E04-DD5C-5440-A8D1-665FF0A895F8}"/>
              </a:ext>
            </a:extLst>
          </p:cNvPr>
          <p:cNvPicPr>
            <a:picLocks noChangeAspect="1"/>
          </p:cNvPicPr>
          <p:nvPr/>
        </p:nvPicPr>
        <p:blipFill>
          <a:blip r:embed="rId2"/>
          <a:stretch>
            <a:fillRect/>
          </a:stretch>
        </p:blipFill>
        <p:spPr>
          <a:xfrm>
            <a:off x="715487" y="2669794"/>
            <a:ext cx="1915111" cy="2687171"/>
          </a:xfrm>
          <a:prstGeom prst="rect">
            <a:avLst/>
          </a:prstGeom>
        </p:spPr>
      </p:pic>
      <p:pic>
        <p:nvPicPr>
          <p:cNvPr id="8" name="Content Placeholder 8">
            <a:extLst>
              <a:ext uri="{FF2B5EF4-FFF2-40B4-BE49-F238E27FC236}">
                <a16:creationId xmlns:a16="http://schemas.microsoft.com/office/drawing/2014/main" id="{AC4A73F6-BECC-FE45-99B6-82D4AA07917B}"/>
              </a:ext>
            </a:extLst>
          </p:cNvPr>
          <p:cNvPicPr>
            <a:picLocks noGrp="1" noChangeAspect="1"/>
          </p:cNvPicPr>
          <p:nvPr>
            <p:ph sz="half" idx="2"/>
          </p:nvPr>
        </p:nvPicPr>
        <p:blipFill>
          <a:blip r:embed="rId3"/>
          <a:stretch>
            <a:fillRect/>
          </a:stretch>
        </p:blipFill>
        <p:spPr>
          <a:xfrm>
            <a:off x="2790165" y="2690123"/>
            <a:ext cx="4267201" cy="1545020"/>
          </a:xfrm>
        </p:spPr>
      </p:pic>
      <p:pic>
        <p:nvPicPr>
          <p:cNvPr id="10" name="Picture 9">
            <a:extLst>
              <a:ext uri="{FF2B5EF4-FFF2-40B4-BE49-F238E27FC236}">
                <a16:creationId xmlns:a16="http://schemas.microsoft.com/office/drawing/2014/main" id="{FD45CD16-FF30-DE40-BC1A-6AC0D3E29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2770" y="2690123"/>
            <a:ext cx="3381745" cy="2829038"/>
          </a:xfrm>
          <a:prstGeom prst="rect">
            <a:avLst/>
          </a:prstGeom>
        </p:spPr>
      </p:pic>
    </p:spTree>
    <p:extLst>
      <p:ext uri="{BB962C8B-B14F-4D97-AF65-F5344CB8AC3E}">
        <p14:creationId xmlns:p14="http://schemas.microsoft.com/office/powerpoint/2010/main" val="126905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596CD8-BF3B-7B41-9C9A-AB734E95B065}"/>
              </a:ext>
            </a:extLst>
          </p:cNvPr>
          <p:cNvSpPr>
            <a:spLocks noGrp="1"/>
          </p:cNvSpPr>
          <p:nvPr>
            <p:ph type="title"/>
          </p:nvPr>
        </p:nvSpPr>
        <p:spPr/>
        <p:txBody>
          <a:bodyPr>
            <a:normAutofit/>
          </a:bodyPr>
          <a:lstStyle/>
          <a:p>
            <a:pPr algn="l"/>
            <a:r>
              <a:rPr lang="en-US" b="1"/>
              <a:t>Lipsey et al (2012) on Representing Effects</a:t>
            </a:r>
          </a:p>
        </p:txBody>
      </p:sp>
      <p:sp>
        <p:nvSpPr>
          <p:cNvPr id="4" name="Content Placeholder 3">
            <a:extLst>
              <a:ext uri="{FF2B5EF4-FFF2-40B4-BE49-F238E27FC236}">
                <a16:creationId xmlns:a16="http://schemas.microsoft.com/office/drawing/2014/main" id="{5F2542ED-49D1-4C45-B1F0-AD113B3E75BE}"/>
              </a:ext>
            </a:extLst>
          </p:cNvPr>
          <p:cNvSpPr>
            <a:spLocks noGrp="1"/>
          </p:cNvSpPr>
          <p:nvPr>
            <p:ph sz="half" idx="1"/>
          </p:nvPr>
        </p:nvSpPr>
        <p:spPr/>
        <p:txBody>
          <a:bodyPr>
            <a:normAutofit/>
          </a:bodyPr>
          <a:lstStyle/>
          <a:p>
            <a:pPr marL="857250" lvl="1" indent="-457200">
              <a:buFont typeface="+mj-lt"/>
              <a:buAutoNum type="arabicPeriod"/>
            </a:pPr>
            <a:r>
              <a:rPr lang="en-US"/>
              <a:t>as a standardized mean difference (effect size)</a:t>
            </a:r>
          </a:p>
          <a:p>
            <a:pPr marL="857250" lvl="1" indent="-457200">
              <a:buFont typeface="+mj-lt"/>
              <a:buAutoNum type="arabicPeriod"/>
            </a:pPr>
            <a:r>
              <a:rPr lang="en-US"/>
              <a:t>in terms of original metric</a:t>
            </a:r>
          </a:p>
          <a:p>
            <a:pPr marL="857250" lvl="1" indent="-457200">
              <a:buFont typeface="+mj-lt"/>
              <a:buAutoNum type="arabicPeriod"/>
            </a:pPr>
            <a:r>
              <a:rPr lang="en-US"/>
              <a:t>in relation to pre-post change</a:t>
            </a:r>
          </a:p>
          <a:p>
            <a:pPr marL="857250" lvl="1" indent="-457200">
              <a:buFont typeface="+mj-lt"/>
              <a:buAutoNum type="arabicPeriod"/>
            </a:pPr>
            <a:r>
              <a:rPr lang="en-US"/>
              <a:t>overlap in (normal) distributions</a:t>
            </a:r>
          </a:p>
          <a:p>
            <a:pPr marL="857250" lvl="1" indent="-457200">
              <a:buFont typeface="+mj-lt"/>
              <a:buAutoNum type="arabicPeriod"/>
            </a:pPr>
            <a:r>
              <a:rPr lang="en-US"/>
              <a:t>percentile differences (improvement index)</a:t>
            </a:r>
          </a:p>
          <a:p>
            <a:pPr marL="857250" lvl="1" indent="-457200">
              <a:buFont typeface="+mj-lt"/>
              <a:buAutoNum type="arabicPeriod"/>
            </a:pPr>
            <a:r>
              <a:rPr lang="en-US"/>
              <a:t>proportions above a cut</a:t>
            </a:r>
          </a:p>
          <a:p>
            <a:pPr marL="857250" lvl="1" indent="-457200">
              <a:buFont typeface="+mj-lt"/>
              <a:buAutoNum type="arabicPeriod"/>
            </a:pPr>
            <a:r>
              <a:rPr lang="en-US"/>
              <a:t>standard scores and normal curve equivalent</a:t>
            </a:r>
          </a:p>
          <a:p>
            <a:pPr marL="914400" lvl="1" indent="-514350">
              <a:buFont typeface="+mj-lt"/>
              <a:buAutoNum type="alphaLcParenR"/>
            </a:pPr>
            <a:endParaRPr lang="en-US"/>
          </a:p>
          <a:p>
            <a:pPr marL="914400" lvl="1" indent="-514350">
              <a:buFont typeface="+mj-lt"/>
              <a:buAutoNum type="alphaLcParenR"/>
            </a:pPr>
            <a:endParaRPr lang="en-US"/>
          </a:p>
        </p:txBody>
      </p:sp>
      <p:pic>
        <p:nvPicPr>
          <p:cNvPr id="7" name="Content Placeholder 6">
            <a:extLst>
              <a:ext uri="{FF2B5EF4-FFF2-40B4-BE49-F238E27FC236}">
                <a16:creationId xmlns:a16="http://schemas.microsoft.com/office/drawing/2014/main" id="{D4A993F7-7519-0949-8918-185587A8A85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2487716"/>
            <a:ext cx="5384800" cy="2750930"/>
          </a:xfrm>
        </p:spPr>
      </p:pic>
      <p:sp>
        <p:nvSpPr>
          <p:cNvPr id="2" name="Slide Number Placeholder 1">
            <a:extLst>
              <a:ext uri="{FF2B5EF4-FFF2-40B4-BE49-F238E27FC236}">
                <a16:creationId xmlns:a16="http://schemas.microsoft.com/office/drawing/2014/main" id="{7BC69F89-4DA0-A84F-AEA3-C0F0C6EC683E}"/>
              </a:ext>
            </a:extLst>
          </p:cNvPr>
          <p:cNvSpPr>
            <a:spLocks noGrp="1"/>
          </p:cNvSpPr>
          <p:nvPr>
            <p:ph type="sldNum" sz="quarter" idx="12"/>
          </p:nvPr>
        </p:nvSpPr>
        <p:spPr/>
        <p:txBody>
          <a:bodyPr/>
          <a:lstStyle/>
          <a:p>
            <a:fld id="{EFD2A749-B6C7-C240-8A90-1E79A2210C21}" type="slidenum">
              <a:rPr lang="en-US"/>
              <a:t>8</a:t>
            </a:fld>
            <a:endParaRPr lang="en-US"/>
          </a:p>
        </p:txBody>
      </p:sp>
      <p:sp>
        <p:nvSpPr>
          <p:cNvPr id="8" name="TextBox 7">
            <a:extLst>
              <a:ext uri="{FF2B5EF4-FFF2-40B4-BE49-F238E27FC236}">
                <a16:creationId xmlns:a16="http://schemas.microsoft.com/office/drawing/2014/main" id="{C2915AF2-971D-F148-9CC6-823A70D83B45}"/>
              </a:ext>
            </a:extLst>
          </p:cNvPr>
          <p:cNvSpPr txBox="1"/>
          <p:nvPr/>
        </p:nvSpPr>
        <p:spPr>
          <a:xfrm>
            <a:off x="6508376" y="1699708"/>
            <a:ext cx="4647304" cy="369332"/>
          </a:xfrm>
          <a:prstGeom prst="rect">
            <a:avLst/>
          </a:prstGeom>
          <a:noFill/>
        </p:spPr>
        <p:txBody>
          <a:bodyPr wrap="square" rtlCol="0">
            <a:spAutoFit/>
          </a:bodyPr>
          <a:lstStyle/>
          <a:p>
            <a:r>
              <a:rPr lang="en-US"/>
              <a:t>Example: WWC “Improvement Index”</a:t>
            </a:r>
          </a:p>
        </p:txBody>
      </p:sp>
      <p:sp>
        <p:nvSpPr>
          <p:cNvPr id="9" name="TextBox 8">
            <a:extLst>
              <a:ext uri="{FF2B5EF4-FFF2-40B4-BE49-F238E27FC236}">
                <a16:creationId xmlns:a16="http://schemas.microsoft.com/office/drawing/2014/main" id="{3946F68B-6C32-DC48-8A90-884E662D92C1}"/>
              </a:ext>
            </a:extLst>
          </p:cNvPr>
          <p:cNvSpPr txBox="1"/>
          <p:nvPr/>
        </p:nvSpPr>
        <p:spPr>
          <a:xfrm>
            <a:off x="4335332" y="6221008"/>
            <a:ext cx="7247068" cy="646331"/>
          </a:xfrm>
          <a:prstGeom prst="rect">
            <a:avLst/>
          </a:prstGeom>
          <a:noFill/>
        </p:spPr>
        <p:txBody>
          <a:bodyPr wrap="square" rtlCol="0">
            <a:spAutoFit/>
          </a:bodyPr>
          <a:lstStyle/>
          <a:p>
            <a:r>
              <a:rPr lang="en-US"/>
              <a:t>https://ies.ed.gov/ncee/wwc/Glossary/improvement%20index</a:t>
            </a:r>
          </a:p>
          <a:p>
            <a:endParaRPr lang="en-US"/>
          </a:p>
        </p:txBody>
      </p:sp>
    </p:spTree>
    <p:extLst>
      <p:ext uri="{BB962C8B-B14F-4D97-AF65-F5344CB8AC3E}">
        <p14:creationId xmlns:p14="http://schemas.microsoft.com/office/powerpoint/2010/main" val="964704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2C94AD-CDF6-0747-BFF0-4F9B5C2F6830}"/>
              </a:ext>
            </a:extLst>
          </p:cNvPr>
          <p:cNvSpPr>
            <a:spLocks noGrp="1"/>
          </p:cNvSpPr>
          <p:nvPr>
            <p:ph type="title"/>
          </p:nvPr>
        </p:nvSpPr>
        <p:spPr/>
        <p:txBody>
          <a:bodyPr/>
          <a:lstStyle/>
          <a:p>
            <a:pPr algn="l"/>
            <a:r>
              <a:rPr lang="en-US" b="1"/>
              <a:t>Conveying the Effect of Accelerated Math</a:t>
            </a:r>
          </a:p>
        </p:txBody>
      </p:sp>
      <p:sp>
        <p:nvSpPr>
          <p:cNvPr id="7" name="Content Placeholder 6">
            <a:extLst>
              <a:ext uri="{FF2B5EF4-FFF2-40B4-BE49-F238E27FC236}">
                <a16:creationId xmlns:a16="http://schemas.microsoft.com/office/drawing/2014/main" id="{59166BEC-8BBF-E848-9C3B-CA76B5D7E0A0}"/>
              </a:ext>
            </a:extLst>
          </p:cNvPr>
          <p:cNvSpPr>
            <a:spLocks noGrp="1"/>
          </p:cNvSpPr>
          <p:nvPr>
            <p:ph idx="1"/>
          </p:nvPr>
        </p:nvSpPr>
        <p:spPr/>
        <p:txBody>
          <a:bodyPr/>
          <a:lstStyle/>
          <a:p>
            <a:r>
              <a:rPr lang="en-US"/>
              <a:t>Original metric: 20 points</a:t>
            </a:r>
          </a:p>
          <a:p>
            <a:r>
              <a:rPr lang="en-US"/>
              <a:t>Standardized mean difference (effect size): 20/105 = .19</a:t>
            </a:r>
          </a:p>
          <a:p>
            <a:r>
              <a:rPr lang="en-US"/>
              <a:t>Improvement Index = 7.5 percentiles</a:t>
            </a:r>
          </a:p>
        </p:txBody>
      </p:sp>
      <p:sp>
        <p:nvSpPr>
          <p:cNvPr id="5" name="Slide Number Placeholder 4">
            <a:extLst>
              <a:ext uri="{FF2B5EF4-FFF2-40B4-BE49-F238E27FC236}">
                <a16:creationId xmlns:a16="http://schemas.microsoft.com/office/drawing/2014/main" id="{4D1FB148-F2F8-0A44-97F7-A407028A3A08}"/>
              </a:ext>
            </a:extLst>
          </p:cNvPr>
          <p:cNvSpPr>
            <a:spLocks noGrp="1"/>
          </p:cNvSpPr>
          <p:nvPr>
            <p:ph type="sldNum" sz="quarter" idx="12"/>
          </p:nvPr>
        </p:nvSpPr>
        <p:spPr/>
        <p:txBody>
          <a:bodyPr/>
          <a:lstStyle/>
          <a:p>
            <a:fld id="{EFD2A749-B6C7-C240-8A90-1E79A2210C21}" type="slidenum">
              <a:rPr lang="en-US"/>
              <a:t>9</a:t>
            </a:fld>
            <a:endParaRPr lang="en-US"/>
          </a:p>
        </p:txBody>
      </p:sp>
      <p:graphicFrame>
        <p:nvGraphicFramePr>
          <p:cNvPr id="3" name="Table 2">
            <a:extLst>
              <a:ext uri="{FF2B5EF4-FFF2-40B4-BE49-F238E27FC236}">
                <a16:creationId xmlns:a16="http://schemas.microsoft.com/office/drawing/2014/main" id="{8E2B637B-10CA-234E-8F00-4A2F2620C127}"/>
              </a:ext>
            </a:extLst>
          </p:cNvPr>
          <p:cNvGraphicFramePr>
            <a:graphicFrameLocks noGrp="1"/>
          </p:cNvGraphicFramePr>
          <p:nvPr>
            <p:extLst>
              <p:ext uri="{D42A27DB-BD31-4B8C-83A1-F6EECF244321}">
                <p14:modId xmlns:p14="http://schemas.microsoft.com/office/powerpoint/2010/main" val="2799941525"/>
              </p:ext>
            </p:extLst>
          </p:nvPr>
        </p:nvGraphicFramePr>
        <p:xfrm>
          <a:off x="1901371" y="3470291"/>
          <a:ext cx="5168900" cy="2225040"/>
        </p:xfrm>
        <a:graphic>
          <a:graphicData uri="http://schemas.openxmlformats.org/drawingml/2006/table">
            <a:tbl>
              <a:tblPr firstRow="1" bandRow="1">
                <a:tableStyleId>{5C22544A-7EE6-4342-B048-85BDC9FD1C3A}</a:tableStyleId>
              </a:tblPr>
              <a:tblGrid>
                <a:gridCol w="1543958">
                  <a:extLst>
                    <a:ext uri="{9D8B030D-6E8A-4147-A177-3AD203B41FA5}">
                      <a16:colId xmlns:a16="http://schemas.microsoft.com/office/drawing/2014/main" val="2585983972"/>
                    </a:ext>
                  </a:extLst>
                </a:gridCol>
                <a:gridCol w="1387928">
                  <a:extLst>
                    <a:ext uri="{9D8B030D-6E8A-4147-A177-3AD203B41FA5}">
                      <a16:colId xmlns:a16="http://schemas.microsoft.com/office/drawing/2014/main" val="2937714227"/>
                    </a:ext>
                  </a:extLst>
                </a:gridCol>
                <a:gridCol w="2237014">
                  <a:extLst>
                    <a:ext uri="{9D8B030D-6E8A-4147-A177-3AD203B41FA5}">
                      <a16:colId xmlns:a16="http://schemas.microsoft.com/office/drawing/2014/main" val="3838487507"/>
                    </a:ext>
                  </a:extLst>
                </a:gridCol>
              </a:tblGrid>
              <a:tr h="370840">
                <a:tc>
                  <a:txBody>
                    <a:bodyPr/>
                    <a:lstStyle/>
                    <a:p>
                      <a:r>
                        <a:rPr lang="en-US"/>
                        <a:t>Treatment Z</a:t>
                      </a:r>
                    </a:p>
                  </a:txBody>
                  <a:tcPr/>
                </a:tc>
                <a:tc>
                  <a:txBody>
                    <a:bodyPr/>
                    <a:lstStyle/>
                    <a:p>
                      <a:r>
                        <a:rPr lang="en-US"/>
                        <a:t>Control Z</a:t>
                      </a:r>
                    </a:p>
                  </a:txBody>
                  <a:tcPr/>
                </a:tc>
                <a:tc>
                  <a:txBody>
                    <a:bodyPr/>
                    <a:lstStyle/>
                    <a:p>
                      <a:r>
                        <a:rPr lang="en-US"/>
                        <a:t>Percentile Increase</a:t>
                      </a:r>
                    </a:p>
                  </a:txBody>
                  <a:tcPr/>
                </a:tc>
                <a:extLst>
                  <a:ext uri="{0D108BD9-81ED-4DB2-BD59-A6C34878D82A}">
                    <a16:rowId xmlns:a16="http://schemas.microsoft.com/office/drawing/2014/main" val="634873606"/>
                  </a:ext>
                </a:extLst>
              </a:tr>
              <a:tr h="370840">
                <a:tc>
                  <a:txBody>
                    <a:bodyPr/>
                    <a:lstStyle/>
                    <a:p>
                      <a:pPr algn="ctr"/>
                      <a:r>
                        <a:rPr lang="en-US"/>
                        <a:t>-1.8</a:t>
                      </a:r>
                    </a:p>
                  </a:txBody>
                  <a:tcPr/>
                </a:tc>
                <a:tc>
                  <a:txBody>
                    <a:bodyPr/>
                    <a:lstStyle/>
                    <a:p>
                      <a:pPr algn="ctr"/>
                      <a:r>
                        <a:rPr lang="en-US"/>
                        <a:t>-2</a:t>
                      </a:r>
                    </a:p>
                  </a:txBody>
                  <a:tcPr/>
                </a:tc>
                <a:tc>
                  <a:txBody>
                    <a:bodyPr/>
                    <a:lstStyle/>
                    <a:p>
                      <a:pPr algn="ctr"/>
                      <a:r>
                        <a:rPr lang="en-US"/>
                        <a:t>1.2</a:t>
                      </a:r>
                    </a:p>
                  </a:txBody>
                  <a:tcPr/>
                </a:tc>
                <a:extLst>
                  <a:ext uri="{0D108BD9-81ED-4DB2-BD59-A6C34878D82A}">
                    <a16:rowId xmlns:a16="http://schemas.microsoft.com/office/drawing/2014/main" val="2630016186"/>
                  </a:ext>
                </a:extLst>
              </a:tr>
              <a:tr h="370840">
                <a:tc>
                  <a:txBody>
                    <a:bodyPr/>
                    <a:lstStyle/>
                    <a:p>
                      <a:pPr algn="ctr"/>
                      <a:r>
                        <a:rPr lang="en-US"/>
                        <a:t>-.8</a:t>
                      </a:r>
                    </a:p>
                  </a:txBody>
                  <a:tcPr/>
                </a:tc>
                <a:tc>
                  <a:txBody>
                    <a:bodyPr/>
                    <a:lstStyle/>
                    <a:p>
                      <a:pPr algn="ctr"/>
                      <a:r>
                        <a:rPr lang="en-US"/>
                        <a:t>-1</a:t>
                      </a:r>
                    </a:p>
                  </a:txBody>
                  <a:tcPr/>
                </a:tc>
                <a:tc>
                  <a:txBody>
                    <a:bodyPr/>
                    <a:lstStyle/>
                    <a:p>
                      <a:pPr algn="ctr"/>
                      <a:r>
                        <a:rPr lang="en-US"/>
                        <a:t>5.0</a:t>
                      </a:r>
                    </a:p>
                  </a:txBody>
                  <a:tcPr/>
                </a:tc>
                <a:extLst>
                  <a:ext uri="{0D108BD9-81ED-4DB2-BD59-A6C34878D82A}">
                    <a16:rowId xmlns:a16="http://schemas.microsoft.com/office/drawing/2014/main" val="1945719609"/>
                  </a:ext>
                </a:extLst>
              </a:tr>
              <a:tr h="370840">
                <a:tc>
                  <a:txBody>
                    <a:bodyPr/>
                    <a:lstStyle/>
                    <a:p>
                      <a:pPr algn="ctr"/>
                      <a:r>
                        <a:rPr lang="en-US"/>
                        <a:t>.2</a:t>
                      </a:r>
                    </a:p>
                  </a:txBody>
                  <a:tcPr/>
                </a:tc>
                <a:tc>
                  <a:txBody>
                    <a:bodyPr/>
                    <a:lstStyle/>
                    <a:p>
                      <a:pPr algn="ctr"/>
                      <a:r>
                        <a:rPr lang="en-US"/>
                        <a:t>0</a:t>
                      </a:r>
                    </a:p>
                  </a:txBody>
                  <a:tcPr/>
                </a:tc>
                <a:tc>
                  <a:txBody>
                    <a:bodyPr/>
                    <a:lstStyle/>
                    <a:p>
                      <a:pPr algn="ctr"/>
                      <a:r>
                        <a:rPr lang="en-US"/>
                        <a:t>7.5</a:t>
                      </a:r>
                    </a:p>
                  </a:txBody>
                  <a:tcPr/>
                </a:tc>
                <a:extLst>
                  <a:ext uri="{0D108BD9-81ED-4DB2-BD59-A6C34878D82A}">
                    <a16:rowId xmlns:a16="http://schemas.microsoft.com/office/drawing/2014/main" val="2996157993"/>
                  </a:ext>
                </a:extLst>
              </a:tr>
              <a:tr h="370840">
                <a:tc>
                  <a:txBody>
                    <a:bodyPr/>
                    <a:lstStyle/>
                    <a:p>
                      <a:pPr algn="ctr"/>
                      <a:r>
                        <a:rPr lang="en-US"/>
                        <a:t>1.2</a:t>
                      </a:r>
                    </a:p>
                  </a:txBody>
                  <a:tcPr/>
                </a:tc>
                <a:tc>
                  <a:txBody>
                    <a:bodyPr/>
                    <a:lstStyle/>
                    <a:p>
                      <a:pPr algn="ctr"/>
                      <a:r>
                        <a:rPr lang="en-US"/>
                        <a:t>1</a:t>
                      </a:r>
                    </a:p>
                  </a:txBody>
                  <a:tcPr/>
                </a:tc>
                <a:tc>
                  <a:txBody>
                    <a:bodyPr/>
                    <a:lstStyle/>
                    <a:p>
                      <a:pPr algn="ctr"/>
                      <a:r>
                        <a:rPr lang="en-US"/>
                        <a:t>4.2</a:t>
                      </a:r>
                    </a:p>
                  </a:txBody>
                  <a:tcPr/>
                </a:tc>
                <a:extLst>
                  <a:ext uri="{0D108BD9-81ED-4DB2-BD59-A6C34878D82A}">
                    <a16:rowId xmlns:a16="http://schemas.microsoft.com/office/drawing/2014/main" val="2393620701"/>
                  </a:ext>
                </a:extLst>
              </a:tr>
              <a:tr h="370840">
                <a:tc>
                  <a:txBody>
                    <a:bodyPr/>
                    <a:lstStyle/>
                    <a:p>
                      <a:pPr algn="ctr"/>
                      <a:r>
                        <a:rPr lang="en-US"/>
                        <a:t>2.2</a:t>
                      </a:r>
                    </a:p>
                  </a:txBody>
                  <a:tcPr/>
                </a:tc>
                <a:tc>
                  <a:txBody>
                    <a:bodyPr/>
                    <a:lstStyle/>
                    <a:p>
                      <a:pPr algn="ctr"/>
                      <a:r>
                        <a:rPr lang="en-US"/>
                        <a:t>2</a:t>
                      </a:r>
                    </a:p>
                  </a:txBody>
                  <a:tcPr/>
                </a:tc>
                <a:tc>
                  <a:txBody>
                    <a:bodyPr/>
                    <a:lstStyle/>
                    <a:p>
                      <a:pPr algn="ctr"/>
                      <a:r>
                        <a:rPr lang="en-US"/>
                        <a:t>.85</a:t>
                      </a:r>
                    </a:p>
                  </a:txBody>
                  <a:tcPr/>
                </a:tc>
                <a:extLst>
                  <a:ext uri="{0D108BD9-81ED-4DB2-BD59-A6C34878D82A}">
                    <a16:rowId xmlns:a16="http://schemas.microsoft.com/office/drawing/2014/main" val="4086570226"/>
                  </a:ext>
                </a:extLst>
              </a:tr>
            </a:tbl>
          </a:graphicData>
        </a:graphic>
      </p:graphicFrame>
      <p:sp>
        <p:nvSpPr>
          <p:cNvPr id="4" name="TextBox 3">
            <a:extLst>
              <a:ext uri="{FF2B5EF4-FFF2-40B4-BE49-F238E27FC236}">
                <a16:creationId xmlns:a16="http://schemas.microsoft.com/office/drawing/2014/main" id="{70B9CA67-0E7A-8049-8714-FAD6CDE7B70C}"/>
              </a:ext>
            </a:extLst>
          </p:cNvPr>
          <p:cNvSpPr txBox="1"/>
          <p:nvPr/>
        </p:nvSpPr>
        <p:spPr>
          <a:xfrm>
            <a:off x="7805057" y="3241691"/>
            <a:ext cx="3777343" cy="2554545"/>
          </a:xfrm>
          <a:prstGeom prst="rect">
            <a:avLst/>
          </a:prstGeom>
          <a:noFill/>
        </p:spPr>
        <p:txBody>
          <a:bodyPr wrap="square" rtlCol="0">
            <a:spAutoFit/>
          </a:bodyPr>
          <a:lstStyle/>
          <a:p>
            <a:pPr marL="285750" indent="-285750">
              <a:buFont typeface="Arial" panose="020B0604020202020204" pitchFamily="34" charset="0"/>
              <a:buChar char="•"/>
            </a:pPr>
            <a:r>
              <a:rPr lang="en-US" sz="2000"/>
              <a:t>According to Cohen’s Conventions, an ES of .19 is considered a “small” effect.</a:t>
            </a:r>
          </a:p>
          <a:p>
            <a:pPr marL="285750" indent="-285750">
              <a:buFont typeface="Arial" panose="020B0604020202020204" pitchFamily="34" charset="0"/>
              <a:buChar char="•"/>
            </a:pPr>
            <a:r>
              <a:rPr lang="en-US" sz="2000"/>
              <a:t>The WWC benchmark for a “substantively” important effect is .25.</a:t>
            </a:r>
          </a:p>
          <a:p>
            <a:pPr marL="285750" indent="-285750">
              <a:buFont typeface="Arial" panose="020B0604020202020204" pitchFamily="34" charset="0"/>
              <a:buChar char="•"/>
            </a:pPr>
            <a:r>
              <a:rPr lang="en-US" sz="2000"/>
              <a:t>Does this mean the effect is not practically significant? </a:t>
            </a:r>
          </a:p>
        </p:txBody>
      </p:sp>
    </p:spTree>
    <p:extLst>
      <p:ext uri="{BB962C8B-B14F-4D97-AF65-F5344CB8AC3E}">
        <p14:creationId xmlns:p14="http://schemas.microsoft.com/office/powerpoint/2010/main" val="313132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B13B9-C7D7-1D40-95C6-4DD9A29D748A}"/>
              </a:ext>
            </a:extLst>
          </p:cNvPr>
          <p:cNvSpPr>
            <a:spLocks noGrp="1"/>
          </p:cNvSpPr>
          <p:nvPr>
            <p:ph type="title"/>
          </p:nvPr>
        </p:nvSpPr>
        <p:spPr/>
        <p:txBody>
          <a:bodyPr/>
          <a:lstStyle/>
          <a:p>
            <a:r>
              <a:rPr lang="en-US" b="1"/>
              <a:t>Lipsey et al on Assessing Practical Significance</a:t>
            </a:r>
          </a:p>
        </p:txBody>
      </p:sp>
      <p:sp>
        <p:nvSpPr>
          <p:cNvPr id="3" name="Content Placeholder 2">
            <a:extLst>
              <a:ext uri="{FF2B5EF4-FFF2-40B4-BE49-F238E27FC236}">
                <a16:creationId xmlns:a16="http://schemas.microsoft.com/office/drawing/2014/main" id="{7E9E75AD-2F7E-DD4B-A2CE-D89F4D70B9D8}"/>
              </a:ext>
            </a:extLst>
          </p:cNvPr>
          <p:cNvSpPr>
            <a:spLocks noGrp="1"/>
          </p:cNvSpPr>
          <p:nvPr>
            <p:ph idx="1"/>
          </p:nvPr>
        </p:nvSpPr>
        <p:spPr/>
        <p:txBody>
          <a:bodyPr/>
          <a:lstStyle/>
          <a:p>
            <a:pPr marL="0" indent="0">
              <a:buNone/>
            </a:pPr>
            <a:r>
              <a:rPr lang="en-US"/>
              <a:t>Using an external benchmark for</a:t>
            </a:r>
          </a:p>
          <a:p>
            <a:pPr marL="514350" indent="-514350">
              <a:buFont typeface="+mj-lt"/>
              <a:buAutoNum type="arabicPeriod"/>
            </a:pPr>
            <a:r>
              <a:rPr lang="en-US"/>
              <a:t>Normative expectations of academic growth</a:t>
            </a:r>
          </a:p>
          <a:p>
            <a:pPr marL="514350" indent="-514350">
              <a:buFont typeface="+mj-lt"/>
              <a:buAutoNum type="arabicPeriod"/>
            </a:pPr>
            <a:r>
              <a:rPr lang="en-US"/>
              <a:t>Policy-relevant performance gaps</a:t>
            </a:r>
          </a:p>
          <a:p>
            <a:pPr marL="514350" indent="-514350">
              <a:buFont typeface="+mj-lt"/>
              <a:buAutoNum type="arabicPeriod"/>
            </a:pPr>
            <a:r>
              <a:rPr lang="en-US"/>
              <a:t>Differences among schools</a:t>
            </a:r>
          </a:p>
          <a:p>
            <a:pPr marL="514350" indent="-514350">
              <a:buFont typeface="+mj-lt"/>
              <a:buAutoNum type="arabicPeriod"/>
            </a:pPr>
            <a:r>
              <a:rPr lang="en-US"/>
              <a:t>Observed effect sizes for similar interventions</a:t>
            </a:r>
          </a:p>
          <a:p>
            <a:pPr marL="514350" indent="-514350">
              <a:buFont typeface="+mj-lt"/>
              <a:buAutoNum type="arabicPeriod"/>
            </a:pPr>
            <a:r>
              <a:rPr lang="en-US"/>
              <a:t>Cost of the Intervention</a:t>
            </a:r>
          </a:p>
        </p:txBody>
      </p:sp>
      <p:sp>
        <p:nvSpPr>
          <p:cNvPr id="4" name="Slide Number Placeholder 3">
            <a:extLst>
              <a:ext uri="{FF2B5EF4-FFF2-40B4-BE49-F238E27FC236}">
                <a16:creationId xmlns:a16="http://schemas.microsoft.com/office/drawing/2014/main" id="{7D763162-CBA0-844F-B854-00AB44DDBAD7}"/>
              </a:ext>
            </a:extLst>
          </p:cNvPr>
          <p:cNvSpPr>
            <a:spLocks noGrp="1"/>
          </p:cNvSpPr>
          <p:nvPr>
            <p:ph type="sldNum" sz="quarter" idx="12"/>
          </p:nvPr>
        </p:nvSpPr>
        <p:spPr/>
        <p:txBody>
          <a:bodyPr/>
          <a:lstStyle/>
          <a:p>
            <a:fld id="{EFD2A749-B6C7-C240-8A90-1E79A2210C21}" type="slidenum">
              <a:rPr lang="en-US"/>
              <a:t>10</a:t>
            </a:fld>
            <a:endParaRPr lang="en-US"/>
          </a:p>
        </p:txBody>
      </p:sp>
      <p:sp>
        <p:nvSpPr>
          <p:cNvPr id="5" name="Rectangle 4">
            <a:extLst>
              <a:ext uri="{FF2B5EF4-FFF2-40B4-BE49-F238E27FC236}">
                <a16:creationId xmlns:a16="http://schemas.microsoft.com/office/drawing/2014/main" id="{47BFB413-58D2-864E-9E3F-3FD31CE8C5D2}"/>
              </a:ext>
            </a:extLst>
          </p:cNvPr>
          <p:cNvSpPr/>
          <p:nvPr/>
        </p:nvSpPr>
        <p:spPr>
          <a:xfrm>
            <a:off x="484094" y="2183802"/>
            <a:ext cx="8401722" cy="6562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48C3E85-8008-D340-989B-535E7C50BDDF}"/>
              </a:ext>
            </a:extLst>
          </p:cNvPr>
          <p:cNvSpPr txBox="1"/>
          <p:nvPr/>
        </p:nvSpPr>
        <p:spPr>
          <a:xfrm>
            <a:off x="609601" y="5290173"/>
            <a:ext cx="10746658" cy="830997"/>
          </a:xfrm>
          <a:prstGeom prst="rect">
            <a:avLst/>
          </a:prstGeom>
          <a:noFill/>
          <a:ln>
            <a:solidFill>
              <a:schemeClr val="accent1"/>
            </a:solidFill>
          </a:ln>
        </p:spPr>
        <p:txBody>
          <a:bodyPr wrap="square" rtlCol="0">
            <a:spAutoFit/>
          </a:bodyPr>
          <a:lstStyle/>
          <a:p>
            <a:r>
              <a:rPr lang="en-US" sz="2400"/>
              <a:t>Note that these are all norms that are usually external to the measured learning outcome.</a:t>
            </a:r>
          </a:p>
        </p:txBody>
      </p:sp>
    </p:spTree>
    <p:extLst>
      <p:ext uri="{BB962C8B-B14F-4D97-AF65-F5344CB8AC3E}">
        <p14:creationId xmlns:p14="http://schemas.microsoft.com/office/powerpoint/2010/main" val="126599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07A3A-2382-FA44-97B4-58ABAF6F277B}"/>
              </a:ext>
            </a:extLst>
          </p:cNvPr>
          <p:cNvSpPr>
            <a:spLocks noGrp="1"/>
          </p:cNvSpPr>
          <p:nvPr>
            <p:ph type="title"/>
          </p:nvPr>
        </p:nvSpPr>
        <p:spPr/>
        <p:txBody>
          <a:bodyPr/>
          <a:lstStyle/>
          <a:p>
            <a:pPr algn="l"/>
            <a:r>
              <a:rPr lang="en-US" b="1"/>
              <a:t>The SBAC Math Vertical Scale</a:t>
            </a:r>
          </a:p>
        </p:txBody>
      </p:sp>
      <p:pic>
        <p:nvPicPr>
          <p:cNvPr id="6" name="Content Placeholder 5">
            <a:extLst>
              <a:ext uri="{FF2B5EF4-FFF2-40B4-BE49-F238E27FC236}">
                <a16:creationId xmlns:a16="http://schemas.microsoft.com/office/drawing/2014/main" id="{6074B4B3-80EB-4E4A-8C62-6FB0539BDD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8236" y="2572149"/>
            <a:ext cx="10972800" cy="3249038"/>
          </a:xfrm>
        </p:spPr>
      </p:pic>
      <p:sp>
        <p:nvSpPr>
          <p:cNvPr id="4" name="Slide Number Placeholder 3">
            <a:extLst>
              <a:ext uri="{FF2B5EF4-FFF2-40B4-BE49-F238E27FC236}">
                <a16:creationId xmlns:a16="http://schemas.microsoft.com/office/drawing/2014/main" id="{256F4DE0-4DBE-F140-9D7D-0FAC2CE1DA4A}"/>
              </a:ext>
            </a:extLst>
          </p:cNvPr>
          <p:cNvSpPr>
            <a:spLocks noGrp="1"/>
          </p:cNvSpPr>
          <p:nvPr>
            <p:ph type="sldNum" sz="quarter" idx="12"/>
          </p:nvPr>
        </p:nvSpPr>
        <p:spPr/>
        <p:txBody>
          <a:bodyPr/>
          <a:lstStyle/>
          <a:p>
            <a:fld id="{EFD2A749-B6C7-C240-8A90-1E79A2210C21}" type="slidenum">
              <a:rPr lang="en-US"/>
              <a:t>11</a:t>
            </a:fld>
            <a:endParaRPr lang="en-US"/>
          </a:p>
        </p:txBody>
      </p:sp>
      <p:sp>
        <p:nvSpPr>
          <p:cNvPr id="7" name="TextBox 6">
            <a:extLst>
              <a:ext uri="{FF2B5EF4-FFF2-40B4-BE49-F238E27FC236}">
                <a16:creationId xmlns:a16="http://schemas.microsoft.com/office/drawing/2014/main" id="{51807559-D5D0-0C49-9109-D7BA6339BEF9}"/>
              </a:ext>
            </a:extLst>
          </p:cNvPr>
          <p:cNvSpPr txBox="1"/>
          <p:nvPr/>
        </p:nvSpPr>
        <p:spPr>
          <a:xfrm>
            <a:off x="4087905" y="6239435"/>
            <a:ext cx="7110805" cy="369332"/>
          </a:xfrm>
          <a:prstGeom prst="rect">
            <a:avLst/>
          </a:prstGeom>
          <a:noFill/>
        </p:spPr>
        <p:txBody>
          <a:bodyPr wrap="square" rtlCol="0">
            <a:spAutoFit/>
          </a:bodyPr>
          <a:lstStyle/>
          <a:p>
            <a:r>
              <a:rPr lang="en-US"/>
              <a:t>http://www.smarterbalanced.org/assessments/development/percentiles/</a:t>
            </a:r>
          </a:p>
        </p:txBody>
      </p:sp>
      <p:sp>
        <p:nvSpPr>
          <p:cNvPr id="8" name="TextBox 7">
            <a:extLst>
              <a:ext uri="{FF2B5EF4-FFF2-40B4-BE49-F238E27FC236}">
                <a16:creationId xmlns:a16="http://schemas.microsoft.com/office/drawing/2014/main" id="{CF2FD802-745C-FD49-A6E9-ABBC9E1AC302}"/>
              </a:ext>
            </a:extLst>
          </p:cNvPr>
          <p:cNvSpPr txBox="1"/>
          <p:nvPr/>
        </p:nvSpPr>
        <p:spPr>
          <a:xfrm>
            <a:off x="759752" y="1534554"/>
            <a:ext cx="10349768" cy="830997"/>
          </a:xfrm>
          <a:prstGeom prst="rect">
            <a:avLst/>
          </a:prstGeom>
          <a:noFill/>
        </p:spPr>
        <p:txBody>
          <a:bodyPr wrap="square" rtlCol="0">
            <a:spAutoFit/>
          </a:bodyPr>
          <a:lstStyle/>
          <a:p>
            <a:r>
              <a:rPr lang="en-US" sz="2400"/>
              <a:t>The SBAC scale ranges from 2292 in grade 3 to 2775 in grade 12</a:t>
            </a:r>
          </a:p>
          <a:p>
            <a:r>
              <a:rPr lang="en-US" sz="2400"/>
              <a:t>In grade 6, scores range from 2327 to 2678, Mean = 2512, SD = 105 </a:t>
            </a:r>
          </a:p>
        </p:txBody>
      </p:sp>
    </p:spTree>
    <p:extLst>
      <p:ext uri="{BB962C8B-B14F-4D97-AF65-F5344CB8AC3E}">
        <p14:creationId xmlns:p14="http://schemas.microsoft.com/office/powerpoint/2010/main" val="3793817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6AD2C4-E877-6C41-AC62-0A2B869D41F9}"/>
              </a:ext>
            </a:extLst>
          </p:cNvPr>
          <p:cNvSpPr>
            <a:spLocks noGrp="1"/>
          </p:cNvSpPr>
          <p:nvPr>
            <p:ph type="title"/>
          </p:nvPr>
        </p:nvSpPr>
        <p:spPr/>
        <p:txBody>
          <a:bodyPr/>
          <a:lstStyle/>
          <a:p>
            <a:pPr algn="l"/>
            <a:r>
              <a:rPr lang="en-US" b="1"/>
              <a:t>Growth on SBAC Math Tests</a:t>
            </a:r>
          </a:p>
        </p:txBody>
      </p:sp>
      <p:pic>
        <p:nvPicPr>
          <p:cNvPr id="8" name="Content Placeholder 7">
            <a:extLst>
              <a:ext uri="{FF2B5EF4-FFF2-40B4-BE49-F238E27FC236}">
                <a16:creationId xmlns:a16="http://schemas.microsoft.com/office/drawing/2014/main" id="{0B3C129E-4C48-FF40-B2C2-07A06A11B090}"/>
              </a:ext>
            </a:extLst>
          </p:cNvPr>
          <p:cNvPicPr>
            <a:picLocks noGrp="1" noChangeAspect="1"/>
          </p:cNvPicPr>
          <p:nvPr>
            <p:ph sz="half" idx="1"/>
          </p:nvPr>
        </p:nvPicPr>
        <p:blipFill>
          <a:blip r:embed="rId3"/>
          <a:stretch>
            <a:fillRect/>
          </a:stretch>
        </p:blipFill>
        <p:spPr>
          <a:xfrm>
            <a:off x="609600" y="1785129"/>
            <a:ext cx="5384800" cy="3101843"/>
          </a:xfrm>
          <a:prstGeom prst="rect">
            <a:avLst/>
          </a:prstGeom>
        </p:spPr>
      </p:pic>
      <p:pic>
        <p:nvPicPr>
          <p:cNvPr id="9" name="Content Placeholder 8">
            <a:extLst>
              <a:ext uri="{FF2B5EF4-FFF2-40B4-BE49-F238E27FC236}">
                <a16:creationId xmlns:a16="http://schemas.microsoft.com/office/drawing/2014/main" id="{D8523C26-A847-884A-8194-24B535840EB3}"/>
              </a:ext>
            </a:extLst>
          </p:cNvPr>
          <p:cNvPicPr>
            <a:picLocks noGrp="1" noChangeAspect="1"/>
          </p:cNvPicPr>
          <p:nvPr>
            <p:ph sz="half" idx="2"/>
          </p:nvPr>
        </p:nvPicPr>
        <p:blipFill>
          <a:blip r:embed="rId4"/>
          <a:stretch>
            <a:fillRect/>
          </a:stretch>
        </p:blipFill>
        <p:spPr>
          <a:xfrm>
            <a:off x="6197600" y="1785129"/>
            <a:ext cx="5384800" cy="3101843"/>
          </a:xfrm>
          <a:prstGeom prst="rect">
            <a:avLst/>
          </a:prstGeom>
        </p:spPr>
      </p:pic>
      <p:sp>
        <p:nvSpPr>
          <p:cNvPr id="4" name="Slide Number Placeholder 3">
            <a:extLst>
              <a:ext uri="{FF2B5EF4-FFF2-40B4-BE49-F238E27FC236}">
                <a16:creationId xmlns:a16="http://schemas.microsoft.com/office/drawing/2014/main" id="{A4EFA00C-94E7-CB4E-A052-9DE966278EDE}"/>
              </a:ext>
            </a:extLst>
          </p:cNvPr>
          <p:cNvSpPr>
            <a:spLocks noGrp="1"/>
          </p:cNvSpPr>
          <p:nvPr>
            <p:ph type="sldNum" sz="quarter" idx="12"/>
          </p:nvPr>
        </p:nvSpPr>
        <p:spPr/>
        <p:txBody>
          <a:bodyPr/>
          <a:lstStyle/>
          <a:p>
            <a:fld id="{EFD2A749-B6C7-C240-8A90-1E79A2210C21}" type="slidenum">
              <a:rPr lang="en-US"/>
              <a:t>12</a:t>
            </a:fld>
            <a:endParaRPr lang="en-US"/>
          </a:p>
        </p:txBody>
      </p:sp>
    </p:spTree>
    <p:extLst>
      <p:ext uri="{BB962C8B-B14F-4D97-AF65-F5344CB8AC3E}">
        <p14:creationId xmlns:p14="http://schemas.microsoft.com/office/powerpoint/2010/main" val="1520400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296B-14EE-664D-B08B-CFB3E5DD6592}"/>
              </a:ext>
            </a:extLst>
          </p:cNvPr>
          <p:cNvSpPr>
            <a:spLocks noGrp="1"/>
          </p:cNvSpPr>
          <p:nvPr>
            <p:ph type="title"/>
          </p:nvPr>
        </p:nvSpPr>
        <p:spPr>
          <a:xfrm>
            <a:off x="329784" y="274638"/>
            <a:ext cx="11252616" cy="1143000"/>
          </a:xfrm>
        </p:spPr>
        <p:txBody>
          <a:bodyPr>
            <a:normAutofit fontScale="90000"/>
          </a:bodyPr>
          <a:lstStyle/>
          <a:p>
            <a:r>
              <a:rPr lang="en-US" b="1"/>
              <a:t>The Effect of Accelerated Math in Weeks of Learning</a:t>
            </a:r>
          </a:p>
        </p:txBody>
      </p:sp>
      <p:graphicFrame>
        <p:nvGraphicFramePr>
          <p:cNvPr id="6" name="Content Placeholder 5">
            <a:extLst>
              <a:ext uri="{FF2B5EF4-FFF2-40B4-BE49-F238E27FC236}">
                <a16:creationId xmlns:a16="http://schemas.microsoft.com/office/drawing/2014/main" id="{AC425ED3-5EBA-0D49-89C0-56FC925B2D19}"/>
              </a:ext>
            </a:extLst>
          </p:cNvPr>
          <p:cNvGraphicFramePr>
            <a:graphicFrameLocks noGrp="1"/>
          </p:cNvGraphicFramePr>
          <p:nvPr>
            <p:ph sz="half" idx="1"/>
            <p:extLst>
              <p:ext uri="{D42A27DB-BD31-4B8C-83A1-F6EECF244321}">
                <p14:modId xmlns:p14="http://schemas.microsoft.com/office/powerpoint/2010/main" val="3616340596"/>
              </p:ext>
            </p:extLst>
          </p:nvPr>
        </p:nvGraphicFramePr>
        <p:xfrm>
          <a:off x="609600" y="2116567"/>
          <a:ext cx="5384800" cy="3139440"/>
        </p:xfrm>
        <a:graphic>
          <a:graphicData uri="http://schemas.openxmlformats.org/drawingml/2006/table">
            <a:tbl>
              <a:tblPr firstRow="1" bandRow="1">
                <a:tableStyleId>{5C22544A-7EE6-4342-B048-85BDC9FD1C3A}</a:tableStyleId>
              </a:tblPr>
              <a:tblGrid>
                <a:gridCol w="1076960">
                  <a:extLst>
                    <a:ext uri="{9D8B030D-6E8A-4147-A177-3AD203B41FA5}">
                      <a16:colId xmlns:a16="http://schemas.microsoft.com/office/drawing/2014/main" val="123913296"/>
                    </a:ext>
                  </a:extLst>
                </a:gridCol>
                <a:gridCol w="1076960">
                  <a:extLst>
                    <a:ext uri="{9D8B030D-6E8A-4147-A177-3AD203B41FA5}">
                      <a16:colId xmlns:a16="http://schemas.microsoft.com/office/drawing/2014/main" val="1988865662"/>
                    </a:ext>
                  </a:extLst>
                </a:gridCol>
                <a:gridCol w="1076960">
                  <a:extLst>
                    <a:ext uri="{9D8B030D-6E8A-4147-A177-3AD203B41FA5}">
                      <a16:colId xmlns:a16="http://schemas.microsoft.com/office/drawing/2014/main" val="1261376122"/>
                    </a:ext>
                  </a:extLst>
                </a:gridCol>
                <a:gridCol w="1076960">
                  <a:extLst>
                    <a:ext uri="{9D8B030D-6E8A-4147-A177-3AD203B41FA5}">
                      <a16:colId xmlns:a16="http://schemas.microsoft.com/office/drawing/2014/main" val="1863862055"/>
                    </a:ext>
                  </a:extLst>
                </a:gridCol>
                <a:gridCol w="1076960">
                  <a:extLst>
                    <a:ext uri="{9D8B030D-6E8A-4147-A177-3AD203B41FA5}">
                      <a16:colId xmlns:a16="http://schemas.microsoft.com/office/drawing/2014/main" val="3734140828"/>
                    </a:ext>
                  </a:extLst>
                </a:gridCol>
              </a:tblGrid>
              <a:tr h="370840">
                <a:tc>
                  <a:txBody>
                    <a:bodyPr/>
                    <a:lstStyle/>
                    <a:p>
                      <a:endParaRPr lang="en-US"/>
                    </a:p>
                  </a:txBody>
                  <a:tcPr/>
                </a:tc>
                <a:tc gridSpan="4">
                  <a:txBody>
                    <a:bodyPr/>
                    <a:lstStyle/>
                    <a:p>
                      <a:r>
                        <a:rPr lang="en-US"/>
                        <a:t>Grade to Grade Gains in SD Units</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07783282"/>
                  </a:ext>
                </a:extLst>
              </a:tr>
              <a:tr h="370840">
                <a:tc>
                  <a:txBody>
                    <a:bodyPr/>
                    <a:lstStyle/>
                    <a:p>
                      <a:r>
                        <a:rPr lang="en-US"/>
                        <a:t>Growth Norms</a:t>
                      </a:r>
                    </a:p>
                  </a:txBody>
                  <a:tcPr/>
                </a:tc>
                <a:tc>
                  <a:txBody>
                    <a:bodyPr/>
                    <a:lstStyle/>
                    <a:p>
                      <a:r>
                        <a:rPr lang="en-US"/>
                        <a:t>SBAC</a:t>
                      </a:r>
                    </a:p>
                    <a:p>
                      <a:r>
                        <a:rPr lang="en-US"/>
                        <a:t>(2015-16)</a:t>
                      </a:r>
                    </a:p>
                  </a:txBody>
                  <a:tcPr/>
                </a:tc>
                <a:tc>
                  <a:txBody>
                    <a:bodyPr/>
                    <a:lstStyle/>
                    <a:p>
                      <a:r>
                        <a:rPr lang="en-US"/>
                        <a:t>Hill et al (2008)</a:t>
                      </a:r>
                    </a:p>
                  </a:txBody>
                  <a:tcPr/>
                </a:tc>
                <a:tc>
                  <a:txBody>
                    <a:bodyPr/>
                    <a:lstStyle/>
                    <a:p>
                      <a:r>
                        <a:rPr lang="en-US"/>
                        <a:t>Dadey &amp; Briggs (2012)</a:t>
                      </a:r>
                    </a:p>
                  </a:txBody>
                  <a:tcPr/>
                </a:tc>
                <a:tc>
                  <a:txBody>
                    <a:bodyPr/>
                    <a:lstStyle/>
                    <a:p>
                      <a:r>
                        <a:rPr lang="en-US"/>
                        <a:t>Student (2024)</a:t>
                      </a:r>
                    </a:p>
                  </a:txBody>
                  <a:tcPr/>
                </a:tc>
                <a:extLst>
                  <a:ext uri="{0D108BD9-81ED-4DB2-BD59-A6C34878D82A}">
                    <a16:rowId xmlns:a16="http://schemas.microsoft.com/office/drawing/2014/main" val="1623390164"/>
                  </a:ext>
                </a:extLst>
              </a:tr>
              <a:tr h="370840">
                <a:tc>
                  <a:txBody>
                    <a:bodyPr/>
                    <a:lstStyle/>
                    <a:p>
                      <a:pPr algn="ctr"/>
                      <a:r>
                        <a:rPr lang="en-US"/>
                        <a:t>3 to 4</a:t>
                      </a:r>
                    </a:p>
                  </a:txBody>
                  <a:tcPr/>
                </a:tc>
                <a:tc>
                  <a:txBody>
                    <a:bodyPr/>
                    <a:lstStyle/>
                    <a:p>
                      <a:pPr algn="ctr"/>
                      <a:r>
                        <a:rPr lang="en-US"/>
                        <a:t>.47</a:t>
                      </a:r>
                    </a:p>
                  </a:txBody>
                  <a:tcPr/>
                </a:tc>
                <a:tc>
                  <a:txBody>
                    <a:bodyPr/>
                    <a:lstStyle/>
                    <a:p>
                      <a:pPr algn="ctr"/>
                      <a:r>
                        <a:rPr lang="en-US"/>
                        <a:t>.52</a:t>
                      </a:r>
                    </a:p>
                  </a:txBody>
                  <a:tcPr/>
                </a:tc>
                <a:tc>
                  <a:txBody>
                    <a:bodyPr/>
                    <a:lstStyle/>
                    <a:p>
                      <a:pPr algn="ctr"/>
                      <a:r>
                        <a:rPr lang="en-US"/>
                        <a:t>.55</a:t>
                      </a:r>
                    </a:p>
                  </a:txBody>
                  <a:tcPr/>
                </a:tc>
                <a:tc>
                  <a:txBody>
                    <a:bodyPr/>
                    <a:lstStyle/>
                    <a:p>
                      <a:pPr algn="ctr"/>
                      <a:r>
                        <a:rPr lang="en-US"/>
                        <a:t>.58</a:t>
                      </a:r>
                    </a:p>
                  </a:txBody>
                  <a:tcPr/>
                </a:tc>
                <a:extLst>
                  <a:ext uri="{0D108BD9-81ED-4DB2-BD59-A6C34878D82A}">
                    <a16:rowId xmlns:a16="http://schemas.microsoft.com/office/drawing/2014/main" val="2564798726"/>
                  </a:ext>
                </a:extLst>
              </a:tr>
              <a:tr h="370840">
                <a:tc>
                  <a:txBody>
                    <a:bodyPr/>
                    <a:lstStyle/>
                    <a:p>
                      <a:pPr algn="ctr"/>
                      <a:r>
                        <a:rPr lang="en-US"/>
                        <a:t>4 to 5</a:t>
                      </a:r>
                    </a:p>
                  </a:txBody>
                  <a:tcPr/>
                </a:tc>
                <a:tc>
                  <a:txBody>
                    <a:bodyPr/>
                    <a:lstStyle/>
                    <a:p>
                      <a:pPr algn="ctr"/>
                      <a:r>
                        <a:rPr lang="en-US"/>
                        <a:t>.28</a:t>
                      </a:r>
                    </a:p>
                  </a:txBody>
                  <a:tcPr/>
                </a:tc>
                <a:tc>
                  <a:txBody>
                    <a:bodyPr/>
                    <a:lstStyle/>
                    <a:p>
                      <a:pPr algn="ctr"/>
                      <a:r>
                        <a:rPr lang="en-US"/>
                        <a:t>.56</a:t>
                      </a:r>
                    </a:p>
                  </a:txBody>
                  <a:tcPr/>
                </a:tc>
                <a:tc>
                  <a:txBody>
                    <a:bodyPr/>
                    <a:lstStyle/>
                    <a:p>
                      <a:pPr algn="ctr"/>
                      <a:r>
                        <a:rPr lang="en-US"/>
                        <a:t>.34</a:t>
                      </a:r>
                    </a:p>
                  </a:txBody>
                  <a:tcPr/>
                </a:tc>
                <a:tc>
                  <a:txBody>
                    <a:bodyPr/>
                    <a:lstStyle/>
                    <a:p>
                      <a:pPr algn="ctr"/>
                      <a:r>
                        <a:rPr lang="en-US"/>
                        <a:t>.50</a:t>
                      </a:r>
                    </a:p>
                  </a:txBody>
                  <a:tcPr/>
                </a:tc>
                <a:extLst>
                  <a:ext uri="{0D108BD9-81ED-4DB2-BD59-A6C34878D82A}">
                    <a16:rowId xmlns:a16="http://schemas.microsoft.com/office/drawing/2014/main" val="2834188420"/>
                  </a:ext>
                </a:extLst>
              </a:tr>
              <a:tr h="370840">
                <a:tc>
                  <a:txBody>
                    <a:bodyPr/>
                    <a:lstStyle/>
                    <a:p>
                      <a:pPr algn="ctr"/>
                      <a:r>
                        <a:rPr lang="en-US"/>
                        <a:t>5 to 6</a:t>
                      </a:r>
                    </a:p>
                  </a:txBody>
                  <a:tcPr/>
                </a:tc>
                <a:tc>
                  <a:txBody>
                    <a:bodyPr/>
                    <a:lstStyle/>
                    <a:p>
                      <a:pPr algn="ctr"/>
                      <a:r>
                        <a:rPr lang="en-US"/>
                        <a:t>.21</a:t>
                      </a:r>
                    </a:p>
                  </a:txBody>
                  <a:tcPr/>
                </a:tc>
                <a:tc>
                  <a:txBody>
                    <a:bodyPr/>
                    <a:lstStyle/>
                    <a:p>
                      <a:pPr algn="ctr"/>
                      <a:r>
                        <a:rPr lang="en-US"/>
                        <a:t>.41</a:t>
                      </a:r>
                    </a:p>
                  </a:txBody>
                  <a:tcPr/>
                </a:tc>
                <a:tc>
                  <a:txBody>
                    <a:bodyPr/>
                    <a:lstStyle/>
                    <a:p>
                      <a:pPr algn="ctr"/>
                      <a:r>
                        <a:rPr lang="en-US"/>
                        <a:t>.28</a:t>
                      </a:r>
                    </a:p>
                  </a:txBody>
                  <a:tcPr/>
                </a:tc>
                <a:tc>
                  <a:txBody>
                    <a:bodyPr/>
                    <a:lstStyle/>
                    <a:p>
                      <a:pPr algn="ctr"/>
                      <a:r>
                        <a:rPr lang="en-US"/>
                        <a:t>.31</a:t>
                      </a:r>
                    </a:p>
                  </a:txBody>
                  <a:tcPr/>
                </a:tc>
                <a:extLst>
                  <a:ext uri="{0D108BD9-81ED-4DB2-BD59-A6C34878D82A}">
                    <a16:rowId xmlns:a16="http://schemas.microsoft.com/office/drawing/2014/main" val="1823338759"/>
                  </a:ext>
                </a:extLst>
              </a:tr>
              <a:tr h="370840">
                <a:tc>
                  <a:txBody>
                    <a:bodyPr/>
                    <a:lstStyle/>
                    <a:p>
                      <a:pPr algn="ctr"/>
                      <a:r>
                        <a:rPr lang="en-US"/>
                        <a:t>6 to 7</a:t>
                      </a:r>
                    </a:p>
                  </a:txBody>
                  <a:tcPr/>
                </a:tc>
                <a:tc>
                  <a:txBody>
                    <a:bodyPr/>
                    <a:lstStyle/>
                    <a:p>
                      <a:pPr algn="ctr"/>
                      <a:r>
                        <a:rPr lang="en-US" b="1"/>
                        <a:t>.16</a:t>
                      </a:r>
                    </a:p>
                  </a:txBody>
                  <a:tcPr/>
                </a:tc>
                <a:tc>
                  <a:txBody>
                    <a:bodyPr/>
                    <a:lstStyle/>
                    <a:p>
                      <a:pPr algn="ctr"/>
                      <a:r>
                        <a:rPr lang="en-US" b="1"/>
                        <a:t>.30</a:t>
                      </a:r>
                    </a:p>
                  </a:txBody>
                  <a:tcPr/>
                </a:tc>
                <a:tc>
                  <a:txBody>
                    <a:bodyPr/>
                    <a:lstStyle/>
                    <a:p>
                      <a:pPr algn="ctr"/>
                      <a:r>
                        <a:rPr lang="en-US" b="1"/>
                        <a:t>.32</a:t>
                      </a:r>
                    </a:p>
                  </a:txBody>
                  <a:tcPr/>
                </a:tc>
                <a:tc>
                  <a:txBody>
                    <a:bodyPr/>
                    <a:lstStyle/>
                    <a:p>
                      <a:pPr algn="ctr"/>
                      <a:r>
                        <a:rPr lang="en-US" b="1"/>
                        <a:t>.29</a:t>
                      </a:r>
                    </a:p>
                  </a:txBody>
                  <a:tcPr/>
                </a:tc>
                <a:extLst>
                  <a:ext uri="{0D108BD9-81ED-4DB2-BD59-A6C34878D82A}">
                    <a16:rowId xmlns:a16="http://schemas.microsoft.com/office/drawing/2014/main" val="2952432200"/>
                  </a:ext>
                </a:extLst>
              </a:tr>
              <a:tr h="370840">
                <a:tc>
                  <a:txBody>
                    <a:bodyPr/>
                    <a:lstStyle/>
                    <a:p>
                      <a:pPr algn="ctr"/>
                      <a:r>
                        <a:rPr lang="en-US"/>
                        <a:t>7 to 8</a:t>
                      </a:r>
                    </a:p>
                  </a:txBody>
                  <a:tcPr/>
                </a:tc>
                <a:tc>
                  <a:txBody>
                    <a:bodyPr/>
                    <a:lstStyle/>
                    <a:p>
                      <a:pPr algn="ctr"/>
                      <a:r>
                        <a:rPr lang="en-US"/>
                        <a:t>.13</a:t>
                      </a:r>
                    </a:p>
                  </a:txBody>
                  <a:tcPr/>
                </a:tc>
                <a:tc>
                  <a:txBody>
                    <a:bodyPr/>
                    <a:lstStyle/>
                    <a:p>
                      <a:pPr algn="ctr"/>
                      <a:r>
                        <a:rPr lang="en-US"/>
                        <a:t>.32</a:t>
                      </a:r>
                    </a:p>
                  </a:txBody>
                  <a:tcPr/>
                </a:tc>
                <a:tc>
                  <a:txBody>
                    <a:bodyPr/>
                    <a:lstStyle/>
                    <a:p>
                      <a:pPr algn="ctr"/>
                      <a:r>
                        <a:rPr lang="en-US"/>
                        <a:t>.29</a:t>
                      </a:r>
                    </a:p>
                  </a:txBody>
                  <a:tcPr/>
                </a:tc>
                <a:tc>
                  <a:txBody>
                    <a:bodyPr/>
                    <a:lstStyle/>
                    <a:p>
                      <a:pPr algn="ctr"/>
                      <a:r>
                        <a:rPr lang="en-US"/>
                        <a:t>.41</a:t>
                      </a:r>
                    </a:p>
                  </a:txBody>
                  <a:tcPr/>
                </a:tc>
                <a:extLst>
                  <a:ext uri="{0D108BD9-81ED-4DB2-BD59-A6C34878D82A}">
                    <a16:rowId xmlns:a16="http://schemas.microsoft.com/office/drawing/2014/main" val="1887930275"/>
                  </a:ext>
                </a:extLst>
              </a:tr>
            </a:tbl>
          </a:graphicData>
        </a:graphic>
      </p:graphicFrame>
      <p:sp>
        <p:nvSpPr>
          <p:cNvPr id="4" name="Content Placeholder 3">
            <a:extLst>
              <a:ext uri="{FF2B5EF4-FFF2-40B4-BE49-F238E27FC236}">
                <a16:creationId xmlns:a16="http://schemas.microsoft.com/office/drawing/2014/main" id="{9FB6549B-91DE-3C4E-9F94-E066B871AD26}"/>
              </a:ext>
            </a:extLst>
          </p:cNvPr>
          <p:cNvSpPr>
            <a:spLocks noGrp="1"/>
          </p:cNvSpPr>
          <p:nvPr>
            <p:ph sz="half" idx="2"/>
          </p:nvPr>
        </p:nvSpPr>
        <p:spPr>
          <a:xfrm>
            <a:off x="6197600" y="1584670"/>
            <a:ext cx="5384800" cy="4525963"/>
          </a:xfrm>
        </p:spPr>
        <p:txBody>
          <a:bodyPr>
            <a:normAutofit lnSpcReduction="10000"/>
          </a:bodyPr>
          <a:lstStyle/>
          <a:p>
            <a:endParaRPr lang="en-US" sz="2400"/>
          </a:p>
          <a:p>
            <a:r>
              <a:rPr lang="en-US" sz="2000"/>
              <a:t>The Accelerated Learning ES is .19 SD units</a:t>
            </a:r>
          </a:p>
          <a:p>
            <a:r>
              <a:rPr lang="en-US" sz="2000"/>
              <a:t>This is ~ equivalent to an additional year of learning based on SBAC norms</a:t>
            </a:r>
          </a:p>
          <a:p>
            <a:r>
              <a:rPr lang="en-US" sz="2000"/>
              <a:t>There are 9 months in a school year, about 4.3 weeks per month, so = additional 39 weeks of learning </a:t>
            </a:r>
          </a:p>
          <a:p>
            <a:r>
              <a:rPr lang="en-US" sz="2000"/>
              <a:t>195 extra days of learning! </a:t>
            </a:r>
          </a:p>
          <a:p>
            <a:r>
              <a:rPr lang="en-US" sz="2000"/>
              <a:t>But had we used the Hill et al (2008) or more recnt Student (2024) benchmarks, the relevant numbers would be 4.5 months/19.4 weeks/96.8 days</a:t>
            </a:r>
          </a:p>
          <a:p>
            <a:r>
              <a:rPr lang="en-US" sz="2000"/>
              <a:t>Either way, it now appears we have a (very) practically significant effect.</a:t>
            </a:r>
          </a:p>
        </p:txBody>
      </p:sp>
      <p:sp>
        <p:nvSpPr>
          <p:cNvPr id="5" name="Slide Number Placeholder 4">
            <a:extLst>
              <a:ext uri="{FF2B5EF4-FFF2-40B4-BE49-F238E27FC236}">
                <a16:creationId xmlns:a16="http://schemas.microsoft.com/office/drawing/2014/main" id="{300004B5-29C0-6A48-950A-06F31223A7EA}"/>
              </a:ext>
            </a:extLst>
          </p:cNvPr>
          <p:cNvSpPr>
            <a:spLocks noGrp="1"/>
          </p:cNvSpPr>
          <p:nvPr>
            <p:ph type="sldNum" sz="quarter" idx="12"/>
          </p:nvPr>
        </p:nvSpPr>
        <p:spPr/>
        <p:txBody>
          <a:bodyPr/>
          <a:lstStyle/>
          <a:p>
            <a:fld id="{EFD2A749-B6C7-C240-8A90-1E79A2210C21}" type="slidenum">
              <a:rPr lang="en-US"/>
              <a:t>13</a:t>
            </a:fld>
            <a:endParaRPr lang="en-US"/>
          </a:p>
        </p:txBody>
      </p:sp>
    </p:spTree>
    <p:extLst>
      <p:ext uri="{BB962C8B-B14F-4D97-AF65-F5344CB8AC3E}">
        <p14:creationId xmlns:p14="http://schemas.microsoft.com/office/powerpoint/2010/main" val="19553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D1C20E-D9E3-A94D-ADB5-E48A0D989D1A}"/>
              </a:ext>
            </a:extLst>
          </p:cNvPr>
          <p:cNvSpPr>
            <a:spLocks noGrp="1"/>
          </p:cNvSpPr>
          <p:nvPr>
            <p:ph type="sldNum" sz="quarter" idx="12"/>
          </p:nvPr>
        </p:nvSpPr>
        <p:spPr/>
        <p:txBody>
          <a:bodyPr/>
          <a:lstStyle/>
          <a:p>
            <a:fld id="{EFD2A749-B6C7-C240-8A90-1E79A2210C21}" type="slidenum">
              <a:rPr lang="en-US"/>
              <a:t>14</a:t>
            </a:fld>
            <a:endParaRPr lang="en-US" dirty="0"/>
          </a:p>
        </p:txBody>
      </p:sp>
      <p:sp>
        <p:nvSpPr>
          <p:cNvPr id="5" name="TextBox 4">
            <a:extLst>
              <a:ext uri="{FF2B5EF4-FFF2-40B4-BE49-F238E27FC236}">
                <a16:creationId xmlns:a16="http://schemas.microsoft.com/office/drawing/2014/main" id="{5BEC2270-1999-964D-ADEF-E292B42D29DA}"/>
              </a:ext>
            </a:extLst>
          </p:cNvPr>
          <p:cNvSpPr txBox="1"/>
          <p:nvPr/>
        </p:nvSpPr>
        <p:spPr>
          <a:xfrm>
            <a:off x="2684206" y="2692119"/>
            <a:ext cx="7978877" cy="1077218"/>
          </a:xfrm>
          <a:prstGeom prst="rect">
            <a:avLst/>
          </a:prstGeom>
          <a:noFill/>
        </p:spPr>
        <p:txBody>
          <a:bodyPr wrap="square" rtlCol="0">
            <a:spAutoFit/>
          </a:bodyPr>
          <a:lstStyle/>
          <a:p>
            <a:r>
              <a:rPr lang="en-US" sz="3200" b="1" dirty="0"/>
              <a:t>Historical Background: </a:t>
            </a:r>
          </a:p>
          <a:p>
            <a:r>
              <a:rPr lang="en-US" sz="3200" b="1" dirty="0"/>
              <a:t>Thurstone’s Method of Absolute Scaling</a:t>
            </a:r>
          </a:p>
        </p:txBody>
      </p:sp>
    </p:spTree>
    <p:extLst>
      <p:ext uri="{BB962C8B-B14F-4D97-AF65-F5344CB8AC3E}">
        <p14:creationId xmlns:p14="http://schemas.microsoft.com/office/powerpoint/2010/main" val="499630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E55E1A-124A-2B42-91AA-01350812F633}"/>
              </a:ext>
            </a:extLst>
          </p:cNvPr>
          <p:cNvSpPr>
            <a:spLocks noGrp="1"/>
          </p:cNvSpPr>
          <p:nvPr>
            <p:ph type="title"/>
          </p:nvPr>
        </p:nvSpPr>
        <p:spPr/>
        <p:txBody>
          <a:bodyPr>
            <a:normAutofit fontScale="90000"/>
          </a:bodyPr>
          <a:lstStyle/>
          <a:p>
            <a:pPr algn="l"/>
            <a:r>
              <a:rPr lang="en-US" b="1"/>
              <a:t>Looking for an analogy to units in the physical sciences </a:t>
            </a:r>
          </a:p>
        </p:txBody>
      </p:sp>
      <p:sp>
        <p:nvSpPr>
          <p:cNvPr id="7" name="Content Placeholder 6">
            <a:extLst>
              <a:ext uri="{FF2B5EF4-FFF2-40B4-BE49-F238E27FC236}">
                <a16:creationId xmlns:a16="http://schemas.microsoft.com/office/drawing/2014/main" id="{D2C68132-C6F4-8B47-A5E9-DFC6DAAB604C}"/>
              </a:ext>
            </a:extLst>
          </p:cNvPr>
          <p:cNvSpPr>
            <a:spLocks noGrp="1"/>
          </p:cNvSpPr>
          <p:nvPr>
            <p:ph idx="1"/>
          </p:nvPr>
        </p:nvSpPr>
        <p:spPr/>
        <p:txBody>
          <a:bodyPr/>
          <a:lstStyle/>
          <a:p>
            <a:r>
              <a:rPr lang="en-US"/>
              <a:t>Gustav Fechner’s just noticeable differences unit (1860)</a:t>
            </a:r>
          </a:p>
          <a:p>
            <a:r>
              <a:rPr lang="en-US"/>
              <a:t>Alfred Binet’s mental age unit  (1905)</a:t>
            </a:r>
          </a:p>
          <a:p>
            <a:r>
              <a:rPr lang="en-US"/>
              <a:t>Louis Thurstone’s standard deviation unit (1925)</a:t>
            </a:r>
          </a:p>
          <a:p>
            <a:r>
              <a:rPr lang="en-US"/>
              <a:t>Rasch’s logit unit (1960)</a:t>
            </a:r>
          </a:p>
        </p:txBody>
      </p:sp>
      <p:sp>
        <p:nvSpPr>
          <p:cNvPr id="5" name="Slide Number Placeholder 4">
            <a:extLst>
              <a:ext uri="{FF2B5EF4-FFF2-40B4-BE49-F238E27FC236}">
                <a16:creationId xmlns:a16="http://schemas.microsoft.com/office/drawing/2014/main" id="{2D30BFED-36B8-4447-9BD8-19E0DA1731AF}"/>
              </a:ext>
            </a:extLst>
          </p:cNvPr>
          <p:cNvSpPr>
            <a:spLocks noGrp="1"/>
          </p:cNvSpPr>
          <p:nvPr>
            <p:ph type="sldNum" sz="quarter" idx="12"/>
          </p:nvPr>
        </p:nvSpPr>
        <p:spPr/>
        <p:txBody>
          <a:bodyPr/>
          <a:lstStyle/>
          <a:p>
            <a:fld id="{EFD2A749-B6C7-C240-8A90-1E79A2210C21}" type="slidenum">
              <a:rPr lang="en-US"/>
              <a:t>15</a:t>
            </a:fld>
            <a:endParaRPr lang="en-US"/>
          </a:p>
        </p:txBody>
      </p:sp>
    </p:spTree>
    <p:extLst>
      <p:ext uri="{BB962C8B-B14F-4D97-AF65-F5344CB8AC3E}">
        <p14:creationId xmlns:p14="http://schemas.microsoft.com/office/powerpoint/2010/main" val="2003697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9A7015-0521-E64A-999B-9A39EE607764}"/>
              </a:ext>
            </a:extLst>
          </p:cNvPr>
          <p:cNvSpPr>
            <a:spLocks noGrp="1"/>
          </p:cNvSpPr>
          <p:nvPr>
            <p:ph type="title"/>
          </p:nvPr>
        </p:nvSpPr>
        <p:spPr/>
        <p:txBody>
          <a:bodyPr/>
          <a:lstStyle/>
          <a:p>
            <a:pPr algn="l"/>
            <a:r>
              <a:rPr lang="en-US" b="1"/>
              <a:t>Alfred Binet (1857-1911)</a:t>
            </a:r>
          </a:p>
        </p:txBody>
      </p:sp>
      <p:sp>
        <p:nvSpPr>
          <p:cNvPr id="7" name="Content Placeholder 6">
            <a:extLst>
              <a:ext uri="{FF2B5EF4-FFF2-40B4-BE49-F238E27FC236}">
                <a16:creationId xmlns:a16="http://schemas.microsoft.com/office/drawing/2014/main" id="{681337E2-2B4F-BA47-9556-9246FE4E590E}"/>
              </a:ext>
            </a:extLst>
          </p:cNvPr>
          <p:cNvSpPr>
            <a:spLocks noGrp="1"/>
          </p:cNvSpPr>
          <p:nvPr>
            <p:ph sz="half" idx="2"/>
          </p:nvPr>
        </p:nvSpPr>
        <p:spPr>
          <a:xfrm>
            <a:off x="5268686" y="1600201"/>
            <a:ext cx="6313714" cy="4525963"/>
          </a:xfrm>
        </p:spPr>
        <p:txBody>
          <a:bodyPr>
            <a:normAutofit fontScale="77500" lnSpcReduction="20000"/>
          </a:bodyPr>
          <a:lstStyle/>
          <a:p>
            <a:r>
              <a:rPr lang="en-US"/>
              <a:t>Universal public education had only been established in France as of 1881.</a:t>
            </a:r>
          </a:p>
          <a:p>
            <a:r>
              <a:rPr lang="en-US"/>
              <a:t>Prior to this, children with (real or perceived) cognitive disabilities were sorted out of schooling.</a:t>
            </a:r>
          </a:p>
          <a:p>
            <a:r>
              <a:rPr lang="en-US"/>
              <a:t>In 1904, government appoints a commission to “investigate the state of the mentally subnormal in France.” </a:t>
            </a:r>
          </a:p>
          <a:p>
            <a:r>
              <a:rPr lang="en-US"/>
              <a:t>Binet is a member of commission, comes to appreciate need for a standard approach to decide which children require special services.</a:t>
            </a:r>
          </a:p>
          <a:p>
            <a:r>
              <a:rPr lang="en-US"/>
              <a:t>Conventional French labels for “subnormal” children at the time: Idiots, Imbeciles, Debiles (Americanized to “Morons” thanks to </a:t>
            </a:r>
            <a:r>
              <a:rPr lang="en-US">
                <a:hlinkClick r:id="rId2"/>
              </a:rPr>
              <a:t>Henry Goddard</a:t>
            </a:r>
            <a:r>
              <a:rPr lang="en-US"/>
              <a:t>)</a:t>
            </a:r>
          </a:p>
          <a:p>
            <a:endParaRPr lang="en-US"/>
          </a:p>
        </p:txBody>
      </p:sp>
      <p:sp>
        <p:nvSpPr>
          <p:cNvPr id="4" name="Slide Number Placeholder 3">
            <a:extLst>
              <a:ext uri="{FF2B5EF4-FFF2-40B4-BE49-F238E27FC236}">
                <a16:creationId xmlns:a16="http://schemas.microsoft.com/office/drawing/2014/main" id="{95ED2E1A-AEEE-D142-8B19-3357A6288081}"/>
              </a:ext>
            </a:extLst>
          </p:cNvPr>
          <p:cNvSpPr>
            <a:spLocks noGrp="1"/>
          </p:cNvSpPr>
          <p:nvPr>
            <p:ph type="sldNum" sz="quarter" idx="12"/>
          </p:nvPr>
        </p:nvSpPr>
        <p:spPr/>
        <p:txBody>
          <a:bodyPr/>
          <a:lstStyle/>
          <a:p>
            <a:fld id="{EFD2A749-B6C7-C240-8A90-1E79A2210C21}" type="slidenum">
              <a:rPr lang="en-US"/>
              <a:t>16</a:t>
            </a:fld>
            <a:endParaRPr lang="en-US"/>
          </a:p>
        </p:txBody>
      </p:sp>
      <p:pic>
        <p:nvPicPr>
          <p:cNvPr id="8" name="Content Placeholder 7">
            <a:extLst>
              <a:ext uri="{FF2B5EF4-FFF2-40B4-BE49-F238E27FC236}">
                <a16:creationId xmlns:a16="http://schemas.microsoft.com/office/drawing/2014/main" id="{D0534B3B-90F1-3243-8B24-F070E4058AEA}"/>
              </a:ext>
            </a:extLst>
          </p:cNvPr>
          <p:cNvPicPr>
            <a:picLocks noGrp="1" noChangeAspect="1"/>
          </p:cNvPicPr>
          <p:nvPr>
            <p:ph sz="half" idx="1"/>
          </p:nvPr>
        </p:nvPicPr>
        <p:blipFill>
          <a:blip r:embed="rId3"/>
          <a:stretch>
            <a:fillRect/>
          </a:stretch>
        </p:blipFill>
        <p:spPr>
          <a:xfrm>
            <a:off x="1541188" y="1600201"/>
            <a:ext cx="3306583" cy="4249594"/>
          </a:xfrm>
        </p:spPr>
      </p:pic>
    </p:spTree>
    <p:extLst>
      <p:ext uri="{BB962C8B-B14F-4D97-AF65-F5344CB8AC3E}">
        <p14:creationId xmlns:p14="http://schemas.microsoft.com/office/powerpoint/2010/main" val="15931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3AEC-6C17-B248-92C7-878445DE5D41}"/>
              </a:ext>
            </a:extLst>
          </p:cNvPr>
          <p:cNvSpPr>
            <a:spLocks noGrp="1"/>
          </p:cNvSpPr>
          <p:nvPr>
            <p:ph type="title"/>
          </p:nvPr>
        </p:nvSpPr>
        <p:spPr/>
        <p:txBody>
          <a:bodyPr/>
          <a:lstStyle/>
          <a:p>
            <a:pPr algn="l"/>
            <a:r>
              <a:rPr lang="en-US" b="1"/>
              <a:t>Binet’s Methods</a:t>
            </a:r>
          </a:p>
        </p:txBody>
      </p:sp>
      <p:sp>
        <p:nvSpPr>
          <p:cNvPr id="3" name="Content Placeholder 2">
            <a:extLst>
              <a:ext uri="{FF2B5EF4-FFF2-40B4-BE49-F238E27FC236}">
                <a16:creationId xmlns:a16="http://schemas.microsoft.com/office/drawing/2014/main" id="{21520084-7C6F-A249-9A7C-E2F3500950F5}"/>
              </a:ext>
            </a:extLst>
          </p:cNvPr>
          <p:cNvSpPr>
            <a:spLocks noGrp="1"/>
          </p:cNvSpPr>
          <p:nvPr>
            <p:ph idx="1"/>
          </p:nvPr>
        </p:nvSpPr>
        <p:spPr/>
        <p:txBody>
          <a:bodyPr>
            <a:normAutofit lnSpcReduction="10000"/>
          </a:bodyPr>
          <a:lstStyle/>
          <a:p>
            <a:r>
              <a:rPr lang="en-US"/>
              <a:t>The goal was to establish a series of “tests” (really items) that could be ordered in difficulty.</a:t>
            </a:r>
          </a:p>
          <a:p>
            <a:r>
              <a:rPr lang="en-US"/>
              <a:t>Hierarchy based on age when 80-90% normally developing children could answer correctly.</a:t>
            </a:r>
          </a:p>
          <a:p>
            <a:r>
              <a:rPr lang="en-US"/>
              <a:t>Time-consuming process of trial and error.</a:t>
            </a:r>
          </a:p>
          <a:p>
            <a:r>
              <a:rPr lang="en-US"/>
              <a:t>Each series of tests involved one on one interviews with children.</a:t>
            </a:r>
          </a:p>
          <a:p>
            <a:r>
              <a:rPr lang="en-US"/>
              <a:t>For 1905 Scale, total population of “normals” was 50, “about 10 each” from pre-school, 5, 7, 9, 11 year old groups.</a:t>
            </a:r>
          </a:p>
        </p:txBody>
      </p:sp>
    </p:spTree>
    <p:extLst>
      <p:ext uri="{BB962C8B-B14F-4D97-AF65-F5344CB8AC3E}">
        <p14:creationId xmlns:p14="http://schemas.microsoft.com/office/powerpoint/2010/main" val="3925419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AD02-5069-E44F-8236-B1205C92B776}"/>
              </a:ext>
            </a:extLst>
          </p:cNvPr>
          <p:cNvSpPr>
            <a:spLocks noGrp="1"/>
          </p:cNvSpPr>
          <p:nvPr>
            <p:ph type="title"/>
          </p:nvPr>
        </p:nvSpPr>
        <p:spPr>
          <a:xfrm>
            <a:off x="-957943" y="254607"/>
            <a:ext cx="10972800" cy="1143000"/>
          </a:xfrm>
        </p:spPr>
        <p:txBody>
          <a:bodyPr/>
          <a:lstStyle/>
          <a:p>
            <a:r>
              <a:rPr lang="en-US" b="1"/>
              <a:t>Binet and Simon’s 1905 Test </a:t>
            </a:r>
          </a:p>
        </p:txBody>
      </p:sp>
      <p:pic>
        <p:nvPicPr>
          <p:cNvPr id="5" name="Content Placeholder 4">
            <a:extLst>
              <a:ext uri="{FF2B5EF4-FFF2-40B4-BE49-F238E27FC236}">
                <a16:creationId xmlns:a16="http://schemas.microsoft.com/office/drawing/2014/main" id="{1340B827-EF2F-6042-9B4F-AE475C98797E}"/>
              </a:ext>
            </a:extLst>
          </p:cNvPr>
          <p:cNvPicPr>
            <a:picLocks noGrp="1" noChangeAspect="1"/>
          </p:cNvPicPr>
          <p:nvPr>
            <p:ph idx="1"/>
          </p:nvPr>
        </p:nvPicPr>
        <p:blipFill>
          <a:blip r:embed="rId2"/>
          <a:stretch>
            <a:fillRect/>
          </a:stretch>
        </p:blipFill>
        <p:spPr>
          <a:xfrm>
            <a:off x="1127561" y="1397607"/>
            <a:ext cx="2154749" cy="4351338"/>
          </a:xfrm>
        </p:spPr>
      </p:pic>
      <p:pic>
        <p:nvPicPr>
          <p:cNvPr id="4" name="Picture 3">
            <a:extLst>
              <a:ext uri="{FF2B5EF4-FFF2-40B4-BE49-F238E27FC236}">
                <a16:creationId xmlns:a16="http://schemas.microsoft.com/office/drawing/2014/main" id="{4B959A35-20C9-1D4C-9379-81423FC0AC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4430" y="1260087"/>
            <a:ext cx="2149360" cy="5037563"/>
          </a:xfrm>
          <a:prstGeom prst="rect">
            <a:avLst/>
          </a:prstGeom>
        </p:spPr>
      </p:pic>
      <p:pic>
        <p:nvPicPr>
          <p:cNvPr id="8" name="Picture 7">
            <a:extLst>
              <a:ext uri="{FF2B5EF4-FFF2-40B4-BE49-F238E27FC236}">
                <a16:creationId xmlns:a16="http://schemas.microsoft.com/office/drawing/2014/main" id="{98592310-EF38-7148-AD11-14CB077D47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7372" y="0"/>
            <a:ext cx="2534970" cy="6858000"/>
          </a:xfrm>
          <a:prstGeom prst="rect">
            <a:avLst/>
          </a:prstGeom>
        </p:spPr>
      </p:pic>
    </p:spTree>
    <p:extLst>
      <p:ext uri="{BB962C8B-B14F-4D97-AF65-F5344CB8AC3E}">
        <p14:creationId xmlns:p14="http://schemas.microsoft.com/office/powerpoint/2010/main" val="324937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631F8-4F5C-2744-863F-0539004AE354}"/>
              </a:ext>
            </a:extLst>
          </p:cNvPr>
          <p:cNvSpPr>
            <a:spLocks noGrp="1"/>
          </p:cNvSpPr>
          <p:nvPr>
            <p:ph type="title"/>
          </p:nvPr>
        </p:nvSpPr>
        <p:spPr/>
        <p:txBody>
          <a:bodyPr/>
          <a:lstStyle/>
          <a:p>
            <a:pPr algn="l"/>
            <a:r>
              <a:rPr lang="en-US" b="1"/>
              <a:t>The 1908 Revision</a:t>
            </a:r>
          </a:p>
        </p:txBody>
      </p:sp>
      <p:sp>
        <p:nvSpPr>
          <p:cNvPr id="3" name="Content Placeholder 2">
            <a:extLst>
              <a:ext uri="{FF2B5EF4-FFF2-40B4-BE49-F238E27FC236}">
                <a16:creationId xmlns:a16="http://schemas.microsoft.com/office/drawing/2014/main" id="{3B72A93C-8343-054D-A3AF-AC3960733E38}"/>
              </a:ext>
            </a:extLst>
          </p:cNvPr>
          <p:cNvSpPr>
            <a:spLocks noGrp="1"/>
          </p:cNvSpPr>
          <p:nvPr>
            <p:ph idx="1"/>
          </p:nvPr>
        </p:nvSpPr>
        <p:spPr/>
        <p:txBody>
          <a:bodyPr>
            <a:normAutofit fontScale="92500"/>
          </a:bodyPr>
          <a:lstStyle/>
          <a:p>
            <a:r>
              <a:rPr lang="en-US"/>
              <a:t>New scaling approach to establish a “mental level”</a:t>
            </a:r>
          </a:p>
          <a:p>
            <a:pPr lvl="1"/>
            <a:r>
              <a:rPr lang="en-US"/>
              <a:t>Find age where child has passed all but one item associated with that age</a:t>
            </a:r>
          </a:p>
          <a:p>
            <a:pPr lvl="1"/>
            <a:r>
              <a:rPr lang="en-US"/>
              <a:t>Next give child a year of credit for every additional 5 items answered correctly (irrespective of difficulty of the item)</a:t>
            </a:r>
          </a:p>
          <a:p>
            <a:r>
              <a:rPr lang="en-US"/>
              <a:t>Increased norming sample to 300 students</a:t>
            </a:r>
          </a:p>
          <a:p>
            <a:r>
              <a:rPr lang="en-US"/>
              <a:t>Unique items per age level varied from 2 to 9.</a:t>
            </a:r>
          </a:p>
          <a:p>
            <a:r>
              <a:rPr lang="en-US"/>
              <a:t>In general, a child whose mental level was 2 years behind chronological age was one for whom special services were needed.</a:t>
            </a:r>
          </a:p>
        </p:txBody>
      </p:sp>
    </p:spTree>
    <p:extLst>
      <p:ext uri="{BB962C8B-B14F-4D97-AF65-F5344CB8AC3E}">
        <p14:creationId xmlns:p14="http://schemas.microsoft.com/office/powerpoint/2010/main" val="1794978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46110D-E8BF-C146-A8F9-6A8ABCD68F3F}"/>
              </a:ext>
            </a:extLst>
          </p:cNvPr>
          <p:cNvSpPr>
            <a:spLocks noGrp="1"/>
          </p:cNvSpPr>
          <p:nvPr>
            <p:ph type="title"/>
          </p:nvPr>
        </p:nvSpPr>
        <p:spPr/>
        <p:txBody>
          <a:bodyPr/>
          <a:lstStyle/>
          <a:p>
            <a:pPr algn="l"/>
            <a:r>
              <a:rPr lang="en-US" b="1"/>
              <a:t>L. L. Thurstone (1887-1955)</a:t>
            </a:r>
          </a:p>
        </p:txBody>
      </p:sp>
      <p:sp>
        <p:nvSpPr>
          <p:cNvPr id="7" name="Content Placeholder 6">
            <a:extLst>
              <a:ext uri="{FF2B5EF4-FFF2-40B4-BE49-F238E27FC236}">
                <a16:creationId xmlns:a16="http://schemas.microsoft.com/office/drawing/2014/main" id="{F7DC4068-619C-DC47-B889-A74CE5F151AA}"/>
              </a:ext>
            </a:extLst>
          </p:cNvPr>
          <p:cNvSpPr>
            <a:spLocks noGrp="1"/>
          </p:cNvSpPr>
          <p:nvPr>
            <p:ph sz="half" idx="2"/>
          </p:nvPr>
        </p:nvSpPr>
        <p:spPr>
          <a:xfrm>
            <a:off x="4717143" y="1600201"/>
            <a:ext cx="6865257" cy="4525963"/>
          </a:xfrm>
        </p:spPr>
        <p:txBody>
          <a:bodyPr>
            <a:normAutofit fontScale="92500" lnSpcReduction="10000"/>
          </a:bodyPr>
          <a:lstStyle/>
          <a:p>
            <a:pPr marL="0" indent="0">
              <a:buNone/>
            </a:pPr>
            <a:r>
              <a:rPr lang="en-US"/>
              <a:t>(1925) A method of scaling psychological and educational tests. </a:t>
            </a:r>
            <a:r>
              <a:rPr lang="en-US" i="1"/>
              <a:t>The Journal of Educational Psychology</a:t>
            </a:r>
            <a:r>
              <a:rPr lang="en-US"/>
              <a:t>, 16(7), 433-451.</a:t>
            </a:r>
          </a:p>
          <a:p>
            <a:pPr marL="0" indent="0">
              <a:buNone/>
            </a:pPr>
            <a:r>
              <a:rPr lang="en-US"/>
              <a:t>(1926) The mental age concept. </a:t>
            </a:r>
            <a:r>
              <a:rPr lang="en-US" i="1"/>
              <a:t>Psychological Review</a:t>
            </a:r>
            <a:r>
              <a:rPr lang="en-US"/>
              <a:t>, 33(4), 268-278.</a:t>
            </a:r>
          </a:p>
          <a:p>
            <a:pPr marL="0" indent="0">
              <a:buNone/>
            </a:pPr>
            <a:r>
              <a:rPr lang="en-US"/>
              <a:t>(1927) The unit of measurement in educational scales. </a:t>
            </a:r>
            <a:r>
              <a:rPr lang="en-US" i="1"/>
              <a:t>The Journal of Educational Psychology</a:t>
            </a:r>
            <a:r>
              <a:rPr lang="en-US"/>
              <a:t>, 18(8), 505-523.</a:t>
            </a:r>
          </a:p>
          <a:p>
            <a:pPr marL="0" indent="0">
              <a:buNone/>
            </a:pPr>
            <a:r>
              <a:rPr lang="en-US"/>
              <a:t>(1928) The absolute zero in intelligence measurement. </a:t>
            </a:r>
            <a:r>
              <a:rPr lang="en-US" i="1"/>
              <a:t>Psychological Review</a:t>
            </a:r>
            <a:r>
              <a:rPr lang="en-US"/>
              <a:t>, 35(3), 175-197.</a:t>
            </a:r>
          </a:p>
          <a:p>
            <a:pPr marL="0" indent="0">
              <a:buNone/>
            </a:pPr>
            <a:endParaRPr lang="en-US"/>
          </a:p>
        </p:txBody>
      </p:sp>
      <p:sp>
        <p:nvSpPr>
          <p:cNvPr id="4" name="Slide Number Placeholder 3">
            <a:extLst>
              <a:ext uri="{FF2B5EF4-FFF2-40B4-BE49-F238E27FC236}">
                <a16:creationId xmlns:a16="http://schemas.microsoft.com/office/drawing/2014/main" id="{3EEA25C1-CEB2-1A48-A09A-A9D397E868FE}"/>
              </a:ext>
            </a:extLst>
          </p:cNvPr>
          <p:cNvSpPr>
            <a:spLocks noGrp="1"/>
          </p:cNvSpPr>
          <p:nvPr>
            <p:ph type="sldNum" sz="quarter" idx="12"/>
          </p:nvPr>
        </p:nvSpPr>
        <p:spPr/>
        <p:txBody>
          <a:bodyPr/>
          <a:lstStyle/>
          <a:p>
            <a:fld id="{EFD2A749-B6C7-C240-8A90-1E79A2210C21}" type="slidenum">
              <a:rPr lang="en-US"/>
              <a:t>20</a:t>
            </a:fld>
            <a:endParaRPr lang="en-US"/>
          </a:p>
        </p:txBody>
      </p:sp>
      <p:pic>
        <p:nvPicPr>
          <p:cNvPr id="8" name="Picture 1" descr="page2image6296">
            <a:extLst>
              <a:ext uri="{FF2B5EF4-FFF2-40B4-BE49-F238E27FC236}">
                <a16:creationId xmlns:a16="http://schemas.microsoft.com/office/drawing/2014/main" id="{E5E5C06A-B45B-B042-9592-781DE9701CB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957942" y="1600201"/>
            <a:ext cx="3230336" cy="4148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09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text&#10;&#10;Description automatically generated">
            <a:extLst>
              <a:ext uri="{FF2B5EF4-FFF2-40B4-BE49-F238E27FC236}">
                <a16:creationId xmlns:a16="http://schemas.microsoft.com/office/drawing/2014/main" id="{34C1AB5D-2A47-CE42-BC52-FD722963BD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5142" y="341025"/>
            <a:ext cx="7128623" cy="5569654"/>
          </a:xfrm>
        </p:spPr>
      </p:pic>
      <p:sp>
        <p:nvSpPr>
          <p:cNvPr id="5" name="Slide Number Placeholder 4">
            <a:extLst>
              <a:ext uri="{FF2B5EF4-FFF2-40B4-BE49-F238E27FC236}">
                <a16:creationId xmlns:a16="http://schemas.microsoft.com/office/drawing/2014/main" id="{DF82F838-F278-1942-89B2-4B02347CEC8B}"/>
              </a:ext>
            </a:extLst>
          </p:cNvPr>
          <p:cNvSpPr>
            <a:spLocks noGrp="1"/>
          </p:cNvSpPr>
          <p:nvPr>
            <p:ph type="sldNum" sz="quarter" idx="12"/>
          </p:nvPr>
        </p:nvSpPr>
        <p:spPr/>
        <p:txBody>
          <a:bodyPr/>
          <a:lstStyle/>
          <a:p>
            <a:fld id="{EFD2A749-B6C7-C240-8A90-1E79A2210C21}" type="slidenum">
              <a:rPr lang="en-US"/>
              <a:t>21</a:t>
            </a:fld>
            <a:endParaRPr lang="en-US"/>
          </a:p>
        </p:txBody>
      </p:sp>
    </p:spTree>
    <p:extLst>
      <p:ext uri="{BB962C8B-B14F-4D97-AF65-F5344CB8AC3E}">
        <p14:creationId xmlns:p14="http://schemas.microsoft.com/office/powerpoint/2010/main" val="4264419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7648225-F415-964A-9116-7F104F718245}"/>
              </a:ext>
            </a:extLst>
          </p:cNvPr>
          <p:cNvSpPr>
            <a:spLocks noGrp="1"/>
          </p:cNvSpPr>
          <p:nvPr>
            <p:ph type="title"/>
          </p:nvPr>
        </p:nvSpPr>
        <p:spPr/>
        <p:txBody>
          <a:bodyPr>
            <a:normAutofit/>
          </a:bodyPr>
          <a:lstStyle/>
          <a:p>
            <a:r>
              <a:rPr lang="en-US" b="1"/>
              <a:t>Problem with Age as a Unit of Measurement</a:t>
            </a:r>
          </a:p>
        </p:txBody>
      </p:sp>
      <p:sp>
        <p:nvSpPr>
          <p:cNvPr id="7" name="Content Placeholder 6">
            <a:extLst>
              <a:ext uri="{FF2B5EF4-FFF2-40B4-BE49-F238E27FC236}">
                <a16:creationId xmlns:a16="http://schemas.microsoft.com/office/drawing/2014/main" id="{68EC44AB-FB00-6046-A741-8110EA9248ED}"/>
              </a:ext>
            </a:extLst>
          </p:cNvPr>
          <p:cNvSpPr>
            <a:spLocks noGrp="1"/>
          </p:cNvSpPr>
          <p:nvPr>
            <p:ph idx="1"/>
          </p:nvPr>
        </p:nvSpPr>
        <p:spPr/>
        <p:txBody>
          <a:bodyPr/>
          <a:lstStyle/>
          <a:p>
            <a:r>
              <a:rPr lang="en-US"/>
              <a:t>The relationship between age and test performance is not symmetric (can’t be equated)</a:t>
            </a:r>
          </a:p>
          <a:p>
            <a:pPr lvl="1"/>
            <a:r>
              <a:rPr lang="en-US"/>
              <a:t>If we regress test score on age, we find the average score conditional on age. (Tell me child’s age, I tell you the predicted score)</a:t>
            </a:r>
          </a:p>
          <a:p>
            <a:pPr lvl="1"/>
            <a:r>
              <a:rPr lang="en-US"/>
              <a:t>If we regress age on test score, we find the average age conditional on score. (Tell me the score, I tell you the predicted age)</a:t>
            </a:r>
          </a:p>
          <a:p>
            <a:r>
              <a:rPr lang="en-US"/>
              <a:t>Choice is ambiguous, but will usually not give the same answer.</a:t>
            </a:r>
          </a:p>
          <a:p>
            <a:endParaRPr lang="en-US"/>
          </a:p>
        </p:txBody>
      </p:sp>
      <p:sp>
        <p:nvSpPr>
          <p:cNvPr id="5" name="Slide Number Placeholder 4">
            <a:extLst>
              <a:ext uri="{FF2B5EF4-FFF2-40B4-BE49-F238E27FC236}">
                <a16:creationId xmlns:a16="http://schemas.microsoft.com/office/drawing/2014/main" id="{9BE89BEF-FD59-284C-AD36-1ED4CE47444D}"/>
              </a:ext>
            </a:extLst>
          </p:cNvPr>
          <p:cNvSpPr>
            <a:spLocks noGrp="1"/>
          </p:cNvSpPr>
          <p:nvPr>
            <p:ph type="sldNum" sz="quarter" idx="12"/>
          </p:nvPr>
        </p:nvSpPr>
        <p:spPr/>
        <p:txBody>
          <a:bodyPr/>
          <a:lstStyle/>
          <a:p>
            <a:fld id="{EFD2A749-B6C7-C240-8A90-1E79A2210C21}" type="slidenum">
              <a:rPr lang="en-US"/>
              <a:t>22</a:t>
            </a:fld>
            <a:endParaRPr lang="en-US"/>
          </a:p>
        </p:txBody>
      </p:sp>
      <p:sp>
        <p:nvSpPr>
          <p:cNvPr id="8" name="TextBox 7">
            <a:extLst>
              <a:ext uri="{FF2B5EF4-FFF2-40B4-BE49-F238E27FC236}">
                <a16:creationId xmlns:a16="http://schemas.microsoft.com/office/drawing/2014/main" id="{8C7CC8D2-6F52-F448-A000-3D05B2D8F988}"/>
              </a:ext>
            </a:extLst>
          </p:cNvPr>
          <p:cNvSpPr txBox="1"/>
          <p:nvPr/>
        </p:nvSpPr>
        <p:spPr>
          <a:xfrm>
            <a:off x="5051685" y="6214030"/>
            <a:ext cx="2383436" cy="369332"/>
          </a:xfrm>
          <a:prstGeom prst="rect">
            <a:avLst/>
          </a:prstGeom>
          <a:noFill/>
        </p:spPr>
        <p:txBody>
          <a:bodyPr wrap="square" rtlCol="0">
            <a:spAutoFit/>
          </a:bodyPr>
          <a:lstStyle/>
          <a:p>
            <a:r>
              <a:rPr lang="en-US"/>
              <a:t>Thurstone, 1926</a:t>
            </a:r>
          </a:p>
        </p:txBody>
      </p:sp>
    </p:spTree>
    <p:extLst>
      <p:ext uri="{BB962C8B-B14F-4D97-AF65-F5344CB8AC3E}">
        <p14:creationId xmlns:p14="http://schemas.microsoft.com/office/powerpoint/2010/main" val="3315621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2499D99-D693-9B45-8394-BA5BCBF40041}"/>
              </a:ext>
            </a:extLst>
          </p:cNvPr>
          <p:cNvSpPr>
            <a:spLocks noGrp="1"/>
          </p:cNvSpPr>
          <p:nvPr>
            <p:ph type="title"/>
          </p:nvPr>
        </p:nvSpPr>
        <p:spPr/>
        <p:txBody>
          <a:bodyPr/>
          <a:lstStyle/>
          <a:p>
            <a:pPr algn="l"/>
            <a:r>
              <a:rPr lang="en-US" b="1"/>
              <a:t>Thurstone’s Method of Absolute Scaling</a:t>
            </a:r>
          </a:p>
        </p:txBody>
      </p:sp>
      <p:sp>
        <p:nvSpPr>
          <p:cNvPr id="7" name="Content Placeholder 6">
            <a:extLst>
              <a:ext uri="{FF2B5EF4-FFF2-40B4-BE49-F238E27FC236}">
                <a16:creationId xmlns:a16="http://schemas.microsoft.com/office/drawing/2014/main" id="{DFA3C773-8681-8240-9346-CCDA088B7EBB}"/>
              </a:ext>
            </a:extLst>
          </p:cNvPr>
          <p:cNvSpPr>
            <a:spLocks noGrp="1"/>
          </p:cNvSpPr>
          <p:nvPr>
            <p:ph idx="1"/>
          </p:nvPr>
        </p:nvSpPr>
        <p:spPr/>
        <p:txBody>
          <a:bodyPr>
            <a:normAutofit lnSpcReduction="10000"/>
          </a:bodyPr>
          <a:lstStyle/>
          <a:p>
            <a:r>
              <a:rPr lang="en-US" sz="2800"/>
              <a:t>Units of a raw test score have an equivocal meaning because items can (and do) differ in difficulty</a:t>
            </a:r>
          </a:p>
          <a:p>
            <a:r>
              <a:rPr lang="en-US" sz="2800"/>
              <a:t>Tests can always be constructed to ensure a normal distribution of raw scores, tells us nothing about the shape of the “true distribution”</a:t>
            </a:r>
          </a:p>
          <a:p>
            <a:r>
              <a:rPr lang="en-US" sz="2800"/>
              <a:t>Goal: The scale must be independent of the unit selected for the raw scores and from the shape of the distribution of raw scores (Thurstone, 1927, 519)</a:t>
            </a:r>
          </a:p>
          <a:p>
            <a:r>
              <a:rPr lang="en-US" sz="2800"/>
              <a:t>“ The whole study of intelligence measurement can hardly have two more fundamental difficulties than the lack of a unit of measurement and the lack of an origin from which to measure” (Thurstone, 1928, 176)</a:t>
            </a:r>
          </a:p>
          <a:p>
            <a:endParaRPr lang="en-US"/>
          </a:p>
          <a:p>
            <a:endParaRPr lang="en-US"/>
          </a:p>
        </p:txBody>
      </p:sp>
      <p:sp>
        <p:nvSpPr>
          <p:cNvPr id="5" name="Slide Number Placeholder 4">
            <a:extLst>
              <a:ext uri="{FF2B5EF4-FFF2-40B4-BE49-F238E27FC236}">
                <a16:creationId xmlns:a16="http://schemas.microsoft.com/office/drawing/2014/main" id="{158C9120-D0CD-F64F-87DB-5666A2E12A73}"/>
              </a:ext>
            </a:extLst>
          </p:cNvPr>
          <p:cNvSpPr>
            <a:spLocks noGrp="1"/>
          </p:cNvSpPr>
          <p:nvPr>
            <p:ph type="sldNum" sz="quarter" idx="12"/>
          </p:nvPr>
        </p:nvSpPr>
        <p:spPr/>
        <p:txBody>
          <a:bodyPr/>
          <a:lstStyle/>
          <a:p>
            <a:fld id="{EFD2A749-B6C7-C240-8A90-1E79A2210C21}" type="slidenum">
              <a:rPr lang="en-US"/>
              <a:t>23</a:t>
            </a:fld>
            <a:endParaRPr lang="en-US"/>
          </a:p>
        </p:txBody>
      </p:sp>
    </p:spTree>
    <p:extLst>
      <p:ext uri="{BB962C8B-B14F-4D97-AF65-F5344CB8AC3E}">
        <p14:creationId xmlns:p14="http://schemas.microsoft.com/office/powerpoint/2010/main" val="10830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6DC4C-E1C5-B343-A644-A9853218F571}"/>
              </a:ext>
            </a:extLst>
          </p:cNvPr>
          <p:cNvSpPr>
            <a:spLocks noGrp="1"/>
          </p:cNvSpPr>
          <p:nvPr>
            <p:ph type="title"/>
          </p:nvPr>
        </p:nvSpPr>
        <p:spPr/>
        <p:txBody>
          <a:bodyPr/>
          <a:lstStyle/>
          <a:p>
            <a:pPr algn="l"/>
            <a:r>
              <a:rPr lang="en-US" b="1"/>
              <a:t>Requirements for Absolute Scaling</a:t>
            </a:r>
          </a:p>
        </p:txBody>
      </p:sp>
      <p:sp>
        <p:nvSpPr>
          <p:cNvPr id="3" name="Content Placeholder 2">
            <a:extLst>
              <a:ext uri="{FF2B5EF4-FFF2-40B4-BE49-F238E27FC236}">
                <a16:creationId xmlns:a16="http://schemas.microsoft.com/office/drawing/2014/main" id="{2168F912-6935-E441-BD0F-7040E470F0E5}"/>
              </a:ext>
            </a:extLst>
          </p:cNvPr>
          <p:cNvSpPr>
            <a:spLocks noGrp="1"/>
          </p:cNvSpPr>
          <p:nvPr>
            <p:ph idx="1"/>
          </p:nvPr>
        </p:nvSpPr>
        <p:spPr/>
        <p:txBody>
          <a:bodyPr>
            <a:normAutofit/>
          </a:bodyPr>
          <a:lstStyle/>
          <a:p>
            <a:r>
              <a:rPr lang="en-US"/>
              <a:t>Applies when a test of ability is given to students at different ages</a:t>
            </a:r>
          </a:p>
          <a:p>
            <a:r>
              <a:rPr lang="en-US"/>
              <a:t>Tests have items that are scored as right or wrong.</a:t>
            </a:r>
          </a:p>
          <a:p>
            <a:r>
              <a:rPr lang="en-US"/>
              <a:t>Students in adjacent ages take overlapping/common items</a:t>
            </a:r>
          </a:p>
          <a:p>
            <a:pPr marL="0" indent="0">
              <a:buNone/>
            </a:pPr>
            <a:r>
              <a:rPr lang="en-US"/>
              <a:t>Core Assumption: The </a:t>
            </a:r>
            <a:r>
              <a:rPr lang="en-US" u="sng"/>
              <a:t>underlying attribute</a:t>
            </a:r>
            <a:r>
              <a:rPr lang="en-US"/>
              <a:t> being measured by each test can be conceptualized as a continuous quantitative variable with a normal distribution.</a:t>
            </a:r>
          </a:p>
        </p:txBody>
      </p:sp>
    </p:spTree>
    <p:extLst>
      <p:ext uri="{BB962C8B-B14F-4D97-AF65-F5344CB8AC3E}">
        <p14:creationId xmlns:p14="http://schemas.microsoft.com/office/powerpoint/2010/main" val="1591327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56E58-FE03-4641-BACC-EEE4272DCC8E}"/>
              </a:ext>
            </a:extLst>
          </p:cNvPr>
          <p:cNvSpPr>
            <a:spLocks noGrp="1"/>
          </p:cNvSpPr>
          <p:nvPr>
            <p:ph type="title"/>
          </p:nvPr>
        </p:nvSpPr>
        <p:spPr/>
        <p:txBody>
          <a:bodyPr/>
          <a:lstStyle/>
          <a:p>
            <a:pPr algn="l"/>
            <a:r>
              <a:rPr lang="en-US" b="1"/>
              <a:t>Finding a “Common Baseline”</a:t>
            </a:r>
          </a:p>
        </p:txBody>
      </p:sp>
      <p:pic>
        <p:nvPicPr>
          <p:cNvPr id="14" name="Content Placeholder 13">
            <a:extLst>
              <a:ext uri="{FF2B5EF4-FFF2-40B4-BE49-F238E27FC236}">
                <a16:creationId xmlns:a16="http://schemas.microsoft.com/office/drawing/2014/main" id="{75D55C34-7FC7-324E-8574-BE4667FA3E55}"/>
              </a:ext>
            </a:extLst>
          </p:cNvPr>
          <p:cNvPicPr>
            <a:picLocks noGrp="1" noChangeAspect="1"/>
          </p:cNvPicPr>
          <p:nvPr>
            <p:ph sz="half" idx="1"/>
          </p:nvPr>
        </p:nvPicPr>
        <p:blipFill>
          <a:blip r:embed="rId2"/>
          <a:stretch>
            <a:fillRect/>
          </a:stretch>
        </p:blipFill>
        <p:spPr>
          <a:xfrm>
            <a:off x="609600" y="2309678"/>
            <a:ext cx="5181600" cy="2680967"/>
          </a:xfrm>
        </p:spPr>
      </p:pic>
      <p:pic>
        <p:nvPicPr>
          <p:cNvPr id="16" name="Content Placeholder 15">
            <a:extLst>
              <a:ext uri="{FF2B5EF4-FFF2-40B4-BE49-F238E27FC236}">
                <a16:creationId xmlns:a16="http://schemas.microsoft.com/office/drawing/2014/main" id="{556FF11A-69C3-D54B-BB39-327E716EAB40}"/>
              </a:ext>
            </a:extLst>
          </p:cNvPr>
          <p:cNvPicPr>
            <a:picLocks noGrp="1" noChangeAspect="1"/>
          </p:cNvPicPr>
          <p:nvPr>
            <p:ph sz="half" idx="2"/>
          </p:nvPr>
        </p:nvPicPr>
        <p:blipFill>
          <a:blip r:embed="rId3"/>
          <a:stretch>
            <a:fillRect/>
          </a:stretch>
        </p:blipFill>
        <p:spPr>
          <a:xfrm>
            <a:off x="6172200" y="2519951"/>
            <a:ext cx="5181600" cy="2962685"/>
          </a:xfrm>
        </p:spPr>
      </p:pic>
      <p:cxnSp>
        <p:nvCxnSpPr>
          <p:cNvPr id="18" name="Straight Arrow Connector 17">
            <a:extLst>
              <a:ext uri="{FF2B5EF4-FFF2-40B4-BE49-F238E27FC236}">
                <a16:creationId xmlns:a16="http://schemas.microsoft.com/office/drawing/2014/main" id="{CBA00976-7A37-6248-ABB5-5DE19135BA8F}"/>
              </a:ext>
            </a:extLst>
          </p:cNvPr>
          <p:cNvCxnSpPr/>
          <p:nvPr/>
        </p:nvCxnSpPr>
        <p:spPr>
          <a:xfrm flipH="1" flipV="1">
            <a:off x="9055510" y="4748981"/>
            <a:ext cx="855406" cy="1032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572BE54-5E25-CF4B-B11C-2DE5453F395F}"/>
              </a:ext>
            </a:extLst>
          </p:cNvPr>
          <p:cNvSpPr txBox="1"/>
          <p:nvPr/>
        </p:nvSpPr>
        <p:spPr>
          <a:xfrm>
            <a:off x="9910916" y="5187832"/>
            <a:ext cx="2444897" cy="923330"/>
          </a:xfrm>
          <a:prstGeom prst="rect">
            <a:avLst/>
          </a:prstGeom>
          <a:noFill/>
        </p:spPr>
        <p:txBody>
          <a:bodyPr wrap="square" rtlCol="0">
            <a:spAutoFit/>
          </a:bodyPr>
          <a:lstStyle/>
          <a:p>
            <a:r>
              <a:rPr lang="en-US"/>
              <a:t>A specific test question answered by both groups</a:t>
            </a:r>
          </a:p>
        </p:txBody>
      </p:sp>
      <p:sp>
        <p:nvSpPr>
          <p:cNvPr id="20" name="TextBox 19">
            <a:extLst>
              <a:ext uri="{FF2B5EF4-FFF2-40B4-BE49-F238E27FC236}">
                <a16:creationId xmlns:a16="http://schemas.microsoft.com/office/drawing/2014/main" id="{E9EB47F2-056F-F940-AF89-66AE04288659}"/>
              </a:ext>
            </a:extLst>
          </p:cNvPr>
          <p:cNvSpPr txBox="1"/>
          <p:nvPr/>
        </p:nvSpPr>
        <p:spPr>
          <a:xfrm>
            <a:off x="1037303" y="5064152"/>
            <a:ext cx="4498258" cy="923330"/>
          </a:xfrm>
          <a:prstGeom prst="rect">
            <a:avLst/>
          </a:prstGeom>
          <a:noFill/>
        </p:spPr>
        <p:txBody>
          <a:bodyPr wrap="square" rtlCol="0">
            <a:spAutoFit/>
          </a:bodyPr>
          <a:lstStyle/>
          <a:p>
            <a:r>
              <a:rPr lang="en-US"/>
              <a:t>The letters represent test items that range from very easy (a, b) to very hard (f, g) to answer correctly in an absolute sense.</a:t>
            </a:r>
          </a:p>
        </p:txBody>
      </p:sp>
      <p:sp>
        <p:nvSpPr>
          <p:cNvPr id="21" name="TextBox 20">
            <a:extLst>
              <a:ext uri="{FF2B5EF4-FFF2-40B4-BE49-F238E27FC236}">
                <a16:creationId xmlns:a16="http://schemas.microsoft.com/office/drawing/2014/main" id="{15FB6374-04E3-7D44-A7C2-DA8BE80D58E1}"/>
              </a:ext>
            </a:extLst>
          </p:cNvPr>
          <p:cNvSpPr txBox="1"/>
          <p:nvPr/>
        </p:nvSpPr>
        <p:spPr>
          <a:xfrm>
            <a:off x="6172200" y="1386348"/>
            <a:ext cx="5066071" cy="923330"/>
          </a:xfrm>
          <a:prstGeom prst="rect">
            <a:avLst/>
          </a:prstGeom>
          <a:noFill/>
        </p:spPr>
        <p:txBody>
          <a:bodyPr wrap="square" rtlCol="0">
            <a:spAutoFit/>
          </a:bodyPr>
          <a:lstStyle/>
          <a:p>
            <a:r>
              <a:rPr lang="en-US"/>
              <a:t>For any two distributions of student ages, need to find the locations on a common scale, and need to establish a common unit of measurement</a:t>
            </a:r>
          </a:p>
        </p:txBody>
      </p:sp>
      <p:cxnSp>
        <p:nvCxnSpPr>
          <p:cNvPr id="23" name="Straight Arrow Connector 22">
            <a:extLst>
              <a:ext uri="{FF2B5EF4-FFF2-40B4-BE49-F238E27FC236}">
                <a16:creationId xmlns:a16="http://schemas.microsoft.com/office/drawing/2014/main" id="{256F2A29-345F-4A4A-A01C-44DD6A7CBEDD}"/>
              </a:ext>
            </a:extLst>
          </p:cNvPr>
          <p:cNvCxnSpPr>
            <a:cxnSpLocks/>
          </p:cNvCxnSpPr>
          <p:nvPr/>
        </p:nvCxnSpPr>
        <p:spPr>
          <a:xfrm flipH="1">
            <a:off x="9173497" y="2660810"/>
            <a:ext cx="1873045" cy="1340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3D78DD9-CBB6-D543-8C0C-CE7A9C5EEC5F}"/>
              </a:ext>
            </a:extLst>
          </p:cNvPr>
          <p:cNvCxnSpPr/>
          <p:nvPr/>
        </p:nvCxnSpPr>
        <p:spPr>
          <a:xfrm flipH="1">
            <a:off x="9188245" y="3664108"/>
            <a:ext cx="1887794" cy="874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C53A8BA-A5C3-6844-BA11-9F7B4B4635D9}"/>
              </a:ext>
            </a:extLst>
          </p:cNvPr>
          <p:cNvSpPr txBox="1"/>
          <p:nvPr/>
        </p:nvSpPr>
        <p:spPr>
          <a:xfrm>
            <a:off x="11046542" y="2246222"/>
            <a:ext cx="943897" cy="523220"/>
          </a:xfrm>
          <a:prstGeom prst="rect">
            <a:avLst/>
          </a:prstGeom>
          <a:noFill/>
        </p:spPr>
        <p:txBody>
          <a:bodyPr wrap="square" rtlCol="0">
            <a:spAutoFit/>
          </a:bodyPr>
          <a:lstStyle/>
          <a:p>
            <a:r>
              <a:rPr lang="en-US" sz="1400"/>
              <a:t>Older age group</a:t>
            </a:r>
          </a:p>
        </p:txBody>
      </p:sp>
      <p:sp>
        <p:nvSpPr>
          <p:cNvPr id="28" name="TextBox 27">
            <a:extLst>
              <a:ext uri="{FF2B5EF4-FFF2-40B4-BE49-F238E27FC236}">
                <a16:creationId xmlns:a16="http://schemas.microsoft.com/office/drawing/2014/main" id="{A1058858-F898-0C40-AE54-5F9D1455786C}"/>
              </a:ext>
            </a:extLst>
          </p:cNvPr>
          <p:cNvSpPr txBox="1"/>
          <p:nvPr/>
        </p:nvSpPr>
        <p:spPr>
          <a:xfrm>
            <a:off x="11046542" y="3297362"/>
            <a:ext cx="943897" cy="523220"/>
          </a:xfrm>
          <a:prstGeom prst="rect">
            <a:avLst/>
          </a:prstGeom>
          <a:noFill/>
        </p:spPr>
        <p:txBody>
          <a:bodyPr wrap="square" rtlCol="0">
            <a:spAutoFit/>
          </a:bodyPr>
          <a:lstStyle/>
          <a:p>
            <a:r>
              <a:rPr lang="en-US" sz="1400"/>
              <a:t>Younger age group</a:t>
            </a:r>
          </a:p>
        </p:txBody>
      </p:sp>
      <p:sp>
        <p:nvSpPr>
          <p:cNvPr id="3" name="Rectangle 2">
            <a:extLst>
              <a:ext uri="{FF2B5EF4-FFF2-40B4-BE49-F238E27FC236}">
                <a16:creationId xmlns:a16="http://schemas.microsoft.com/office/drawing/2014/main" id="{EE2991BB-C5C0-2D4B-8D11-FD057C010942}"/>
              </a:ext>
            </a:extLst>
          </p:cNvPr>
          <p:cNvSpPr/>
          <p:nvPr/>
        </p:nvSpPr>
        <p:spPr>
          <a:xfrm>
            <a:off x="3018971" y="2660810"/>
            <a:ext cx="856343" cy="43073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EC807F4-E2B0-664B-A72F-954DEFC37B7E}"/>
              </a:ext>
            </a:extLst>
          </p:cNvPr>
          <p:cNvSpPr txBox="1"/>
          <p:nvPr/>
        </p:nvSpPr>
        <p:spPr>
          <a:xfrm>
            <a:off x="2351314" y="1445604"/>
            <a:ext cx="2757714" cy="646331"/>
          </a:xfrm>
          <a:prstGeom prst="rect">
            <a:avLst/>
          </a:prstGeom>
          <a:noFill/>
        </p:spPr>
        <p:txBody>
          <a:bodyPr wrap="square" rtlCol="0">
            <a:spAutoFit/>
          </a:bodyPr>
          <a:lstStyle/>
          <a:p>
            <a:r>
              <a:rPr lang="en-US"/>
              <a:t>Define the unit of measurement by the SD</a:t>
            </a:r>
          </a:p>
        </p:txBody>
      </p:sp>
      <p:cxnSp>
        <p:nvCxnSpPr>
          <p:cNvPr id="6" name="Straight Arrow Connector 5">
            <a:extLst>
              <a:ext uri="{FF2B5EF4-FFF2-40B4-BE49-F238E27FC236}">
                <a16:creationId xmlns:a16="http://schemas.microsoft.com/office/drawing/2014/main" id="{E5F3AB5B-EFD7-0A4E-837B-7ADC16AC51F2}"/>
              </a:ext>
            </a:extLst>
          </p:cNvPr>
          <p:cNvCxnSpPr/>
          <p:nvPr/>
        </p:nvCxnSpPr>
        <p:spPr>
          <a:xfrm>
            <a:off x="3447142" y="2091935"/>
            <a:ext cx="0" cy="5688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04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fill="hold"/>
                                        <p:tgtEl>
                                          <p:spTgt spid="27"/>
                                        </p:tgtEl>
                                        <p:attrNameLst>
                                          <p:attrName>ppt_x</p:attrName>
                                        </p:attrNameLst>
                                      </p:cBhvr>
                                      <p:tavLst>
                                        <p:tav tm="0">
                                          <p:val>
                                            <p:strVal val="#ppt_x"/>
                                          </p:val>
                                        </p:tav>
                                        <p:tav tm="100000">
                                          <p:val>
                                            <p:strVal val="#ppt_x"/>
                                          </p:val>
                                        </p:tav>
                                      </p:tavLst>
                                    </p:anim>
                                    <p:anim calcmode="lin" valueType="num">
                                      <p:cBhvr additive="base">
                                        <p:cTn id="44" dur="500" fill="hold"/>
                                        <p:tgtEl>
                                          <p:spTgt spid="2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7" grpId="0"/>
      <p:bldP spid="28" grpId="0"/>
      <p:bldP spid="3" grpId="0" animBg="1"/>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EB2E-53F7-C342-BBB7-57E01EDE5ECF}"/>
              </a:ext>
            </a:extLst>
          </p:cNvPr>
          <p:cNvSpPr>
            <a:spLocks noGrp="1"/>
          </p:cNvSpPr>
          <p:nvPr>
            <p:ph type="title"/>
          </p:nvPr>
        </p:nvSpPr>
        <p:spPr/>
        <p:txBody>
          <a:bodyPr/>
          <a:lstStyle/>
          <a:p>
            <a:pPr algn="l"/>
            <a:r>
              <a:rPr lang="en-US" b="1"/>
              <a:t>Theoretical Transformation Constants</a:t>
            </a:r>
          </a:p>
        </p:txBody>
      </p:sp>
      <p:sp>
        <p:nvSpPr>
          <p:cNvPr id="4" name="Content Placeholder 3">
            <a:extLst>
              <a:ext uri="{FF2B5EF4-FFF2-40B4-BE49-F238E27FC236}">
                <a16:creationId xmlns:a16="http://schemas.microsoft.com/office/drawing/2014/main" id="{52439182-0E56-6142-A59F-8B8293A50595}"/>
              </a:ext>
            </a:extLst>
          </p:cNvPr>
          <p:cNvSpPr>
            <a:spLocks noGrp="1"/>
          </p:cNvSpPr>
          <p:nvPr>
            <p:ph sz="half" idx="2"/>
          </p:nvPr>
        </p:nvSpPr>
        <p:spPr>
          <a:xfrm>
            <a:off x="6197600" y="2922814"/>
            <a:ext cx="5384800" cy="3203350"/>
          </a:xfrm>
        </p:spPr>
        <p:txBody>
          <a:bodyPr/>
          <a:lstStyle/>
          <a:p>
            <a:pPr marL="0" indent="0">
              <a:buNone/>
            </a:pPr>
            <a:endParaRPr lang="en-US" sz="2400"/>
          </a:p>
          <a:p>
            <a:pPr marL="0" indent="0">
              <a:buNone/>
            </a:pPr>
            <a:endParaRPr lang="en-US"/>
          </a:p>
          <a:p>
            <a:pPr marL="0" indent="0">
              <a:buNone/>
            </a:pPr>
            <a:endParaRPr lang="en-US"/>
          </a:p>
          <a:p>
            <a:pPr marL="0" indent="0">
              <a:buNone/>
            </a:pPr>
            <a:endParaRPr lang="en-US"/>
          </a:p>
          <a:p>
            <a:pPr marL="0" indent="0">
              <a:buNone/>
            </a:pPr>
            <a:endParaRPr lang="en-US"/>
          </a:p>
        </p:txBody>
      </p:sp>
      <p:pic>
        <p:nvPicPr>
          <p:cNvPr id="12" name="Content Placeholder 15">
            <a:extLst>
              <a:ext uri="{FF2B5EF4-FFF2-40B4-BE49-F238E27FC236}">
                <a16:creationId xmlns:a16="http://schemas.microsoft.com/office/drawing/2014/main" id="{20C97921-B40A-A845-A857-54DF0071B38C}"/>
              </a:ext>
            </a:extLst>
          </p:cNvPr>
          <p:cNvPicPr>
            <a:picLocks noGrp="1" noChangeAspect="1"/>
          </p:cNvPicPr>
          <p:nvPr>
            <p:ph sz="half" idx="1"/>
          </p:nvPr>
        </p:nvPicPr>
        <p:blipFill>
          <a:blip r:embed="rId3"/>
          <a:stretch>
            <a:fillRect/>
          </a:stretch>
        </p:blipFill>
        <p:spPr>
          <a:xfrm>
            <a:off x="248866" y="1422356"/>
            <a:ext cx="6373277" cy="3644051"/>
          </a:xfr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032BBEFB-91FB-AC48-B04D-99F2CDD65823}"/>
                  </a:ext>
                </a:extLst>
              </p:cNvPr>
              <p:cNvSpPr txBox="1"/>
              <p:nvPr/>
            </p:nvSpPr>
            <p:spPr>
              <a:xfrm>
                <a:off x="6633294" y="1475657"/>
                <a:ext cx="4833057" cy="4124206"/>
              </a:xfrm>
              <a:prstGeom prst="rect">
                <a:avLst/>
              </a:prstGeom>
              <a:noFill/>
            </p:spPr>
            <p:txBody>
              <a:bodyPr wrap="square" rtlCol="0">
                <a:spAutoFit/>
              </a:bodyPr>
              <a:lstStyle/>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1</m:t>
                        </m:r>
                      </m:sub>
                    </m:sSub>
                    <m:r>
                      <a:rPr lang="en-US" sz="2400" i="1">
                        <a:latin typeface="Cambria Math" panose="02040503050406030204" pitchFamily="18" charset="0"/>
                      </a:rPr>
                      <m:t>=</m:t>
                    </m:r>
                  </m:oMath>
                </a14:m>
                <a:r>
                  <a:rPr lang="en-US" sz="240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2</m:t>
                        </m:r>
                      </m:sub>
                    </m:sSub>
                  </m:oMath>
                </a14:m>
                <a:endParaRPr lang="en-US"/>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1</m:t>
                        </m:r>
                      </m:sub>
                    </m:sSub>
                  </m:oMath>
                </a14:m>
                <a:r>
                  <a:rPr lang="en-US" sz="200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2</m:t>
                        </m:r>
                      </m:sub>
                    </m:sSub>
                    <m:r>
                      <a:rPr lang="en-US" sz="2000" i="1">
                        <a:latin typeface="Cambria Math" panose="02040503050406030204" pitchFamily="18" charset="0"/>
                      </a:rPr>
                      <m:t> </m:t>
                    </m:r>
                  </m:oMath>
                </a14:m>
                <a:r>
                  <a:rPr lang="en-US" sz="2000"/>
                  <a:t>are “z scores” with respect to mean and SD of original age distribution (</a:t>
                </a:r>
                <a:r>
                  <a:rPr lang="en-US" sz="2000" b="1"/>
                  <a:t>known</a:t>
                </a:r>
                <a:r>
                  <a:rPr lang="en-US" sz="2000"/>
                  <a:t>), </a:t>
                </a:r>
              </a:p>
              <a:p>
                <a:pPr marL="285750" indent="-285750">
                  <a:buFont typeface="Arial" panose="020B0604020202020204" pitchFamily="34" charset="0"/>
                  <a:buChar char="•"/>
                </a:pPr>
                <a:r>
                  <a:rPr lang="en-US" sz="200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1</m:t>
                        </m:r>
                      </m:sub>
                    </m:sSub>
                  </m:oMath>
                </a14:m>
                <a:r>
                  <a:rPr lang="en-US" sz="200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2</m:t>
                        </m:r>
                      </m:sub>
                    </m:sSub>
                  </m:oMath>
                </a14:m>
                <a:r>
                  <a:rPr lang="en-US" sz="2000"/>
                  <a:t> are the means of each age-specific distribution on the absolute scale (</a:t>
                </a:r>
                <a:r>
                  <a:rPr lang="en-US" sz="2000" b="1"/>
                  <a:t>unknown</a:t>
                </a:r>
                <a:r>
                  <a:rPr lang="en-US" sz="2000"/>
                  <a:t>)</a:t>
                </a:r>
              </a:p>
              <a:p>
                <a:pPr marL="285750" indent="-285750">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1</m:t>
                        </m:r>
                      </m:sub>
                    </m:sSub>
                  </m:oMath>
                </a14:m>
                <a:r>
                  <a:rPr lang="en-US" sz="200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2</m:t>
                        </m:r>
                      </m:sub>
                    </m:sSub>
                  </m:oMath>
                </a14:m>
                <a:r>
                  <a:rPr lang="en-US" sz="2000"/>
                  <a:t> are the SDs of each age-specific distribution on the absolute scale (</a:t>
                </a:r>
                <a:r>
                  <a:rPr lang="en-US" sz="2000" b="1"/>
                  <a:t>unknown</a:t>
                </a:r>
                <a:r>
                  <a:rPr lang="en-US" sz="2000"/>
                  <a:t>)</a:t>
                </a:r>
              </a:p>
              <a:p>
                <a:pPr marL="285750" indent="-285750">
                  <a:buFont typeface="Arial" panose="020B0604020202020204" pitchFamily="34" charset="0"/>
                  <a:buChar char="•"/>
                </a:pPr>
                <a:endParaRPr lang="en-US" sz="2000"/>
              </a:p>
              <a:p>
                <a:endParaRPr lang="en-US"/>
              </a:p>
            </p:txBody>
          </p:sp>
        </mc:Choice>
        <mc:Fallback>
          <p:sp>
            <p:nvSpPr>
              <p:cNvPr id="9" name="TextBox 8">
                <a:extLst>
                  <a:ext uri="{FF2B5EF4-FFF2-40B4-BE49-F238E27FC236}">
                    <a16:creationId xmlns:a16="http://schemas.microsoft.com/office/drawing/2014/main" id="{032BBEFB-91FB-AC48-B04D-99F2CDD65823}"/>
                  </a:ext>
                </a:extLst>
              </p:cNvPr>
              <p:cNvSpPr txBox="1">
                <a:spLocks noRot="1" noChangeAspect="1" noMove="1" noResize="1" noEditPoints="1" noAdjustHandles="1" noChangeArrowheads="1" noChangeShapeType="1" noTextEdit="1"/>
              </p:cNvSpPr>
              <p:nvPr/>
            </p:nvSpPr>
            <p:spPr>
              <a:xfrm>
                <a:off x="6633294" y="1475657"/>
                <a:ext cx="4833057" cy="4124206"/>
              </a:xfrm>
              <a:prstGeom prst="rect">
                <a:avLst/>
              </a:prstGeom>
              <a:blipFill>
                <a:blip r:embed="rId4"/>
                <a:stretch>
                  <a:fillRect l="-1050" r="-15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E7A42A2-7E78-0143-918A-0AF1404E8B55}"/>
                  </a:ext>
                </a:extLst>
              </p:cNvPr>
              <p:cNvSpPr txBox="1"/>
              <p:nvPr/>
            </p:nvSpPr>
            <p:spPr>
              <a:xfrm>
                <a:off x="3428547" y="5014123"/>
                <a:ext cx="5758543" cy="7188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𝑋</m:t>
                          </m:r>
                        </m:e>
                        <m:sub>
                          <m:r>
                            <a:rPr lang="en-US" sz="2000" b="0" i="1">
                              <a:latin typeface="Cambria Math" panose="02040503050406030204" pitchFamily="18" charset="0"/>
                            </a:rPr>
                            <m:t>1</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𝑋</m:t>
                          </m:r>
                        </m:e>
                        <m:sub>
                          <m:r>
                            <a:rPr lang="en-US" sz="2000" b="0" i="1">
                              <a:latin typeface="Cambria Math" panose="02040503050406030204" pitchFamily="18" charset="0"/>
                            </a:rPr>
                            <m:t>2</m:t>
                          </m:r>
                        </m:sub>
                      </m:sSub>
                      <m:d>
                        <m:dPr>
                          <m:ctrlPr>
                            <a:rPr lang="en-US" sz="2000" b="0" i="1">
                              <a:latin typeface="Cambria Math" panose="02040503050406030204" pitchFamily="18" charset="0"/>
                            </a:rPr>
                          </m:ctrlPr>
                        </m:dPr>
                        <m:e>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𝜎</m:t>
                                  </m:r>
                                </m:e>
                                <m:sub>
                                  <m:r>
                                    <a:rPr lang="en-US" sz="2000" b="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𝜎</m:t>
                                  </m:r>
                                </m:e>
                                <m:sub>
                                  <m:r>
                                    <a:rPr lang="en-US" sz="2000" b="0" i="1">
                                      <a:latin typeface="Cambria Math" panose="02040503050406030204" pitchFamily="18" charset="0"/>
                                    </a:rPr>
                                    <m:t>1</m:t>
                                  </m:r>
                                </m:sub>
                              </m:sSub>
                            </m:den>
                          </m:f>
                        </m:e>
                      </m:d>
                      <m:r>
                        <a:rPr lang="en-US" sz="2000" b="0" i="1">
                          <a:latin typeface="Cambria Math" panose="02040503050406030204" pitchFamily="18" charset="0"/>
                        </a:rPr>
                        <m:t>+</m:t>
                      </m:r>
                      <m:d>
                        <m:dPr>
                          <m:ctrlPr>
                            <a:rPr lang="en-US" sz="2000" b="0" i="1">
                              <a:latin typeface="Cambria Math" panose="02040503050406030204" pitchFamily="18" charset="0"/>
                            </a:rPr>
                          </m:ctrlPr>
                        </m:dPr>
                        <m:e>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𝑀</m:t>
                                  </m:r>
                                </m:e>
                                <m:sub>
                                  <m:r>
                                    <a:rPr lang="en-US" sz="2000" b="0" i="1">
                                      <a:latin typeface="Cambria Math" panose="02040503050406030204" pitchFamily="18" charset="0"/>
                                    </a:rPr>
                                    <m:t>2</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𝑀</m:t>
                                  </m:r>
                                </m:e>
                                <m:sub>
                                  <m:r>
                                    <a:rPr lang="en-US" sz="2000" b="0" i="1">
                                      <a:latin typeface="Cambria Math" panose="02040503050406030204" pitchFamily="18" charset="0"/>
                                    </a:rPr>
                                    <m:t>1</m:t>
                                  </m:r>
                                </m:sub>
                              </m:sSub>
                            </m:num>
                            <m:den>
                              <m:sSub>
                                <m:sSubPr>
                                  <m:ctrlPr>
                                    <a:rPr lang="en-US" sz="2000" b="0" i="1">
                                      <a:latin typeface="Cambria Math" panose="02040503050406030204" pitchFamily="18" charset="0"/>
                                    </a:rPr>
                                  </m:ctrlPr>
                                </m:sSubPr>
                                <m:e>
                                  <m:r>
                                    <a:rPr lang="en-US" sz="2000" b="0" i="1">
                                      <a:latin typeface="Cambria Math" panose="02040503050406030204" pitchFamily="18" charset="0"/>
                                    </a:rPr>
                                    <m:t>𝜎</m:t>
                                  </m:r>
                                </m:e>
                                <m:sub>
                                  <m:r>
                                    <a:rPr lang="en-US" sz="2000" b="0" i="1">
                                      <a:latin typeface="Cambria Math" panose="02040503050406030204" pitchFamily="18" charset="0"/>
                                    </a:rPr>
                                    <m:t>1</m:t>
                                  </m:r>
                                </m:sub>
                              </m:sSub>
                            </m:den>
                          </m:f>
                        </m:e>
                      </m:d>
                    </m:oMath>
                  </m:oMathPara>
                </a14:m>
                <a:endParaRPr lang="en-US" sz="2000"/>
              </a:p>
            </p:txBody>
          </p:sp>
        </mc:Choice>
        <mc:Fallback xmlns="">
          <p:sp>
            <p:nvSpPr>
              <p:cNvPr id="14" name="TextBox 13">
                <a:extLst>
                  <a:ext uri="{FF2B5EF4-FFF2-40B4-BE49-F238E27FC236}">
                    <a16:creationId xmlns:a16="http://schemas.microsoft.com/office/drawing/2014/main" id="{3E7A42A2-7E78-0143-918A-0AF1404E8B55}"/>
                  </a:ext>
                </a:extLst>
              </p:cNvPr>
              <p:cNvSpPr txBox="1">
                <a:spLocks noRot="1" noChangeAspect="1" noMove="1" noResize="1" noEditPoints="1" noAdjustHandles="1" noChangeArrowheads="1" noChangeShapeType="1" noTextEdit="1"/>
              </p:cNvSpPr>
              <p:nvPr/>
            </p:nvSpPr>
            <p:spPr>
              <a:xfrm>
                <a:off x="3428547" y="5014123"/>
                <a:ext cx="5758543" cy="718851"/>
              </a:xfrm>
              <a:prstGeom prst="rect">
                <a:avLst/>
              </a:prstGeom>
              <a:blipFill>
                <a:blip r:embed="rId5"/>
                <a:stretch>
                  <a:fillRect b="-175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4A8BF1EF-0517-A842-BF41-10157308E8CC}"/>
              </a:ext>
            </a:extLst>
          </p:cNvPr>
          <p:cNvSpPr txBox="1"/>
          <p:nvPr/>
        </p:nvSpPr>
        <p:spPr>
          <a:xfrm>
            <a:off x="5568951" y="5732974"/>
            <a:ext cx="1681842" cy="369332"/>
          </a:xfrm>
          <a:prstGeom prst="rect">
            <a:avLst/>
          </a:prstGeom>
          <a:noFill/>
        </p:spPr>
        <p:txBody>
          <a:bodyPr wrap="square" rtlCol="0">
            <a:spAutoFit/>
          </a:bodyPr>
          <a:lstStyle/>
          <a:p>
            <a:r>
              <a:rPr lang="en-US"/>
              <a:t>slope</a:t>
            </a:r>
          </a:p>
        </p:txBody>
      </p:sp>
      <p:sp>
        <p:nvSpPr>
          <p:cNvPr id="16" name="TextBox 15">
            <a:extLst>
              <a:ext uri="{FF2B5EF4-FFF2-40B4-BE49-F238E27FC236}">
                <a16:creationId xmlns:a16="http://schemas.microsoft.com/office/drawing/2014/main" id="{7E7A609F-878C-4A44-964D-75F84AE0336C}"/>
              </a:ext>
            </a:extLst>
          </p:cNvPr>
          <p:cNvSpPr txBox="1"/>
          <p:nvPr/>
        </p:nvSpPr>
        <p:spPr>
          <a:xfrm>
            <a:off x="6622143" y="5744903"/>
            <a:ext cx="1563914" cy="369332"/>
          </a:xfrm>
          <a:prstGeom prst="rect">
            <a:avLst/>
          </a:prstGeom>
          <a:noFill/>
        </p:spPr>
        <p:txBody>
          <a:bodyPr wrap="square" rtlCol="0">
            <a:spAutoFit/>
          </a:bodyPr>
          <a:lstStyle/>
          <a:p>
            <a:r>
              <a:rPr lang="en-US"/>
              <a:t>intercept</a:t>
            </a:r>
          </a:p>
        </p:txBody>
      </p:sp>
    </p:spTree>
    <p:extLst>
      <p:ext uri="{BB962C8B-B14F-4D97-AF65-F5344CB8AC3E}">
        <p14:creationId xmlns:p14="http://schemas.microsoft.com/office/powerpoint/2010/main" val="340804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EB2E-53F7-C342-BBB7-57E01EDE5ECF}"/>
              </a:ext>
            </a:extLst>
          </p:cNvPr>
          <p:cNvSpPr>
            <a:spLocks noGrp="1"/>
          </p:cNvSpPr>
          <p:nvPr>
            <p:ph type="title"/>
          </p:nvPr>
        </p:nvSpPr>
        <p:spPr/>
        <p:txBody>
          <a:bodyPr>
            <a:normAutofit fontScale="90000"/>
          </a:bodyPr>
          <a:lstStyle/>
          <a:p>
            <a:r>
              <a:rPr lang="en-US" b="1"/>
              <a:t>Empirical Strategy using Burt Data from Binet Tests</a:t>
            </a:r>
          </a:p>
        </p:txBody>
      </p:sp>
      <p:pic>
        <p:nvPicPr>
          <p:cNvPr id="6" name="Content Placeholder 5">
            <a:extLst>
              <a:ext uri="{FF2B5EF4-FFF2-40B4-BE49-F238E27FC236}">
                <a16:creationId xmlns:a16="http://schemas.microsoft.com/office/drawing/2014/main" id="{D46FE425-F8AD-8A4D-89BF-2DA61F04ECCE}"/>
              </a:ext>
            </a:extLst>
          </p:cNvPr>
          <p:cNvPicPr>
            <a:picLocks noGrp="1" noChangeAspect="1"/>
          </p:cNvPicPr>
          <p:nvPr>
            <p:ph sz="half" idx="1"/>
          </p:nvPr>
        </p:nvPicPr>
        <p:blipFill>
          <a:blip r:embed="rId2"/>
          <a:stretch>
            <a:fillRect/>
          </a:stretch>
        </p:blipFill>
        <p:spPr>
          <a:xfrm>
            <a:off x="7010400" y="1608998"/>
            <a:ext cx="5181600" cy="4223445"/>
          </a:xfrm>
        </p:spPr>
      </p:pic>
      <p:pic>
        <p:nvPicPr>
          <p:cNvPr id="5" name="Picture 4">
            <a:extLst>
              <a:ext uri="{FF2B5EF4-FFF2-40B4-BE49-F238E27FC236}">
                <a16:creationId xmlns:a16="http://schemas.microsoft.com/office/drawing/2014/main" id="{5EFB89AF-F828-9B40-AFF0-13BB85170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742" y="2760193"/>
            <a:ext cx="5576576" cy="3137564"/>
          </a:xfrm>
          <a:prstGeom prst="rect">
            <a:avLst/>
          </a:prstGeom>
        </p:spPr>
      </p:pic>
      <p:sp>
        <p:nvSpPr>
          <p:cNvPr id="9" name="TextBox 8">
            <a:extLst>
              <a:ext uri="{FF2B5EF4-FFF2-40B4-BE49-F238E27FC236}">
                <a16:creationId xmlns:a16="http://schemas.microsoft.com/office/drawing/2014/main" id="{81BC20C6-83AC-1647-9604-3D947C0B8AC6}"/>
              </a:ext>
            </a:extLst>
          </p:cNvPr>
          <p:cNvSpPr txBox="1"/>
          <p:nvPr/>
        </p:nvSpPr>
        <p:spPr>
          <a:xfrm>
            <a:off x="832757" y="1488751"/>
            <a:ext cx="6645729" cy="1200329"/>
          </a:xfrm>
          <a:prstGeom prst="rect">
            <a:avLst/>
          </a:prstGeom>
          <a:noFill/>
          <a:ln>
            <a:solidFill>
              <a:schemeClr val="accent1"/>
            </a:solidFill>
          </a:ln>
        </p:spPr>
        <p:txBody>
          <a:bodyPr wrap="square" rtlCol="0">
            <a:spAutoFit/>
          </a:bodyPr>
          <a:lstStyle/>
          <a:p>
            <a:r>
              <a:rPr lang="en-US"/>
              <a:t>Use inverse of the normal curve to find z score associated with proportion correct for each common item by age</a:t>
            </a:r>
          </a:p>
          <a:p>
            <a:r>
              <a:rPr lang="en-US"/>
              <a:t>Plot the z scores? Are they close to perfectly correlated? If yes, go about estimating the equation for the line.</a:t>
            </a:r>
          </a:p>
        </p:txBody>
      </p:sp>
      <p:sp>
        <p:nvSpPr>
          <p:cNvPr id="12" name="Rectangle 11">
            <a:extLst>
              <a:ext uri="{FF2B5EF4-FFF2-40B4-BE49-F238E27FC236}">
                <a16:creationId xmlns:a16="http://schemas.microsoft.com/office/drawing/2014/main" id="{FA701945-C0D3-A141-B6BB-6A57812AAE8E}"/>
              </a:ext>
            </a:extLst>
          </p:cNvPr>
          <p:cNvSpPr/>
          <p:nvPr/>
        </p:nvSpPr>
        <p:spPr>
          <a:xfrm>
            <a:off x="4653643" y="3739243"/>
            <a:ext cx="587828" cy="35922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07D4B26-5758-8A42-A8D4-2BF179D7E13A}"/>
              </a:ext>
            </a:extLst>
          </p:cNvPr>
          <p:cNvCxnSpPr>
            <a:cxnSpLocks/>
          </p:cNvCxnSpPr>
          <p:nvPr/>
        </p:nvCxnSpPr>
        <p:spPr>
          <a:xfrm flipV="1">
            <a:off x="5829299" y="3118757"/>
            <a:ext cx="1828801" cy="62048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E04284F2-D4A7-8144-887F-0DD44AA6DBB0}"/>
              </a:ext>
            </a:extLst>
          </p:cNvPr>
          <p:cNvSpPr/>
          <p:nvPr/>
        </p:nvSpPr>
        <p:spPr>
          <a:xfrm>
            <a:off x="5241471" y="3739243"/>
            <a:ext cx="587828" cy="3585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8F5747B1-60F1-8940-8E39-5E1732A37F81}"/>
              </a:ext>
            </a:extLst>
          </p:cNvPr>
          <p:cNvCxnSpPr>
            <a:cxnSpLocks/>
          </p:cNvCxnSpPr>
          <p:nvPr/>
        </p:nvCxnSpPr>
        <p:spPr>
          <a:xfrm>
            <a:off x="5241471" y="4097807"/>
            <a:ext cx="2694215" cy="134208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017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48ED0-B6DB-BF4A-99FA-1C3B7208A22C}"/>
              </a:ext>
            </a:extLst>
          </p:cNvPr>
          <p:cNvSpPr>
            <a:spLocks noGrp="1"/>
          </p:cNvSpPr>
          <p:nvPr>
            <p:ph type="title"/>
          </p:nvPr>
        </p:nvSpPr>
        <p:spPr>
          <a:xfrm>
            <a:off x="609600" y="274638"/>
            <a:ext cx="10972800" cy="604449"/>
          </a:xfrm>
        </p:spPr>
        <p:txBody>
          <a:bodyPr>
            <a:normAutofit fontScale="90000"/>
          </a:bodyPr>
          <a:lstStyle/>
          <a:p>
            <a:pPr algn="l"/>
            <a:r>
              <a:rPr lang="en-US" b="1"/>
              <a:t>Technical Details of Thurstone’s Approach</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194904B-FE98-C144-A3B6-D6FF30C6AED0}"/>
                  </a:ext>
                </a:extLst>
              </p:cNvPr>
              <p:cNvSpPr>
                <a:spLocks noGrp="1"/>
              </p:cNvSpPr>
              <p:nvPr>
                <p:ph idx="1"/>
              </p:nvPr>
            </p:nvSpPr>
            <p:spPr>
              <a:xfrm>
                <a:off x="609600" y="1109273"/>
                <a:ext cx="10972800" cy="5016892"/>
              </a:xfrm>
            </p:spPr>
            <p:txBody>
              <a:bodyPr>
                <a:normAutofit lnSpcReduction="10000"/>
              </a:bodyPr>
              <a:lstStyle/>
              <a:p>
                <a:pPr marL="0" indent="0">
                  <a:buNone/>
                </a:pPr>
                <a:r>
                  <a:rPr lang="en-US" sz="1600"/>
                  <a:t>Recall that the scaling equation of interest was </a:t>
                </a:r>
                <a14:m>
                  <m:oMath xmlns:m="http://schemas.openxmlformats.org/officeDocument/2006/math">
                    <m:sSub>
                      <m:sSubPr>
                        <m:ctrlPr>
                          <a:rPr lang="en-US" sz="160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1</m:t>
                        </m:r>
                      </m:sub>
                    </m:sSub>
                    <m:r>
                      <a:rPr lang="en-US" sz="1600" b="0" i="1">
                        <a:latin typeface="Cambria Math" panose="02040503050406030204" pitchFamily="18" charset="0"/>
                      </a:rPr>
                      <m:t>=</m:t>
                    </m:r>
                    <m:sSub>
                      <m:sSubPr>
                        <m:ctrlPr>
                          <a:rPr lang="en-US" sz="160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2</m:t>
                        </m:r>
                      </m:sub>
                    </m:sSub>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2</m:t>
                                </m:r>
                              </m:sub>
                            </m:sSub>
                          </m:num>
                          <m:den>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den>
                        </m:f>
                      </m:e>
                    </m:d>
                    <m:r>
                      <a:rPr lang="en-US" sz="1600" b="0" i="1">
                        <a:latin typeface="Cambria Math" panose="02040503050406030204" pitchFamily="18" charset="0"/>
                      </a:rPr>
                      <m:t>+</m:t>
                    </m:r>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b="0" i="1">
                                    <a:latin typeface="Cambria Math" panose="02040503050406030204" pitchFamily="18" charset="0"/>
                                  </a:rPr>
                                  <m:t>𝑀</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i="1">
                                    <a:latin typeface="Cambria Math" panose="02040503050406030204" pitchFamily="18" charset="0"/>
                                  </a:rPr>
                                </m:ctrlPr>
                              </m:sSubPr>
                              <m:e>
                                <m:r>
                                  <a:rPr lang="en-US" sz="1600" b="0" i="1">
                                    <a:latin typeface="Cambria Math" panose="02040503050406030204" pitchFamily="18" charset="0"/>
                                  </a:rPr>
                                  <m:t>𝑀</m:t>
                                </m:r>
                              </m:e>
                              <m:sub>
                                <m:r>
                                  <a:rPr lang="en-US" sz="1600" b="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den>
                        </m:f>
                      </m:e>
                    </m:d>
                  </m:oMath>
                </a14:m>
                <a:r>
                  <a:rPr lang="en-US" sz="1600"/>
                  <a:t>  (Eqn A)</a:t>
                </a:r>
              </a:p>
              <a:p>
                <a:r>
                  <a:rPr lang="en-US" sz="1600"/>
                  <a:t>Only the item z-scores,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i="1">
                            <a:latin typeface="Cambria Math" panose="02040503050406030204" pitchFamily="18" charset="0"/>
                          </a:rPr>
                          <m:t>1</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i="1">
                            <a:latin typeface="Cambria Math" panose="02040503050406030204" pitchFamily="18" charset="0"/>
                          </a:rPr>
                          <m:t>2</m:t>
                        </m:r>
                      </m:sub>
                    </m:sSub>
                  </m:oMath>
                </a14:m>
                <a:r>
                  <a:rPr lang="en-US" sz="1600"/>
                  <a:t>  are known.</a:t>
                </a:r>
              </a:p>
              <a:p>
                <a:r>
                  <a:rPr lang="en-US" sz="1600"/>
                  <a:t>There is a distinct z-score pairing for each of n common items administered to students across age groupings (see scatterplot on previous slide)</a:t>
                </a:r>
              </a:p>
              <a:p>
                <a:pPr marL="457200" indent="-457200">
                  <a:buFont typeface="+mj-lt"/>
                  <a:buAutoNum type="arabicPeriod"/>
                </a:pPr>
                <a:r>
                  <a:rPr lang="en-US" sz="1600"/>
                  <a:t>We can get estimates for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𝑀</m:t>
                        </m:r>
                      </m:e>
                      <m:sub>
                        <m:r>
                          <a:rPr lang="en-US" sz="1600" i="1">
                            <a:latin typeface="Cambria Math" panose="02040503050406030204" pitchFamily="18" charset="0"/>
                          </a:rPr>
                          <m:t>1</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𝑀</m:t>
                        </m:r>
                      </m:e>
                      <m:sub>
                        <m:r>
                          <a:rPr lang="en-US" sz="1600" i="1">
                            <a:latin typeface="Cambria Math" panose="02040503050406030204" pitchFamily="18" charset="0"/>
                          </a:rPr>
                          <m:t>2</m:t>
                        </m:r>
                      </m:sub>
                    </m:sSub>
                  </m:oMath>
                </a14:m>
                <a:r>
                  <a:rPr lang="en-US" sz="1600"/>
                  <a:t> by computing the empirical means of grade-specific common item z-scores, label these </a:t>
                </a:r>
                <a14:m>
                  <m:oMath xmlns:m="http://schemas.openxmlformats.org/officeDocument/2006/math">
                    <m:sSub>
                      <m:sSubPr>
                        <m:ctrlPr>
                          <a:rPr lang="en-US" sz="1600" i="1">
                            <a:latin typeface="Cambria Math" panose="02040503050406030204" pitchFamily="18" charset="0"/>
                          </a:rPr>
                        </m:ctrlPr>
                      </m:sSubPr>
                      <m:e>
                        <m:r>
                          <a:rPr lang="en-US" sz="1600" b="0" i="1">
                            <a:latin typeface="Cambria Math" panose="02040503050406030204" pitchFamily="18" charset="0"/>
                          </a:rPr>
                          <m:t>𝑚</m:t>
                        </m:r>
                      </m:e>
                      <m:sub>
                        <m:r>
                          <a:rPr lang="en-US" sz="1600" i="1">
                            <a:latin typeface="Cambria Math" panose="02040503050406030204" pitchFamily="18" charset="0"/>
                          </a:rPr>
                          <m:t>1</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b="0" i="1">
                            <a:latin typeface="Cambria Math" panose="02040503050406030204" pitchFamily="18" charset="0"/>
                          </a:rPr>
                          <m:t>𝑚</m:t>
                        </m:r>
                      </m:e>
                      <m:sub>
                        <m:r>
                          <a:rPr lang="en-US" sz="1600" i="1">
                            <a:latin typeface="Cambria Math" panose="02040503050406030204" pitchFamily="18" charset="0"/>
                          </a:rPr>
                          <m:t>2</m:t>
                        </m:r>
                      </m:sub>
                    </m:sSub>
                  </m:oMath>
                </a14:m>
                <a:endParaRPr lang="en-US" sz="1600"/>
              </a:p>
              <a:p>
                <a:pPr marL="457200" indent="-457200">
                  <a:buFont typeface="+mj-lt"/>
                  <a:buAutoNum type="arabicPeriod"/>
                </a:pPr>
                <a:r>
                  <a:rPr lang="en-US" sz="1600"/>
                  <a:t>Under assumption of perfect correlation, the slope of the line predicting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b="0" i="1">
                            <a:latin typeface="Cambria Math" panose="02040503050406030204" pitchFamily="18" charset="0"/>
                          </a:rPr>
                          <m:t>2</m:t>
                        </m:r>
                      </m:sub>
                    </m:sSub>
                  </m:oMath>
                </a14:m>
                <a:r>
                  <a:rPr lang="en-US" sz="1600"/>
                  <a:t> from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b="0" i="1">
                            <a:latin typeface="Cambria Math" panose="02040503050406030204" pitchFamily="18" charset="0"/>
                          </a:rPr>
                          <m:t>1</m:t>
                        </m:r>
                      </m:sub>
                    </m:sSub>
                  </m:oMath>
                </a14:m>
                <a:r>
                  <a:rPr lang="en-US" sz="1600"/>
                  <a:t> is </a:t>
                </a:r>
                <a14:m>
                  <m:oMath xmlns:m="http://schemas.openxmlformats.org/officeDocument/2006/math">
                    <m:f>
                      <m:fPr>
                        <m:ctrlPr>
                          <a:rPr lang="en-US" sz="1600" i="1">
                            <a:latin typeface="Cambria Math" panose="02040503050406030204" pitchFamily="18" charset="0"/>
                          </a:rPr>
                        </m:ctrlPr>
                      </m:fPr>
                      <m:num>
                        <m:sSub>
                          <m:sSubPr>
                            <m:ctrlPr>
                              <a:rPr lang="en-US" sz="1600" b="0" i="1">
                                <a:latin typeface="Cambria Math" panose="02040503050406030204" pitchFamily="18" charset="0"/>
                              </a:rPr>
                            </m:ctrlPr>
                          </m:sSubPr>
                          <m:e>
                            <m:r>
                              <a:rPr lang="en-US" sz="1600" b="0" i="1">
                                <a:latin typeface="Cambria Math" panose="02040503050406030204" pitchFamily="18" charset="0"/>
                              </a:rPr>
                              <m:t>𝑠𝑑</m:t>
                            </m:r>
                          </m:e>
                          <m:sub>
                            <m:r>
                              <a:rPr lang="en-US" sz="1600" b="0" i="1">
                                <a:latin typeface="Cambria Math" panose="02040503050406030204" pitchFamily="18" charset="0"/>
                              </a:rPr>
                              <m:t>1</m:t>
                            </m:r>
                          </m:sub>
                        </m:sSub>
                      </m:num>
                      <m:den>
                        <m:sSub>
                          <m:sSubPr>
                            <m:ctrlPr>
                              <a:rPr lang="en-US" sz="1600" b="0" i="1">
                                <a:latin typeface="Cambria Math" panose="02040503050406030204" pitchFamily="18" charset="0"/>
                              </a:rPr>
                            </m:ctrlPr>
                          </m:sSubPr>
                          <m:e>
                            <m:r>
                              <a:rPr lang="en-US" sz="1600" b="0" i="1">
                                <a:latin typeface="Cambria Math" panose="02040503050406030204" pitchFamily="18" charset="0"/>
                              </a:rPr>
                              <m:t>𝑠𝑑</m:t>
                            </m:r>
                          </m:e>
                          <m:sub>
                            <m:r>
                              <a:rPr lang="en-US" sz="1600" b="0" i="1">
                                <a:latin typeface="Cambria Math" panose="02040503050406030204" pitchFamily="18" charset="0"/>
                              </a:rPr>
                              <m:t>2</m:t>
                            </m:r>
                          </m:sub>
                        </m:sSub>
                      </m:den>
                    </m:f>
                  </m:oMath>
                </a14:m>
                <a:r>
                  <a:rPr lang="en-US" sz="1600"/>
                  <a:t> where </a:t>
                </a:r>
                <a14:m>
                  <m:oMath xmlns:m="http://schemas.openxmlformats.org/officeDocument/2006/math">
                    <m:r>
                      <a:rPr lang="en-US" sz="1600" b="0" i="1">
                        <a:latin typeface="Cambria Math" panose="02040503050406030204" pitchFamily="18" charset="0"/>
                      </a:rPr>
                      <m:t>𝑠</m:t>
                    </m:r>
                    <m:sSub>
                      <m:sSubPr>
                        <m:ctrlPr>
                          <a:rPr lang="en-US" sz="1600" b="0" i="1">
                            <a:latin typeface="Cambria Math" panose="02040503050406030204" pitchFamily="18" charset="0"/>
                          </a:rPr>
                        </m:ctrlPr>
                      </m:sSubPr>
                      <m:e>
                        <m:r>
                          <a:rPr lang="en-US" sz="1600" b="0" i="1">
                            <a:latin typeface="Cambria Math" panose="02040503050406030204" pitchFamily="18" charset="0"/>
                          </a:rPr>
                          <m:t>𝑑</m:t>
                        </m:r>
                      </m:e>
                      <m:sub>
                        <m:r>
                          <a:rPr lang="en-US" sz="1600" b="0" i="1">
                            <a:latin typeface="Cambria Math" panose="02040503050406030204" pitchFamily="18" charset="0"/>
                          </a:rPr>
                          <m:t>1</m:t>
                        </m:r>
                      </m:sub>
                    </m:sSub>
                  </m:oMath>
                </a14:m>
                <a:r>
                  <a:rPr lang="en-US" sz="1600"/>
                  <a:t>and </a:t>
                </a:r>
                <a14:m>
                  <m:oMath xmlns:m="http://schemas.openxmlformats.org/officeDocument/2006/math">
                    <m:r>
                      <a:rPr lang="en-US" sz="1600" i="1">
                        <a:latin typeface="Cambria Math" panose="02040503050406030204" pitchFamily="18" charset="0"/>
                      </a:rPr>
                      <m:t>𝑠</m:t>
                    </m:r>
                    <m:sSub>
                      <m:sSubPr>
                        <m:ctrlPr>
                          <a:rPr lang="en-US" sz="1600" i="1">
                            <a:latin typeface="Cambria Math" panose="02040503050406030204" pitchFamily="18" charset="0"/>
                          </a:rPr>
                        </m:ctrlPr>
                      </m:sSubPr>
                      <m:e>
                        <m:r>
                          <a:rPr lang="en-US" sz="1600" i="1">
                            <a:latin typeface="Cambria Math" panose="02040503050406030204" pitchFamily="18" charset="0"/>
                          </a:rPr>
                          <m:t>𝑑</m:t>
                        </m:r>
                      </m:e>
                      <m:sub>
                        <m:r>
                          <a:rPr lang="en-US" sz="1600" b="0" i="1">
                            <a:latin typeface="Cambria Math" panose="02040503050406030204" pitchFamily="18" charset="0"/>
                          </a:rPr>
                          <m:t>2</m:t>
                        </m:r>
                      </m:sub>
                    </m:sSub>
                  </m:oMath>
                </a14:m>
                <a:r>
                  <a:rPr lang="en-US" sz="1600"/>
                  <a:t> are just the empirically computed standard deviations of each age-specific set of item z-scores.</a:t>
                </a:r>
              </a:p>
              <a:p>
                <a:pPr marL="0" indent="0">
                  <a:buNone/>
                </a:pPr>
                <a:r>
                  <a:rPr lang="en-US" sz="1600"/>
                  <a:t>Given (2) and Eqn A it follows  that</a:t>
                </a:r>
                <a:r>
                  <a:rPr lang="en-US" sz="1600" b="1"/>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2</m:t>
                            </m:r>
                          </m:sub>
                        </m:sSub>
                      </m:num>
                      <m:den>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den>
                    </m:f>
                    <m:r>
                      <a:rPr lang="en-US" sz="1600" b="0" i="1">
                        <a:latin typeface="Cambria Math" panose="02040503050406030204" pitchFamily="18" charset="0"/>
                      </a:rPr>
                      <m:t>=</m:t>
                    </m:r>
                  </m:oMath>
                </a14:m>
                <a:r>
                  <a:rPr lang="en-US" sz="1600"/>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oMath>
                </a14:m>
                <a:r>
                  <a:rPr lang="en-US" sz="1600"/>
                  <a:t>, so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2</m:t>
                        </m:r>
                      </m:sub>
                    </m:sSub>
                    <m:r>
                      <a:rPr lang="en-US" sz="1600" b="0" i="1">
                        <a:latin typeface="Cambria Math" panose="02040503050406030204" pitchFamily="18" charset="0"/>
                      </a:rPr>
                      <m:t>=</m:t>
                    </m:r>
                  </m:oMath>
                </a14:m>
                <a:r>
                  <a:rPr lang="en-US" sz="1600"/>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sSub>
                      <m:sSubPr>
                        <m:ctrlPr>
                          <a:rPr lang="en-US" sz="1600" b="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oMath>
                </a14:m>
                <a:r>
                  <a:rPr lang="en-US" sz="1600"/>
                  <a:t>  (Eqn B)</a:t>
                </a:r>
              </a:p>
              <a:p>
                <a:pPr marL="0" indent="0">
                  <a:buNone/>
                </a:pPr>
                <a:r>
                  <a:rPr lang="en-US" sz="1600"/>
                  <a:t>Given (1)  and (2), and assuming perfect linear relationship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𝑟</m:t>
                        </m:r>
                      </m:e>
                      <m:sub>
                        <m:r>
                          <a:rPr lang="en-US" sz="1600" b="0" i="1">
                            <a:latin typeface="Cambria Math" panose="02040503050406030204" pitchFamily="18" charset="0"/>
                          </a:rPr>
                          <m:t>12</m:t>
                        </m:r>
                      </m:sub>
                    </m:sSub>
                    <m:r>
                      <a:rPr lang="en-US" sz="1600" b="0" i="1">
                        <a:latin typeface="Cambria Math" panose="02040503050406030204" pitchFamily="18" charset="0"/>
                      </a:rPr>
                      <m:t>=1)</m:t>
                    </m:r>
                  </m:oMath>
                </a14:m>
                <a:r>
                  <a:rPr lang="en-US" sz="1600"/>
                  <a:t>, it follows that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1</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1</m:t>
                        </m:r>
                      </m:sub>
                    </m:sSub>
                    <m:r>
                      <a:rPr lang="en-US" sz="1600" b="0" i="1">
                        <a:latin typeface="Cambria Math" panose="02040503050406030204" pitchFamily="18" charset="0"/>
                      </a:rPr>
                      <m:t>=</m:t>
                    </m:r>
                    <m:f>
                      <m:fPr>
                        <m:ctrlPr>
                          <a:rPr lang="en-US" sz="1600" b="0" i="1">
                            <a:latin typeface="Cambria Math" panose="02040503050406030204" pitchFamily="18" charset="0"/>
                          </a:rPr>
                        </m:ctrlPr>
                      </m:fPr>
                      <m:num>
                        <m:r>
                          <a:rPr lang="en-US" sz="1600" b="0" i="1">
                            <a:latin typeface="Cambria Math" panose="02040503050406030204" pitchFamily="18" charset="0"/>
                          </a:rPr>
                          <m:t>𝑠</m:t>
                        </m:r>
                        <m:sSub>
                          <m:sSubPr>
                            <m:ctrlPr>
                              <a:rPr lang="en-US" sz="1600" b="0" i="1">
                                <a:latin typeface="Cambria Math" panose="02040503050406030204" pitchFamily="18" charset="0"/>
                              </a:rPr>
                            </m:ctrlPr>
                          </m:sSubPr>
                          <m:e>
                            <m:r>
                              <a:rPr lang="en-US" sz="1600" b="0" i="1">
                                <a:latin typeface="Cambria Math" panose="02040503050406030204" pitchFamily="18" charset="0"/>
                              </a:rPr>
                              <m:t>𝑑</m:t>
                            </m:r>
                          </m:e>
                          <m:sub>
                            <m:r>
                              <a:rPr lang="en-US" sz="1600" b="0" i="1">
                                <a:latin typeface="Cambria Math" panose="02040503050406030204" pitchFamily="18" charset="0"/>
                              </a:rPr>
                              <m:t>1</m:t>
                            </m:r>
                          </m:sub>
                        </m:sSub>
                      </m:num>
                      <m:den>
                        <m:r>
                          <a:rPr lang="en-US" sz="1600" b="0" i="1">
                            <a:latin typeface="Cambria Math" panose="02040503050406030204" pitchFamily="18" charset="0"/>
                          </a:rPr>
                          <m:t>𝑠</m:t>
                        </m:r>
                        <m:sSub>
                          <m:sSubPr>
                            <m:ctrlPr>
                              <a:rPr lang="en-US" sz="1600" b="0" i="1">
                                <a:latin typeface="Cambria Math" panose="02040503050406030204" pitchFamily="18" charset="0"/>
                              </a:rPr>
                            </m:ctrlPr>
                          </m:sSubPr>
                          <m:e>
                            <m:r>
                              <a:rPr lang="en-US" sz="1600" b="0" i="1">
                                <a:latin typeface="Cambria Math" panose="02040503050406030204" pitchFamily="18" charset="0"/>
                              </a:rPr>
                              <m:t>𝑑</m:t>
                            </m:r>
                          </m:e>
                          <m:sub>
                            <m:r>
                              <a:rPr lang="en-US" sz="1600" b="0" i="1">
                                <a:latin typeface="Cambria Math" panose="02040503050406030204" pitchFamily="18" charset="0"/>
                              </a:rPr>
                              <m:t>2</m:t>
                            </m:r>
                          </m:sub>
                        </m:sSub>
                      </m:den>
                    </m:f>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2</m:t>
                        </m:r>
                      </m:sub>
                    </m:sSub>
                    <m:r>
                      <a:rPr lang="en-US" sz="1600" b="0" i="1">
                        <a:latin typeface="Cambria Math" panose="02040503050406030204" pitchFamily="18" charset="0"/>
                      </a:rPr>
                      <m:t>)</m:t>
                    </m:r>
                  </m:oMath>
                </a14:m>
                <a:endParaRPr lang="en-US" sz="1600"/>
              </a:p>
              <a:p>
                <a:pPr marL="0" indent="0">
                  <a:buNone/>
                </a:pPr>
                <a:r>
                  <a:rPr lang="en-US" sz="1600"/>
                  <a:t>So we can rewrite Eqn A as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1</m:t>
                        </m:r>
                      </m:sub>
                    </m:sSub>
                    <m:r>
                      <a:rPr lang="en-US" sz="1600" b="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sSub>
                      <m:sSubPr>
                        <m:ctrlPr>
                          <a:rPr lang="en-US" sz="1600" b="0" i="1">
                            <a:latin typeface="Cambria Math" panose="02040503050406030204" pitchFamily="18" charset="0"/>
                          </a:rPr>
                        </m:ctrlPr>
                      </m:sSubPr>
                      <m:e>
                        <m:r>
                          <a:rPr lang="en-US" sz="1600" b="0" i="1">
                            <a:latin typeface="Cambria Math" panose="02040503050406030204" pitchFamily="18" charset="0"/>
                          </a:rPr>
                          <m:t>𝑋</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1</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2</m:t>
                        </m:r>
                      </m:sub>
                    </m:sSub>
                  </m:oMath>
                </a14:m>
                <a:r>
                  <a:rPr lang="en-US" sz="1600"/>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r>
                      <a:rPr lang="en-US" sz="1600" b="0" i="1">
                        <a:latin typeface="Cambria Math" panose="02040503050406030204" pitchFamily="18" charset="0"/>
                      </a:rPr>
                      <m:t>)</m:t>
                    </m:r>
                  </m:oMath>
                </a14:m>
                <a:endParaRPr lang="en-US" sz="1600"/>
              </a:p>
              <a:p>
                <a:pPr marL="0" indent="0">
                  <a:buNone/>
                </a:pPr>
                <a:r>
                  <a:rPr lang="en-US" sz="1600"/>
                  <a:t>therefore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b="0" i="1">
                                <a:latin typeface="Cambria Math" panose="02040503050406030204" pitchFamily="18" charset="0"/>
                              </a:rPr>
                              <m:t>𝑀</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i="1">
                                <a:latin typeface="Cambria Math" panose="02040503050406030204" pitchFamily="18" charset="0"/>
                              </a:rPr>
                            </m:ctrlPr>
                          </m:sSubPr>
                          <m:e>
                            <m:r>
                              <a:rPr lang="en-US" sz="1600" b="0" i="1">
                                <a:latin typeface="Cambria Math" panose="02040503050406030204" pitchFamily="18" charset="0"/>
                              </a:rPr>
                              <m:t>𝑀</m:t>
                            </m:r>
                          </m:e>
                          <m:sub>
                            <m:r>
                              <a:rPr lang="en-US" sz="1600" b="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den>
                    </m:f>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1</m:t>
                        </m:r>
                      </m:sub>
                    </m:sSub>
                    <m:r>
                      <a:rPr lang="en-US" sz="1600" b="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2</m:t>
                        </m:r>
                      </m:sub>
                    </m:sSub>
                  </m:oMath>
                </a14:m>
                <a:r>
                  <a:rPr lang="en-US" sz="1600"/>
                  <a:t>, so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𝑀</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𝜎</m:t>
                        </m:r>
                      </m:e>
                      <m:sub>
                        <m:r>
                          <a:rPr lang="en-US" sz="1600" b="0" i="1">
                            <a:latin typeface="Cambria Math" panose="02040503050406030204" pitchFamily="18" charset="0"/>
                          </a:rPr>
                          <m:t>1</m:t>
                        </m:r>
                      </m:sub>
                    </m:sSub>
                    <m:d>
                      <m:dPr>
                        <m:ctrlPr>
                          <a:rPr lang="en-US" sz="1600" b="0" i="1">
                            <a:latin typeface="Cambria Math" panose="02040503050406030204" pitchFamily="18" charset="0"/>
                          </a:rPr>
                        </m:ctrlPr>
                      </m:dPr>
                      <m:e>
                        <m:sSub>
                          <m:sSubPr>
                            <m:ctrlPr>
                              <a:rPr lang="en-US" sz="1600" b="0" i="1">
                                <a:latin typeface="Cambria Math" panose="02040503050406030204" pitchFamily="18" charset="0"/>
                              </a:rPr>
                            </m:ctrlPr>
                          </m:sSubPr>
                          <m:e>
                            <m:r>
                              <a:rPr lang="en-US" sz="1600" b="0" i="1">
                                <a:latin typeface="Cambria Math" panose="02040503050406030204" pitchFamily="18" charset="0"/>
                              </a:rPr>
                              <m:t>𝑚</m:t>
                            </m:r>
                          </m:e>
                          <m:sub>
                            <m:r>
                              <a:rPr lang="en-US" sz="1600" b="0" i="1">
                                <a:latin typeface="Cambria Math" panose="02040503050406030204" pitchFamily="18" charset="0"/>
                              </a:rPr>
                              <m:t>1</m:t>
                            </m:r>
                          </m:sub>
                        </m:sSub>
                        <m:r>
                          <a:rPr lang="en-US" sz="1600" b="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1</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𝑠𝑑</m:t>
                                </m:r>
                              </m:e>
                              <m:sub>
                                <m:r>
                                  <a:rPr lang="en-US" sz="1600" i="1">
                                    <a:latin typeface="Cambria Math" panose="02040503050406030204" pitchFamily="18" charset="0"/>
                                  </a:rPr>
                                  <m:t>2</m:t>
                                </m:r>
                              </m:sub>
                            </m:sSub>
                          </m:den>
                        </m:f>
                        <m:sSub>
                          <m:sSubPr>
                            <m:ctrlPr>
                              <a:rPr lang="en-US"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2</m:t>
                            </m:r>
                          </m:sub>
                        </m:sSub>
                      </m:e>
                    </m:d>
                    <m:r>
                      <a:rPr lang="en-US" sz="1600" b="0" i="0">
                        <a:latin typeface="Cambria Math" panose="02040503050406030204" pitchFamily="18" charset="0"/>
                      </a:rPr>
                      <m:t>+</m:t>
                    </m:r>
                    <m:sSub>
                      <m:sSubPr>
                        <m:ctrlPr>
                          <a:rPr lang="en-US" sz="1600" b="0" i="1">
                            <a:latin typeface="Cambria Math" panose="02040503050406030204" pitchFamily="18" charset="0"/>
                          </a:rPr>
                        </m:ctrlPr>
                      </m:sSubPr>
                      <m:e>
                        <m:r>
                          <m:rPr>
                            <m:sty m:val="p"/>
                          </m:rPr>
                          <a:rPr lang="en-US" sz="1600" b="0" i="0">
                            <a:latin typeface="Cambria Math" panose="02040503050406030204" pitchFamily="18" charset="0"/>
                          </a:rPr>
                          <m:t>M</m:t>
                        </m:r>
                      </m:e>
                      <m:sub>
                        <m:r>
                          <a:rPr lang="en-US" sz="1600" b="0" i="0">
                            <a:latin typeface="Cambria Math" panose="02040503050406030204" pitchFamily="18" charset="0"/>
                          </a:rPr>
                          <m:t>1</m:t>
                        </m:r>
                      </m:sub>
                    </m:sSub>
                  </m:oMath>
                </a14:m>
                <a:r>
                  <a:rPr lang="en-US" sz="1600"/>
                  <a:t> (Eqn C))</a:t>
                </a:r>
              </a:p>
              <a:p>
                <a:pPr marL="0" indent="0">
                  <a:buNone/>
                </a:pPr>
                <a:r>
                  <a:rPr lang="en-US" sz="1600"/>
                  <a:t>Procedure: Start with lowest age group, for this group designate </a:t>
                </a:r>
                <a14:m>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M</m:t>
                        </m:r>
                      </m:e>
                      <m:sub>
                        <m:r>
                          <a:rPr lang="en-US" sz="1600">
                            <a:latin typeface="Cambria Math" panose="02040503050406030204" pitchFamily="18" charset="0"/>
                          </a:rPr>
                          <m:t>1</m:t>
                        </m:r>
                      </m:sub>
                    </m:sSub>
                    <m:r>
                      <a:rPr lang="en-US" sz="1600" b="0" i="1">
                        <a:latin typeface="Cambria Math" panose="02040503050406030204" pitchFamily="18" charset="0"/>
                      </a:rPr>
                      <m:t>=0</m:t>
                    </m:r>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a:rPr lang="en-US" sz="1600" i="1">
                            <a:latin typeface="Cambria Math" panose="02040503050406030204" pitchFamily="18" charset="0"/>
                          </a:rPr>
                          <m:t>1</m:t>
                        </m:r>
                      </m:sub>
                    </m:sSub>
                    <m:r>
                      <a:rPr lang="en-US" sz="1600" b="0" i="1">
                        <a:latin typeface="Cambria Math" panose="02040503050406030204" pitchFamily="18" charset="0"/>
                      </a:rPr>
                      <m:t>=1</m:t>
                    </m:r>
                  </m:oMath>
                </a14:m>
                <a:r>
                  <a:rPr lang="en-US" sz="1600"/>
                  <a:t>.  Use Eqns (B) and (C) to find </a:t>
                </a:r>
                <a14:m>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M</m:t>
                        </m:r>
                      </m:e>
                      <m:sub>
                        <m:r>
                          <a:rPr lang="en-US" sz="1600" b="0" i="0">
                            <a:latin typeface="Cambria Math" panose="02040503050406030204" pitchFamily="18" charset="0"/>
                          </a:rPr>
                          <m:t>2</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a:rPr lang="en-US" sz="1600" b="0" i="1">
                            <a:latin typeface="Cambria Math" panose="02040503050406030204" pitchFamily="18" charset="0"/>
                          </a:rPr>
                          <m:t>2</m:t>
                        </m:r>
                      </m:sub>
                    </m:sSub>
                  </m:oMath>
                </a14:m>
                <a:r>
                  <a:rPr lang="en-US" sz="1600"/>
                  <a:t>. Then apply Equation A to express the upper age-specific item z-score on the same scale as lower age-specific z-score.</a:t>
                </a:r>
              </a:p>
              <a:p>
                <a:pPr marL="0" indent="0">
                  <a:buNone/>
                </a:pPr>
                <a:r>
                  <a:rPr lang="en-US" sz="1600"/>
                  <a:t>Then apply the same approach to find </a:t>
                </a:r>
                <a14:m>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M</m:t>
                        </m:r>
                      </m:e>
                      <m:sub>
                        <m:r>
                          <a:rPr lang="en-US" sz="1600" b="0" i="0">
                            <a:latin typeface="Cambria Math" panose="02040503050406030204" pitchFamily="18" charset="0"/>
                          </a:rPr>
                          <m:t>3</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a:rPr lang="en-US" sz="1600" b="0" i="1">
                            <a:latin typeface="Cambria Math" panose="02040503050406030204" pitchFamily="18" charset="0"/>
                          </a:rPr>
                          <m:t>3</m:t>
                        </m:r>
                      </m:sub>
                    </m:sSub>
                  </m:oMath>
                </a14:m>
                <a:r>
                  <a:rPr lang="en-US" sz="1600"/>
                  <a:t>, </a:t>
                </a:r>
                <a14:m>
                  <m:oMath xmlns:m="http://schemas.openxmlformats.org/officeDocument/2006/math">
                    <m:sSub>
                      <m:sSubPr>
                        <m:ctrlPr>
                          <a:rPr lang="en-US" sz="1600" i="1">
                            <a:latin typeface="Cambria Math" panose="02040503050406030204" pitchFamily="18" charset="0"/>
                          </a:rPr>
                        </m:ctrlPr>
                      </m:sSubPr>
                      <m:e>
                        <m:r>
                          <m:rPr>
                            <m:sty m:val="p"/>
                          </m:rPr>
                          <a:rPr lang="en-US" sz="1600">
                            <a:latin typeface="Cambria Math" panose="02040503050406030204" pitchFamily="18" charset="0"/>
                          </a:rPr>
                          <m:t>M</m:t>
                        </m:r>
                      </m:e>
                      <m:sub>
                        <m:r>
                          <a:rPr lang="en-US" sz="1600" b="0" i="0">
                            <a:latin typeface="Cambria Math" panose="02040503050406030204" pitchFamily="18" charset="0"/>
                          </a:rPr>
                          <m:t>4</m:t>
                        </m:r>
                      </m:sub>
                    </m:sSub>
                  </m:oMath>
                </a14:m>
                <a:r>
                  <a:rPr lang="en-US" sz="1600"/>
                  <a:t>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a:rPr lang="en-US" sz="1600" b="0" i="1">
                            <a:latin typeface="Cambria Math" panose="02040503050406030204" pitchFamily="18" charset="0"/>
                          </a:rPr>
                          <m:t>4</m:t>
                        </m:r>
                      </m:sub>
                    </m:sSub>
                  </m:oMath>
                </a14:m>
                <a:r>
                  <a:rPr lang="en-US" sz="1600"/>
                  <a:t>, and so on.</a:t>
                </a:r>
              </a:p>
            </p:txBody>
          </p:sp>
        </mc:Choice>
        <mc:Fallback xmlns="">
          <p:sp>
            <p:nvSpPr>
              <p:cNvPr id="6" name="Content Placeholder 5">
                <a:extLst>
                  <a:ext uri="{FF2B5EF4-FFF2-40B4-BE49-F238E27FC236}">
                    <a16:creationId xmlns:a16="http://schemas.microsoft.com/office/drawing/2014/main" id="{9194904B-FE98-C144-A3B6-D6FF30C6AED0}"/>
                  </a:ext>
                </a:extLst>
              </p:cNvPr>
              <p:cNvSpPr>
                <a:spLocks noGrp="1" noRot="1" noChangeAspect="1" noMove="1" noResize="1" noEditPoints="1" noAdjustHandles="1" noChangeArrowheads="1" noChangeShapeType="1" noTextEdit="1"/>
              </p:cNvSpPr>
              <p:nvPr>
                <p:ph idx="1"/>
              </p:nvPr>
            </p:nvSpPr>
            <p:spPr>
              <a:xfrm>
                <a:off x="609600" y="1109273"/>
                <a:ext cx="10972800" cy="5016892"/>
              </a:xfrm>
              <a:blipFill>
                <a:blip r:embed="rId2"/>
                <a:stretch>
                  <a:fillRect l="-347" r="-11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BB945A0D-6916-6846-B059-F4B5A32DF02A}"/>
              </a:ext>
            </a:extLst>
          </p:cNvPr>
          <p:cNvSpPr>
            <a:spLocks noGrp="1"/>
          </p:cNvSpPr>
          <p:nvPr>
            <p:ph type="sldNum" sz="quarter" idx="12"/>
          </p:nvPr>
        </p:nvSpPr>
        <p:spPr/>
        <p:txBody>
          <a:bodyPr/>
          <a:lstStyle/>
          <a:p>
            <a:fld id="{EFD2A749-B6C7-C240-8A90-1E79A2210C21}" type="slidenum">
              <a:rPr lang="en-US"/>
              <a:t>28</a:t>
            </a:fld>
            <a:endParaRPr lang="en-US"/>
          </a:p>
        </p:txBody>
      </p:sp>
      <p:sp>
        <p:nvSpPr>
          <p:cNvPr id="7" name="TextBox 6">
            <a:extLst>
              <a:ext uri="{FF2B5EF4-FFF2-40B4-BE49-F238E27FC236}">
                <a16:creationId xmlns:a16="http://schemas.microsoft.com/office/drawing/2014/main" id="{0B957255-8201-E243-A018-1DACE5DFED86}"/>
              </a:ext>
            </a:extLst>
          </p:cNvPr>
          <p:cNvSpPr txBox="1"/>
          <p:nvPr/>
        </p:nvSpPr>
        <p:spPr>
          <a:xfrm>
            <a:off x="3820886" y="6356351"/>
            <a:ext cx="6286500" cy="369332"/>
          </a:xfrm>
          <a:prstGeom prst="rect">
            <a:avLst/>
          </a:prstGeom>
          <a:noFill/>
        </p:spPr>
        <p:txBody>
          <a:bodyPr wrap="square" rtlCol="0">
            <a:spAutoFit/>
          </a:bodyPr>
          <a:lstStyle/>
          <a:p>
            <a:r>
              <a:rPr lang="en-US"/>
              <a:t>For further details see Thurstone (1925, pp. 438-440)</a:t>
            </a:r>
          </a:p>
        </p:txBody>
      </p:sp>
    </p:spTree>
    <p:extLst>
      <p:ext uri="{BB962C8B-B14F-4D97-AF65-F5344CB8AC3E}">
        <p14:creationId xmlns:p14="http://schemas.microsoft.com/office/powerpoint/2010/main" val="2359190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95CA-3327-364E-A53C-3C12A494A941}"/>
              </a:ext>
            </a:extLst>
          </p:cNvPr>
          <p:cNvSpPr>
            <a:spLocks noGrp="1"/>
          </p:cNvSpPr>
          <p:nvPr>
            <p:ph type="title"/>
          </p:nvPr>
        </p:nvSpPr>
        <p:spPr/>
        <p:txBody>
          <a:bodyPr>
            <a:normAutofit fontScale="90000"/>
          </a:bodyPr>
          <a:lstStyle/>
          <a:p>
            <a:pPr algn="l"/>
            <a:r>
              <a:rPr lang="en-US" b="1"/>
              <a:t>Result: Depiction of Growth on an Absolute Scale</a:t>
            </a:r>
          </a:p>
        </p:txBody>
      </p:sp>
      <p:pic>
        <p:nvPicPr>
          <p:cNvPr id="6" name="Content Placeholder 5">
            <a:extLst>
              <a:ext uri="{FF2B5EF4-FFF2-40B4-BE49-F238E27FC236}">
                <a16:creationId xmlns:a16="http://schemas.microsoft.com/office/drawing/2014/main" id="{97318217-E9A3-2649-9F7B-2C36EC3A0857}"/>
              </a:ext>
            </a:extLst>
          </p:cNvPr>
          <p:cNvPicPr>
            <a:picLocks noGrp="1" noChangeAspect="1"/>
          </p:cNvPicPr>
          <p:nvPr>
            <p:ph sz="half" idx="1"/>
          </p:nvPr>
        </p:nvPicPr>
        <p:blipFill>
          <a:blip r:embed="rId2"/>
          <a:stretch>
            <a:fillRect/>
          </a:stretch>
        </p:blipFill>
        <p:spPr>
          <a:xfrm>
            <a:off x="914400" y="1600201"/>
            <a:ext cx="5181600" cy="3251900"/>
          </a:xfrm>
        </p:spPr>
      </p:pic>
      <p:sp>
        <p:nvSpPr>
          <p:cNvPr id="4" name="Content Placeholder 3">
            <a:extLst>
              <a:ext uri="{FF2B5EF4-FFF2-40B4-BE49-F238E27FC236}">
                <a16:creationId xmlns:a16="http://schemas.microsoft.com/office/drawing/2014/main" id="{E92168F0-A378-3544-B1CA-F5BD9C3E0AF6}"/>
              </a:ext>
            </a:extLst>
          </p:cNvPr>
          <p:cNvSpPr>
            <a:spLocks noGrp="1"/>
          </p:cNvSpPr>
          <p:nvPr>
            <p:ph sz="half" idx="2"/>
          </p:nvPr>
        </p:nvSpPr>
        <p:spPr/>
        <p:txBody>
          <a:bodyPr/>
          <a:lstStyle/>
          <a:p>
            <a:r>
              <a:rPr lang="en-US"/>
              <a:t>Growth shows no sign of rapid deceleration</a:t>
            </a:r>
          </a:p>
          <a:p>
            <a:r>
              <a:rPr lang="en-US"/>
              <a:t>Variance increases over time (notice vertical distance from middle line as grade increases)</a:t>
            </a:r>
          </a:p>
          <a:p>
            <a:r>
              <a:rPr lang="en-US"/>
              <a:t>Missing evidence on growth in intelligence into adulthood</a:t>
            </a:r>
          </a:p>
        </p:txBody>
      </p:sp>
      <p:sp>
        <p:nvSpPr>
          <p:cNvPr id="3" name="TextBox 2">
            <a:extLst>
              <a:ext uri="{FF2B5EF4-FFF2-40B4-BE49-F238E27FC236}">
                <a16:creationId xmlns:a16="http://schemas.microsoft.com/office/drawing/2014/main" id="{B04F93EF-859F-9E49-AEDA-33E536078C98}"/>
              </a:ext>
            </a:extLst>
          </p:cNvPr>
          <p:cNvSpPr txBox="1"/>
          <p:nvPr/>
        </p:nvSpPr>
        <p:spPr>
          <a:xfrm>
            <a:off x="762000" y="5034664"/>
            <a:ext cx="10668000" cy="1015663"/>
          </a:xfrm>
          <a:prstGeom prst="rect">
            <a:avLst/>
          </a:prstGeom>
          <a:noFill/>
        </p:spPr>
        <p:txBody>
          <a:bodyPr wrap="square" rtlCol="0">
            <a:spAutoFit/>
          </a:bodyPr>
          <a:lstStyle/>
          <a:p>
            <a:r>
              <a:rPr lang="en-US" sz="2000"/>
              <a:t>Thurstone: “Instead of acknowledging this limitation in our measurement methods, we have not infrequently attempted to juggle with the definition of intelligence to make it fit the measuring devices that are available.” (Thurstone, 1925)</a:t>
            </a:r>
          </a:p>
        </p:txBody>
      </p:sp>
    </p:spTree>
    <p:extLst>
      <p:ext uri="{BB962C8B-B14F-4D97-AF65-F5344CB8AC3E}">
        <p14:creationId xmlns:p14="http://schemas.microsoft.com/office/powerpoint/2010/main" val="79830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110B-3617-3645-A6CA-D324DAFB71B9}"/>
              </a:ext>
            </a:extLst>
          </p:cNvPr>
          <p:cNvSpPr>
            <a:spLocks noGrp="1"/>
          </p:cNvSpPr>
          <p:nvPr>
            <p:ph type="title"/>
          </p:nvPr>
        </p:nvSpPr>
        <p:spPr>
          <a:xfrm>
            <a:off x="609600" y="274638"/>
            <a:ext cx="10972800" cy="1143000"/>
          </a:xfrm>
        </p:spPr>
        <p:txBody>
          <a:bodyPr/>
          <a:lstStyle/>
          <a:p>
            <a:r>
              <a:rPr lang="en-US" b="1"/>
              <a:t>A “Map” of Binet Items on an Absolute Scale</a:t>
            </a:r>
          </a:p>
        </p:txBody>
      </p:sp>
      <p:pic>
        <p:nvPicPr>
          <p:cNvPr id="5" name="Content Placeholder 4">
            <a:extLst>
              <a:ext uri="{FF2B5EF4-FFF2-40B4-BE49-F238E27FC236}">
                <a16:creationId xmlns:a16="http://schemas.microsoft.com/office/drawing/2014/main" id="{75882546-5981-F94F-992D-F875362D8629}"/>
              </a:ext>
            </a:extLst>
          </p:cNvPr>
          <p:cNvPicPr>
            <a:picLocks noGrp="1" noChangeAspect="1"/>
          </p:cNvPicPr>
          <p:nvPr>
            <p:ph idx="1"/>
          </p:nvPr>
        </p:nvPicPr>
        <p:blipFill>
          <a:blip r:embed="rId2"/>
          <a:stretch>
            <a:fillRect/>
          </a:stretch>
        </p:blipFill>
        <p:spPr>
          <a:xfrm>
            <a:off x="1801514" y="1417638"/>
            <a:ext cx="8385771" cy="4351338"/>
          </a:xfrm>
        </p:spPr>
      </p:pic>
    </p:spTree>
    <p:extLst>
      <p:ext uri="{BB962C8B-B14F-4D97-AF65-F5344CB8AC3E}">
        <p14:creationId xmlns:p14="http://schemas.microsoft.com/office/powerpoint/2010/main" val="2573954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6194-E3D0-E74A-83DD-8EFC1A06CF81}"/>
              </a:ext>
            </a:extLst>
          </p:cNvPr>
          <p:cNvSpPr>
            <a:spLocks noGrp="1"/>
          </p:cNvSpPr>
          <p:nvPr>
            <p:ph type="title"/>
          </p:nvPr>
        </p:nvSpPr>
        <p:spPr/>
        <p:txBody>
          <a:bodyPr/>
          <a:lstStyle/>
          <a:p>
            <a:pPr algn="l"/>
            <a:r>
              <a:rPr lang="en-US" b="1"/>
              <a:t>Thurstone’s Unit of Measurement</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A37E0C0-9956-0947-9CDA-C49A62C4E67C}"/>
                  </a:ext>
                </a:extLst>
              </p:cNvPr>
              <p:cNvSpPr>
                <a:spLocks noGrp="1"/>
              </p:cNvSpPr>
              <p:nvPr>
                <p:ph idx="1"/>
              </p:nvPr>
            </p:nvSpPr>
            <p:spPr/>
            <p:txBody>
              <a:bodyPr>
                <a:normAutofit lnSpcReduction="10000"/>
              </a:bodyPr>
              <a:lstStyle/>
              <a:p>
                <a:r>
                  <a:rPr lang="en-US" sz="2800"/>
                  <a:t>A choice had to be made with regard to the (age-specific) SD that would be used to define the scale’s unit of measurement.</a:t>
                </a:r>
              </a:p>
              <a:p>
                <a:r>
                  <a:rPr lang="en-US" sz="2800"/>
                  <a:t>Thurstone regarded the choice as “arbitrary”</a:t>
                </a:r>
              </a:p>
              <a:p>
                <a:r>
                  <a:rPr lang="en-US" sz="2800"/>
                  <a:t>But the choice did have implications for the scale, because the SDs could differ by group!</a:t>
                </a:r>
              </a:p>
              <a:p>
                <a:r>
                  <a:rPr lang="en-US" sz="2800"/>
                  <a:t>Prevailing method invented by Thorndike had assumed, implicitly, a constant SD, so there was no need to choose a unit.</a:t>
                </a:r>
              </a:p>
              <a:p>
                <a:r>
                  <a:rPr lang="en-US" sz="2800"/>
                  <a:t>In effect, rather than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2</m:t>
                        </m:r>
                      </m:sub>
                    </m:sSub>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2</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1</m:t>
                                </m:r>
                              </m:sub>
                            </m:sSub>
                          </m:den>
                        </m:f>
                      </m:e>
                    </m:d>
                    <m:r>
                      <a:rPr lang="en-US" sz="2800" i="1">
                        <a:latin typeface="Cambria Math" panose="02040503050406030204" pitchFamily="18" charset="0"/>
                      </a:rPr>
                      <m:t>+</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1</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1</m:t>
                                </m:r>
                              </m:sub>
                            </m:sSub>
                          </m:den>
                        </m:f>
                      </m:e>
                    </m:d>
                  </m:oMath>
                </a14:m>
                <a:r>
                  <a:rPr lang="en-US"/>
                  <a:t> </a:t>
                </a:r>
                <a:r>
                  <a:rPr lang="en-US" sz="2800"/>
                  <a:t>Thorndike’s method specifying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2</m:t>
                        </m:r>
                      </m:sub>
                    </m:sSub>
                    <m:r>
                      <a:rPr lang="en-US" sz="2800" i="1">
                        <a:latin typeface="Cambria Math" panose="02040503050406030204" pitchFamily="18" charset="0"/>
                      </a:rPr>
                      <m:t>+</m:t>
                    </m:r>
                    <m:d>
                      <m:dPr>
                        <m:ctrlPr>
                          <a:rPr lang="en-US" sz="2800" i="1">
                            <a:latin typeface="Cambria Math" panose="02040503050406030204" pitchFamily="18" charset="0"/>
                          </a:rPr>
                        </m:ctrlPr>
                      </m:dPr>
                      <m:e>
                        <m:sSub>
                          <m:sSubPr>
                            <m:ctrlPr>
                              <a:rPr lang="en-US" sz="2800" b="0" i="1">
                                <a:latin typeface="Cambria Math" panose="02040503050406030204" pitchFamily="18" charset="0"/>
                              </a:rPr>
                            </m:ctrlPr>
                          </m:sSubPr>
                          <m:e>
                            <m:r>
                              <a:rPr lang="en-US" sz="2800" b="0" i="1">
                                <a:latin typeface="Cambria Math" panose="02040503050406030204" pitchFamily="18" charset="0"/>
                              </a:rPr>
                              <m:t>𝑀</m:t>
                            </m:r>
                          </m:e>
                          <m:sub>
                            <m:r>
                              <a:rPr lang="en-US" sz="2800" b="0" i="1">
                                <a:latin typeface="Cambria Math" panose="02040503050406030204" pitchFamily="18" charset="0"/>
                              </a:rPr>
                              <m:t>2</m:t>
                            </m:r>
                          </m:sub>
                        </m:sSub>
                        <m:r>
                          <a:rPr lang="en-US" sz="2800" b="0" i="1">
                            <a:latin typeface="Cambria Math" panose="02040503050406030204" pitchFamily="18" charset="0"/>
                          </a:rPr>
                          <m:t>−</m:t>
                        </m:r>
                        <m:sSub>
                          <m:sSubPr>
                            <m:ctrlPr>
                              <a:rPr lang="en-US" sz="2800" b="0" i="1">
                                <a:latin typeface="Cambria Math" panose="02040503050406030204" pitchFamily="18" charset="0"/>
                              </a:rPr>
                            </m:ctrlPr>
                          </m:sSubPr>
                          <m:e>
                            <m:r>
                              <a:rPr lang="en-US" sz="2800" b="0" i="1">
                                <a:latin typeface="Cambria Math" panose="02040503050406030204" pitchFamily="18" charset="0"/>
                              </a:rPr>
                              <m:t>𝑀</m:t>
                            </m:r>
                          </m:e>
                          <m:sub>
                            <m:r>
                              <a:rPr lang="en-US" sz="2800" b="0" i="1">
                                <a:latin typeface="Cambria Math" panose="02040503050406030204" pitchFamily="18" charset="0"/>
                              </a:rPr>
                              <m:t>1</m:t>
                            </m:r>
                          </m:sub>
                        </m:sSub>
                      </m:e>
                    </m:d>
                  </m:oMath>
                </a14:m>
                <a:endParaRPr lang="en-US" sz="2800"/>
              </a:p>
            </p:txBody>
          </p:sp>
        </mc:Choice>
        <mc:Fallback xmlns="">
          <p:sp>
            <p:nvSpPr>
              <p:cNvPr id="6" name="Content Placeholder 5">
                <a:extLst>
                  <a:ext uri="{FF2B5EF4-FFF2-40B4-BE49-F238E27FC236}">
                    <a16:creationId xmlns:a16="http://schemas.microsoft.com/office/drawing/2014/main" id="{4A37E0C0-9956-0947-9CDA-C49A62C4E67C}"/>
                  </a:ext>
                </a:extLst>
              </p:cNvPr>
              <p:cNvSpPr>
                <a:spLocks noGrp="1" noRot="1" noChangeAspect="1" noMove="1" noResize="1" noEditPoints="1" noAdjustHandles="1" noChangeArrowheads="1" noChangeShapeType="1" noTextEdit="1"/>
              </p:cNvSpPr>
              <p:nvPr>
                <p:ph idx="1"/>
              </p:nvPr>
            </p:nvSpPr>
            <p:spPr>
              <a:blipFill>
                <a:blip r:embed="rId2"/>
                <a:stretch>
                  <a:fillRect l="-1042" t="-1961" r="-104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A998542-A3AD-1E40-8704-0FE352A7CEC6}"/>
              </a:ext>
            </a:extLst>
          </p:cNvPr>
          <p:cNvSpPr>
            <a:spLocks noGrp="1"/>
          </p:cNvSpPr>
          <p:nvPr>
            <p:ph type="sldNum" sz="quarter" idx="12"/>
          </p:nvPr>
        </p:nvSpPr>
        <p:spPr/>
        <p:txBody>
          <a:bodyPr/>
          <a:lstStyle/>
          <a:p>
            <a:fld id="{EFD2A749-B6C7-C240-8A90-1E79A2210C21}" type="slidenum">
              <a:rPr lang="en-US"/>
              <a:t>31</a:t>
            </a:fld>
            <a:endParaRPr lang="en-US"/>
          </a:p>
        </p:txBody>
      </p:sp>
    </p:spTree>
    <p:extLst>
      <p:ext uri="{BB962C8B-B14F-4D97-AF65-F5344CB8AC3E}">
        <p14:creationId xmlns:p14="http://schemas.microsoft.com/office/powerpoint/2010/main" val="2940872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679E35-4038-8E40-AB3B-D92E9137BC69}"/>
              </a:ext>
            </a:extLst>
          </p:cNvPr>
          <p:cNvSpPr>
            <a:spLocks noGrp="1"/>
          </p:cNvSpPr>
          <p:nvPr>
            <p:ph type="title"/>
          </p:nvPr>
        </p:nvSpPr>
        <p:spPr/>
        <p:txBody>
          <a:bodyPr>
            <a:normAutofit fontScale="90000"/>
          </a:bodyPr>
          <a:lstStyle/>
          <a:p>
            <a:pPr algn="l"/>
            <a:r>
              <a:rPr lang="en-US" b="1"/>
              <a:t>Example: Trabue’s Test of Sentence Completion</a:t>
            </a:r>
          </a:p>
        </p:txBody>
      </p:sp>
      <p:pic>
        <p:nvPicPr>
          <p:cNvPr id="9" name="Content Placeholder 8">
            <a:extLst>
              <a:ext uri="{FF2B5EF4-FFF2-40B4-BE49-F238E27FC236}">
                <a16:creationId xmlns:a16="http://schemas.microsoft.com/office/drawing/2014/main" id="{9126DEA1-572C-3F45-8132-A12AD0C58E6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20155" y="1672205"/>
            <a:ext cx="4517260" cy="4381951"/>
          </a:xfrm>
        </p:spPr>
      </p:pic>
      <p:pic>
        <p:nvPicPr>
          <p:cNvPr id="11" name="Content Placeholder 10">
            <a:extLst>
              <a:ext uri="{FF2B5EF4-FFF2-40B4-BE49-F238E27FC236}">
                <a16:creationId xmlns:a16="http://schemas.microsoft.com/office/drawing/2014/main" id="{9E515EA7-02D5-E84C-AB5E-5A5373B55C8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60222" y="1624013"/>
            <a:ext cx="4390184" cy="4525963"/>
          </a:xfrm>
        </p:spPr>
      </p:pic>
      <p:sp>
        <p:nvSpPr>
          <p:cNvPr id="4" name="Slide Number Placeholder 3">
            <a:extLst>
              <a:ext uri="{FF2B5EF4-FFF2-40B4-BE49-F238E27FC236}">
                <a16:creationId xmlns:a16="http://schemas.microsoft.com/office/drawing/2014/main" id="{FF1B3BC3-E9B6-9F4B-B12E-E481323E342D}"/>
              </a:ext>
            </a:extLst>
          </p:cNvPr>
          <p:cNvSpPr>
            <a:spLocks noGrp="1"/>
          </p:cNvSpPr>
          <p:nvPr>
            <p:ph type="sldNum" sz="quarter" idx="12"/>
          </p:nvPr>
        </p:nvSpPr>
        <p:spPr/>
        <p:txBody>
          <a:bodyPr/>
          <a:lstStyle/>
          <a:p>
            <a:fld id="{EFD2A749-B6C7-C240-8A90-1E79A2210C21}" type="slidenum">
              <a:rPr lang="en-US"/>
              <a:t>32</a:t>
            </a:fld>
            <a:endParaRPr lang="en-US"/>
          </a:p>
        </p:txBody>
      </p:sp>
      <p:sp>
        <p:nvSpPr>
          <p:cNvPr id="12" name="TextBox 11">
            <a:extLst>
              <a:ext uri="{FF2B5EF4-FFF2-40B4-BE49-F238E27FC236}">
                <a16:creationId xmlns:a16="http://schemas.microsoft.com/office/drawing/2014/main" id="{E409C4B2-2C21-9E49-92B8-1DED2327A8BC}"/>
              </a:ext>
            </a:extLst>
          </p:cNvPr>
          <p:cNvSpPr txBox="1"/>
          <p:nvPr/>
        </p:nvSpPr>
        <p:spPr>
          <a:xfrm>
            <a:off x="1306285" y="1289958"/>
            <a:ext cx="4593579" cy="369332"/>
          </a:xfrm>
          <a:prstGeom prst="rect">
            <a:avLst/>
          </a:prstGeom>
          <a:noFill/>
        </p:spPr>
        <p:txBody>
          <a:bodyPr wrap="square" rtlCol="0">
            <a:spAutoFit/>
          </a:bodyPr>
          <a:lstStyle/>
          <a:p>
            <a:r>
              <a:rPr lang="en-US"/>
              <a:t>Trabue’s assumption of homogenous SD unit</a:t>
            </a:r>
          </a:p>
        </p:txBody>
      </p:sp>
      <p:sp>
        <p:nvSpPr>
          <p:cNvPr id="13" name="TextBox 12">
            <a:extLst>
              <a:ext uri="{FF2B5EF4-FFF2-40B4-BE49-F238E27FC236}">
                <a16:creationId xmlns:a16="http://schemas.microsoft.com/office/drawing/2014/main" id="{59B9F44B-A738-644C-848A-FFC912E45A20}"/>
              </a:ext>
            </a:extLst>
          </p:cNvPr>
          <p:cNvSpPr txBox="1"/>
          <p:nvPr/>
        </p:nvSpPr>
        <p:spPr>
          <a:xfrm>
            <a:off x="7222671" y="1262284"/>
            <a:ext cx="4517571" cy="369332"/>
          </a:xfrm>
          <a:prstGeom prst="rect">
            <a:avLst/>
          </a:prstGeom>
          <a:noFill/>
        </p:spPr>
        <p:txBody>
          <a:bodyPr wrap="square" rtlCol="0">
            <a:spAutoFit/>
          </a:bodyPr>
          <a:lstStyle/>
          <a:p>
            <a:r>
              <a:rPr lang="en-US"/>
              <a:t>Scaled with grade 2 as SD unit</a:t>
            </a:r>
          </a:p>
        </p:txBody>
      </p:sp>
      <p:sp>
        <p:nvSpPr>
          <p:cNvPr id="2" name="TextBox 1">
            <a:extLst>
              <a:ext uri="{FF2B5EF4-FFF2-40B4-BE49-F238E27FC236}">
                <a16:creationId xmlns:a16="http://schemas.microsoft.com/office/drawing/2014/main" id="{4DA28FD1-F66D-ED48-8010-8121164B5A09}"/>
              </a:ext>
            </a:extLst>
          </p:cNvPr>
          <p:cNvSpPr txBox="1"/>
          <p:nvPr/>
        </p:nvSpPr>
        <p:spPr>
          <a:xfrm>
            <a:off x="4482059" y="6356351"/>
            <a:ext cx="3117954" cy="369332"/>
          </a:xfrm>
          <a:prstGeom prst="rect">
            <a:avLst/>
          </a:prstGeom>
          <a:noFill/>
        </p:spPr>
        <p:txBody>
          <a:bodyPr wrap="square" rtlCol="0">
            <a:spAutoFit/>
          </a:bodyPr>
          <a:lstStyle/>
          <a:p>
            <a:r>
              <a:rPr lang="en-US"/>
              <a:t>Thurstone, 1927</a:t>
            </a:r>
          </a:p>
        </p:txBody>
      </p:sp>
    </p:spTree>
    <p:extLst>
      <p:ext uri="{BB962C8B-B14F-4D97-AF65-F5344CB8AC3E}">
        <p14:creationId xmlns:p14="http://schemas.microsoft.com/office/powerpoint/2010/main" val="920757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F3591-2195-BB40-A3A6-37B393E80B6D}"/>
              </a:ext>
            </a:extLst>
          </p:cNvPr>
          <p:cNvSpPr>
            <a:spLocks noGrp="1"/>
          </p:cNvSpPr>
          <p:nvPr>
            <p:ph type="title"/>
          </p:nvPr>
        </p:nvSpPr>
        <p:spPr/>
        <p:txBody>
          <a:bodyPr/>
          <a:lstStyle/>
          <a:p>
            <a:pPr algn="l"/>
            <a:r>
              <a:rPr lang="en-US" b="1"/>
              <a:t>Finding an Absolute Zero</a:t>
            </a:r>
          </a:p>
        </p:txBody>
      </p:sp>
      <p:sp>
        <p:nvSpPr>
          <p:cNvPr id="3" name="Content Placeholder 2">
            <a:extLst>
              <a:ext uri="{FF2B5EF4-FFF2-40B4-BE49-F238E27FC236}">
                <a16:creationId xmlns:a16="http://schemas.microsoft.com/office/drawing/2014/main" id="{6A1856DB-14E4-A54A-9D0A-026F948213FD}"/>
              </a:ext>
            </a:extLst>
          </p:cNvPr>
          <p:cNvSpPr>
            <a:spLocks noGrp="1"/>
          </p:cNvSpPr>
          <p:nvPr>
            <p:ph sz="half" idx="1"/>
          </p:nvPr>
        </p:nvSpPr>
        <p:spPr/>
        <p:txBody>
          <a:bodyPr>
            <a:normAutofit/>
          </a:bodyPr>
          <a:lstStyle/>
          <a:p>
            <a:r>
              <a:rPr lang="en-US" sz="2400"/>
              <a:t>Applied absolute scaling approach to 7 different intelligence tests</a:t>
            </a:r>
          </a:p>
          <a:p>
            <a:r>
              <a:rPr lang="en-US" sz="2400"/>
              <a:t>Administered to students in different age groups</a:t>
            </a:r>
          </a:p>
          <a:p>
            <a:r>
              <a:rPr lang="en-US" sz="2400"/>
              <a:t>Clear pattern emerges: variance is an increasing linear function of age.</a:t>
            </a:r>
          </a:p>
          <a:p>
            <a:r>
              <a:rPr lang="en-US" sz="2400"/>
              <a:t>Plot absolute scale SD against mean test performance by age</a:t>
            </a:r>
          </a:p>
          <a:p>
            <a:r>
              <a:rPr lang="en-US" sz="2400"/>
              <a:t>The absolute zero is the point on scale where extrapolated SD = 0.</a:t>
            </a:r>
          </a:p>
        </p:txBody>
      </p:sp>
      <p:pic>
        <p:nvPicPr>
          <p:cNvPr id="7" name="Content Placeholder 6">
            <a:extLst>
              <a:ext uri="{FF2B5EF4-FFF2-40B4-BE49-F238E27FC236}">
                <a16:creationId xmlns:a16="http://schemas.microsoft.com/office/drawing/2014/main" id="{B1AF9E8E-A18E-FC4B-ACE1-60793B8A20D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2177650"/>
            <a:ext cx="5384800" cy="3371062"/>
          </a:xfrm>
        </p:spPr>
      </p:pic>
      <p:sp>
        <p:nvSpPr>
          <p:cNvPr id="4" name="Slide Number Placeholder 3">
            <a:extLst>
              <a:ext uri="{FF2B5EF4-FFF2-40B4-BE49-F238E27FC236}">
                <a16:creationId xmlns:a16="http://schemas.microsoft.com/office/drawing/2014/main" id="{8A11A9A2-19BB-E442-8ED0-FD99480E63CB}"/>
              </a:ext>
            </a:extLst>
          </p:cNvPr>
          <p:cNvSpPr>
            <a:spLocks noGrp="1"/>
          </p:cNvSpPr>
          <p:nvPr>
            <p:ph type="sldNum" sz="quarter" idx="12"/>
          </p:nvPr>
        </p:nvSpPr>
        <p:spPr/>
        <p:txBody>
          <a:bodyPr/>
          <a:lstStyle/>
          <a:p>
            <a:fld id="{EFD2A749-B6C7-C240-8A90-1E79A2210C21}" type="slidenum">
              <a:rPr lang="en-US"/>
              <a:t>33</a:t>
            </a:fld>
            <a:endParaRPr lang="en-US"/>
          </a:p>
        </p:txBody>
      </p:sp>
      <p:sp>
        <p:nvSpPr>
          <p:cNvPr id="5" name="TextBox 4">
            <a:extLst>
              <a:ext uri="{FF2B5EF4-FFF2-40B4-BE49-F238E27FC236}">
                <a16:creationId xmlns:a16="http://schemas.microsoft.com/office/drawing/2014/main" id="{6CBDC54A-3154-154A-AE37-5B99D225E9AB}"/>
              </a:ext>
            </a:extLst>
          </p:cNvPr>
          <p:cNvSpPr txBox="1"/>
          <p:nvPr/>
        </p:nvSpPr>
        <p:spPr>
          <a:xfrm>
            <a:off x="4631961" y="6356351"/>
            <a:ext cx="2908091" cy="369332"/>
          </a:xfrm>
          <a:prstGeom prst="rect">
            <a:avLst/>
          </a:prstGeom>
          <a:noFill/>
        </p:spPr>
        <p:txBody>
          <a:bodyPr wrap="square" rtlCol="0">
            <a:spAutoFit/>
          </a:bodyPr>
          <a:lstStyle/>
          <a:p>
            <a:r>
              <a:rPr lang="en-US"/>
              <a:t>Thurstone, 1928</a:t>
            </a:r>
          </a:p>
        </p:txBody>
      </p:sp>
    </p:spTree>
    <p:extLst>
      <p:ext uri="{BB962C8B-B14F-4D97-AF65-F5344CB8AC3E}">
        <p14:creationId xmlns:p14="http://schemas.microsoft.com/office/powerpoint/2010/main" val="16525116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6EDC01-9C13-974A-B0E1-47099717F5B7}"/>
              </a:ext>
            </a:extLst>
          </p:cNvPr>
          <p:cNvSpPr>
            <a:spLocks noGrp="1"/>
          </p:cNvSpPr>
          <p:nvPr>
            <p:ph type="title"/>
          </p:nvPr>
        </p:nvSpPr>
        <p:spPr/>
        <p:txBody>
          <a:bodyPr/>
          <a:lstStyle/>
          <a:p>
            <a:r>
              <a:rPr lang="en-US" b="1"/>
              <a:t>Summary of Thurstone Scaling Steps</a:t>
            </a:r>
          </a:p>
        </p:txBody>
      </p:sp>
      <p:sp>
        <p:nvSpPr>
          <p:cNvPr id="8" name="Text Placeholder 7">
            <a:extLst>
              <a:ext uri="{FF2B5EF4-FFF2-40B4-BE49-F238E27FC236}">
                <a16:creationId xmlns:a16="http://schemas.microsoft.com/office/drawing/2014/main" id="{B3E3C786-8ECD-7A4D-B249-D80BA48C1106}"/>
              </a:ext>
            </a:extLst>
          </p:cNvPr>
          <p:cNvSpPr>
            <a:spLocks noGrp="1"/>
          </p:cNvSpPr>
          <p:nvPr>
            <p:ph type="body" idx="1"/>
          </p:nvPr>
        </p:nvSpPr>
        <p:spPr/>
        <p:txBody>
          <a:bodyPr/>
          <a:lstStyle/>
          <a:p>
            <a:r>
              <a:rPr lang="en-US"/>
              <a:t>Thurstone (1925) based on items</a:t>
            </a:r>
          </a:p>
        </p:txBody>
      </p:sp>
      <p:sp>
        <p:nvSpPr>
          <p:cNvPr id="9" name="Content Placeholder 8">
            <a:extLst>
              <a:ext uri="{FF2B5EF4-FFF2-40B4-BE49-F238E27FC236}">
                <a16:creationId xmlns:a16="http://schemas.microsoft.com/office/drawing/2014/main" id="{5DBDEF8B-24B9-8549-AE03-E906D32A0CE6}"/>
              </a:ext>
            </a:extLst>
          </p:cNvPr>
          <p:cNvSpPr>
            <a:spLocks noGrp="1"/>
          </p:cNvSpPr>
          <p:nvPr>
            <p:ph sz="half" idx="2"/>
          </p:nvPr>
        </p:nvSpPr>
        <p:spPr/>
        <p:txBody>
          <a:bodyPr>
            <a:normAutofit fontScale="92500"/>
          </a:bodyPr>
          <a:lstStyle/>
          <a:p>
            <a:pPr marL="457200" indent="-457200">
              <a:buFont typeface="+mj-lt"/>
              <a:buAutoNum type="arabicPeriod"/>
            </a:pPr>
            <a:r>
              <a:rPr lang="en-US"/>
              <a:t>For each of K common items between two tests, find proportion correct in lower and upper grade/age.</a:t>
            </a:r>
          </a:p>
          <a:p>
            <a:pPr marL="457200" indent="-457200">
              <a:buFont typeface="+mj-lt"/>
              <a:buAutoNum type="arabicPeriod"/>
            </a:pPr>
            <a:r>
              <a:rPr lang="en-US"/>
              <a:t>Use inverse of normal cdf to find z scores.</a:t>
            </a:r>
          </a:p>
          <a:p>
            <a:pPr marL="457200" indent="-457200">
              <a:buFont typeface="+mj-lt"/>
              <a:buAutoNum type="arabicPeriod"/>
            </a:pPr>
            <a:r>
              <a:rPr lang="en-US"/>
              <a:t>Plot them, find correlation. If there is strong linear association, proceed. Otherwise, stop. </a:t>
            </a:r>
          </a:p>
          <a:p>
            <a:pPr marL="457200" indent="-457200">
              <a:buFont typeface="+mj-lt"/>
              <a:buAutoNum type="arabicPeriod"/>
            </a:pPr>
            <a:r>
              <a:rPr lang="en-US"/>
              <a:t>Use mean and sd of z scores across items to estimate linking constants</a:t>
            </a:r>
          </a:p>
          <a:p>
            <a:pPr marL="457200" indent="-457200">
              <a:buFont typeface="+mj-lt"/>
              <a:buAutoNum type="arabicPeriod"/>
            </a:pPr>
            <a:r>
              <a:rPr lang="en-US"/>
              <a:t>Repeat for next pair of grades.</a:t>
            </a:r>
          </a:p>
          <a:p>
            <a:pPr marL="457200" indent="-457200">
              <a:buFont typeface="+mj-lt"/>
              <a:buAutoNum type="arabicPeriod"/>
            </a:pPr>
            <a:endParaRPr lang="en-US"/>
          </a:p>
        </p:txBody>
      </p:sp>
      <p:sp>
        <p:nvSpPr>
          <p:cNvPr id="10" name="Text Placeholder 9">
            <a:extLst>
              <a:ext uri="{FF2B5EF4-FFF2-40B4-BE49-F238E27FC236}">
                <a16:creationId xmlns:a16="http://schemas.microsoft.com/office/drawing/2014/main" id="{EE2A989F-1E5C-5B47-9F60-3B056D29F93A}"/>
              </a:ext>
            </a:extLst>
          </p:cNvPr>
          <p:cNvSpPr>
            <a:spLocks noGrp="1"/>
          </p:cNvSpPr>
          <p:nvPr>
            <p:ph type="body" sz="quarter" idx="3"/>
          </p:nvPr>
        </p:nvSpPr>
        <p:spPr/>
        <p:txBody>
          <a:bodyPr/>
          <a:lstStyle/>
          <a:p>
            <a:r>
              <a:rPr lang="en-US"/>
              <a:t>Thurstone (1938) based on persons</a:t>
            </a:r>
          </a:p>
        </p:txBody>
      </p:sp>
      <p:sp>
        <p:nvSpPr>
          <p:cNvPr id="11" name="Content Placeholder 10">
            <a:extLst>
              <a:ext uri="{FF2B5EF4-FFF2-40B4-BE49-F238E27FC236}">
                <a16:creationId xmlns:a16="http://schemas.microsoft.com/office/drawing/2014/main" id="{410B15EE-6469-4C4F-BE4F-5BF74BA279FD}"/>
              </a:ext>
            </a:extLst>
          </p:cNvPr>
          <p:cNvSpPr>
            <a:spLocks noGrp="1"/>
          </p:cNvSpPr>
          <p:nvPr>
            <p:ph sz="quarter" idx="4"/>
          </p:nvPr>
        </p:nvSpPr>
        <p:spPr/>
        <p:txBody>
          <a:bodyPr>
            <a:normAutofit fontScale="92500"/>
          </a:bodyPr>
          <a:lstStyle/>
          <a:p>
            <a:pPr marL="457200" indent="-457200">
              <a:buFont typeface="+mj-lt"/>
              <a:buAutoNum type="arabicPeriod"/>
            </a:pPr>
            <a:r>
              <a:rPr lang="en-US"/>
              <a:t>Choose 10-20 total scores at different percentiles of common item distribution for lower and upper grade/age.</a:t>
            </a:r>
          </a:p>
          <a:p>
            <a:pPr marL="457200" indent="-457200">
              <a:buFont typeface="+mj-lt"/>
              <a:buAutoNum type="arabicPeriod"/>
            </a:pPr>
            <a:r>
              <a:rPr lang="en-US"/>
              <a:t>Normalize the two frequency distributions. (based on assumption that underlying distribution is truly normal, and we may see some slight deviations based on sample of test-takers)</a:t>
            </a:r>
          </a:p>
          <a:p>
            <a:pPr marL="457200" indent="-457200">
              <a:buFont typeface="+mj-lt"/>
              <a:buAutoNum type="arabicPeriod"/>
            </a:pPr>
            <a:r>
              <a:rPr lang="en-US"/>
              <a:t>Now follow steps 3-5 of 1925 approach.</a:t>
            </a:r>
          </a:p>
          <a:p>
            <a:pPr marL="457200" indent="-457200">
              <a:buFont typeface="+mj-lt"/>
              <a:buAutoNum type="arabicPeriod"/>
            </a:pPr>
            <a:endParaRPr lang="en-US"/>
          </a:p>
          <a:p>
            <a:pPr marL="0" indent="0">
              <a:buNone/>
            </a:pPr>
            <a:endParaRPr lang="en-US"/>
          </a:p>
        </p:txBody>
      </p:sp>
      <p:sp>
        <p:nvSpPr>
          <p:cNvPr id="5" name="Slide Number Placeholder 4">
            <a:extLst>
              <a:ext uri="{FF2B5EF4-FFF2-40B4-BE49-F238E27FC236}">
                <a16:creationId xmlns:a16="http://schemas.microsoft.com/office/drawing/2014/main" id="{38F8FD2E-549E-3B4B-9741-3F003FDAF21E}"/>
              </a:ext>
            </a:extLst>
          </p:cNvPr>
          <p:cNvSpPr>
            <a:spLocks noGrp="1"/>
          </p:cNvSpPr>
          <p:nvPr>
            <p:ph type="sldNum" sz="quarter" idx="12"/>
          </p:nvPr>
        </p:nvSpPr>
        <p:spPr/>
        <p:txBody>
          <a:bodyPr/>
          <a:lstStyle/>
          <a:p>
            <a:fld id="{EFD2A749-B6C7-C240-8A90-1E79A2210C21}" type="slidenum">
              <a:rPr lang="en-US"/>
              <a:t>34</a:t>
            </a:fld>
            <a:endParaRPr lang="en-US"/>
          </a:p>
        </p:txBody>
      </p:sp>
    </p:spTree>
    <p:extLst>
      <p:ext uri="{BB962C8B-B14F-4D97-AF65-F5344CB8AC3E}">
        <p14:creationId xmlns:p14="http://schemas.microsoft.com/office/powerpoint/2010/main" val="2196250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D1C20E-D9E3-A94D-ADB5-E48A0D989D1A}"/>
              </a:ext>
            </a:extLst>
          </p:cNvPr>
          <p:cNvSpPr>
            <a:spLocks noGrp="1"/>
          </p:cNvSpPr>
          <p:nvPr>
            <p:ph type="sldNum" sz="quarter" idx="12"/>
          </p:nvPr>
        </p:nvSpPr>
        <p:spPr/>
        <p:txBody>
          <a:bodyPr/>
          <a:lstStyle/>
          <a:p>
            <a:fld id="{EFD2A749-B6C7-C240-8A90-1E79A2210C21}" type="slidenum">
              <a:rPr lang="en-US"/>
              <a:t>35</a:t>
            </a:fld>
            <a:endParaRPr lang="en-US" dirty="0"/>
          </a:p>
        </p:txBody>
      </p:sp>
      <p:sp>
        <p:nvSpPr>
          <p:cNvPr id="5" name="TextBox 4">
            <a:extLst>
              <a:ext uri="{FF2B5EF4-FFF2-40B4-BE49-F238E27FC236}">
                <a16:creationId xmlns:a16="http://schemas.microsoft.com/office/drawing/2014/main" id="{5BEC2270-1999-964D-ADEF-E292B42D29DA}"/>
              </a:ext>
            </a:extLst>
          </p:cNvPr>
          <p:cNvSpPr txBox="1"/>
          <p:nvPr/>
        </p:nvSpPr>
        <p:spPr>
          <a:xfrm>
            <a:off x="3650813" y="2361721"/>
            <a:ext cx="5675971" cy="1077218"/>
          </a:xfrm>
          <a:prstGeom prst="rect">
            <a:avLst/>
          </a:prstGeom>
          <a:noFill/>
        </p:spPr>
        <p:txBody>
          <a:bodyPr wrap="square" rtlCol="0">
            <a:spAutoFit/>
          </a:bodyPr>
          <a:lstStyle/>
          <a:p>
            <a:r>
              <a:rPr lang="en-US" sz="3200" b="1" dirty="0"/>
              <a:t>Conventional IRT Methods of Creating a Vertical Scale</a:t>
            </a:r>
          </a:p>
        </p:txBody>
      </p:sp>
    </p:spTree>
    <p:extLst>
      <p:ext uri="{BB962C8B-B14F-4D97-AF65-F5344CB8AC3E}">
        <p14:creationId xmlns:p14="http://schemas.microsoft.com/office/powerpoint/2010/main" val="963811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Creating a Vertical Scale: Conventional Wisdom</a:t>
            </a:r>
          </a:p>
        </p:txBody>
      </p:sp>
      <p:sp>
        <p:nvSpPr>
          <p:cNvPr id="3" name="Content Placeholder 2"/>
          <p:cNvSpPr>
            <a:spLocks noGrp="1"/>
          </p:cNvSpPr>
          <p:nvPr>
            <p:ph idx="1"/>
          </p:nvPr>
        </p:nvSpPr>
        <p:spPr/>
        <p:txBody>
          <a:bodyPr/>
          <a:lstStyle/>
          <a:p>
            <a:r>
              <a:rPr lang="en-US"/>
              <a:t>Design Stage</a:t>
            </a:r>
          </a:p>
          <a:p>
            <a:pPr lvl="1"/>
            <a:r>
              <a:rPr lang="en-US"/>
              <a:t>How will growth be defined?</a:t>
            </a:r>
          </a:p>
          <a:p>
            <a:pPr lvl="1"/>
            <a:r>
              <a:rPr lang="en-US"/>
              <a:t>Placement of common items</a:t>
            </a:r>
          </a:p>
          <a:p>
            <a:r>
              <a:rPr lang="en-US"/>
              <a:t>Calibration/Estimation Stage</a:t>
            </a:r>
          </a:p>
          <a:p>
            <a:pPr lvl="1"/>
            <a:r>
              <a:rPr lang="en-US"/>
              <a:t>Choose an IRT Model</a:t>
            </a:r>
          </a:p>
          <a:p>
            <a:pPr lvl="1"/>
            <a:r>
              <a:rPr lang="en-US"/>
              <a:t>Separate vs Anchored or Concurrent Calibration</a:t>
            </a:r>
          </a:p>
          <a:p>
            <a:pPr lvl="1"/>
            <a:r>
              <a:rPr lang="en-US"/>
              <a:t>Set the Scale (linear transformation of theta)</a:t>
            </a:r>
          </a:p>
          <a:p>
            <a:pPr lvl="1"/>
            <a:endParaRPr lang="en-US"/>
          </a:p>
          <a:p>
            <a:endParaRPr lang="en-US"/>
          </a:p>
          <a:p>
            <a:pPr lvl="1"/>
            <a:endParaRPr lang="en-US"/>
          </a:p>
          <a:p>
            <a:pPr lvl="1"/>
            <a:endParaRPr lang="en-US"/>
          </a:p>
          <a:p>
            <a:pPr lvl="1"/>
            <a:endParaRPr lang="en-US"/>
          </a:p>
        </p:txBody>
      </p:sp>
    </p:spTree>
    <p:extLst>
      <p:ext uri="{BB962C8B-B14F-4D97-AF65-F5344CB8AC3E}">
        <p14:creationId xmlns:p14="http://schemas.microsoft.com/office/powerpoint/2010/main" val="3613072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Growth Definitions</a:t>
            </a:r>
          </a:p>
        </p:txBody>
      </p:sp>
      <p:sp>
        <p:nvSpPr>
          <p:cNvPr id="3" name="Content Placeholder 2"/>
          <p:cNvSpPr>
            <a:spLocks noGrp="1"/>
          </p:cNvSpPr>
          <p:nvPr>
            <p:ph idx="1"/>
          </p:nvPr>
        </p:nvSpPr>
        <p:spPr/>
        <p:txBody>
          <a:bodyPr>
            <a:normAutofit fontScale="92500" lnSpcReduction="20000"/>
          </a:bodyPr>
          <a:lstStyle/>
          <a:p>
            <a:pPr marL="0" indent="0">
              <a:buNone/>
            </a:pPr>
            <a:r>
              <a:rPr lang="en-US"/>
              <a:t>Kolen &amp; Brennan (2004)</a:t>
            </a:r>
          </a:p>
          <a:p>
            <a:r>
              <a:rPr lang="en-US"/>
              <a:t>“Domain” Definition </a:t>
            </a:r>
          </a:p>
          <a:p>
            <a:pPr lvl="1"/>
            <a:r>
              <a:rPr lang="en-US"/>
              <a:t>Growth over all the standards to which a test has been written across grades</a:t>
            </a:r>
          </a:p>
          <a:p>
            <a:r>
              <a:rPr lang="en-US"/>
              <a:t>“Grade to Grade” Definition of Growth</a:t>
            </a:r>
          </a:p>
          <a:p>
            <a:pPr lvl="1"/>
            <a:r>
              <a:rPr lang="en-US"/>
              <a:t>Growth over standards that overlap across grades</a:t>
            </a:r>
          </a:p>
          <a:p>
            <a:pPr marL="0" indent="0">
              <a:buNone/>
            </a:pPr>
            <a:r>
              <a:rPr lang="en-US"/>
              <a:t>Briggs &amp; Peck (2015)</a:t>
            </a:r>
          </a:p>
          <a:p>
            <a:r>
              <a:rPr lang="en-US"/>
              <a:t>“Learning Progression” Definition of Growth</a:t>
            </a:r>
          </a:p>
          <a:p>
            <a:pPr lvl="1"/>
            <a:r>
              <a:rPr lang="en-US"/>
              <a:t>Growth over well-defined big picture concept over multiple grades (but probably not all!)</a:t>
            </a:r>
          </a:p>
          <a:p>
            <a:pPr marL="0" indent="0">
              <a:buNone/>
            </a:pPr>
            <a:endParaRPr lang="en-US"/>
          </a:p>
        </p:txBody>
      </p:sp>
    </p:spTree>
    <p:extLst>
      <p:ext uri="{BB962C8B-B14F-4D97-AF65-F5344CB8AC3E}">
        <p14:creationId xmlns:p14="http://schemas.microsoft.com/office/powerpoint/2010/main" val="1574187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Different Growth Definitions</a:t>
            </a:r>
          </a:p>
        </p:txBody>
      </p:sp>
      <p:pic>
        <p:nvPicPr>
          <p:cNvPr id="4" name="Content Placeholder 3" descr="Screen Shot 2014-03-30 at 11.37.05 AM.png"/>
          <p:cNvPicPr>
            <a:picLocks noGrp="1" noChangeAspect="1"/>
          </p:cNvPicPr>
          <p:nvPr>
            <p:ph idx="1"/>
          </p:nvPr>
        </p:nvPicPr>
        <p:blipFill>
          <a:blip r:embed="rId2">
            <a:extLst>
              <a:ext uri="{28A0092B-C50C-407E-A947-70E740481C1C}">
                <a14:useLocalDpi xmlns:a14="http://schemas.microsoft.com/office/drawing/2010/main" val="0"/>
              </a:ext>
            </a:extLst>
          </a:blip>
          <a:srcRect t="-14079" b="-14079"/>
          <a:stretch>
            <a:fillRect/>
          </a:stretch>
        </p:blipFill>
        <p:spPr/>
      </p:pic>
    </p:spTree>
    <p:extLst>
      <p:ext uri="{BB962C8B-B14F-4D97-AF65-F5344CB8AC3E}">
        <p14:creationId xmlns:p14="http://schemas.microsoft.com/office/powerpoint/2010/main" val="641953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715" y="107764"/>
            <a:ext cx="7872639" cy="59044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p:cNvSpPr txBox="1"/>
          <p:nvPr/>
        </p:nvSpPr>
        <p:spPr>
          <a:xfrm>
            <a:off x="2394610" y="436159"/>
            <a:ext cx="8229600" cy="830997"/>
          </a:xfrm>
          <a:prstGeom prst="rect">
            <a:avLst/>
          </a:prstGeom>
          <a:solidFill>
            <a:schemeClr val="bg1"/>
          </a:solidFill>
        </p:spPr>
        <p:txBody>
          <a:bodyPr>
            <a:spAutoFit/>
          </a:bodyPr>
          <a:lstStyle/>
          <a:p>
            <a:pPr>
              <a:defRPr/>
            </a:pPr>
            <a:r>
              <a:rPr lang="en-US" sz="4800" b="1" dirty="0">
                <a:latin typeface="+mj-lt"/>
                <a:cs typeface="Arial" charset="0"/>
              </a:rPr>
              <a:t>Common Item Linking Designs</a:t>
            </a:r>
          </a:p>
        </p:txBody>
      </p:sp>
      <p:sp>
        <p:nvSpPr>
          <p:cNvPr id="2" name="TextBox 1"/>
          <p:cNvSpPr txBox="1"/>
          <p:nvPr/>
        </p:nvSpPr>
        <p:spPr>
          <a:xfrm>
            <a:off x="4961554" y="5640061"/>
            <a:ext cx="1817305" cy="369332"/>
          </a:xfrm>
          <a:prstGeom prst="rect">
            <a:avLst/>
          </a:prstGeom>
          <a:noFill/>
        </p:spPr>
        <p:txBody>
          <a:bodyPr wrap="square" rtlCol="0">
            <a:spAutoFit/>
          </a:bodyPr>
          <a:lstStyle/>
          <a:p>
            <a:r>
              <a:rPr lang="en-US" b="1"/>
              <a:t>A “down” link</a:t>
            </a:r>
          </a:p>
        </p:txBody>
      </p:sp>
      <p:sp>
        <p:nvSpPr>
          <p:cNvPr id="6" name="TextBox 5"/>
          <p:cNvSpPr txBox="1"/>
          <p:nvPr/>
        </p:nvSpPr>
        <p:spPr>
          <a:xfrm>
            <a:off x="7281587" y="5651904"/>
            <a:ext cx="1817305" cy="369332"/>
          </a:xfrm>
          <a:prstGeom prst="rect">
            <a:avLst/>
          </a:prstGeom>
          <a:noFill/>
        </p:spPr>
        <p:txBody>
          <a:bodyPr wrap="square" rtlCol="0">
            <a:spAutoFit/>
          </a:bodyPr>
          <a:lstStyle/>
          <a:p>
            <a:r>
              <a:rPr lang="en-US" b="1"/>
              <a:t>An “up” link</a:t>
            </a:r>
          </a:p>
        </p:txBody>
      </p:sp>
    </p:spTree>
    <p:extLst>
      <p:ext uri="{BB962C8B-B14F-4D97-AF65-F5344CB8AC3E}">
        <p14:creationId xmlns:p14="http://schemas.microsoft.com/office/powerpoint/2010/main" val="652180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Observed P-Value Changes in One State’s Field Test</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1279" y="1252746"/>
            <a:ext cx="8229600" cy="4724544"/>
          </a:xfrm>
          <a:prstGeom prst="rect">
            <a:avLst/>
          </a:prstGeom>
          <a:noFill/>
          <a:ln>
            <a:noFill/>
          </a:ln>
        </p:spPr>
      </p:pic>
      <p:sp>
        <p:nvSpPr>
          <p:cNvPr id="3" name="TextBox 2">
            <a:extLst>
              <a:ext uri="{FF2B5EF4-FFF2-40B4-BE49-F238E27FC236}">
                <a16:creationId xmlns:a16="http://schemas.microsoft.com/office/drawing/2014/main" id="{2DB880D6-025A-4D43-8DC2-A02FF1818916}"/>
              </a:ext>
            </a:extLst>
          </p:cNvPr>
          <p:cNvSpPr txBox="1"/>
          <p:nvPr/>
        </p:nvSpPr>
        <p:spPr>
          <a:xfrm>
            <a:off x="9398833" y="5574206"/>
            <a:ext cx="2563318" cy="370969"/>
          </a:xfrm>
          <a:prstGeom prst="rect">
            <a:avLst/>
          </a:prstGeom>
          <a:noFill/>
        </p:spPr>
        <p:txBody>
          <a:bodyPr wrap="square" rtlCol="0">
            <a:spAutoFit/>
          </a:bodyPr>
          <a:lstStyle/>
          <a:p>
            <a:r>
              <a:rPr lang="en-US"/>
              <a:t>Briggs &amp; Dadey, 2015</a:t>
            </a:r>
          </a:p>
        </p:txBody>
      </p:sp>
    </p:spTree>
    <p:extLst>
      <p:ext uri="{BB962C8B-B14F-4D97-AF65-F5344CB8AC3E}">
        <p14:creationId xmlns:p14="http://schemas.microsoft.com/office/powerpoint/2010/main" val="394569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“Up” Links vs “Down” Links</a:t>
            </a:r>
          </a:p>
        </p:txBody>
      </p:sp>
      <p:sp>
        <p:nvSpPr>
          <p:cNvPr id="3" name="Content Placeholder 2"/>
          <p:cNvSpPr>
            <a:spLocks noGrp="1"/>
          </p:cNvSpPr>
          <p:nvPr>
            <p:ph idx="1"/>
          </p:nvPr>
        </p:nvSpPr>
        <p:spPr/>
        <p:txBody>
          <a:bodyPr>
            <a:normAutofit/>
          </a:bodyPr>
          <a:lstStyle/>
          <a:p>
            <a:r>
              <a:rPr lang="en-US"/>
              <a:t>Up Link Common Items: How would a 4</a:t>
            </a:r>
            <a:r>
              <a:rPr lang="en-US" baseline="30000"/>
              <a:t>th</a:t>
            </a:r>
            <a:r>
              <a:rPr lang="en-US"/>
              <a:t> grade student do on 5</a:t>
            </a:r>
            <a:r>
              <a:rPr lang="en-US" baseline="30000"/>
              <a:t>th</a:t>
            </a:r>
            <a:r>
              <a:rPr lang="en-US"/>
              <a:t> grade test? </a:t>
            </a:r>
          </a:p>
          <a:p>
            <a:pPr lvl="1"/>
            <a:r>
              <a:rPr lang="en-US"/>
              <a:t>X  O  X Design [Pretest Instruction Postest]</a:t>
            </a:r>
          </a:p>
          <a:p>
            <a:r>
              <a:rPr lang="en-US"/>
              <a:t>Down Link Common Items: How would a 5</a:t>
            </a:r>
            <a:r>
              <a:rPr lang="en-US" baseline="30000"/>
              <a:t>th</a:t>
            </a:r>
            <a:r>
              <a:rPr lang="en-US"/>
              <a:t> grade student do on 4</a:t>
            </a:r>
            <a:r>
              <a:rPr lang="en-US" baseline="30000"/>
              <a:t>th</a:t>
            </a:r>
            <a:r>
              <a:rPr lang="en-US"/>
              <a:t> grade test?</a:t>
            </a:r>
          </a:p>
          <a:p>
            <a:pPr lvl="1"/>
            <a:r>
              <a:rPr lang="en-US"/>
              <a:t>O1 X O2 X  Design [Instruction Posttest x2]</a:t>
            </a:r>
          </a:p>
          <a:p>
            <a:r>
              <a:rPr lang="en-US"/>
              <a:t>Which design is better? How does this interact with growth definition?</a:t>
            </a:r>
          </a:p>
          <a:p>
            <a:pPr marL="0" indent="0">
              <a:buNone/>
            </a:pPr>
            <a:endParaRPr lang="en-US"/>
          </a:p>
        </p:txBody>
      </p:sp>
    </p:spTree>
    <p:extLst>
      <p:ext uri="{BB962C8B-B14F-4D97-AF65-F5344CB8AC3E}">
        <p14:creationId xmlns:p14="http://schemas.microsoft.com/office/powerpoint/2010/main" val="2750662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normAutofit fontScale="90000"/>
          </a:bodyPr>
          <a:lstStyle/>
          <a:p>
            <a:pPr eaLnBrk="1" hangingPunct="1"/>
            <a:r>
              <a:rPr lang="en-US" b="1">
                <a:latin typeface="Calibri" charset="0"/>
                <a:ea typeface="ＭＳ Ｐゴシック" charset="0"/>
              </a:rPr>
              <a:t>Why Use IRT to Link Tests with a Common Item Design?</a:t>
            </a:r>
          </a:p>
        </p:txBody>
      </p:sp>
      <p:sp>
        <p:nvSpPr>
          <p:cNvPr id="29698" name="Content Placeholder 2"/>
          <p:cNvSpPr>
            <a:spLocks noGrp="1"/>
          </p:cNvSpPr>
          <p:nvPr>
            <p:ph idx="1"/>
          </p:nvPr>
        </p:nvSpPr>
        <p:spPr/>
        <p:txBody>
          <a:bodyPr/>
          <a:lstStyle/>
          <a:p>
            <a:pPr eaLnBrk="1" hangingPunct="1"/>
            <a:r>
              <a:rPr lang="en-US" sz="2600">
                <a:latin typeface="Calibri" charset="0"/>
                <a:ea typeface="ＭＳ Ｐゴシック" charset="0"/>
              </a:rPr>
              <a:t>Leveraging the property of parameter invariance .</a:t>
            </a:r>
          </a:p>
          <a:p>
            <a:pPr eaLnBrk="1" hangingPunct="1"/>
            <a:r>
              <a:rPr lang="en-US" sz="2600">
                <a:latin typeface="Calibri" charset="0"/>
                <a:ea typeface="ＭＳ Ｐゴシック" charset="0"/>
              </a:rPr>
              <a:t>If the model fits the data, then Item parameter estimates should be the same regardless of the group used to estimate them.</a:t>
            </a:r>
          </a:p>
          <a:p>
            <a:pPr eaLnBrk="1" hangingPunct="1"/>
            <a:r>
              <a:rPr lang="en-US" sz="2600">
                <a:latin typeface="Calibri" charset="0"/>
                <a:ea typeface="ＭＳ Ｐゴシック" charset="0"/>
              </a:rPr>
              <a:t>So the idea is this—any difference observed in parameters for common items must be an artifact of the way the scale was anchored.</a:t>
            </a:r>
          </a:p>
          <a:p>
            <a:pPr eaLnBrk="1" hangingPunct="1"/>
            <a:r>
              <a:rPr lang="en-US" sz="2600">
                <a:latin typeface="Calibri" charset="0"/>
                <a:ea typeface="ＭＳ Ｐゴシック" charset="0"/>
              </a:rPr>
              <a:t> The item parameters should be linearly related.</a:t>
            </a:r>
          </a:p>
          <a:p>
            <a:pPr eaLnBrk="1" hangingPunct="1"/>
            <a:r>
              <a:rPr lang="en-US" sz="2600">
                <a:latin typeface="Calibri" charset="0"/>
                <a:ea typeface="ＭＳ Ｐゴシック" charset="0"/>
              </a:rPr>
              <a:t>So we establish the link between tests on basis of common items and then extrapolate.</a:t>
            </a:r>
          </a:p>
          <a:p>
            <a:pPr eaLnBrk="1" hangingPunct="1">
              <a:buFont typeface="Arial" charset="0"/>
              <a:buNone/>
            </a:pPr>
            <a:endParaRPr lang="en-US" sz="2600">
              <a:latin typeface="Calibri" charset="0"/>
              <a:ea typeface="ＭＳ Ｐゴシック" charset="0"/>
            </a:endParaRPr>
          </a:p>
          <a:p>
            <a:pPr lvl="1" eaLnBrk="1" hangingPunct="1">
              <a:buFont typeface="Arial" charset="0"/>
              <a:buNone/>
            </a:pPr>
            <a:endParaRPr lang="en-US" sz="2200">
              <a:latin typeface="Calibri" charset="0"/>
              <a:ea typeface="ＭＳ Ｐゴシック" charset="0"/>
            </a:endParaRPr>
          </a:p>
          <a:p>
            <a:pPr eaLnBrk="1" hangingPunct="1"/>
            <a:endParaRPr lang="en-US" sz="2600">
              <a:latin typeface="Calibri" charset="0"/>
              <a:ea typeface="ＭＳ Ｐゴシック" charset="0"/>
            </a:endParaRPr>
          </a:p>
          <a:p>
            <a:pPr eaLnBrk="1" hangingPunct="1"/>
            <a:endParaRPr lang="en-US" sz="2200">
              <a:latin typeface="Calibri" charset="0"/>
              <a:ea typeface="ＭＳ Ｐゴシック" charset="0"/>
            </a:endParaRPr>
          </a:p>
        </p:txBody>
      </p:sp>
    </p:spTree>
    <p:extLst>
      <p:ext uri="{BB962C8B-B14F-4D97-AF65-F5344CB8AC3E}">
        <p14:creationId xmlns:p14="http://schemas.microsoft.com/office/powerpoint/2010/main" val="2620729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F2C0B-A745-9548-91C0-C8FC45C73D9C}"/>
              </a:ext>
            </a:extLst>
          </p:cNvPr>
          <p:cNvSpPr>
            <a:spLocks noGrp="1"/>
          </p:cNvSpPr>
          <p:nvPr>
            <p:ph type="title"/>
          </p:nvPr>
        </p:nvSpPr>
        <p:spPr/>
        <p:txBody>
          <a:bodyPr/>
          <a:lstStyle/>
          <a:p>
            <a:r>
              <a:rPr lang="en-US" b="1"/>
              <a:t>Choice of IRT Model</a:t>
            </a:r>
          </a:p>
        </p:txBody>
      </p:sp>
      <p:sp>
        <p:nvSpPr>
          <p:cNvPr id="3" name="Content Placeholder 2">
            <a:extLst>
              <a:ext uri="{FF2B5EF4-FFF2-40B4-BE49-F238E27FC236}">
                <a16:creationId xmlns:a16="http://schemas.microsoft.com/office/drawing/2014/main" id="{BE5525F3-E2F3-2A4E-AF5D-BEF14C1623CB}"/>
              </a:ext>
            </a:extLst>
          </p:cNvPr>
          <p:cNvSpPr>
            <a:spLocks noGrp="1"/>
          </p:cNvSpPr>
          <p:nvPr>
            <p:ph idx="1"/>
          </p:nvPr>
        </p:nvSpPr>
        <p:spPr/>
        <p:txBody>
          <a:bodyPr/>
          <a:lstStyle/>
          <a:p>
            <a:r>
              <a:rPr lang="en-US"/>
              <a:t>Rasch/PCM vs. 2PL/GRM vs. 3PL/GRM</a:t>
            </a:r>
          </a:p>
          <a:p>
            <a:r>
              <a:rPr lang="en-US"/>
              <a:t>This is often not treated as a decision point for a vertical scale design.</a:t>
            </a:r>
          </a:p>
          <a:p>
            <a:r>
              <a:rPr lang="en-US"/>
              <a:t>But has real implications if an argument is being made for interval properties.</a:t>
            </a:r>
          </a:p>
          <a:p>
            <a:r>
              <a:rPr lang="en-US"/>
              <a:t>Idealized scale properties of Rasch Model &gt;&gt; 2PL, 3PL</a:t>
            </a:r>
          </a:p>
          <a:p>
            <a:r>
              <a:rPr lang="en-US"/>
              <a:t>See Briggs (2013) for more</a:t>
            </a:r>
          </a:p>
        </p:txBody>
      </p:sp>
      <p:sp>
        <p:nvSpPr>
          <p:cNvPr id="4" name="Slide Number Placeholder 3">
            <a:extLst>
              <a:ext uri="{FF2B5EF4-FFF2-40B4-BE49-F238E27FC236}">
                <a16:creationId xmlns:a16="http://schemas.microsoft.com/office/drawing/2014/main" id="{F49EFE59-0684-F843-B965-4C402CAE3712}"/>
              </a:ext>
            </a:extLst>
          </p:cNvPr>
          <p:cNvSpPr>
            <a:spLocks noGrp="1"/>
          </p:cNvSpPr>
          <p:nvPr>
            <p:ph type="sldNum" sz="quarter" idx="12"/>
          </p:nvPr>
        </p:nvSpPr>
        <p:spPr/>
        <p:txBody>
          <a:bodyPr/>
          <a:lstStyle/>
          <a:p>
            <a:fld id="{EFD2A749-B6C7-C240-8A90-1E79A2210C21}" type="slidenum">
              <a:rPr lang="en-US"/>
              <a:t>43</a:t>
            </a:fld>
            <a:endParaRPr lang="en-US"/>
          </a:p>
        </p:txBody>
      </p:sp>
    </p:spTree>
    <p:extLst>
      <p:ext uri="{BB962C8B-B14F-4D97-AF65-F5344CB8AC3E}">
        <p14:creationId xmlns:p14="http://schemas.microsoft.com/office/powerpoint/2010/main" val="5418764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pPr eaLnBrk="1" hangingPunct="1"/>
            <a:r>
              <a:rPr lang="en-US" b="1">
                <a:latin typeface="Calibri" charset="0"/>
                <a:ea typeface="ＭＳ Ｐゴシック" charset="0"/>
              </a:rPr>
              <a:t>Linking Separate Calibrations</a:t>
            </a:r>
          </a:p>
        </p:txBody>
      </p:sp>
      <p:sp>
        <p:nvSpPr>
          <p:cNvPr id="30722" name="Content Placeholder 2"/>
          <p:cNvSpPr>
            <a:spLocks noGrp="1"/>
          </p:cNvSpPr>
          <p:nvPr>
            <p:ph idx="1"/>
          </p:nvPr>
        </p:nvSpPr>
        <p:spPr>
          <a:xfrm>
            <a:off x="609600" y="1600200"/>
            <a:ext cx="10800522" cy="3886200"/>
          </a:xfrm>
        </p:spPr>
        <p:txBody>
          <a:bodyPr>
            <a:normAutofit/>
          </a:bodyPr>
          <a:lstStyle/>
          <a:p>
            <a:pPr eaLnBrk="1" hangingPunct="1"/>
            <a:r>
              <a:rPr lang="en-US" sz="3000">
                <a:latin typeface="Calibri" charset="0"/>
                <a:ea typeface="ＭＳ Ｐゴシック" charset="0"/>
              </a:rPr>
              <a:t>A linear transformation is used to place the parameters from one test—the </a:t>
            </a:r>
            <a:r>
              <a:rPr lang="ja-JP" altLang="en-US" sz="3000">
                <a:latin typeface="Calibri" charset="0"/>
                <a:ea typeface="ＭＳ Ｐゴシック" charset="0"/>
              </a:rPr>
              <a:t>“</a:t>
            </a:r>
            <a:r>
              <a:rPr lang="en-US" altLang="ja-JP" sz="3000">
                <a:latin typeface="Calibri" charset="0"/>
                <a:ea typeface="ＭＳ Ｐゴシック" charset="0"/>
              </a:rPr>
              <a:t>From</a:t>
            </a:r>
            <a:r>
              <a:rPr lang="ja-JP" altLang="en-US" sz="3000">
                <a:latin typeface="Calibri" charset="0"/>
                <a:ea typeface="ＭＳ Ｐゴシック" charset="0"/>
              </a:rPr>
              <a:t>”</a:t>
            </a:r>
            <a:r>
              <a:rPr lang="en-US" altLang="ja-JP" sz="3000">
                <a:latin typeface="Calibri" charset="0"/>
                <a:ea typeface="ＭＳ Ｐゴシック" charset="0"/>
              </a:rPr>
              <a:t> scale—onto the scale of the other—the </a:t>
            </a:r>
            <a:r>
              <a:rPr lang="ja-JP" altLang="en-US" sz="3000">
                <a:latin typeface="Calibri" charset="0"/>
                <a:ea typeface="ＭＳ Ｐゴシック" charset="0"/>
              </a:rPr>
              <a:t>“</a:t>
            </a:r>
            <a:r>
              <a:rPr lang="en-US" altLang="ja-JP" sz="3000">
                <a:latin typeface="Calibri" charset="0"/>
                <a:ea typeface="ＭＳ Ｐゴシック" charset="0"/>
              </a:rPr>
              <a:t>To</a:t>
            </a:r>
            <a:r>
              <a:rPr lang="ja-JP" altLang="en-US" sz="3000">
                <a:latin typeface="Calibri" charset="0"/>
                <a:ea typeface="ＭＳ Ｐゴシック" charset="0"/>
              </a:rPr>
              <a:t>”</a:t>
            </a:r>
            <a:r>
              <a:rPr lang="en-US" altLang="ja-JP" sz="3000">
                <a:latin typeface="Calibri" charset="0"/>
                <a:ea typeface="ＭＳ Ｐゴシック" charset="0"/>
              </a:rPr>
              <a:t> scale.</a:t>
            </a:r>
          </a:p>
          <a:p>
            <a:pPr eaLnBrk="1" hangingPunct="1">
              <a:buFont typeface="Arial" charset="0"/>
              <a:buNone/>
            </a:pPr>
            <a:endParaRPr lang="en-US" sz="2600">
              <a:latin typeface="Calibri" charset="0"/>
              <a:ea typeface="ＭＳ Ｐゴシック" charset="0"/>
            </a:endParaRPr>
          </a:p>
          <a:p>
            <a:pPr eaLnBrk="1" hangingPunct="1"/>
            <a:r>
              <a:rPr lang="en-US" sz="3000">
                <a:latin typeface="Calibri" charset="0"/>
                <a:ea typeface="ＭＳ Ｐゴシック" charset="0"/>
              </a:rPr>
              <a:t>Ability Estimates</a:t>
            </a:r>
          </a:p>
          <a:p>
            <a:pPr eaLnBrk="1" hangingPunct="1">
              <a:buFont typeface="Arial" charset="0"/>
              <a:buNone/>
            </a:pPr>
            <a:endParaRPr lang="en-US" sz="3000">
              <a:latin typeface="Calibri" charset="0"/>
              <a:ea typeface="ＭＳ Ｐゴシック" charset="0"/>
            </a:endParaRPr>
          </a:p>
          <a:p>
            <a:pPr eaLnBrk="1" hangingPunct="1"/>
            <a:r>
              <a:rPr lang="en-US" sz="3000">
                <a:latin typeface="Calibri" charset="0"/>
                <a:ea typeface="ＭＳ Ｐゴシック" charset="0"/>
              </a:rPr>
              <a:t>Item Parameters</a:t>
            </a:r>
          </a:p>
        </p:txBody>
      </p:sp>
      <p:graphicFrame>
        <p:nvGraphicFramePr>
          <p:cNvPr id="30723" name="Content Placeholder 3"/>
          <p:cNvGraphicFramePr>
            <a:graphicFrameLocks noChangeAspect="1"/>
          </p:cNvGraphicFramePr>
          <p:nvPr>
            <p:extLst>
              <p:ext uri="{D42A27DB-BD31-4B8C-83A1-F6EECF244321}">
                <p14:modId xmlns:p14="http://schemas.microsoft.com/office/powerpoint/2010/main" val="4280631751"/>
              </p:ext>
            </p:extLst>
          </p:nvPr>
        </p:nvGraphicFramePr>
        <p:xfrm>
          <a:off x="3795827" y="3558048"/>
          <a:ext cx="1965325" cy="490538"/>
        </p:xfrm>
        <a:graphic>
          <a:graphicData uri="http://schemas.openxmlformats.org/presentationml/2006/ole">
            <mc:AlternateContent xmlns:mc="http://schemas.openxmlformats.org/markup-compatibility/2006">
              <mc:Choice xmlns:v="urn:schemas-microsoft-com:vml" Requires="v">
                <p:oleObj name="Equation" r:id="rId2" imgW="863225" imgH="215806" progId="Equation.3">
                  <p:embed/>
                </p:oleObj>
              </mc:Choice>
              <mc:Fallback>
                <p:oleObj name="Equation" r:id="rId2" imgW="863225" imgH="215806" progId="Equation.3">
                  <p:embed/>
                  <p:pic>
                    <p:nvPicPr>
                      <p:cNvPr id="30723" name="Content Placeholder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5827" y="3558048"/>
                        <a:ext cx="1965325" cy="4905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0724" name="Object 4"/>
          <p:cNvGraphicFramePr>
            <a:graphicFrameLocks noChangeAspect="1"/>
          </p:cNvGraphicFramePr>
          <p:nvPr>
            <p:extLst>
              <p:ext uri="{D42A27DB-BD31-4B8C-83A1-F6EECF244321}">
                <p14:modId xmlns:p14="http://schemas.microsoft.com/office/powerpoint/2010/main" val="3513511373"/>
              </p:ext>
            </p:extLst>
          </p:nvPr>
        </p:nvGraphicFramePr>
        <p:xfrm>
          <a:off x="3795827" y="4415784"/>
          <a:ext cx="1219200" cy="839788"/>
        </p:xfrm>
        <a:graphic>
          <a:graphicData uri="http://schemas.openxmlformats.org/presentationml/2006/ole">
            <mc:AlternateContent xmlns:mc="http://schemas.openxmlformats.org/markup-compatibility/2006">
              <mc:Choice xmlns:v="urn:schemas-microsoft-com:vml" Requires="v">
                <p:oleObj name="Equation" r:id="rId4" imgW="571252" imgH="393529" progId="Equation.3">
                  <p:embed/>
                </p:oleObj>
              </mc:Choice>
              <mc:Fallback>
                <p:oleObj name="Equation" r:id="rId4" imgW="571252" imgH="393529" progId="Equation.3">
                  <p:embed/>
                  <p:pic>
                    <p:nvPicPr>
                      <p:cNvPr id="3072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5827" y="4415784"/>
                        <a:ext cx="1219200" cy="8397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0725" name="Object 4"/>
          <p:cNvGraphicFramePr>
            <a:graphicFrameLocks noChangeAspect="1"/>
          </p:cNvGraphicFramePr>
          <p:nvPr>
            <p:extLst>
              <p:ext uri="{D42A27DB-BD31-4B8C-83A1-F6EECF244321}">
                <p14:modId xmlns:p14="http://schemas.microsoft.com/office/powerpoint/2010/main" val="4207039162"/>
              </p:ext>
            </p:extLst>
          </p:nvPr>
        </p:nvGraphicFramePr>
        <p:xfrm>
          <a:off x="5319479" y="4601521"/>
          <a:ext cx="1933575" cy="468313"/>
        </p:xfrm>
        <a:graphic>
          <a:graphicData uri="http://schemas.openxmlformats.org/presentationml/2006/ole">
            <mc:AlternateContent xmlns:mc="http://schemas.openxmlformats.org/markup-compatibility/2006">
              <mc:Choice xmlns:v="urn:schemas-microsoft-com:vml" Requires="v">
                <p:oleObj name="Equation" r:id="rId6" imgW="888614" imgH="215806" progId="Equation.DSMT4">
                  <p:embed/>
                </p:oleObj>
              </mc:Choice>
              <mc:Fallback>
                <p:oleObj name="Equation" r:id="rId6" imgW="888614" imgH="215806" progId="Equation.DSMT4">
                  <p:embed/>
                  <p:pic>
                    <p:nvPicPr>
                      <p:cNvPr id="3072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9479" y="4601521"/>
                        <a:ext cx="1933575" cy="4683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TextBox 1"/>
          <p:cNvSpPr txBox="1"/>
          <p:nvPr/>
        </p:nvSpPr>
        <p:spPr>
          <a:xfrm>
            <a:off x="2212044" y="5391936"/>
            <a:ext cx="6214869"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a:t>“A” and “B” are  the linking constants</a:t>
            </a:r>
          </a:p>
        </p:txBody>
      </p:sp>
    </p:spTree>
    <p:extLst>
      <p:ext uri="{BB962C8B-B14F-4D97-AF65-F5344CB8AC3E}">
        <p14:creationId xmlns:p14="http://schemas.microsoft.com/office/powerpoint/2010/main" val="30349857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pPr eaLnBrk="1" hangingPunct="1"/>
            <a:r>
              <a:rPr lang="en-US" b="1">
                <a:latin typeface="Calibri" charset="0"/>
                <a:ea typeface="ＭＳ Ｐゴシック" charset="0"/>
              </a:rPr>
              <a:t>Chain Linking</a:t>
            </a:r>
          </a:p>
        </p:txBody>
      </p:sp>
      <p:sp>
        <p:nvSpPr>
          <p:cNvPr id="34818" name="Content Placeholder 2"/>
          <p:cNvSpPr>
            <a:spLocks noGrp="1"/>
          </p:cNvSpPr>
          <p:nvPr>
            <p:ph idx="1"/>
          </p:nvPr>
        </p:nvSpPr>
        <p:spPr>
          <a:xfrm>
            <a:off x="1152939" y="1600200"/>
            <a:ext cx="10078278" cy="2590800"/>
          </a:xfrm>
        </p:spPr>
        <p:txBody>
          <a:bodyPr>
            <a:normAutofit/>
          </a:bodyPr>
          <a:lstStyle/>
          <a:p>
            <a:pPr eaLnBrk="1" hangingPunct="1"/>
            <a:r>
              <a:rPr lang="en-US" sz="2800">
                <a:latin typeface="Calibri" charset="0"/>
                <a:ea typeface="ＭＳ Ｐゴシック" charset="0"/>
              </a:rPr>
              <a:t>To create a vertical scale for multiple tests using a separate approach, chain linking is used to place the tests on a base grade</a:t>
            </a:r>
          </a:p>
          <a:p>
            <a:pPr eaLnBrk="1" hangingPunct="1"/>
            <a:r>
              <a:rPr lang="en-US" sz="2800">
                <a:latin typeface="Calibri" charset="0"/>
                <a:ea typeface="ＭＳ Ｐゴシック" charset="0"/>
              </a:rPr>
              <a:t>Linking constants are computed for each pair of adjacent tests and then parameters are transformed in sequence.</a:t>
            </a:r>
          </a:p>
        </p:txBody>
      </p:sp>
      <p:sp>
        <p:nvSpPr>
          <p:cNvPr id="4" name="Oval 3"/>
          <p:cNvSpPr/>
          <p:nvPr/>
        </p:nvSpPr>
        <p:spPr>
          <a:xfrm>
            <a:off x="2624138" y="3854450"/>
            <a:ext cx="9906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chemeClr val="tx1"/>
                </a:solidFill>
              </a:rPr>
              <a:t>Grade 3</a:t>
            </a:r>
          </a:p>
        </p:txBody>
      </p:sp>
      <p:sp>
        <p:nvSpPr>
          <p:cNvPr id="6" name="Oval 5"/>
          <p:cNvSpPr/>
          <p:nvPr/>
        </p:nvSpPr>
        <p:spPr>
          <a:xfrm>
            <a:off x="4529138" y="3854450"/>
            <a:ext cx="9906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chemeClr val="tx1"/>
                </a:solidFill>
              </a:rPr>
              <a:t>Grade 4 (base gr)</a:t>
            </a:r>
          </a:p>
        </p:txBody>
      </p:sp>
      <p:sp>
        <p:nvSpPr>
          <p:cNvPr id="7" name="Oval 6"/>
          <p:cNvSpPr/>
          <p:nvPr/>
        </p:nvSpPr>
        <p:spPr>
          <a:xfrm>
            <a:off x="6510338" y="3854450"/>
            <a:ext cx="9906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chemeClr val="tx1"/>
                </a:solidFill>
              </a:rPr>
              <a:t>Grade 5</a:t>
            </a:r>
          </a:p>
        </p:txBody>
      </p:sp>
      <p:sp>
        <p:nvSpPr>
          <p:cNvPr id="8" name="Oval 7"/>
          <p:cNvSpPr/>
          <p:nvPr/>
        </p:nvSpPr>
        <p:spPr>
          <a:xfrm>
            <a:off x="8491538" y="3854450"/>
            <a:ext cx="9906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chemeClr val="tx1"/>
                </a:solidFill>
              </a:rPr>
              <a:t>Grade 6</a:t>
            </a:r>
          </a:p>
        </p:txBody>
      </p:sp>
      <p:cxnSp>
        <p:nvCxnSpPr>
          <p:cNvPr id="12" name="Straight Connector 11"/>
          <p:cNvCxnSpPr>
            <a:stCxn id="4" idx="6"/>
            <a:endCxn id="6" idx="2"/>
          </p:cNvCxnSpPr>
          <p:nvPr/>
        </p:nvCxnSpPr>
        <p:spPr>
          <a:xfrm>
            <a:off x="3614738" y="4349750"/>
            <a:ext cx="914400" cy="1588"/>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cxnSpLocks/>
            <a:stCxn id="6" idx="6"/>
            <a:endCxn id="7" idx="2"/>
          </p:cNvCxnSpPr>
          <p:nvPr/>
        </p:nvCxnSpPr>
        <p:spPr>
          <a:xfrm>
            <a:off x="5519738" y="4349750"/>
            <a:ext cx="990600" cy="1588"/>
          </a:xfrm>
          <a:prstGeom prst="line">
            <a:avLst/>
          </a:prstGeom>
          <a:ln>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7" idx="6"/>
            <a:endCxn id="8" idx="2"/>
          </p:cNvCxnSpPr>
          <p:nvPr/>
        </p:nvCxnSpPr>
        <p:spPr>
          <a:xfrm>
            <a:off x="7500938" y="4349750"/>
            <a:ext cx="990600" cy="1588"/>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4826" name="TextBox 16"/>
          <p:cNvSpPr txBox="1">
            <a:spLocks noChangeArrowheads="1"/>
          </p:cNvSpPr>
          <p:nvPr/>
        </p:nvSpPr>
        <p:spPr bwMode="auto">
          <a:xfrm>
            <a:off x="3843339" y="4006850"/>
            <a:ext cx="5429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C43</a:t>
            </a:r>
          </a:p>
        </p:txBody>
      </p:sp>
      <p:sp>
        <p:nvSpPr>
          <p:cNvPr id="34827" name="TextBox 17"/>
          <p:cNvSpPr txBox="1">
            <a:spLocks noChangeArrowheads="1"/>
          </p:cNvSpPr>
          <p:nvPr/>
        </p:nvSpPr>
        <p:spPr bwMode="auto">
          <a:xfrm>
            <a:off x="5748339" y="4006850"/>
            <a:ext cx="5429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C54</a:t>
            </a:r>
          </a:p>
        </p:txBody>
      </p:sp>
      <p:sp>
        <p:nvSpPr>
          <p:cNvPr id="34828" name="TextBox 18"/>
          <p:cNvSpPr txBox="1">
            <a:spLocks noChangeArrowheads="1"/>
          </p:cNvSpPr>
          <p:nvPr/>
        </p:nvSpPr>
        <p:spPr bwMode="auto">
          <a:xfrm>
            <a:off x="7729539" y="4006850"/>
            <a:ext cx="5429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C65</a:t>
            </a:r>
          </a:p>
        </p:txBody>
      </p:sp>
      <p:graphicFrame>
        <p:nvGraphicFramePr>
          <p:cNvPr id="34829" name="Object 2"/>
          <p:cNvGraphicFramePr>
            <a:graphicFrameLocks noChangeAspect="1"/>
          </p:cNvGraphicFramePr>
          <p:nvPr>
            <p:extLst>
              <p:ext uri="{D42A27DB-BD31-4B8C-83A1-F6EECF244321}">
                <p14:modId xmlns:p14="http://schemas.microsoft.com/office/powerpoint/2010/main" val="429433985"/>
              </p:ext>
            </p:extLst>
          </p:nvPr>
        </p:nvGraphicFramePr>
        <p:xfrm>
          <a:off x="3759200" y="5003800"/>
          <a:ext cx="4237038" cy="1041400"/>
        </p:xfrm>
        <a:graphic>
          <a:graphicData uri="http://schemas.openxmlformats.org/presentationml/2006/ole">
            <mc:AlternateContent xmlns:mc="http://schemas.openxmlformats.org/markup-compatibility/2006">
              <mc:Choice xmlns:v="urn:schemas-microsoft-com:vml" Requires="v">
                <p:oleObj name="Equation" r:id="rId2" imgW="2997200" imgH="736600" progId="Equation.DSMT4">
                  <p:embed/>
                </p:oleObj>
              </mc:Choice>
              <mc:Fallback>
                <p:oleObj name="Equation" r:id="rId2" imgW="2997200" imgH="736600" progId="Equation.DSMT4">
                  <p:embed/>
                  <p:pic>
                    <p:nvPicPr>
                      <p:cNvPr id="3482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9200" y="5003800"/>
                        <a:ext cx="4237038" cy="1041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327992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b="1">
                <a:latin typeface="Calibri" charset="0"/>
                <a:ea typeface="ＭＳ Ｐゴシック" charset="0"/>
              </a:rPr>
              <a:t>Concurrent Calibration</a:t>
            </a:r>
          </a:p>
        </p:txBody>
      </p:sp>
      <p:sp>
        <p:nvSpPr>
          <p:cNvPr id="35842" name="Content Placeholder 2"/>
          <p:cNvSpPr>
            <a:spLocks noGrp="1"/>
          </p:cNvSpPr>
          <p:nvPr>
            <p:ph idx="1"/>
          </p:nvPr>
        </p:nvSpPr>
        <p:spPr>
          <a:xfrm>
            <a:off x="1981200" y="1600200"/>
            <a:ext cx="8229600" cy="1219200"/>
          </a:xfrm>
        </p:spPr>
        <p:txBody>
          <a:bodyPr>
            <a:normAutofit/>
          </a:bodyPr>
          <a:lstStyle/>
          <a:p>
            <a:pPr eaLnBrk="1" hangingPunct="1"/>
            <a:r>
              <a:rPr lang="en-US" sz="2400">
                <a:latin typeface="Calibri" charset="0"/>
                <a:ea typeface="ＭＳ Ｐゴシック" charset="0"/>
              </a:rPr>
              <a:t>The item parameters from different populations of students are estimated simultaneously</a:t>
            </a:r>
          </a:p>
        </p:txBody>
      </p:sp>
      <p:sp>
        <p:nvSpPr>
          <p:cNvPr id="4" name="Rectangle 3"/>
          <p:cNvSpPr/>
          <p:nvPr/>
        </p:nvSpPr>
        <p:spPr>
          <a:xfrm>
            <a:off x="3810000" y="2971800"/>
            <a:ext cx="24384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rgbClr val="000000"/>
                </a:solidFill>
              </a:rPr>
              <a:t>          20                   10</a:t>
            </a:r>
          </a:p>
        </p:txBody>
      </p:sp>
      <p:sp>
        <p:nvSpPr>
          <p:cNvPr id="5" name="Rectangle 4"/>
          <p:cNvSpPr/>
          <p:nvPr/>
        </p:nvSpPr>
        <p:spPr>
          <a:xfrm>
            <a:off x="5334000" y="4724400"/>
            <a:ext cx="24384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rgbClr val="000000"/>
                </a:solidFill>
              </a:rPr>
              <a:t>     10                  20</a:t>
            </a:r>
          </a:p>
        </p:txBody>
      </p:sp>
      <p:cxnSp>
        <p:nvCxnSpPr>
          <p:cNvPr id="8" name="Straight Connector 7"/>
          <p:cNvCxnSpPr/>
          <p:nvPr/>
        </p:nvCxnSpPr>
        <p:spPr>
          <a:xfrm rot="5400000" flipH="1" flipV="1">
            <a:off x="4457701" y="3848101"/>
            <a:ext cx="1752600" cy="31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5372101" y="5600701"/>
            <a:ext cx="1752600" cy="31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5847" name="TextBox 10"/>
          <p:cNvSpPr txBox="1">
            <a:spLocks noChangeArrowheads="1"/>
          </p:cNvSpPr>
          <p:nvPr/>
        </p:nvSpPr>
        <p:spPr bwMode="auto">
          <a:xfrm>
            <a:off x="2362201" y="3733800"/>
            <a:ext cx="9239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Grade 3</a:t>
            </a:r>
          </a:p>
        </p:txBody>
      </p:sp>
      <p:sp>
        <p:nvSpPr>
          <p:cNvPr id="35848" name="TextBox 11"/>
          <p:cNvSpPr txBox="1">
            <a:spLocks noChangeArrowheads="1"/>
          </p:cNvSpPr>
          <p:nvPr/>
        </p:nvSpPr>
        <p:spPr bwMode="auto">
          <a:xfrm>
            <a:off x="2362201" y="5562600"/>
            <a:ext cx="9239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Grade 4</a:t>
            </a:r>
          </a:p>
        </p:txBody>
      </p:sp>
      <p:sp>
        <p:nvSpPr>
          <p:cNvPr id="35849" name="TextBox 12"/>
          <p:cNvSpPr txBox="1">
            <a:spLocks noChangeArrowheads="1"/>
          </p:cNvSpPr>
          <p:nvPr/>
        </p:nvSpPr>
        <p:spPr bwMode="auto">
          <a:xfrm>
            <a:off x="7162801" y="2895601"/>
            <a:ext cx="2519363"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Example:</a:t>
            </a:r>
          </a:p>
          <a:p>
            <a:pPr eaLnBrk="1" hangingPunct="1"/>
            <a:r>
              <a:rPr lang="en-US" sz="1800">
                <a:latin typeface="Calibri" charset="0"/>
              </a:rPr>
              <a:t>20 Unique Grade 3 Items</a:t>
            </a:r>
          </a:p>
          <a:p>
            <a:pPr eaLnBrk="1" hangingPunct="1"/>
            <a:r>
              <a:rPr lang="en-US" sz="1800">
                <a:latin typeface="Calibri" charset="0"/>
              </a:rPr>
              <a:t>20 Unique Grade 4 Items</a:t>
            </a:r>
          </a:p>
          <a:p>
            <a:pPr eaLnBrk="1" hangingPunct="1"/>
            <a:r>
              <a:rPr lang="en-US" sz="1800">
                <a:latin typeface="Calibri" charset="0"/>
              </a:rPr>
              <a:t>10 Common Items</a:t>
            </a:r>
          </a:p>
          <a:p>
            <a:pPr eaLnBrk="1" hangingPunct="1"/>
            <a:r>
              <a:rPr lang="en-US" sz="1800">
                <a:latin typeface="Calibri" charset="0"/>
              </a:rPr>
              <a:t>50 Total Unique Items</a:t>
            </a:r>
          </a:p>
        </p:txBody>
      </p:sp>
    </p:spTree>
    <p:extLst>
      <p:ext uri="{BB962C8B-B14F-4D97-AF65-F5344CB8AC3E}">
        <p14:creationId xmlns:p14="http://schemas.microsoft.com/office/powerpoint/2010/main" val="2092119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6AD2C4-E877-6C41-AC62-0A2B869D41F9}"/>
              </a:ext>
            </a:extLst>
          </p:cNvPr>
          <p:cNvSpPr>
            <a:spLocks noGrp="1"/>
          </p:cNvSpPr>
          <p:nvPr>
            <p:ph type="title"/>
          </p:nvPr>
        </p:nvSpPr>
        <p:spPr/>
        <p:txBody>
          <a:bodyPr/>
          <a:lstStyle/>
          <a:p>
            <a:pPr algn="l"/>
            <a:r>
              <a:rPr lang="en-US" b="1" dirty="0"/>
              <a:t>Set the Scale: Transform Theta</a:t>
            </a:r>
          </a:p>
        </p:txBody>
      </p:sp>
      <p:pic>
        <p:nvPicPr>
          <p:cNvPr id="8" name="Content Placeholder 7">
            <a:extLst>
              <a:ext uri="{FF2B5EF4-FFF2-40B4-BE49-F238E27FC236}">
                <a16:creationId xmlns:a16="http://schemas.microsoft.com/office/drawing/2014/main" id="{0B3C129E-4C48-FF40-B2C2-07A06A11B090}"/>
              </a:ext>
            </a:extLst>
          </p:cNvPr>
          <p:cNvPicPr>
            <a:picLocks noGrp="1" noChangeAspect="1"/>
          </p:cNvPicPr>
          <p:nvPr>
            <p:ph sz="half" idx="1"/>
          </p:nvPr>
        </p:nvPicPr>
        <p:blipFill>
          <a:blip r:embed="rId3"/>
          <a:stretch>
            <a:fillRect/>
          </a:stretch>
        </p:blipFill>
        <p:spPr>
          <a:xfrm>
            <a:off x="609600" y="1785129"/>
            <a:ext cx="5384800" cy="3101843"/>
          </a:xfrm>
          <a:prstGeom prst="rect">
            <a:avLst/>
          </a:prstGeom>
        </p:spPr>
      </p:pic>
      <p:pic>
        <p:nvPicPr>
          <p:cNvPr id="9" name="Content Placeholder 8">
            <a:extLst>
              <a:ext uri="{FF2B5EF4-FFF2-40B4-BE49-F238E27FC236}">
                <a16:creationId xmlns:a16="http://schemas.microsoft.com/office/drawing/2014/main" id="{D8523C26-A847-884A-8194-24B535840EB3}"/>
              </a:ext>
            </a:extLst>
          </p:cNvPr>
          <p:cNvPicPr>
            <a:picLocks noGrp="1" noChangeAspect="1"/>
          </p:cNvPicPr>
          <p:nvPr>
            <p:ph sz="half" idx="2"/>
          </p:nvPr>
        </p:nvPicPr>
        <p:blipFill>
          <a:blip r:embed="rId4"/>
          <a:stretch>
            <a:fillRect/>
          </a:stretch>
        </p:blipFill>
        <p:spPr>
          <a:xfrm>
            <a:off x="6197600" y="1785129"/>
            <a:ext cx="5384800" cy="3101843"/>
          </a:xfrm>
          <a:prstGeom prst="rect">
            <a:avLst/>
          </a:prstGeom>
        </p:spPr>
      </p:pic>
      <p:sp>
        <p:nvSpPr>
          <p:cNvPr id="4" name="Slide Number Placeholder 3">
            <a:extLst>
              <a:ext uri="{FF2B5EF4-FFF2-40B4-BE49-F238E27FC236}">
                <a16:creationId xmlns:a16="http://schemas.microsoft.com/office/drawing/2014/main" id="{A4EFA00C-94E7-CB4E-A052-9DE966278EDE}"/>
              </a:ext>
            </a:extLst>
          </p:cNvPr>
          <p:cNvSpPr>
            <a:spLocks noGrp="1"/>
          </p:cNvSpPr>
          <p:nvPr>
            <p:ph type="sldNum" sz="quarter" idx="12"/>
          </p:nvPr>
        </p:nvSpPr>
        <p:spPr/>
        <p:txBody>
          <a:bodyPr/>
          <a:lstStyle/>
          <a:p>
            <a:fld id="{EFD2A749-B6C7-C240-8A90-1E79A2210C21}" type="slidenum">
              <a:rPr lang="en-US"/>
              <a:t>47</a:t>
            </a:fld>
            <a:endParaRPr lang="en-US" dirty="0"/>
          </a:p>
        </p:txBody>
      </p:sp>
      <p:sp>
        <p:nvSpPr>
          <p:cNvPr id="10" name="TextBox 9">
            <a:extLst>
              <a:ext uri="{FF2B5EF4-FFF2-40B4-BE49-F238E27FC236}">
                <a16:creationId xmlns:a16="http://schemas.microsoft.com/office/drawing/2014/main" id="{E6ABBE53-16ED-5043-A623-1F5F83808C50}"/>
              </a:ext>
            </a:extLst>
          </p:cNvPr>
          <p:cNvSpPr txBox="1"/>
          <p:nvPr/>
        </p:nvSpPr>
        <p:spPr>
          <a:xfrm>
            <a:off x="1225962" y="4901720"/>
            <a:ext cx="9894321" cy="1477328"/>
          </a:xfrm>
          <a:prstGeom prst="rect">
            <a:avLst/>
          </a:prstGeom>
          <a:noFill/>
        </p:spPr>
        <p:txBody>
          <a:bodyPr wrap="square" rtlCol="0">
            <a:spAutoFit/>
          </a:bodyPr>
          <a:lstStyle/>
          <a:p>
            <a:r>
              <a:rPr lang="en-US" sz="2400" dirty="0"/>
              <a:t>The scaling constants: SBAC Scale Score  = (79.3)</a:t>
            </a:r>
            <a:r>
              <a:rPr lang="el-GR" sz="2400" dirty="0"/>
              <a:t>θ + 2514.9</a:t>
            </a:r>
            <a:r>
              <a:rPr lang="en-US" sz="2400" dirty="0"/>
              <a:t>  </a:t>
            </a:r>
          </a:p>
          <a:p>
            <a:r>
              <a:rPr lang="en-US" sz="2400" dirty="0">
                <a:sym typeface="Wingdings" pitchFamily="2" charset="2"/>
              </a:rPr>
              <a:t> </a:t>
            </a:r>
            <a:r>
              <a:rPr lang="en-US" sz="2400" dirty="0"/>
              <a:t>each change in a logit is equal to about 80 scale score points (why 80? No idea, and that’s part of the problem with conventional methods)</a:t>
            </a:r>
            <a:endParaRPr lang="el-GR" sz="2400" dirty="0"/>
          </a:p>
          <a:p>
            <a:endParaRPr lang="en-US" dirty="0"/>
          </a:p>
        </p:txBody>
      </p:sp>
    </p:spTree>
    <p:extLst>
      <p:ext uri="{BB962C8B-B14F-4D97-AF65-F5344CB8AC3E}">
        <p14:creationId xmlns:p14="http://schemas.microsoft.com/office/powerpoint/2010/main" val="3892984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6EF8593-7835-1D4B-A24C-7EB66EAB26C7}"/>
              </a:ext>
            </a:extLst>
          </p:cNvPr>
          <p:cNvSpPr>
            <a:spLocks noGrp="1"/>
          </p:cNvSpPr>
          <p:nvPr>
            <p:ph type="title"/>
          </p:nvPr>
        </p:nvSpPr>
        <p:spPr/>
        <p:txBody>
          <a:bodyPr/>
          <a:lstStyle/>
          <a:p>
            <a:r>
              <a:rPr lang="en-US" b="1"/>
              <a:t>Activity</a:t>
            </a:r>
          </a:p>
        </p:txBody>
      </p:sp>
      <p:sp>
        <p:nvSpPr>
          <p:cNvPr id="8" name="Content Placeholder 7">
            <a:extLst>
              <a:ext uri="{FF2B5EF4-FFF2-40B4-BE49-F238E27FC236}">
                <a16:creationId xmlns:a16="http://schemas.microsoft.com/office/drawing/2014/main" id="{22E8F708-DA33-0B45-899F-20CFD10A0F32}"/>
              </a:ext>
            </a:extLst>
          </p:cNvPr>
          <p:cNvSpPr>
            <a:spLocks noGrp="1"/>
          </p:cNvSpPr>
          <p:nvPr>
            <p:ph idx="1"/>
          </p:nvPr>
        </p:nvSpPr>
        <p:spPr/>
        <p:txBody>
          <a:bodyPr>
            <a:normAutofit/>
          </a:bodyPr>
          <a:lstStyle/>
          <a:p>
            <a:r>
              <a:rPr lang="en-US" sz="2000"/>
              <a:t>I have uploaded the 2018-19 technical manual for the state of Arizona’s large-scale assessment given to students in grades 3-11, called AzMERIT. </a:t>
            </a:r>
          </a:p>
          <a:p>
            <a:r>
              <a:rPr lang="en-US" sz="2000"/>
              <a:t>Please read the short section that describes the approach that the state’s test vendor, AIR, took to create a vertical scale for the math and reading tests on pages 153-157.</a:t>
            </a:r>
          </a:p>
          <a:p>
            <a:r>
              <a:rPr lang="en-US" sz="2000"/>
              <a:t>Note: the state uses the Rasch Model and PCM for test items, see pp. 150-153 for those details.</a:t>
            </a:r>
          </a:p>
          <a:p>
            <a:pPr marL="0" indent="0">
              <a:buNone/>
            </a:pPr>
            <a:r>
              <a:rPr lang="en-US" sz="2000"/>
              <a:t>Questions for you to discuss in small groups:</a:t>
            </a:r>
          </a:p>
          <a:p>
            <a:pPr marL="457200" indent="-457200">
              <a:buFont typeface="+mj-lt"/>
              <a:buAutoNum type="arabicPeriod"/>
            </a:pPr>
            <a:r>
              <a:rPr lang="en-US" sz="2000"/>
              <a:t>What was AIR’s common item design? How are they defining growth?</a:t>
            </a:r>
          </a:p>
          <a:p>
            <a:pPr marL="457200" indent="-457200">
              <a:buFont typeface="+mj-lt"/>
              <a:buAutoNum type="arabicPeriod"/>
            </a:pPr>
            <a:r>
              <a:rPr lang="en-US" sz="2000"/>
              <a:t>How did they choose a “final linking set” of common items? How does the approach differ in math vs reading?</a:t>
            </a:r>
          </a:p>
          <a:p>
            <a:pPr marL="457200" indent="-457200">
              <a:buFont typeface="+mj-lt"/>
              <a:buAutoNum type="arabicPeriod"/>
            </a:pPr>
            <a:r>
              <a:rPr lang="en-US" sz="2000"/>
              <a:t>They present a comparison of separate vs concurrent calibration. Which approach do they recommend and why?</a:t>
            </a:r>
          </a:p>
          <a:p>
            <a:pPr marL="457200" indent="-457200">
              <a:buFont typeface="+mj-lt"/>
              <a:buAutoNum type="arabicPeriod"/>
            </a:pPr>
            <a:r>
              <a:rPr lang="en-US" sz="2000"/>
              <a:t>Why are they only reporting a single linking constant (as opposed to two) by test subject and linking approach in the tables on page 155?</a:t>
            </a:r>
          </a:p>
          <a:p>
            <a:pPr marL="457200" indent="-457200">
              <a:buFont typeface="+mj-lt"/>
              <a:buAutoNum type="arabicPeriod"/>
            </a:pPr>
            <a:endParaRPr lang="en-US" sz="2000"/>
          </a:p>
          <a:p>
            <a:pPr marL="457200" indent="-457200">
              <a:buFont typeface="+mj-lt"/>
              <a:buAutoNum type="arabicPeriod"/>
            </a:pPr>
            <a:endParaRPr lang="en-US" sz="2400"/>
          </a:p>
        </p:txBody>
      </p:sp>
      <p:sp>
        <p:nvSpPr>
          <p:cNvPr id="5" name="Slide Number Placeholder 4">
            <a:extLst>
              <a:ext uri="{FF2B5EF4-FFF2-40B4-BE49-F238E27FC236}">
                <a16:creationId xmlns:a16="http://schemas.microsoft.com/office/drawing/2014/main" id="{07EA8D60-018F-F64F-A524-4B6357FD3B7A}"/>
              </a:ext>
            </a:extLst>
          </p:cNvPr>
          <p:cNvSpPr>
            <a:spLocks noGrp="1"/>
          </p:cNvSpPr>
          <p:nvPr>
            <p:ph type="sldNum" sz="quarter" idx="12"/>
          </p:nvPr>
        </p:nvSpPr>
        <p:spPr/>
        <p:txBody>
          <a:bodyPr/>
          <a:lstStyle/>
          <a:p>
            <a:fld id="{EFD2A749-B6C7-C240-8A90-1E79A2210C21}" type="slidenum">
              <a:rPr lang="en-US"/>
              <a:t>48</a:t>
            </a:fld>
            <a:endParaRPr lang="en-US"/>
          </a:p>
        </p:txBody>
      </p:sp>
    </p:spTree>
    <p:extLst>
      <p:ext uri="{BB962C8B-B14F-4D97-AF65-F5344CB8AC3E}">
        <p14:creationId xmlns:p14="http://schemas.microsoft.com/office/powerpoint/2010/main" val="36110152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E7D65-2E7E-0646-AB0C-DD126137D198}"/>
              </a:ext>
            </a:extLst>
          </p:cNvPr>
          <p:cNvSpPr>
            <a:spLocks noGrp="1"/>
          </p:cNvSpPr>
          <p:nvPr>
            <p:ph type="title"/>
          </p:nvPr>
        </p:nvSpPr>
        <p:spPr/>
        <p:txBody>
          <a:bodyPr/>
          <a:lstStyle/>
          <a:p>
            <a:r>
              <a:rPr lang="en-US" b="1"/>
              <a:t>Other Issues in Vertical Scaling</a:t>
            </a:r>
          </a:p>
        </p:txBody>
      </p:sp>
      <p:sp>
        <p:nvSpPr>
          <p:cNvPr id="3" name="Content Placeholder 2">
            <a:extLst>
              <a:ext uri="{FF2B5EF4-FFF2-40B4-BE49-F238E27FC236}">
                <a16:creationId xmlns:a16="http://schemas.microsoft.com/office/drawing/2014/main" id="{F895F0DF-2BCB-9744-AC49-099BA4D5F55A}"/>
              </a:ext>
            </a:extLst>
          </p:cNvPr>
          <p:cNvSpPr>
            <a:spLocks noGrp="1"/>
          </p:cNvSpPr>
          <p:nvPr>
            <p:ph idx="1"/>
          </p:nvPr>
        </p:nvSpPr>
        <p:spPr/>
        <p:txBody>
          <a:bodyPr>
            <a:normAutofit fontScale="77500" lnSpcReduction="20000"/>
          </a:bodyPr>
          <a:lstStyle/>
          <a:p>
            <a:r>
              <a:rPr lang="en-US"/>
              <a:t>Impact of Methods on Growth Inferences (Briggs &amp; Weeks, 2009; Briggs &amp; Domingue, 2013)</a:t>
            </a:r>
          </a:p>
          <a:p>
            <a:r>
              <a:rPr lang="en-US"/>
              <a:t>Comparing Thurstone scaling to IRT scaling (Tong &amp; Kolen, 2007; Williams, Pomerich &amp; Thissen, 1998)</a:t>
            </a:r>
          </a:p>
          <a:p>
            <a:r>
              <a:rPr lang="en-US"/>
              <a:t>Scale Properties (Interval vs. Ordinal) (Ballou, 2009; Briggs, 2013; Domingue, 2013)</a:t>
            </a:r>
          </a:p>
          <a:p>
            <a:r>
              <a:rPr lang="en-US"/>
              <a:t>Non-linear transformations of theta (Briggs &amp; Domingue, 2013) </a:t>
            </a:r>
          </a:p>
          <a:p>
            <a:r>
              <a:rPr lang="en-US"/>
              <a:t>Scale shrinkage &amp; deceleration (Dadey &amp; Briggs, 2012; Bolt, Deng &amp; Lee, 2014; Student, 2022; 2024)</a:t>
            </a:r>
          </a:p>
          <a:p>
            <a:r>
              <a:rPr lang="en-US"/>
              <a:t>Maintaining a vertical scale (the problem of item drift) (?)</a:t>
            </a:r>
          </a:p>
          <a:p>
            <a:r>
              <a:rPr lang="en-US"/>
              <a:t>Selecting common items (Briggs &amp; Dadey, 2015; Student, Briggs &amp; Davis, 2024)</a:t>
            </a:r>
          </a:p>
          <a:p>
            <a:r>
              <a:rPr lang="en-US"/>
              <a:t>Conceptualizing and Quantifying linking error (?)</a:t>
            </a:r>
          </a:p>
          <a:p>
            <a:pPr marL="0" indent="0">
              <a:buNone/>
            </a:pPr>
            <a:endParaRPr lang="en-US"/>
          </a:p>
          <a:p>
            <a:endParaRPr lang="en-US"/>
          </a:p>
        </p:txBody>
      </p:sp>
      <p:sp>
        <p:nvSpPr>
          <p:cNvPr id="4" name="Slide Number Placeholder 3">
            <a:extLst>
              <a:ext uri="{FF2B5EF4-FFF2-40B4-BE49-F238E27FC236}">
                <a16:creationId xmlns:a16="http://schemas.microsoft.com/office/drawing/2014/main" id="{45AFF42E-0C6D-7E43-818F-C354542E274F}"/>
              </a:ext>
            </a:extLst>
          </p:cNvPr>
          <p:cNvSpPr>
            <a:spLocks noGrp="1"/>
          </p:cNvSpPr>
          <p:nvPr>
            <p:ph type="sldNum" sz="quarter" idx="12"/>
          </p:nvPr>
        </p:nvSpPr>
        <p:spPr/>
        <p:txBody>
          <a:bodyPr/>
          <a:lstStyle/>
          <a:p>
            <a:fld id="{EFD2A749-B6C7-C240-8A90-1E79A2210C21}" type="slidenum">
              <a:rPr lang="en-US"/>
              <a:t>49</a:t>
            </a:fld>
            <a:endParaRPr lang="en-US"/>
          </a:p>
        </p:txBody>
      </p:sp>
    </p:spTree>
    <p:extLst>
      <p:ext uri="{BB962C8B-B14F-4D97-AF65-F5344CB8AC3E}">
        <p14:creationId xmlns:p14="http://schemas.microsoft.com/office/powerpoint/2010/main" val="3906602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21239</TotalTime>
  <Words>3482</Words>
  <Application>Microsoft Macintosh PowerPoint</Application>
  <PresentationFormat>Widescreen</PresentationFormat>
  <Paragraphs>372</Paragraphs>
  <Slides>49</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5" baseType="lpstr">
      <vt:lpstr>Arial</vt:lpstr>
      <vt:lpstr>Calibri</vt:lpstr>
      <vt:lpstr>Cambria Math</vt:lpstr>
      <vt:lpstr>Wingdings</vt:lpstr>
      <vt:lpstr>Office Theme</vt:lpstr>
      <vt:lpstr>Equation</vt:lpstr>
      <vt:lpstr>Vertical Scaling and Growth</vt:lpstr>
      <vt:lpstr>Learning Objectives</vt:lpstr>
      <vt:lpstr>Outline</vt:lpstr>
      <vt:lpstr>PowerPoint Presentation</vt:lpstr>
      <vt:lpstr>A Hypothetical Scenario </vt:lpstr>
      <vt:lpstr>PowerPoint Presentation</vt:lpstr>
      <vt:lpstr>An answer that is not wrong per se, but insufficient</vt:lpstr>
      <vt:lpstr>Lipsey et al (2012) on Representing Effects</vt:lpstr>
      <vt:lpstr>Conveying the Effect of Accelerated Math</vt:lpstr>
      <vt:lpstr>Lipsey et al on Assessing Practical Significance</vt:lpstr>
      <vt:lpstr>The SBAC Math Vertical Scale</vt:lpstr>
      <vt:lpstr>Growth on SBAC Math Tests</vt:lpstr>
      <vt:lpstr>The Effect of Accelerated Math in Weeks of Learning</vt:lpstr>
      <vt:lpstr>PowerPoint Presentation</vt:lpstr>
      <vt:lpstr>Looking for an analogy to units in the physical sciences </vt:lpstr>
      <vt:lpstr>Alfred Binet (1857-1911)</vt:lpstr>
      <vt:lpstr>Binet’s Methods</vt:lpstr>
      <vt:lpstr>Binet and Simon’s 1905 Test </vt:lpstr>
      <vt:lpstr>The 1908 Revision</vt:lpstr>
      <vt:lpstr>L. L. Thurstone (1887-1955)</vt:lpstr>
      <vt:lpstr>PowerPoint Presentation</vt:lpstr>
      <vt:lpstr>Problem with Age as a Unit of Measurement</vt:lpstr>
      <vt:lpstr>Thurstone’s Method of Absolute Scaling</vt:lpstr>
      <vt:lpstr>Requirements for Absolute Scaling</vt:lpstr>
      <vt:lpstr>Finding a “Common Baseline”</vt:lpstr>
      <vt:lpstr>Theoretical Transformation Constants</vt:lpstr>
      <vt:lpstr>Empirical Strategy using Burt Data from Binet Tests</vt:lpstr>
      <vt:lpstr>Technical Details of Thurstone’s Approach</vt:lpstr>
      <vt:lpstr>Result: Depiction of Growth on an Absolute Scale</vt:lpstr>
      <vt:lpstr>A “Map” of Binet Items on an Absolute Scale</vt:lpstr>
      <vt:lpstr>Thurstone’s Unit of Measurement</vt:lpstr>
      <vt:lpstr>Example: Trabue’s Test of Sentence Completion</vt:lpstr>
      <vt:lpstr>Finding an Absolute Zero</vt:lpstr>
      <vt:lpstr>Summary of Thurstone Scaling Steps</vt:lpstr>
      <vt:lpstr>PowerPoint Presentation</vt:lpstr>
      <vt:lpstr>Creating a Vertical Scale: Conventional Wisdom</vt:lpstr>
      <vt:lpstr>Growth Definitions</vt:lpstr>
      <vt:lpstr>Different Growth Definitions</vt:lpstr>
      <vt:lpstr>PowerPoint Presentation</vt:lpstr>
      <vt:lpstr>Observed P-Value Changes in One State’s Field Test</vt:lpstr>
      <vt:lpstr>“Up” Links vs “Down” Links</vt:lpstr>
      <vt:lpstr>Why Use IRT to Link Tests with a Common Item Design?</vt:lpstr>
      <vt:lpstr>Choice of IRT Model</vt:lpstr>
      <vt:lpstr>Linking Separate Calibrations</vt:lpstr>
      <vt:lpstr>Chain Linking</vt:lpstr>
      <vt:lpstr>Concurrent Calibration</vt:lpstr>
      <vt:lpstr>Set the Scale: Transform Theta</vt:lpstr>
      <vt:lpstr>Activity</vt:lpstr>
      <vt:lpstr>Other Issues in Vertical Scaling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waldo</dc:creator>
  <cp:lastModifiedBy>Derek Briggs</cp:lastModifiedBy>
  <cp:revision>507</cp:revision>
  <cp:lastPrinted>2015-03-18T16:59:39Z</cp:lastPrinted>
  <dcterms:created xsi:type="dcterms:W3CDTF">2010-10-28T17:57:07Z</dcterms:created>
  <dcterms:modified xsi:type="dcterms:W3CDTF">2026-04-05T18:10:35Z</dcterms:modified>
</cp:coreProperties>
</file>