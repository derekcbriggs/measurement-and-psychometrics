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386" r:id="rId3"/>
    <p:sldId id="389" r:id="rId4"/>
    <p:sldId id="385" r:id="rId5"/>
    <p:sldId id="259" r:id="rId6"/>
    <p:sldId id="258" r:id="rId7"/>
    <p:sldId id="335" r:id="rId8"/>
    <p:sldId id="380" r:id="rId9"/>
    <p:sldId id="303" r:id="rId10"/>
    <p:sldId id="381" r:id="rId11"/>
    <p:sldId id="382" r:id="rId12"/>
    <p:sldId id="383" r:id="rId13"/>
    <p:sldId id="384" r:id="rId14"/>
    <p:sldId id="324" r:id="rId15"/>
    <p:sldId id="390" r:id="rId16"/>
    <p:sldId id="268" r:id="rId17"/>
    <p:sldId id="277" r:id="rId18"/>
    <p:sldId id="299" r:id="rId19"/>
    <p:sldId id="300" r:id="rId20"/>
    <p:sldId id="301" r:id="rId21"/>
    <p:sldId id="297" r:id="rId22"/>
    <p:sldId id="273" r:id="rId23"/>
    <p:sldId id="373" r:id="rId24"/>
    <p:sldId id="371" r:id="rId25"/>
    <p:sldId id="372" r:id="rId26"/>
    <p:sldId id="393" r:id="rId27"/>
    <p:sldId id="374" r:id="rId28"/>
    <p:sldId id="394" r:id="rId29"/>
    <p:sldId id="375" r:id="rId30"/>
    <p:sldId id="376" r:id="rId31"/>
    <p:sldId id="274" r:id="rId32"/>
    <p:sldId id="275" r:id="rId33"/>
    <p:sldId id="391" r:id="rId34"/>
    <p:sldId id="379" r:id="rId35"/>
    <p:sldId id="367" r:id="rId36"/>
    <p:sldId id="279" r:id="rId37"/>
    <p:sldId id="280" r:id="rId38"/>
    <p:sldId id="281" r:id="rId39"/>
    <p:sldId id="282" r:id="rId40"/>
    <p:sldId id="392" r:id="rId41"/>
    <p:sldId id="387" r:id="rId42"/>
    <p:sldId id="388" r:id="rId43"/>
    <p:sldId id="377" r:id="rId44"/>
    <p:sldId id="378" r:id="rId45"/>
    <p:sldId id="370" r:id="rId46"/>
    <p:sldId id="327" r:id="rId47"/>
    <p:sldId id="328" r:id="rId48"/>
    <p:sldId id="329" r:id="rId49"/>
    <p:sldId id="330" r:id="rId50"/>
    <p:sldId id="331" r:id="rId51"/>
    <p:sldId id="332" r:id="rId52"/>
    <p:sldId id="33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p:restoredTop sz="88425"/>
  </p:normalViewPr>
  <p:slideViewPr>
    <p:cSldViewPr snapToGrid="0" snapToObjects="1">
      <p:cViewPr varScale="1">
        <p:scale>
          <a:sx n="112" d="100"/>
          <a:sy n="112" d="100"/>
        </p:scale>
        <p:origin x="11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FA8CDC-C5E2-2A42-BD31-4FA7AD6C361D}" type="datetimeFigureOut">
              <a:rPr lang="en-US"/>
              <a:t>7/29/24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B277B7-CEC2-2143-BEB3-6E29304F6BDB}" type="slidenum">
              <a:rPr/>
              <a:t>‹#›</a:t>
            </a:fld>
            <a:endParaRPr lang="en-US" dirty="0"/>
          </a:p>
        </p:txBody>
      </p:sp>
    </p:spTree>
    <p:extLst>
      <p:ext uri="{BB962C8B-B14F-4D97-AF65-F5344CB8AC3E}">
        <p14:creationId xmlns:p14="http://schemas.microsoft.com/office/powerpoint/2010/main" val="1175098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Call_centre"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en.wikipedia.org/wiki/Web_serve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fld id="{E4B04366-5973-FE44-B99B-8F97879B2A16}" type="slidenum">
              <a:rPr lang="en-US" sz="1200"/>
              <a:pPr/>
              <a:t>8</a:t>
            </a:fld>
            <a:endParaRPr lang="en-US" sz="1200" dirty="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dirty="0"/>
              <a:t>The number of spelling mistakes one makes while typing a single page. </a:t>
            </a:r>
          </a:p>
          <a:p>
            <a:pPr eaLnBrk="1" hangingPunct="1"/>
            <a:r>
              <a:rPr lang="en-US" dirty="0"/>
              <a:t>The number of phone calls at a </a:t>
            </a:r>
            <a:r>
              <a:rPr lang="en-US" dirty="0">
                <a:hlinkClick r:id="rId3" tooltip="Call centre"/>
              </a:rPr>
              <a:t>call center</a:t>
            </a:r>
            <a:r>
              <a:rPr lang="en-US" dirty="0"/>
              <a:t> per minute. </a:t>
            </a:r>
          </a:p>
          <a:p>
            <a:pPr eaLnBrk="1" hangingPunct="1"/>
            <a:r>
              <a:rPr lang="en-US" dirty="0"/>
              <a:t>The number of times a </a:t>
            </a:r>
            <a:r>
              <a:rPr lang="en-US" dirty="0">
                <a:hlinkClick r:id="rId4" tooltip="Web server"/>
              </a:rPr>
              <a:t>web server</a:t>
            </a:r>
            <a:r>
              <a:rPr lang="en-US" dirty="0"/>
              <a:t> is accessed per minute. </a:t>
            </a:r>
          </a:p>
        </p:txBody>
      </p:sp>
    </p:spTree>
    <p:extLst>
      <p:ext uri="{BB962C8B-B14F-4D97-AF65-F5344CB8AC3E}">
        <p14:creationId xmlns:p14="http://schemas.microsoft.com/office/powerpoint/2010/main" val="500898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fld id="{E40F6375-BB7B-CC41-B0BC-3C73DC875899}" type="slidenum">
              <a:rPr lang="en-US" sz="1200"/>
              <a:pPr/>
              <a:t>10</a:t>
            </a:fld>
            <a:endParaRPr lang="en-US" sz="1200" dirty="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447398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be found in Rasch (1960/1980) p. xvii-xviii</a:t>
            </a:r>
          </a:p>
        </p:txBody>
      </p:sp>
      <p:sp>
        <p:nvSpPr>
          <p:cNvPr id="4" name="Slide Number Placeholder 3"/>
          <p:cNvSpPr>
            <a:spLocks noGrp="1"/>
          </p:cNvSpPr>
          <p:nvPr>
            <p:ph type="sldNum" sz="quarter" idx="5"/>
          </p:nvPr>
        </p:nvSpPr>
        <p:spPr/>
        <p:txBody>
          <a:bodyPr/>
          <a:lstStyle/>
          <a:p>
            <a:fld id="{C0B277B7-CEC2-2143-BEB3-6E29304F6BDB}" type="slidenum">
              <a:rPr lang="en-US"/>
              <a:t>12</a:t>
            </a:fld>
            <a:endParaRPr lang="en-US" dirty="0"/>
          </a:p>
        </p:txBody>
      </p:sp>
    </p:spTree>
    <p:extLst>
      <p:ext uri="{BB962C8B-B14F-4D97-AF65-F5344CB8AC3E}">
        <p14:creationId xmlns:p14="http://schemas.microsoft.com/office/powerpoint/2010/main" val="867390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8C39DAB-4FAC-5F44-9EB8-BA6413071CB0}" type="slidenum">
              <a:rPr lang="en-US" sz="1200"/>
              <a:pPr eaLnBrk="1" hangingPunct="1"/>
              <a:t>16</a:t>
            </a:fld>
            <a:endParaRPr lang="en-US" sz="1200" dirty="0"/>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3707232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E1E5D90-3297-8447-8399-36276D71733A}" type="slidenum">
              <a:rPr lang="en-US" sz="1200"/>
              <a:pPr eaLnBrk="1" hangingPunct="1"/>
              <a:t>19</a:t>
            </a:fld>
            <a:endParaRPr lang="en-US" sz="1200" dirty="0"/>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3234866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dashed line at a logit value of 1 is there to illustrate the idea that if you want to maintain the same log odds of a correct response as theta goes from low to high, then you need to move to a new blue line (representing a new item). So the interval of the scale can be defined by a reference distance between items that becomes the unit in which tradeoffs between ability and difficulty are understood. Notice that the distance from theta = -1 to 0 is defined by moving down two items (blue lines) to maintain the same logit. That’s also true if we go from 0 to 1!</a:t>
            </a:r>
          </a:p>
        </p:txBody>
      </p:sp>
      <p:sp>
        <p:nvSpPr>
          <p:cNvPr id="4" name="Slide Number Placeholder 3"/>
          <p:cNvSpPr>
            <a:spLocks noGrp="1"/>
          </p:cNvSpPr>
          <p:nvPr>
            <p:ph type="sldNum" sz="quarter" idx="5"/>
          </p:nvPr>
        </p:nvSpPr>
        <p:spPr/>
        <p:txBody>
          <a:bodyPr/>
          <a:lstStyle/>
          <a:p>
            <a:fld id="{C0B277B7-CEC2-2143-BEB3-6E29304F6BDB}" type="slidenum">
              <a:rPr lang="en-US"/>
              <a:t>34</a:t>
            </a:fld>
            <a:endParaRPr lang="en-US" dirty="0"/>
          </a:p>
        </p:txBody>
      </p:sp>
    </p:spTree>
    <p:extLst>
      <p:ext uri="{BB962C8B-B14F-4D97-AF65-F5344CB8AC3E}">
        <p14:creationId xmlns:p14="http://schemas.microsoft.com/office/powerpoint/2010/main" val="3708623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a:t>
            </a:r>
            <a:r>
              <a:rPr lang="en-US" baseline="0" dirty="0"/>
              <a:t> student we could say that an gain of .5 logits is equivalent to the growth that would be needed to go from a key grade 4 reference item to a key grade 5 reference item.</a:t>
            </a:r>
            <a:endParaRPr lang="en-US" dirty="0"/>
          </a:p>
        </p:txBody>
      </p:sp>
      <p:sp>
        <p:nvSpPr>
          <p:cNvPr id="4" name="Slide Number Placeholder 3"/>
          <p:cNvSpPr>
            <a:spLocks noGrp="1"/>
          </p:cNvSpPr>
          <p:nvPr>
            <p:ph type="sldNum" sz="quarter" idx="10"/>
          </p:nvPr>
        </p:nvSpPr>
        <p:spPr/>
        <p:txBody>
          <a:bodyPr/>
          <a:lstStyle/>
          <a:p>
            <a:fld id="{22D92052-E2F1-F74B-9DD2-711C828319D6}" type="slidenum">
              <a:rPr lang="en-US" smtClean="0"/>
              <a:t>37</a:t>
            </a:fld>
            <a:endParaRPr lang="en-US" dirty="0"/>
          </a:p>
        </p:txBody>
      </p:sp>
    </p:spTree>
    <p:extLst>
      <p:ext uri="{BB962C8B-B14F-4D97-AF65-F5344CB8AC3E}">
        <p14:creationId xmlns:p14="http://schemas.microsoft.com/office/powerpoint/2010/main" val="3435052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A7F732A-8F57-4C46-BCAF-A71A29E79C2A}" type="slidenum">
              <a:rPr lang="en-US" sz="1100"/>
              <a:pPr eaLnBrk="1" hangingPunct="1"/>
              <a:t>46</a:t>
            </a:fld>
            <a:endParaRPr lang="en-US" sz="1100" dirty="0"/>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1084864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0C0393A-77CF-7E4F-8A56-63ABEB11ED51}" type="slidenum">
              <a:rPr lang="en-US" sz="1100"/>
              <a:pPr eaLnBrk="1" hangingPunct="1"/>
              <a:t>47</a:t>
            </a:fld>
            <a:endParaRPr lang="en-US" sz="1100" dirty="0"/>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3517259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65451AD-41D9-C841-BCAA-82B726972BE2}" type="slidenum">
              <a:rPr lang="en-US" sz="1100"/>
              <a:pPr eaLnBrk="1" hangingPunct="1"/>
              <a:t>48</a:t>
            </a:fld>
            <a:endParaRPr lang="en-US" sz="1100" dirty="0"/>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4025736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706E371-822B-8341-8CA0-5F70E154A8E1}" type="slidenum">
              <a:rPr lang="en-US" sz="1100"/>
              <a:pPr eaLnBrk="1" hangingPunct="1"/>
              <a:t>49</a:t>
            </a:fld>
            <a:endParaRPr lang="en-US" sz="1100" dirty="0"/>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1007160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57206AF-40E3-B744-9A0F-64DDA75F6F44}" type="slidenum">
              <a:rPr lang="en-US" sz="1100"/>
              <a:pPr eaLnBrk="1" hangingPunct="1"/>
              <a:t>50</a:t>
            </a:fld>
            <a:endParaRPr lang="en-US" sz="1100" dirty="0"/>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1837152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749E319-DF19-A94D-A0CA-992E9411EBD4}" type="slidenum">
              <a:rPr lang="en-US" sz="1100"/>
              <a:pPr eaLnBrk="1" hangingPunct="1"/>
              <a:t>51</a:t>
            </a:fld>
            <a:endParaRPr lang="en-US" sz="1100" dirty="0"/>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215723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D86171F-8794-9941-80EF-7351DB2BEF2A}" type="slidenum">
              <a:rPr lang="en-US" sz="1100"/>
              <a:pPr eaLnBrk="1" hangingPunct="1"/>
              <a:t>52</a:t>
            </a:fld>
            <a:endParaRPr lang="en-US" sz="1100" dirty="0"/>
          </a:p>
        </p:txBody>
      </p:sp>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3201594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2C59-7366-B042-A0C4-DF8CE31A4F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A3EDDE-17AE-3E44-A065-86462D2EB7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30101F-DF54-304D-B16B-16CF84979827}"/>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5" name="Footer Placeholder 4">
            <a:extLst>
              <a:ext uri="{FF2B5EF4-FFF2-40B4-BE49-F238E27FC236}">
                <a16:creationId xmlns:a16="http://schemas.microsoft.com/office/drawing/2014/main" id="{568AB7C8-1E08-664A-B937-4361E6276E4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66299D4-B608-784D-925D-FA728300BD26}"/>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2081733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84509-B1EC-824B-8043-B416D1910D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16FC03-9FEA-A14F-A2DB-92119D925B9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72727C-A974-ED43-80CD-6B97C6BABC0A}"/>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5" name="Footer Placeholder 4">
            <a:extLst>
              <a:ext uri="{FF2B5EF4-FFF2-40B4-BE49-F238E27FC236}">
                <a16:creationId xmlns:a16="http://schemas.microsoft.com/office/drawing/2014/main" id="{F4C3FE61-DA9E-FC4A-9B80-40CC6E6264A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A94351-4E4C-734F-96D3-ED25570E2D56}"/>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178928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823D-BA5E-8F4B-8F7D-0FBCE77522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4F3491-5761-A941-ABEF-BF1506A1DB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50A7917-899A-CA4E-A50D-E2D81BF81A5F}"/>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5" name="Footer Placeholder 4">
            <a:extLst>
              <a:ext uri="{FF2B5EF4-FFF2-40B4-BE49-F238E27FC236}">
                <a16:creationId xmlns:a16="http://schemas.microsoft.com/office/drawing/2014/main" id="{BAF34798-3BC3-D546-AE72-3032AF6501E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320FF9-1D47-4C47-BE8A-D3A3FBEEF264}"/>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247247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E1B4B-A2D9-BB43-9A67-2386D86304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C0DE96-5EBF-6640-880F-310F906B0C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40359F-71D5-D645-A234-3DA628D6388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D9150B-F668-464A-95D5-687178BC7AE4}"/>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6" name="Footer Placeholder 5">
            <a:extLst>
              <a:ext uri="{FF2B5EF4-FFF2-40B4-BE49-F238E27FC236}">
                <a16:creationId xmlns:a16="http://schemas.microsoft.com/office/drawing/2014/main" id="{DC97758A-9484-774A-95C6-1E66B250BD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A086FAC-66C6-4346-865C-AA75B1993A5C}"/>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59478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C12FD-47DC-0647-AF71-F30BF2871B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35DFF6-65D9-754C-8455-97C3A4DAB3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50ACE56-DC8D-B941-8F3C-9467E335215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15FC28-7540-1140-830E-2F4D1D227E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BF84816-B0E7-514E-8AA6-D876A6757C0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C0AC56-DF42-EF4C-B431-079E035F027F}"/>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8" name="Footer Placeholder 7">
            <a:extLst>
              <a:ext uri="{FF2B5EF4-FFF2-40B4-BE49-F238E27FC236}">
                <a16:creationId xmlns:a16="http://schemas.microsoft.com/office/drawing/2014/main" id="{1F80F2DA-51BE-CF45-BD04-CBB9BB53676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93426F-0A42-2543-90B3-182EADE051B1}"/>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953173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C37EE-CE6D-8C49-B235-5D1BCBF2A8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F0137E-D1ED-634D-A75E-0776A4659F28}"/>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4" name="Footer Placeholder 3">
            <a:extLst>
              <a:ext uri="{FF2B5EF4-FFF2-40B4-BE49-F238E27FC236}">
                <a16:creationId xmlns:a16="http://schemas.microsoft.com/office/drawing/2014/main" id="{1D92B044-4964-1D44-84EE-A35CD920274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0AEC090-440C-684F-9A0B-B75B1B5E34BF}"/>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86388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1F0AE9-E04C-0C45-A6B9-65E16A70400A}"/>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3" name="Footer Placeholder 2">
            <a:extLst>
              <a:ext uri="{FF2B5EF4-FFF2-40B4-BE49-F238E27FC236}">
                <a16:creationId xmlns:a16="http://schemas.microsoft.com/office/drawing/2014/main" id="{8C646C45-C200-5147-9067-093495437D9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00FE67-5ED8-5D43-B70A-28066A91E2BB}"/>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152168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98A34-6433-B543-8AEC-9B072D7C5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A312B4-C103-8C44-873D-16C2EC0FAB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643579-090E-C14C-9BD0-4C37099E96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1BD8D1-7537-5D42-BF10-84A445BE278A}"/>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6" name="Footer Placeholder 5">
            <a:extLst>
              <a:ext uri="{FF2B5EF4-FFF2-40B4-BE49-F238E27FC236}">
                <a16:creationId xmlns:a16="http://schemas.microsoft.com/office/drawing/2014/main" id="{3408C4A8-6DF2-ED41-984C-63582A66F7D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4CF3DE9-B391-964D-91A8-5CDA2DE58300}"/>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1319504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7395C-95C2-C946-BE2F-42EBC34BB3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50FAF8-7362-C74C-8670-1F84ED19FE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751409D-D05B-0D4F-BE58-DE8EF110F3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4E0B9B2-1321-DB41-BE81-B3B752E03FD1}"/>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6" name="Footer Placeholder 5">
            <a:extLst>
              <a:ext uri="{FF2B5EF4-FFF2-40B4-BE49-F238E27FC236}">
                <a16:creationId xmlns:a16="http://schemas.microsoft.com/office/drawing/2014/main" id="{B43B4CDC-EC87-7E44-A5DA-7428A3536F8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1816A2B-FCFC-E243-9881-37843865D412}"/>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1012755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6432-7539-9D4E-987D-7D82C94B91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8EDDDC-594D-4D4F-AE90-3411E7807F1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EEDC7E-14DD-C84C-BFBF-14ABE38D7452}"/>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5" name="Footer Placeholder 4">
            <a:extLst>
              <a:ext uri="{FF2B5EF4-FFF2-40B4-BE49-F238E27FC236}">
                <a16:creationId xmlns:a16="http://schemas.microsoft.com/office/drawing/2014/main" id="{8AB4A0DA-4F6A-964B-BDF0-69F8CBA1133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C09F000-5945-FD42-88B9-380D12F215E0}"/>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121437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B301B0-D618-DC42-BACB-982DAD252A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9C2E47-8338-5F4A-8E14-D024A6BA96E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0A944-FCB5-874A-BD2A-EF5EEB9D4FD1}"/>
              </a:ext>
            </a:extLst>
          </p:cNvPr>
          <p:cNvSpPr>
            <a:spLocks noGrp="1"/>
          </p:cNvSpPr>
          <p:nvPr>
            <p:ph type="dt" sz="half" idx="10"/>
          </p:nvPr>
        </p:nvSpPr>
        <p:spPr/>
        <p:txBody>
          <a:bodyPr/>
          <a:lstStyle/>
          <a:p>
            <a:fld id="{5FC603A7-3063-8B4A-BFBC-4C886C743C73}" type="datetimeFigureOut">
              <a:rPr lang="en-US"/>
              <a:t>7/29/24</a:t>
            </a:fld>
            <a:endParaRPr lang="en-US" dirty="0"/>
          </a:p>
        </p:txBody>
      </p:sp>
      <p:sp>
        <p:nvSpPr>
          <p:cNvPr id="5" name="Footer Placeholder 4">
            <a:extLst>
              <a:ext uri="{FF2B5EF4-FFF2-40B4-BE49-F238E27FC236}">
                <a16:creationId xmlns:a16="http://schemas.microsoft.com/office/drawing/2014/main" id="{25E8C899-BA3D-E24A-95D5-13227C69C70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10C0714-7EE5-CF4E-8E05-555610618128}"/>
              </a:ext>
            </a:extLst>
          </p:cNvPr>
          <p:cNvSpPr>
            <a:spLocks noGrp="1"/>
          </p:cNvSpPr>
          <p:nvPr>
            <p:ph type="sldNum" sz="quarter" idx="12"/>
          </p:nvPr>
        </p:nvSpPr>
        <p:spPr/>
        <p:txBody>
          <a:bodyPr/>
          <a:lstStyle/>
          <a:p>
            <a:fld id="{4C36B586-5817-4D47-BDBD-40DC7A7DA6AE}" type="slidenum">
              <a:rPr/>
              <a:t>‹#›</a:t>
            </a:fld>
            <a:endParaRPr lang="en-US" dirty="0"/>
          </a:p>
        </p:txBody>
      </p:sp>
    </p:spTree>
    <p:extLst>
      <p:ext uri="{BB962C8B-B14F-4D97-AF65-F5344CB8AC3E}">
        <p14:creationId xmlns:p14="http://schemas.microsoft.com/office/powerpoint/2010/main" val="3159491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7C79904-F85A-AB4E-BD36-ADD7E370FDEB}" type="datetime1">
              <a:rPr lang="en-US" smtClean="0"/>
              <a:t>7/29/24</a:t>
            </a:fld>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3BAF5FF4-E841-4E4D-8CC2-C8829F629F00}" type="slidenum">
              <a:rPr lang="en-US"/>
              <a:pPr>
                <a:defRPr/>
              </a:pPr>
              <a:t>‹#›</a:t>
            </a:fld>
            <a:endParaRPr lang="en-US" dirty="0"/>
          </a:p>
        </p:txBody>
      </p:sp>
    </p:spTree>
    <p:extLst>
      <p:ext uri="{BB962C8B-B14F-4D97-AF65-F5344CB8AC3E}">
        <p14:creationId xmlns:p14="http://schemas.microsoft.com/office/powerpoint/2010/main" val="3447759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p:txBody>
          <a:bodyPr/>
          <a:lstStyle>
            <a:lvl1pPr>
              <a:defRPr/>
            </a:lvl1pPr>
          </a:lstStyle>
          <a:p>
            <a:pPr>
              <a:defRPr/>
            </a:pPr>
            <a:fld id="{71765A7C-6095-DA43-A9A4-AED750ED83C7}" type="datetime1">
              <a:rPr lang="en-US" smtClean="0"/>
              <a:t>7/29/24</a:t>
            </a:fld>
            <a:endParaRPr lang="en-US" dirty="0"/>
          </a:p>
        </p:txBody>
      </p:sp>
      <p:sp>
        <p:nvSpPr>
          <p:cNvPr id="4" name="Rectangle 5"/>
          <p:cNvSpPr>
            <a:spLocks noGrp="1" noChangeArrowheads="1"/>
          </p:cNvSpPr>
          <p:nvPr>
            <p:ph type="ftr" sz="quarter" idx="11"/>
          </p:nvPr>
        </p:nvSpPr>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p:txBody>
          <a:bodyPr/>
          <a:lstStyle>
            <a:lvl1pPr>
              <a:defRPr/>
            </a:lvl1pPr>
          </a:lstStyle>
          <a:p>
            <a:pPr>
              <a:defRPr/>
            </a:pPr>
            <a:fld id="{FE7381A9-E8B6-A44C-AE9E-C991E4BD0EE9}" type="slidenum">
              <a:rPr lang="en-US"/>
              <a:pPr>
                <a:defRPr/>
              </a:pPr>
              <a:t>‹#›</a:t>
            </a:fld>
            <a:endParaRPr lang="en-US" dirty="0"/>
          </a:p>
        </p:txBody>
      </p:sp>
    </p:spTree>
    <p:extLst>
      <p:ext uri="{BB962C8B-B14F-4D97-AF65-F5344CB8AC3E}">
        <p14:creationId xmlns:p14="http://schemas.microsoft.com/office/powerpoint/2010/main" val="1386189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BA5BB7-B400-A442-8DF2-8D87E191A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D7DE43-650B-4342-B2F0-02D0608C88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A9904-A1E8-E042-AB1F-7144750675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C603A7-3063-8B4A-BFBC-4C886C743C73}" type="datetimeFigureOut">
              <a:rPr lang="en-US"/>
              <a:t>7/29/24</a:t>
            </a:fld>
            <a:endParaRPr lang="en-US" dirty="0"/>
          </a:p>
        </p:txBody>
      </p:sp>
      <p:sp>
        <p:nvSpPr>
          <p:cNvPr id="5" name="Footer Placeholder 4">
            <a:extLst>
              <a:ext uri="{FF2B5EF4-FFF2-40B4-BE49-F238E27FC236}">
                <a16:creationId xmlns:a16="http://schemas.microsoft.com/office/drawing/2014/main" id="{C1CBDB02-4716-F94C-9E90-13D3A995FE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86BDFD-E99F-B840-B9EE-5CD1D969F3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36B586-5817-4D47-BDBD-40DC7A7DA6AE}" type="slidenum">
              <a:rPr/>
              <a:t>‹#›</a:t>
            </a:fld>
            <a:endParaRPr lang="en-US" dirty="0"/>
          </a:p>
        </p:txBody>
      </p:sp>
    </p:spTree>
    <p:extLst>
      <p:ext uri="{BB962C8B-B14F-4D97-AF65-F5344CB8AC3E}">
        <p14:creationId xmlns:p14="http://schemas.microsoft.com/office/powerpoint/2010/main" val="923119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wmf"/><Relationship Id="rId5" Type="http://schemas.openxmlformats.org/officeDocument/2006/relationships/oleObject" Target="../embeddings/oleObject5.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tiff"/><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tiff"/><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7.wmf"/><Relationship Id="rId12" Type="http://schemas.openxmlformats.org/officeDocument/2006/relationships/oleObject" Target="../embeddings/oleObject13.bin"/><Relationship Id="rId17" Type="http://schemas.openxmlformats.org/officeDocument/2006/relationships/image" Target="../media/image22.wmf"/><Relationship Id="rId2" Type="http://schemas.openxmlformats.org/officeDocument/2006/relationships/oleObject" Target="../embeddings/oleObject8.bin"/><Relationship Id="rId16" Type="http://schemas.openxmlformats.org/officeDocument/2006/relationships/oleObject" Target="../embeddings/oleObject15.bin"/><Relationship Id="rId1" Type="http://schemas.openxmlformats.org/officeDocument/2006/relationships/slideLayout" Target="../slideLayouts/slideLayout4.xml"/><Relationship Id="rId6" Type="http://schemas.openxmlformats.org/officeDocument/2006/relationships/oleObject" Target="../embeddings/oleObject10.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8.wmf"/><Relationship Id="rId14" Type="http://schemas.openxmlformats.org/officeDocument/2006/relationships/oleObject" Target="../embeddings/oleObject14.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6.wmf"/><Relationship Id="rId3" Type="http://schemas.openxmlformats.org/officeDocument/2006/relationships/image" Target="../media/image15.wmf"/><Relationship Id="rId7" Type="http://schemas.openxmlformats.org/officeDocument/2006/relationships/image" Target="../media/image23.wmf"/><Relationship Id="rId12" Type="http://schemas.openxmlformats.org/officeDocument/2006/relationships/oleObject" Target="../embeddings/oleObject21.bin"/><Relationship Id="rId17" Type="http://schemas.openxmlformats.org/officeDocument/2006/relationships/image" Target="../media/image28.wmf"/><Relationship Id="rId2" Type="http://schemas.openxmlformats.org/officeDocument/2006/relationships/oleObject" Target="../embeddings/oleObject16.bin"/><Relationship Id="rId16" Type="http://schemas.openxmlformats.org/officeDocument/2006/relationships/oleObject" Target="../embeddings/oleObject23.bin"/><Relationship Id="rId1" Type="http://schemas.openxmlformats.org/officeDocument/2006/relationships/slideLayout" Target="../slideLayouts/slideLayout4.xml"/><Relationship Id="rId6" Type="http://schemas.openxmlformats.org/officeDocument/2006/relationships/oleObject" Target="../embeddings/oleObject18.bin"/><Relationship Id="rId11" Type="http://schemas.openxmlformats.org/officeDocument/2006/relationships/image" Target="../media/image25.wmf"/><Relationship Id="rId5" Type="http://schemas.openxmlformats.org/officeDocument/2006/relationships/image" Target="../media/image16.wmf"/><Relationship Id="rId15" Type="http://schemas.openxmlformats.org/officeDocument/2006/relationships/image" Target="../media/image27.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24.wmf"/><Relationship Id="rId14" Type="http://schemas.openxmlformats.org/officeDocument/2006/relationships/oleObject" Target="../embeddings/oleObject22.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corestandards.org/Math/Content/5/NF/A/1/" TargetMode="External"/><Relationship Id="rId7" Type="http://schemas.openxmlformats.org/officeDocument/2006/relationships/image" Target="../media/image31.emf"/><Relationship Id="rId2" Type="http://schemas.openxmlformats.org/officeDocument/2006/relationships/hyperlink" Target="http://www.corestandards.org/Math/Content/4/NF/B/3/c/" TargetMode="External"/><Relationship Id="rId1" Type="http://schemas.openxmlformats.org/officeDocument/2006/relationships/slideLayout" Target="../slideLayouts/slideLayout4.xml"/><Relationship Id="rId6" Type="http://schemas.openxmlformats.org/officeDocument/2006/relationships/oleObject" Target="../embeddings/oleObject25.bin"/><Relationship Id="rId5" Type="http://schemas.openxmlformats.org/officeDocument/2006/relationships/image" Target="../media/image30.emf"/><Relationship Id="rId4" Type="http://schemas.openxmlformats.org/officeDocument/2006/relationships/oleObject" Target="../embeddings/oleObject24.bin"/></Relationships>
</file>

<file path=ppt/slides/_rels/slide3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oleObject" Target="../embeddings/oleObject27.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oleObject" Target="../embeddings/oleObject29.bin"/><Relationship Id="rId4" Type="http://schemas.openxmlformats.org/officeDocument/2006/relationships/image" Target="../media/image31.emf"/></Relationships>
</file>

<file path=ppt/slides/_rels/slide3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5.e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5" Type="http://schemas.openxmlformats.org/officeDocument/2006/relationships/image" Target="../media/image34.emf"/><Relationship Id="rId4" Type="http://schemas.openxmlformats.org/officeDocument/2006/relationships/oleObject" Target="../embeddings/oleObject3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4.xml"/><Relationship Id="rId6" Type="http://schemas.openxmlformats.org/officeDocument/2006/relationships/image" Target="../media/image100.png"/><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oleObject" Target="../embeddings/oleObject39.bin"/><Relationship Id="rId18" Type="http://schemas.openxmlformats.org/officeDocument/2006/relationships/image" Target="../media/image43.wmf"/><Relationship Id="rId3" Type="http://schemas.openxmlformats.org/officeDocument/2006/relationships/oleObject" Target="../embeddings/oleObject34.bin"/><Relationship Id="rId21" Type="http://schemas.openxmlformats.org/officeDocument/2006/relationships/oleObject" Target="../embeddings/oleObject43.bin"/><Relationship Id="rId7" Type="http://schemas.openxmlformats.org/officeDocument/2006/relationships/oleObject" Target="../embeddings/oleObject36.bin"/><Relationship Id="rId12" Type="http://schemas.openxmlformats.org/officeDocument/2006/relationships/image" Target="../media/image41.wmf"/><Relationship Id="rId17" Type="http://schemas.openxmlformats.org/officeDocument/2006/relationships/oleObject" Target="../embeddings/oleObject41.bin"/><Relationship Id="rId2" Type="http://schemas.openxmlformats.org/officeDocument/2006/relationships/notesSlide" Target="../notesSlides/notesSlide9.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slideLayout" Target="../slideLayouts/slideLayout4.xml"/><Relationship Id="rId6" Type="http://schemas.openxmlformats.org/officeDocument/2006/relationships/image" Target="../media/image38.wmf"/><Relationship Id="rId11" Type="http://schemas.openxmlformats.org/officeDocument/2006/relationships/oleObject" Target="../embeddings/oleObject38.bin"/><Relationship Id="rId24" Type="http://schemas.openxmlformats.org/officeDocument/2006/relationships/image" Target="../media/image46.wmf"/><Relationship Id="rId5" Type="http://schemas.openxmlformats.org/officeDocument/2006/relationships/oleObject" Target="../embeddings/oleObject35.bin"/><Relationship Id="rId15" Type="http://schemas.openxmlformats.org/officeDocument/2006/relationships/oleObject" Target="../embeddings/oleObject40.bin"/><Relationship Id="rId23" Type="http://schemas.openxmlformats.org/officeDocument/2006/relationships/oleObject" Target="../embeddings/oleObject44.bin"/><Relationship Id="rId10" Type="http://schemas.openxmlformats.org/officeDocument/2006/relationships/image" Target="../media/image40.wmf"/><Relationship Id="rId19" Type="http://schemas.openxmlformats.org/officeDocument/2006/relationships/oleObject" Target="../embeddings/oleObject42.bin"/><Relationship Id="rId4" Type="http://schemas.openxmlformats.org/officeDocument/2006/relationships/image" Target="../media/image37.wmf"/><Relationship Id="rId9" Type="http://schemas.openxmlformats.org/officeDocument/2006/relationships/oleObject" Target="../embeddings/oleObject37.bin"/><Relationship Id="rId14" Type="http://schemas.openxmlformats.org/officeDocument/2006/relationships/image" Target="../media/image15.wmf"/><Relationship Id="rId22" Type="http://schemas.openxmlformats.org/officeDocument/2006/relationships/image" Target="../media/image45.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38.wmf"/><Relationship Id="rId5" Type="http://schemas.openxmlformats.org/officeDocument/2006/relationships/oleObject" Target="../embeddings/oleObject46.bin"/><Relationship Id="rId4" Type="http://schemas.openxmlformats.org/officeDocument/2006/relationships/image" Target="../media/image37.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43.wmf"/><Relationship Id="rId5" Type="http://schemas.openxmlformats.org/officeDocument/2006/relationships/oleObject" Target="../embeddings/oleObject48.bin"/><Relationship Id="rId4" Type="http://schemas.openxmlformats.org/officeDocument/2006/relationships/image" Target="../media/image39.wmf"/></Relationships>
</file>

<file path=ppt/slides/_rels/slide50.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5.wmf"/><Relationship Id="rId5" Type="http://schemas.openxmlformats.org/officeDocument/2006/relationships/oleObject" Target="../embeddings/oleObject50.bin"/><Relationship Id="rId4" Type="http://schemas.openxmlformats.org/officeDocument/2006/relationships/image" Target="../media/image41.wmf"/></Relationships>
</file>

<file path=ppt/slides/_rels/slide51.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47.wmf"/><Relationship Id="rId5" Type="http://schemas.openxmlformats.org/officeDocument/2006/relationships/oleObject" Target="../embeddings/oleObject53.bin"/><Relationship Id="rId10" Type="http://schemas.openxmlformats.org/officeDocument/2006/relationships/image" Target="../media/image55.png"/><Relationship Id="rId4" Type="http://schemas.openxmlformats.org/officeDocument/2006/relationships/image" Target="../media/image15.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50.wmf"/><Relationship Id="rId5" Type="http://schemas.openxmlformats.org/officeDocument/2006/relationships/oleObject" Target="../embeddings/oleObject56.bin"/><Relationship Id="rId4" Type="http://schemas.openxmlformats.org/officeDocument/2006/relationships/image" Target="../media/image4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2676-66B1-794E-BB8B-263DE5E49364}"/>
              </a:ext>
            </a:extLst>
          </p:cNvPr>
          <p:cNvSpPr>
            <a:spLocks noGrp="1"/>
          </p:cNvSpPr>
          <p:nvPr>
            <p:ph type="ctrTitle"/>
          </p:nvPr>
        </p:nvSpPr>
        <p:spPr/>
        <p:txBody>
          <a:bodyPr/>
          <a:lstStyle/>
          <a:p>
            <a:r>
              <a:rPr lang="en-US" b="1" dirty="0"/>
              <a:t>The Rasch Model Paradigm</a:t>
            </a:r>
          </a:p>
        </p:txBody>
      </p:sp>
      <p:sp>
        <p:nvSpPr>
          <p:cNvPr id="3" name="Subtitle 2">
            <a:extLst>
              <a:ext uri="{FF2B5EF4-FFF2-40B4-BE49-F238E27FC236}">
                <a16:creationId xmlns:a16="http://schemas.microsoft.com/office/drawing/2014/main" id="{91AC79B9-E839-FB49-BCC1-658028E95111}"/>
              </a:ext>
            </a:extLst>
          </p:cNvPr>
          <p:cNvSpPr>
            <a:spLocks noGrp="1"/>
          </p:cNvSpPr>
          <p:nvPr>
            <p:ph type="subTitle" idx="1"/>
          </p:nvPr>
        </p:nvSpPr>
        <p:spPr>
          <a:xfrm>
            <a:off x="1446179" y="3903595"/>
            <a:ext cx="9144000" cy="1655762"/>
          </a:xfrm>
        </p:spPr>
        <p:txBody>
          <a:bodyPr>
            <a:normAutofit/>
          </a:bodyPr>
          <a:lstStyle/>
          <a:p>
            <a:r>
              <a:rPr lang="en-US" sz="3600" dirty="0"/>
              <a:t>Derek Briggs</a:t>
            </a:r>
          </a:p>
          <a:p>
            <a:r>
              <a:rPr lang="en-US" sz="3600" dirty="0"/>
              <a:t>EDUC 8720</a:t>
            </a:r>
          </a:p>
        </p:txBody>
      </p:sp>
    </p:spTree>
    <p:extLst>
      <p:ext uri="{BB962C8B-B14F-4D97-AF65-F5344CB8AC3E}">
        <p14:creationId xmlns:p14="http://schemas.microsoft.com/office/powerpoint/2010/main" val="4116474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FA1A3-D774-AC40-AF3D-C59B6EA85129}"/>
              </a:ext>
            </a:extLst>
          </p:cNvPr>
          <p:cNvSpPr>
            <a:spLocks noGrp="1"/>
          </p:cNvSpPr>
          <p:nvPr>
            <p:ph type="title"/>
          </p:nvPr>
        </p:nvSpPr>
        <p:spPr/>
        <p:txBody>
          <a:bodyPr/>
          <a:lstStyle/>
          <a:p>
            <a:r>
              <a:rPr lang="en-US" b="1" dirty="0"/>
              <a:t>Overview</a:t>
            </a:r>
          </a:p>
        </p:txBody>
      </p:sp>
      <p:sp>
        <p:nvSpPr>
          <p:cNvPr id="3" name="Content Placeholder 2">
            <a:extLst>
              <a:ext uri="{FF2B5EF4-FFF2-40B4-BE49-F238E27FC236}">
                <a16:creationId xmlns:a16="http://schemas.microsoft.com/office/drawing/2014/main" id="{769EA251-AB6D-6542-8858-1B6E19533167}"/>
              </a:ext>
            </a:extLst>
          </p:cNvPr>
          <p:cNvSpPr>
            <a:spLocks noGrp="1"/>
          </p:cNvSpPr>
          <p:nvPr>
            <p:ph idx="1"/>
          </p:nvPr>
        </p:nvSpPr>
        <p:spPr/>
        <p:txBody>
          <a:bodyPr/>
          <a:lstStyle/>
          <a:p>
            <a:r>
              <a:rPr lang="en-US" dirty="0"/>
              <a:t>Rasch’s motivation and derivation of the model</a:t>
            </a:r>
          </a:p>
          <a:p>
            <a:r>
              <a:rPr lang="en-US" dirty="0"/>
              <a:t>Model assumptions and properties</a:t>
            </a:r>
          </a:p>
          <a:p>
            <a:r>
              <a:rPr lang="en-US" dirty="0"/>
              <a:t>Scale Indeterminacy</a:t>
            </a:r>
          </a:p>
          <a:p>
            <a:r>
              <a:rPr lang="en-US" dirty="0"/>
              <a:t>Specific Objectivity (Activity)</a:t>
            </a:r>
          </a:p>
          <a:p>
            <a:r>
              <a:rPr lang="en-US" dirty="0"/>
              <a:t>Sense in which Rasch Model provides an interval scale</a:t>
            </a:r>
          </a:p>
          <a:p>
            <a:r>
              <a:rPr lang="en-US" dirty="0"/>
              <a:t>Rasch Paradigm “vs.” Lord-Birnbaum Paradigm</a:t>
            </a:r>
          </a:p>
        </p:txBody>
      </p:sp>
    </p:spTree>
    <p:extLst>
      <p:ext uri="{BB962C8B-B14F-4D97-AF65-F5344CB8AC3E}">
        <p14:creationId xmlns:p14="http://schemas.microsoft.com/office/powerpoint/2010/main" val="3737100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41E4EF-9C61-3843-9453-FBF820AE03C5}"/>
              </a:ext>
            </a:extLst>
          </p:cNvPr>
          <p:cNvSpPr txBox="1"/>
          <p:nvPr/>
        </p:nvSpPr>
        <p:spPr>
          <a:xfrm>
            <a:off x="2563586" y="2906485"/>
            <a:ext cx="8850085" cy="707886"/>
          </a:xfrm>
          <a:prstGeom prst="rect">
            <a:avLst/>
          </a:prstGeom>
          <a:noFill/>
        </p:spPr>
        <p:txBody>
          <a:bodyPr wrap="square" rtlCol="0">
            <a:spAutoFit/>
          </a:bodyPr>
          <a:lstStyle/>
          <a:p>
            <a:r>
              <a:rPr lang="en-US" sz="4000" b="1" dirty="0"/>
              <a:t>Rasch’s Derivation of the Model</a:t>
            </a:r>
          </a:p>
        </p:txBody>
      </p:sp>
    </p:spTree>
    <p:extLst>
      <p:ext uri="{BB962C8B-B14F-4D97-AF65-F5344CB8AC3E}">
        <p14:creationId xmlns:p14="http://schemas.microsoft.com/office/powerpoint/2010/main" val="101181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29631-EE45-9142-8EEC-C24D57B442BA}"/>
              </a:ext>
            </a:extLst>
          </p:cNvPr>
          <p:cNvSpPr>
            <a:spLocks noGrp="1"/>
          </p:cNvSpPr>
          <p:nvPr>
            <p:ph type="title"/>
          </p:nvPr>
        </p:nvSpPr>
        <p:spPr/>
        <p:txBody>
          <a:bodyPr/>
          <a:lstStyle/>
          <a:p>
            <a:r>
              <a:rPr lang="en-US" b="1" dirty="0"/>
              <a:t>An analogy to measurement in the physical sciences</a:t>
            </a:r>
          </a:p>
        </p:txBody>
      </p:sp>
      <p:sp>
        <p:nvSpPr>
          <p:cNvPr id="3" name="Content Placeholder 2">
            <a:extLst>
              <a:ext uri="{FF2B5EF4-FFF2-40B4-BE49-F238E27FC236}">
                <a16:creationId xmlns:a16="http://schemas.microsoft.com/office/drawing/2014/main" id="{6C9627B5-0939-9A42-A7B6-A29FAF4F4C15}"/>
              </a:ext>
            </a:extLst>
          </p:cNvPr>
          <p:cNvSpPr>
            <a:spLocks noGrp="1"/>
          </p:cNvSpPr>
          <p:nvPr>
            <p:ph idx="1"/>
          </p:nvPr>
        </p:nvSpPr>
        <p:spPr/>
        <p:txBody>
          <a:bodyPr>
            <a:normAutofit fontScale="92500"/>
          </a:bodyPr>
          <a:lstStyle/>
          <a:p>
            <a:pPr marL="0" indent="0">
              <a:buNone/>
            </a:pPr>
            <a:r>
              <a:rPr lang="en-US" dirty="0"/>
              <a:t>David Andrich on the Rasch Model paradigm:</a:t>
            </a:r>
          </a:p>
          <a:p>
            <a:pPr marL="0" indent="0">
              <a:buNone/>
            </a:pPr>
            <a:endParaRPr lang="en-US" dirty="0"/>
          </a:p>
          <a:p>
            <a:pPr marL="0" indent="0">
              <a:buNone/>
            </a:pPr>
            <a:r>
              <a:rPr lang="en-US" dirty="0"/>
              <a:t>“It is used when the measurement of the kind used in the physical sciences would be desirable, but no such relevant measuring instrument exists. The prototype of measurement is the partitioning of a continuum, abstracted as the real number line, by equidistant thresholds sufficiently fine that their own width can be ignored, and the location of an entity or object on this line with the use of the instrument. The location of the entity or object, typically called the measurement, is the number of thresholds exceeded by the object from the origin, and is defined in the unit of the common distance between the thresholds.” (Andrich, 1995, 101)</a:t>
            </a:r>
          </a:p>
        </p:txBody>
      </p:sp>
    </p:spTree>
    <p:extLst>
      <p:ext uri="{BB962C8B-B14F-4D97-AF65-F5344CB8AC3E}">
        <p14:creationId xmlns:p14="http://schemas.microsoft.com/office/powerpoint/2010/main" val="3356053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Georg Rasch</a:t>
            </a:r>
          </a:p>
        </p:txBody>
      </p:sp>
      <p:sp>
        <p:nvSpPr>
          <p:cNvPr id="3" name="Content Placeholder 2"/>
          <p:cNvSpPr>
            <a:spLocks noGrp="1"/>
          </p:cNvSpPr>
          <p:nvPr>
            <p:ph idx="1"/>
          </p:nvPr>
        </p:nvSpPr>
        <p:spPr/>
        <p:txBody>
          <a:bodyPr/>
          <a:lstStyle/>
          <a:p>
            <a:pPr marL="0" indent="0">
              <a:buNone/>
            </a:pPr>
            <a:r>
              <a:rPr lang="en-US" i="1" dirty="0"/>
              <a:t>Probabilistic Models for Some Intelligence and Attainment Tests </a:t>
            </a:r>
            <a:r>
              <a:rPr lang="en-US" dirty="0"/>
              <a:t>(1960, pp. 4-5)</a:t>
            </a:r>
          </a:p>
          <a:p>
            <a:endParaRPr lang="en-US" dirty="0"/>
          </a:p>
        </p:txBody>
      </p:sp>
      <p:pic>
        <p:nvPicPr>
          <p:cNvPr id="5" name="Picture 4" descr="rasch.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238" y="2747963"/>
            <a:ext cx="2374900" cy="3429000"/>
          </a:xfrm>
          <a:prstGeom prst="rect">
            <a:avLst/>
          </a:prstGeom>
        </p:spPr>
      </p:pic>
      <p:sp>
        <p:nvSpPr>
          <p:cNvPr id="4" name="Slide Number Placeholder 3"/>
          <p:cNvSpPr>
            <a:spLocks noGrp="1"/>
          </p:cNvSpPr>
          <p:nvPr>
            <p:ph type="sldNum" sz="quarter" idx="12"/>
          </p:nvPr>
        </p:nvSpPr>
        <p:spPr/>
        <p:txBody>
          <a:bodyPr/>
          <a:lstStyle/>
          <a:p>
            <a:fld id="{B45EA367-76FE-D949-98D2-428E246BFD0D}" type="slidenum">
              <a:rPr lang="uk-UA" smtClean="0"/>
              <a:t>5</a:t>
            </a:fld>
            <a:endParaRPr lang="uk-UA" dirty="0"/>
          </a:p>
        </p:txBody>
      </p:sp>
    </p:spTree>
    <p:extLst>
      <p:ext uri="{BB962C8B-B14F-4D97-AF65-F5344CB8AC3E}">
        <p14:creationId xmlns:p14="http://schemas.microsoft.com/office/powerpoint/2010/main" val="4285847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t>Rasch’s Motivating Context</a:t>
            </a:r>
          </a:p>
        </p:txBody>
      </p:sp>
      <p:sp>
        <p:nvSpPr>
          <p:cNvPr id="3" name="Content Placeholder 2"/>
          <p:cNvSpPr>
            <a:spLocks noGrp="1"/>
          </p:cNvSpPr>
          <p:nvPr>
            <p:ph idx="1"/>
          </p:nvPr>
        </p:nvSpPr>
        <p:spPr/>
        <p:txBody>
          <a:bodyPr>
            <a:normAutofit lnSpcReduction="10000"/>
          </a:bodyPr>
          <a:lstStyle/>
          <a:p>
            <a:r>
              <a:rPr lang="en-US" dirty="0"/>
              <a:t>A group of students (struggling academically) in grades 3-7 attend “special reading classes”.</a:t>
            </a:r>
          </a:p>
          <a:p>
            <a:r>
              <a:rPr lang="en-US" dirty="0"/>
              <a:t>We wish to evaluate “the benefit these pupils may have drawn from this sort of education.”</a:t>
            </a:r>
          </a:p>
          <a:p>
            <a:r>
              <a:rPr lang="en-US" dirty="0"/>
              <a:t>Students are given reading tests “before and after the transfer to reading classes.”</a:t>
            </a:r>
          </a:p>
          <a:p>
            <a:r>
              <a:rPr lang="en-US" dirty="0"/>
              <a:t>“Now, of course the tests used changed from one occasion to another, but nonetheless our aim was to evaluate the progress of each pupil.”</a:t>
            </a:r>
          </a:p>
          <a:p>
            <a:r>
              <a:rPr lang="en-US" dirty="0"/>
              <a:t>What do we do?</a:t>
            </a:r>
          </a:p>
          <a:p>
            <a:endParaRPr lang="en-US" dirty="0"/>
          </a:p>
        </p:txBody>
      </p:sp>
      <p:sp>
        <p:nvSpPr>
          <p:cNvPr id="4" name="Slide Number Placeholder 3"/>
          <p:cNvSpPr>
            <a:spLocks noGrp="1"/>
          </p:cNvSpPr>
          <p:nvPr>
            <p:ph type="sldNum" sz="quarter" idx="12"/>
          </p:nvPr>
        </p:nvSpPr>
        <p:spPr/>
        <p:txBody>
          <a:bodyPr/>
          <a:lstStyle/>
          <a:p>
            <a:fld id="{B45EA367-76FE-D949-98D2-428E246BFD0D}" type="slidenum">
              <a:rPr lang="uk-UA" smtClean="0"/>
              <a:t>6</a:t>
            </a:fld>
            <a:endParaRPr lang="uk-UA" dirty="0"/>
          </a:p>
        </p:txBody>
      </p:sp>
    </p:spTree>
    <p:extLst>
      <p:ext uri="{BB962C8B-B14F-4D97-AF65-F5344CB8AC3E}">
        <p14:creationId xmlns:p14="http://schemas.microsoft.com/office/powerpoint/2010/main" val="1601934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Design</a:t>
            </a:r>
          </a:p>
        </p:txBody>
      </p:sp>
      <p:graphicFrame>
        <p:nvGraphicFramePr>
          <p:cNvPr id="4" name="Table 3"/>
          <p:cNvGraphicFramePr>
            <a:graphicFrameLocks noGrp="1"/>
          </p:cNvGraphicFramePr>
          <p:nvPr>
            <p:extLst>
              <p:ext uri="{D42A27DB-BD31-4B8C-83A1-F6EECF244321}">
                <p14:modId xmlns:p14="http://schemas.microsoft.com/office/powerpoint/2010/main" val="1688916471"/>
              </p:ext>
            </p:extLst>
          </p:nvPr>
        </p:nvGraphicFramePr>
        <p:xfrm>
          <a:off x="1118327" y="2220074"/>
          <a:ext cx="6612822" cy="3303860"/>
        </p:xfrm>
        <a:graphic>
          <a:graphicData uri="http://schemas.openxmlformats.org/drawingml/2006/table">
            <a:tbl>
              <a:tblPr firstRow="1" bandRow="1">
                <a:tableStyleId>{2D5ABB26-0587-4C30-8999-92F81FD0307C}</a:tableStyleId>
              </a:tblPr>
              <a:tblGrid>
                <a:gridCol w="1102137">
                  <a:extLst>
                    <a:ext uri="{9D8B030D-6E8A-4147-A177-3AD203B41FA5}">
                      <a16:colId xmlns:a16="http://schemas.microsoft.com/office/drawing/2014/main" val="20000"/>
                    </a:ext>
                  </a:extLst>
                </a:gridCol>
                <a:gridCol w="1102137">
                  <a:extLst>
                    <a:ext uri="{9D8B030D-6E8A-4147-A177-3AD203B41FA5}">
                      <a16:colId xmlns:a16="http://schemas.microsoft.com/office/drawing/2014/main" val="20001"/>
                    </a:ext>
                  </a:extLst>
                </a:gridCol>
                <a:gridCol w="1102137">
                  <a:extLst>
                    <a:ext uri="{9D8B030D-6E8A-4147-A177-3AD203B41FA5}">
                      <a16:colId xmlns:a16="http://schemas.microsoft.com/office/drawing/2014/main" val="20002"/>
                    </a:ext>
                  </a:extLst>
                </a:gridCol>
                <a:gridCol w="1102137">
                  <a:extLst>
                    <a:ext uri="{9D8B030D-6E8A-4147-A177-3AD203B41FA5}">
                      <a16:colId xmlns:a16="http://schemas.microsoft.com/office/drawing/2014/main" val="20003"/>
                    </a:ext>
                  </a:extLst>
                </a:gridCol>
                <a:gridCol w="1102137">
                  <a:extLst>
                    <a:ext uri="{9D8B030D-6E8A-4147-A177-3AD203B41FA5}">
                      <a16:colId xmlns:a16="http://schemas.microsoft.com/office/drawing/2014/main" val="20004"/>
                    </a:ext>
                  </a:extLst>
                </a:gridCol>
                <a:gridCol w="1102137">
                  <a:extLst>
                    <a:ext uri="{9D8B030D-6E8A-4147-A177-3AD203B41FA5}">
                      <a16:colId xmlns:a16="http://schemas.microsoft.com/office/drawing/2014/main" val="20005"/>
                    </a:ext>
                  </a:extLst>
                </a:gridCol>
              </a:tblGrid>
              <a:tr h="471980">
                <a:tc rowSpan="2">
                  <a:txBody>
                    <a:bodyPr/>
                    <a:lstStyle/>
                    <a:p>
                      <a:pPr algn="ctr"/>
                      <a:r>
                        <a:rPr lang="en-US" sz="2400" dirty="0"/>
                        <a:t>Test</a:t>
                      </a:r>
                    </a:p>
                  </a:txBody>
                  <a:tcPr anchor="ct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gridSpan="5">
                  <a:txBody>
                    <a:bodyPr/>
                    <a:lstStyle/>
                    <a:p>
                      <a:pPr algn="ctr"/>
                      <a:r>
                        <a:rPr lang="en-US" sz="2400" dirty="0"/>
                        <a:t>Grade</a:t>
                      </a:r>
                    </a:p>
                  </a:txBody>
                  <a:tcPr>
                    <a:lnT w="12700" cap="flat" cmpd="sng" algn="ctr">
                      <a:solidFill>
                        <a:scrgbClr r="0" g="0" b="0"/>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1980">
                <a:tc vMerge="1">
                  <a:txBody>
                    <a:bodyPr/>
                    <a:lstStyle/>
                    <a:p>
                      <a:endParaRPr lang="en-US"/>
                    </a:p>
                  </a:txBody>
                  <a:tcPr/>
                </a:tc>
                <a:tc>
                  <a:txBody>
                    <a:bodyPr/>
                    <a:lstStyle/>
                    <a:p>
                      <a:pPr algn="ctr"/>
                      <a:r>
                        <a:rPr lang="en-US" sz="2400" dirty="0"/>
                        <a:t>3</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4</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5</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6</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7</a:t>
                      </a:r>
                    </a:p>
                  </a:txBody>
                  <a:tcP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471980">
                <a:tc>
                  <a:txBody>
                    <a:bodyPr/>
                    <a:lstStyle/>
                    <a:p>
                      <a:pPr algn="ctr"/>
                      <a:r>
                        <a:rPr lang="en-US" sz="2400" dirty="0"/>
                        <a:t>1</a:t>
                      </a:r>
                    </a:p>
                  </a:txBody>
                  <a:tcPr>
                    <a:lnT w="12700" cap="flat" cmpd="sng" algn="ctr">
                      <a:solidFill>
                        <a:scrgbClr r="0" g="0" b="0"/>
                      </a:solidFill>
                      <a:prstDash val="solid"/>
                      <a:round/>
                      <a:headEnd type="none" w="med" len="med"/>
                      <a:tailEnd type="none" w="med" len="med"/>
                    </a:lnT>
                  </a:tcPr>
                </a:tc>
                <a:tc>
                  <a:txBody>
                    <a:bodyPr/>
                    <a:lstStyle/>
                    <a:p>
                      <a:pPr algn="ctr"/>
                      <a:r>
                        <a:rPr lang="en-US" sz="2400" dirty="0"/>
                        <a:t>X</a:t>
                      </a:r>
                    </a:p>
                  </a:txBody>
                  <a:tcPr>
                    <a:lnT w="12700" cap="flat" cmpd="sng" algn="ctr">
                      <a:solidFill>
                        <a:scrgbClr r="0" g="0" b="0"/>
                      </a:solidFill>
                      <a:prstDash val="solid"/>
                      <a:round/>
                      <a:headEnd type="none" w="med" len="med"/>
                      <a:tailEnd type="none" w="med" len="med"/>
                    </a:lnT>
                  </a:tcPr>
                </a:tc>
                <a:tc>
                  <a:txBody>
                    <a:bodyPr/>
                    <a:lstStyle/>
                    <a:p>
                      <a:pPr algn="ctr"/>
                      <a:endParaRPr lang="en-US" sz="2400" dirty="0"/>
                    </a:p>
                  </a:txBody>
                  <a:tcPr>
                    <a:lnT w="12700" cap="flat" cmpd="sng" algn="ctr">
                      <a:solidFill>
                        <a:scrgbClr r="0" g="0" b="0"/>
                      </a:solidFill>
                      <a:prstDash val="solid"/>
                      <a:round/>
                      <a:headEnd type="none" w="med" len="med"/>
                      <a:tailEnd type="none" w="med" len="med"/>
                    </a:lnT>
                  </a:tcPr>
                </a:tc>
                <a:tc>
                  <a:txBody>
                    <a:bodyPr/>
                    <a:lstStyle/>
                    <a:p>
                      <a:pPr algn="ctr"/>
                      <a:endParaRPr lang="en-US" sz="2400" dirty="0"/>
                    </a:p>
                  </a:txBody>
                  <a:tcPr>
                    <a:lnT w="12700" cap="flat" cmpd="sng" algn="ctr">
                      <a:solidFill>
                        <a:scrgbClr r="0" g="0" b="0"/>
                      </a:solidFill>
                      <a:prstDash val="solid"/>
                      <a:round/>
                      <a:headEnd type="none" w="med" len="med"/>
                      <a:tailEnd type="none" w="med" len="med"/>
                    </a:lnT>
                  </a:tcPr>
                </a:tc>
                <a:tc>
                  <a:txBody>
                    <a:bodyPr/>
                    <a:lstStyle/>
                    <a:p>
                      <a:pPr algn="ctr"/>
                      <a:endParaRPr lang="en-US" sz="2400" dirty="0"/>
                    </a:p>
                  </a:txBody>
                  <a:tcPr>
                    <a:lnT w="12700" cap="flat" cmpd="sng" algn="ctr">
                      <a:solidFill>
                        <a:scrgbClr r="0" g="0" b="0"/>
                      </a:solidFill>
                      <a:prstDash val="solid"/>
                      <a:round/>
                      <a:headEnd type="none" w="med" len="med"/>
                      <a:tailEnd type="none" w="med" len="med"/>
                    </a:lnT>
                  </a:tcPr>
                </a:tc>
                <a:tc>
                  <a:txBody>
                    <a:bodyPr/>
                    <a:lstStyle/>
                    <a:p>
                      <a:pPr algn="ctr"/>
                      <a:endParaRPr lang="en-US" sz="2400" dirty="0"/>
                    </a:p>
                  </a:txBody>
                  <a:tcP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2"/>
                  </a:ext>
                </a:extLst>
              </a:tr>
              <a:tr h="471980">
                <a:tc>
                  <a:txBody>
                    <a:bodyPr/>
                    <a:lstStyle/>
                    <a:p>
                      <a:pPr algn="ctr"/>
                      <a:r>
                        <a:rPr lang="en-US" sz="2400" dirty="0"/>
                        <a:t>2</a:t>
                      </a:r>
                    </a:p>
                  </a:txBody>
                  <a:tcPr/>
                </a:tc>
                <a:tc>
                  <a:txBody>
                    <a:bodyPr/>
                    <a:lstStyle/>
                    <a:p>
                      <a:pPr algn="ctr"/>
                      <a:r>
                        <a:rPr lang="en-US" sz="2400" dirty="0"/>
                        <a:t>X</a:t>
                      </a:r>
                    </a:p>
                  </a:txBody>
                  <a:tcPr/>
                </a:tc>
                <a:tc>
                  <a:txBody>
                    <a:bodyPr/>
                    <a:lstStyle/>
                    <a:p>
                      <a:pPr algn="ctr"/>
                      <a:endParaRPr lang="en-US" sz="2400" dirty="0"/>
                    </a:p>
                  </a:txBody>
                  <a:tcPr/>
                </a:tc>
                <a:tc>
                  <a:txBody>
                    <a:bodyPr/>
                    <a:lstStyle/>
                    <a:p>
                      <a:pPr algn="ctr"/>
                      <a:r>
                        <a:rPr lang="en-US" sz="2400" dirty="0"/>
                        <a:t>X</a:t>
                      </a:r>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3"/>
                  </a:ext>
                </a:extLst>
              </a:tr>
              <a:tr h="471980">
                <a:tc>
                  <a:txBody>
                    <a:bodyPr/>
                    <a:lstStyle/>
                    <a:p>
                      <a:pPr algn="ctr"/>
                      <a:r>
                        <a:rPr lang="en-US" sz="2400" dirty="0"/>
                        <a:t>3</a:t>
                      </a:r>
                    </a:p>
                  </a:txBody>
                  <a:tcPr/>
                </a:tc>
                <a:tc>
                  <a:txBody>
                    <a:bodyPr/>
                    <a:lstStyle/>
                    <a:p>
                      <a:pPr algn="ctr"/>
                      <a:endParaRPr lang="en-US" sz="2400" dirty="0"/>
                    </a:p>
                  </a:txBody>
                  <a:tcPr/>
                </a:tc>
                <a:tc>
                  <a:txBody>
                    <a:bodyPr/>
                    <a:lstStyle/>
                    <a:p>
                      <a:pPr algn="ctr"/>
                      <a:r>
                        <a:rPr lang="en-US" sz="2400" dirty="0"/>
                        <a:t>X</a:t>
                      </a:r>
                    </a:p>
                  </a:txBody>
                  <a:tcPr/>
                </a:tc>
                <a:tc>
                  <a:txBody>
                    <a:bodyPr/>
                    <a:lstStyle/>
                    <a:p>
                      <a:pPr algn="ctr"/>
                      <a:r>
                        <a:rPr lang="en-US" sz="2400" dirty="0"/>
                        <a:t>X</a:t>
                      </a:r>
                    </a:p>
                  </a:txBody>
                  <a:tcPr/>
                </a:tc>
                <a:tc>
                  <a:txBody>
                    <a:bodyPr/>
                    <a:lstStyle/>
                    <a:p>
                      <a:pPr algn="ctr"/>
                      <a:r>
                        <a:rPr lang="en-US" sz="2400" dirty="0"/>
                        <a:t>X</a:t>
                      </a:r>
                    </a:p>
                  </a:txBody>
                  <a:tcPr/>
                </a:tc>
                <a:tc>
                  <a:txBody>
                    <a:bodyPr/>
                    <a:lstStyle/>
                    <a:p>
                      <a:pPr algn="ctr"/>
                      <a:endParaRPr lang="en-US" sz="2400" dirty="0"/>
                    </a:p>
                  </a:txBody>
                  <a:tcPr/>
                </a:tc>
                <a:extLst>
                  <a:ext uri="{0D108BD9-81ED-4DB2-BD59-A6C34878D82A}">
                    <a16:rowId xmlns:a16="http://schemas.microsoft.com/office/drawing/2014/main" val="10004"/>
                  </a:ext>
                </a:extLst>
              </a:tr>
              <a:tr h="471980">
                <a:tc>
                  <a:txBody>
                    <a:bodyPr/>
                    <a:lstStyle/>
                    <a:p>
                      <a:pPr algn="ctr"/>
                      <a:r>
                        <a:rPr lang="en-US" sz="2400" dirty="0"/>
                        <a:t>4</a:t>
                      </a:r>
                    </a:p>
                  </a:txBody>
                  <a:tcPr/>
                </a:tc>
                <a:tc>
                  <a:txBody>
                    <a:bodyPr/>
                    <a:lstStyle/>
                    <a:p>
                      <a:pPr algn="ctr"/>
                      <a:endParaRPr lang="en-US" sz="2400" dirty="0"/>
                    </a:p>
                  </a:txBody>
                  <a:tcPr/>
                </a:tc>
                <a:tc>
                  <a:txBody>
                    <a:bodyPr/>
                    <a:lstStyle/>
                    <a:p>
                      <a:pPr algn="ctr"/>
                      <a:r>
                        <a:rPr lang="en-US" sz="2400" dirty="0"/>
                        <a:t>X</a:t>
                      </a:r>
                    </a:p>
                  </a:txBody>
                  <a:tcPr/>
                </a:tc>
                <a:tc>
                  <a:txBody>
                    <a:bodyPr/>
                    <a:lstStyle/>
                    <a:p>
                      <a:pPr algn="ctr"/>
                      <a:r>
                        <a:rPr lang="en-US" sz="2400" dirty="0"/>
                        <a:t>X</a:t>
                      </a:r>
                    </a:p>
                  </a:txBody>
                  <a:tcPr/>
                </a:tc>
                <a:tc>
                  <a:txBody>
                    <a:bodyPr/>
                    <a:lstStyle/>
                    <a:p>
                      <a:pPr algn="ctr"/>
                      <a:r>
                        <a:rPr lang="en-US" sz="2400" dirty="0"/>
                        <a:t>X</a:t>
                      </a:r>
                    </a:p>
                  </a:txBody>
                  <a:tcPr/>
                </a:tc>
                <a:tc>
                  <a:txBody>
                    <a:bodyPr/>
                    <a:lstStyle/>
                    <a:p>
                      <a:pPr algn="ctr"/>
                      <a:r>
                        <a:rPr lang="en-US" sz="2400" dirty="0"/>
                        <a:t>X</a:t>
                      </a:r>
                    </a:p>
                  </a:txBody>
                  <a:tcPr/>
                </a:tc>
                <a:extLst>
                  <a:ext uri="{0D108BD9-81ED-4DB2-BD59-A6C34878D82A}">
                    <a16:rowId xmlns:a16="http://schemas.microsoft.com/office/drawing/2014/main" val="10005"/>
                  </a:ext>
                </a:extLst>
              </a:tr>
              <a:tr h="471980">
                <a:tc>
                  <a:txBody>
                    <a:bodyPr/>
                    <a:lstStyle/>
                    <a:p>
                      <a:pPr algn="ctr"/>
                      <a:r>
                        <a:rPr lang="en-US" sz="2400" dirty="0"/>
                        <a:t>5</a:t>
                      </a:r>
                    </a:p>
                  </a:txBody>
                  <a:tcPr>
                    <a:lnB w="12700" cap="flat" cmpd="sng" algn="ctr">
                      <a:solidFill>
                        <a:scrgbClr r="0" g="0" b="0"/>
                      </a:solidFill>
                      <a:prstDash val="solid"/>
                      <a:round/>
                      <a:headEnd type="none" w="med" len="med"/>
                      <a:tailEnd type="none" w="med" len="med"/>
                    </a:lnB>
                  </a:tcPr>
                </a:tc>
                <a:tc>
                  <a:txBody>
                    <a:bodyPr/>
                    <a:lstStyle/>
                    <a:p>
                      <a:pPr algn="ctr"/>
                      <a:endParaRPr lang="en-US" sz="2400" dirty="0"/>
                    </a:p>
                  </a:txBody>
                  <a:tcPr>
                    <a:lnB w="12700" cap="flat" cmpd="sng" algn="ctr">
                      <a:solidFill>
                        <a:scrgbClr r="0" g="0" b="0"/>
                      </a:solidFill>
                      <a:prstDash val="solid"/>
                      <a:round/>
                      <a:headEnd type="none" w="med" len="med"/>
                      <a:tailEnd type="none" w="med" len="med"/>
                    </a:lnB>
                  </a:tcPr>
                </a:tc>
                <a:tc>
                  <a:txBody>
                    <a:bodyPr/>
                    <a:lstStyle/>
                    <a:p>
                      <a:pPr algn="ctr"/>
                      <a:endParaRPr lang="en-US" sz="2400" dirty="0"/>
                    </a:p>
                  </a:txBody>
                  <a:tcPr>
                    <a:lnB w="12700" cap="flat" cmpd="sng" algn="ctr">
                      <a:solidFill>
                        <a:scrgbClr r="0" g="0" b="0"/>
                      </a:solidFill>
                      <a:prstDash val="solid"/>
                      <a:round/>
                      <a:headEnd type="none" w="med" len="med"/>
                      <a:tailEnd type="none" w="med" len="med"/>
                    </a:lnB>
                  </a:tcPr>
                </a:tc>
                <a:tc>
                  <a:txBody>
                    <a:bodyPr/>
                    <a:lstStyle/>
                    <a:p>
                      <a:pPr algn="ctr"/>
                      <a:endParaRPr lang="en-US" sz="2400" dirty="0"/>
                    </a:p>
                  </a:txBody>
                  <a:tcPr>
                    <a:lnB w="12700" cap="flat" cmpd="sng" algn="ctr">
                      <a:solidFill>
                        <a:scrgbClr r="0" g="0" b="0"/>
                      </a:solidFill>
                      <a:prstDash val="solid"/>
                      <a:round/>
                      <a:headEnd type="none" w="med" len="med"/>
                      <a:tailEnd type="none" w="med" len="med"/>
                    </a:lnB>
                  </a:tcPr>
                </a:tc>
                <a:tc>
                  <a:txBody>
                    <a:bodyPr/>
                    <a:lstStyle/>
                    <a:p>
                      <a:pPr algn="ctr"/>
                      <a:r>
                        <a:rPr lang="en-US" sz="2400" dirty="0"/>
                        <a:t>X</a:t>
                      </a:r>
                    </a:p>
                  </a:txBody>
                  <a:tcPr>
                    <a:lnB w="12700" cap="flat" cmpd="sng" algn="ctr">
                      <a:solidFill>
                        <a:scrgbClr r="0" g="0" b="0"/>
                      </a:solidFill>
                      <a:prstDash val="solid"/>
                      <a:round/>
                      <a:headEnd type="none" w="med" len="med"/>
                      <a:tailEnd type="none" w="med" len="med"/>
                    </a:lnB>
                  </a:tcPr>
                </a:tc>
                <a:tc>
                  <a:txBody>
                    <a:bodyPr/>
                    <a:lstStyle/>
                    <a:p>
                      <a:pPr algn="ctr"/>
                      <a:r>
                        <a:rPr lang="en-US" sz="2400" dirty="0"/>
                        <a:t>X</a:t>
                      </a:r>
                    </a:p>
                  </a:txBody>
                  <a:tcP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Slide Number Placeholder 2"/>
          <p:cNvSpPr>
            <a:spLocks noGrp="1"/>
          </p:cNvSpPr>
          <p:nvPr>
            <p:ph type="sldNum" sz="quarter" idx="12"/>
          </p:nvPr>
        </p:nvSpPr>
        <p:spPr/>
        <p:txBody>
          <a:bodyPr/>
          <a:lstStyle/>
          <a:p>
            <a:fld id="{B45EA367-76FE-D949-98D2-428E246BFD0D}" type="slidenum">
              <a:rPr lang="uk-UA" smtClean="0"/>
              <a:t>7</a:t>
            </a:fld>
            <a:endParaRPr lang="uk-UA" dirty="0"/>
          </a:p>
        </p:txBody>
      </p:sp>
      <p:sp>
        <p:nvSpPr>
          <p:cNvPr id="5" name="TextBox 4">
            <a:extLst>
              <a:ext uri="{FF2B5EF4-FFF2-40B4-BE49-F238E27FC236}">
                <a16:creationId xmlns:a16="http://schemas.microsoft.com/office/drawing/2014/main" id="{EA80DC91-7EAA-F34C-88FD-56B75D2A6DDD}"/>
              </a:ext>
            </a:extLst>
          </p:cNvPr>
          <p:cNvSpPr txBox="1"/>
          <p:nvPr/>
        </p:nvSpPr>
        <p:spPr>
          <a:xfrm>
            <a:off x="8221980" y="2094818"/>
            <a:ext cx="3520440" cy="3139321"/>
          </a:xfrm>
          <a:prstGeom prst="rect">
            <a:avLst/>
          </a:prstGeom>
          <a:noFill/>
        </p:spPr>
        <p:txBody>
          <a:bodyPr wrap="square" rtlCol="0">
            <a:spAutoFit/>
          </a:bodyPr>
          <a:lstStyle/>
          <a:p>
            <a:r>
              <a:rPr lang="en-US" dirty="0"/>
              <a:t>What Rasch needed was a way to legitimately compare the reading ability of students in different grades who may or may not take the same reading tests.</a:t>
            </a:r>
          </a:p>
          <a:p>
            <a:endParaRPr lang="en-US" dirty="0"/>
          </a:p>
          <a:p>
            <a:r>
              <a:rPr lang="en-US" dirty="0"/>
              <a:t>What was required are tests that we would today refer to as “vertically equated” or “vertically scaled”</a:t>
            </a:r>
          </a:p>
          <a:p>
            <a:pPr marL="342900" indent="-342900">
              <a:buAutoNum type="alphaLcParenR"/>
            </a:pPr>
            <a:endParaRPr lang="en-US" dirty="0"/>
          </a:p>
        </p:txBody>
      </p:sp>
    </p:spTree>
    <p:extLst>
      <p:ext uri="{BB962C8B-B14F-4D97-AF65-F5344CB8AC3E}">
        <p14:creationId xmlns:p14="http://schemas.microsoft.com/office/powerpoint/2010/main" val="2831981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fld id="{AAEC0A59-A5FA-7243-9D83-847D6C498545}" type="slidenum">
              <a:rPr lang="en-US" sz="2600">
                <a:solidFill>
                  <a:schemeClr val="bg1"/>
                </a:solidFill>
              </a:rPr>
              <a:pPr/>
              <a:t>8</a:t>
            </a:fld>
            <a:endParaRPr lang="en-US" sz="2600" dirty="0">
              <a:solidFill>
                <a:schemeClr val="bg1"/>
              </a:solidFill>
            </a:endParaRPr>
          </a:p>
        </p:txBody>
      </p:sp>
      <p:sp>
        <p:nvSpPr>
          <p:cNvPr id="64516" name="AutoShape 2"/>
          <p:cNvSpPr>
            <a:spLocks noGrp="1" noChangeArrowheads="1"/>
          </p:cNvSpPr>
          <p:nvPr>
            <p:ph type="title"/>
          </p:nvPr>
        </p:nvSpPr>
        <p:spPr/>
        <p:txBody>
          <a:bodyPr/>
          <a:lstStyle/>
          <a:p>
            <a:pPr eaLnBrk="1" hangingPunct="1"/>
            <a:r>
              <a:rPr lang="en-US" b="1" dirty="0">
                <a:cs typeface="Calibri"/>
              </a:rPr>
              <a:t>Poisson Distribution</a:t>
            </a:r>
          </a:p>
        </p:txBody>
      </p:sp>
      <p:sp>
        <p:nvSpPr>
          <p:cNvPr id="64517" name="Text Box 4"/>
          <p:cNvSpPr txBox="1">
            <a:spLocks noChangeArrowheads="1"/>
          </p:cNvSpPr>
          <p:nvPr/>
        </p:nvSpPr>
        <p:spPr bwMode="auto">
          <a:xfrm>
            <a:off x="2286000" y="1954661"/>
            <a:ext cx="7391400"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en-US" dirty="0">
                <a:latin typeface="Calibri"/>
                <a:cs typeface="Calibri"/>
              </a:rPr>
              <a:t>Tells us the probability of a number of events occurring in a fixed period of time if these events occur with a known average rate and independently of the time since the last event:</a:t>
            </a:r>
            <a:r>
              <a:rPr lang="en-US" sz="1800" dirty="0">
                <a:latin typeface="Calibri"/>
                <a:cs typeface="Calibri"/>
              </a:rPr>
              <a:t> </a:t>
            </a:r>
          </a:p>
        </p:txBody>
      </p:sp>
      <p:sp>
        <p:nvSpPr>
          <p:cNvPr id="64518" name="Text Box 8"/>
          <p:cNvSpPr txBox="1">
            <a:spLocks noChangeArrowheads="1"/>
          </p:cNvSpPr>
          <p:nvPr/>
        </p:nvSpPr>
        <p:spPr bwMode="auto">
          <a:xfrm>
            <a:off x="2160620" y="4655084"/>
            <a:ext cx="7848600" cy="1938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i="1" dirty="0">
                <a:latin typeface="Calibri"/>
                <a:cs typeface="Calibri"/>
              </a:rPr>
              <a:t>x</a:t>
            </a:r>
            <a:r>
              <a:rPr lang="en-US" sz="2000" dirty="0">
                <a:latin typeface="Calibri"/>
                <a:cs typeface="Calibri"/>
              </a:rPr>
              <a:t> is the number of occurrences of an event </a:t>
            </a:r>
          </a:p>
          <a:p>
            <a:r>
              <a:rPr lang="en-US" sz="2000" dirty="0">
                <a:latin typeface="Calibri"/>
                <a:cs typeface="Calibri"/>
              </a:rPr>
              <a:t>λ is a positive real number, equal to the expected number of events that occur during the given interval. </a:t>
            </a:r>
          </a:p>
          <a:p>
            <a:r>
              <a:rPr lang="en-US" sz="2000" dirty="0">
                <a:latin typeface="Calibri"/>
                <a:cs typeface="Calibri"/>
              </a:rPr>
              <a:t>(For instance, if the events occur on average every 4 minutes, and you are interested in the number of events occurring in a 10 minute interval, λ = 10/4 = 2.5. )</a:t>
            </a:r>
          </a:p>
        </p:txBody>
      </p:sp>
      <p:graphicFrame>
        <p:nvGraphicFramePr>
          <p:cNvPr id="64514" name="Object 2"/>
          <p:cNvGraphicFramePr>
            <a:graphicFrameLocks noChangeAspect="1"/>
          </p:cNvGraphicFramePr>
          <p:nvPr/>
        </p:nvGraphicFramePr>
        <p:xfrm>
          <a:off x="4132961" y="3363073"/>
          <a:ext cx="2249078" cy="1091350"/>
        </p:xfrm>
        <a:graphic>
          <a:graphicData uri="http://schemas.openxmlformats.org/presentationml/2006/ole">
            <mc:AlternateContent xmlns:mc="http://schemas.openxmlformats.org/markup-compatibility/2006">
              <mc:Choice xmlns:v="urn:schemas-microsoft-com:vml" Requires="v">
                <p:oleObj name="Equation" r:id="rId3" imgW="863280" imgH="419040" progId="Equation.DSMT4">
                  <p:embed/>
                </p:oleObj>
              </mc:Choice>
              <mc:Fallback>
                <p:oleObj name="Equation" r:id="rId3" imgW="863280" imgH="419040" progId="Equation.DSMT4">
                  <p:embed/>
                  <p:pic>
                    <p:nvPicPr>
                      <p:cNvPr id="645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2961" y="3363073"/>
                        <a:ext cx="2249078" cy="10913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386760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Example of a Poisson PDF</a:t>
            </a:r>
          </a:p>
        </p:txBody>
      </p:sp>
      <p:sp>
        <p:nvSpPr>
          <p:cNvPr id="3" name="Content Placeholder 2"/>
          <p:cNvSpPr>
            <a:spLocks noGrp="1"/>
          </p:cNvSpPr>
          <p:nvPr>
            <p:ph idx="1"/>
          </p:nvPr>
        </p:nvSpPr>
        <p:spPr/>
        <p:txBody>
          <a:bodyPr/>
          <a:lstStyle/>
          <a:p>
            <a:r>
              <a:rPr lang="en-US" dirty="0"/>
              <a:t>A sample of students participates in a spelling test.</a:t>
            </a:r>
          </a:p>
          <a:p>
            <a:r>
              <a:rPr lang="en-US" dirty="0"/>
              <a:t>Each student gets the same list of 20 words.</a:t>
            </a:r>
          </a:p>
          <a:p>
            <a:r>
              <a:rPr lang="en-US" dirty="0"/>
              <a:t>It turns out that averaged across all students, the average count of words spelled correctly is 10. So λ = 10. </a:t>
            </a:r>
          </a:p>
          <a:p>
            <a:r>
              <a:rPr lang="en-US" dirty="0"/>
              <a:t>What is the probability that a student spells 4 words correctly?</a:t>
            </a:r>
          </a:p>
          <a:p>
            <a:endParaRPr lang="en-US" dirty="0"/>
          </a:p>
          <a:p>
            <a:endParaRPr lang="en-US" dirty="0"/>
          </a:p>
          <a:p>
            <a:endParaRPr lang="en-US" dirty="0"/>
          </a:p>
          <a:p>
            <a:endParaRPr lang="en-US" dirty="0"/>
          </a:p>
          <a:p>
            <a:endParaRPr lang="en-US" dirty="0"/>
          </a:p>
        </p:txBody>
      </p:sp>
      <p:graphicFrame>
        <p:nvGraphicFramePr>
          <p:cNvPr id="4" name="Object 2"/>
          <p:cNvGraphicFramePr>
            <a:graphicFrameLocks noChangeAspect="1"/>
          </p:cNvGraphicFramePr>
          <p:nvPr/>
        </p:nvGraphicFramePr>
        <p:xfrm>
          <a:off x="2595563" y="5019675"/>
          <a:ext cx="3524250" cy="914400"/>
        </p:xfrm>
        <a:graphic>
          <a:graphicData uri="http://schemas.openxmlformats.org/presentationml/2006/ole">
            <mc:AlternateContent xmlns:mc="http://schemas.openxmlformats.org/markup-compatibility/2006">
              <mc:Choice xmlns:v="urn:schemas-microsoft-com:vml" Requires="v">
                <p:oleObj name="Equation" r:id="rId2" imgW="1663700" imgH="431800" progId="Equation.DSMT4">
                  <p:embed/>
                </p:oleObj>
              </mc:Choice>
              <mc:Fallback>
                <p:oleObj name="Equation" r:id="rId2" imgW="1663700" imgH="431800" progId="Equation.DSMT4">
                  <p:embed/>
                  <p:pic>
                    <p:nvPicPr>
                      <p:cNvPr id="4" name="Object 2"/>
                      <p:cNvPicPr>
                        <a:picLocks noChangeAspect="1" noChangeArrowheads="1"/>
                      </p:cNvPicPr>
                      <p:nvPr/>
                    </p:nvPicPr>
                    <p:blipFill>
                      <a:blip r:embed="rId3"/>
                      <a:srcRect/>
                      <a:stretch>
                        <a:fillRect/>
                      </a:stretch>
                    </p:blipFill>
                    <p:spPr bwMode="auto">
                      <a:xfrm>
                        <a:off x="2595563" y="5019675"/>
                        <a:ext cx="3524250" cy="914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499647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37931725" indent="-37474525">
              <a:defRPr sz="24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400">
                <a:solidFill>
                  <a:schemeClr val="tx1"/>
                </a:solidFill>
                <a:latin typeface="Arial" charset="0"/>
                <a:ea typeface="ＭＳ Ｐゴシック" charset="0"/>
              </a:defRPr>
            </a:lvl4pPr>
            <a:lvl5pPr>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fld id="{D4AE39AE-679A-DA45-A589-BE91EB13891F}" type="slidenum">
              <a:rPr lang="en-US" sz="2600">
                <a:solidFill>
                  <a:schemeClr val="bg1"/>
                </a:solidFill>
              </a:rPr>
              <a:pPr/>
              <a:t>10</a:t>
            </a:fld>
            <a:endParaRPr lang="en-US" sz="2600" dirty="0">
              <a:solidFill>
                <a:schemeClr val="bg1"/>
              </a:solidFill>
            </a:endParaRPr>
          </a:p>
        </p:txBody>
      </p:sp>
      <p:sp>
        <p:nvSpPr>
          <p:cNvPr id="66563" name="AutoShape 2"/>
          <p:cNvSpPr>
            <a:spLocks noGrp="1" noChangeArrowheads="1"/>
          </p:cNvSpPr>
          <p:nvPr>
            <p:ph type="title"/>
          </p:nvPr>
        </p:nvSpPr>
        <p:spPr/>
        <p:txBody>
          <a:bodyPr/>
          <a:lstStyle/>
          <a:p>
            <a:pPr eaLnBrk="1" hangingPunct="1"/>
            <a:r>
              <a:rPr lang="en-US" b="1" dirty="0">
                <a:cs typeface="Calibri"/>
              </a:rPr>
              <a:t>Plots of Poisson PDF &amp; CDF</a:t>
            </a:r>
          </a:p>
        </p:txBody>
      </p:sp>
      <p:pic>
        <p:nvPicPr>
          <p:cNvPr id="66564" name="Picture 6" descr="Poisson_distribution_P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561801"/>
            <a:ext cx="4126093" cy="30945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6565" name="Picture 7" descr="PoissonCD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7293" y="2501333"/>
            <a:ext cx="4458456" cy="33438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extBox 5"/>
          <p:cNvSpPr txBox="1"/>
          <p:nvPr/>
        </p:nvSpPr>
        <p:spPr>
          <a:xfrm>
            <a:off x="7078168" y="1757435"/>
            <a:ext cx="2123096" cy="400110"/>
          </a:xfrm>
          <a:prstGeom prst="rect">
            <a:avLst/>
          </a:prstGeom>
          <a:noFill/>
        </p:spPr>
        <p:txBody>
          <a:bodyPr wrap="square" rtlCol="0">
            <a:spAutoFit/>
          </a:bodyPr>
          <a:lstStyle/>
          <a:p>
            <a:r>
              <a:rPr lang="en-US" sz="2000" dirty="0"/>
              <a:t>P(X &lt; k)</a:t>
            </a:r>
          </a:p>
        </p:txBody>
      </p:sp>
      <p:sp>
        <p:nvSpPr>
          <p:cNvPr id="7" name="TextBox 6"/>
          <p:cNvSpPr txBox="1"/>
          <p:nvPr/>
        </p:nvSpPr>
        <p:spPr>
          <a:xfrm>
            <a:off x="3098125" y="1757435"/>
            <a:ext cx="2123096" cy="400110"/>
          </a:xfrm>
          <a:prstGeom prst="rect">
            <a:avLst/>
          </a:prstGeom>
          <a:noFill/>
        </p:spPr>
        <p:txBody>
          <a:bodyPr wrap="square" rtlCol="0">
            <a:spAutoFit/>
          </a:bodyPr>
          <a:lstStyle/>
          <a:p>
            <a:r>
              <a:rPr lang="en-US" sz="2000" dirty="0"/>
              <a:t>P(X = k)</a:t>
            </a:r>
          </a:p>
        </p:txBody>
      </p:sp>
    </p:spTree>
    <p:extLst>
      <p:ext uri="{BB962C8B-B14F-4D97-AF65-F5344CB8AC3E}">
        <p14:creationId xmlns:p14="http://schemas.microsoft.com/office/powerpoint/2010/main" val="413449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C663-66F5-9A4A-8BBA-4E0D0211225B}"/>
              </a:ext>
            </a:extLst>
          </p:cNvPr>
          <p:cNvSpPr>
            <a:spLocks noGrp="1"/>
          </p:cNvSpPr>
          <p:nvPr>
            <p:ph type="title"/>
          </p:nvPr>
        </p:nvSpPr>
        <p:spPr/>
        <p:txBody>
          <a:bodyPr/>
          <a:lstStyle/>
          <a:p>
            <a:r>
              <a:rPr lang="en-US" b="1" dirty="0"/>
              <a:t>Rasch’s Use of the Poisson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3A32AAE-65EA-C04E-94FB-732CAB4C4D2B}"/>
                  </a:ext>
                </a:extLst>
              </p:cNvPr>
              <p:cNvSpPr txBox="1"/>
              <p:nvPr/>
            </p:nvSpPr>
            <p:spPr>
              <a:xfrm>
                <a:off x="1856509" y="2064328"/>
                <a:ext cx="7148946" cy="1085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d>
                        <m:dPr>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𝑝𝑖</m:t>
                              </m:r>
                            </m:sub>
                          </m:sSub>
                        </m:e>
                      </m:d>
                      <m:r>
                        <a:rPr lang="en-US" sz="2400" b="0" i="1">
                          <a:latin typeface="Cambria Math" panose="02040503050406030204" pitchFamily="18" charset="0"/>
                        </a:rPr>
                        <m:t>=</m:t>
                      </m:r>
                      <m:f>
                        <m:fPr>
                          <m:ctrlPr>
                            <a:rPr lang="en-US" sz="2400" b="0" i="1">
                              <a:latin typeface="Cambria Math" panose="02040503050406030204" pitchFamily="18" charset="0"/>
                            </a:rPr>
                          </m:ctrlPr>
                        </m:fPr>
                        <m:num>
                          <m:sSubSup>
                            <m:sSubSupPr>
                              <m:ctrlPr>
                                <a:rPr lang="en-US" sz="2400" b="0" i="1">
                                  <a:latin typeface="Cambria Math" panose="02040503050406030204" pitchFamily="18" charset="0"/>
                                  <a:ea typeface="Cambria Math" panose="02040503050406030204" pitchFamily="18" charset="0"/>
                                </a:rPr>
                              </m:ctrlPr>
                            </m:sSubSupPr>
                            <m:e>
                              <m:r>
                                <a:rPr lang="en-US" sz="2400" b="0" i="1">
                                  <a:latin typeface="Cambria Math" panose="02040503050406030204" pitchFamily="18" charset="0"/>
                                  <a:ea typeface="Cambria Math" panose="02040503050406030204" pitchFamily="18" charset="0"/>
                                </a:rPr>
                                <m:t>𝜆</m:t>
                              </m:r>
                            </m:e>
                            <m:sub>
                              <m:r>
                                <a:rPr lang="en-US" sz="2400" b="0" i="1">
                                  <a:latin typeface="Cambria Math" panose="02040503050406030204" pitchFamily="18" charset="0"/>
                                  <a:ea typeface="Cambria Math" panose="02040503050406030204" pitchFamily="18" charset="0"/>
                                </a:rPr>
                                <m:t>𝑝𝑖</m:t>
                              </m:r>
                            </m:sub>
                            <m:sup>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𝑋</m:t>
                                  </m:r>
                                </m:e>
                                <m:sub>
                                  <m:r>
                                    <a:rPr lang="en-US" sz="2400" b="0" i="1">
                                      <a:latin typeface="Cambria Math" panose="02040503050406030204" pitchFamily="18" charset="0"/>
                                      <a:ea typeface="Cambria Math" panose="02040503050406030204" pitchFamily="18" charset="0"/>
                                    </a:rPr>
                                    <m:t>𝑝𝑖</m:t>
                                  </m:r>
                                </m:sub>
                              </m:sSub>
                            </m:sup>
                          </m:sSubSup>
                          <m:r>
                            <a:rPr lang="en-US" sz="2400" b="0" i="1">
                              <a:latin typeface="Cambria Math" panose="02040503050406030204" pitchFamily="18" charset="0"/>
                            </a:rPr>
                            <m:t>  </m:t>
                          </m:r>
                        </m:num>
                        <m:den>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𝑝𝑖</m:t>
                              </m:r>
                            </m:sub>
                          </m:sSub>
                          <m:r>
                            <a:rPr lang="en-US" sz="2400" b="0" i="1">
                              <a:latin typeface="Cambria Math" panose="02040503050406030204" pitchFamily="18" charset="0"/>
                            </a:rPr>
                            <m:t>! </m:t>
                          </m:r>
                        </m:den>
                      </m:f>
                      <m:func>
                        <m:funcPr>
                          <m:ctrlPr>
                            <a:rPr lang="en-US" sz="2400" b="0" i="1">
                              <a:latin typeface="Cambria Math" panose="02040503050406030204" pitchFamily="18" charset="0"/>
                            </a:rPr>
                          </m:ctrlPr>
                        </m:funcPr>
                        <m:fName>
                          <m:r>
                            <m:rPr>
                              <m:sty m:val="p"/>
                            </m:rPr>
                            <a:rPr lang="en-US" sz="2400" b="0" i="0">
                              <a:latin typeface="Cambria Math" panose="02040503050406030204" pitchFamily="18" charset="0"/>
                            </a:rPr>
                            <m:t>exp</m:t>
                          </m:r>
                        </m:fName>
                        <m:e>
                          <m:d>
                            <m:dPr>
                              <m:ctrlPr>
                                <a:rPr lang="en-US" sz="2400" b="0" i="1">
                                  <a:latin typeface="Cambria Math" panose="02040503050406030204" pitchFamily="18" charset="0"/>
                                </a:rPr>
                              </m:ctrlPr>
                            </m:dPr>
                            <m:e>
                              <m:r>
                                <a:rPr lang="en-US" sz="2400" b="0" i="1">
                                  <a:latin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𝜆</m:t>
                                  </m:r>
                                </m:e>
                                <m:sub>
                                  <m:r>
                                    <a:rPr lang="en-US" sz="2400" b="0" i="1">
                                      <a:latin typeface="Cambria Math" panose="02040503050406030204" pitchFamily="18" charset="0"/>
                                      <a:ea typeface="Cambria Math" panose="02040503050406030204" pitchFamily="18" charset="0"/>
                                    </a:rPr>
                                    <m:t>𝑝𝑖</m:t>
                                  </m:r>
                                </m:sub>
                              </m:sSub>
                            </m:e>
                          </m:d>
                        </m:e>
                      </m:func>
                      <m:r>
                        <a:rPr lang="en-US" sz="2400" b="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p>
                            <m:sSupPr>
                              <m:ctrlPr>
                                <a:rPr lang="en-US" sz="2400" b="0" i="1">
                                  <a:latin typeface="Cambria Math" panose="02040503050406030204" pitchFamily="18" charset="0"/>
                                  <a:ea typeface="Cambria Math" panose="02040503050406030204" pitchFamily="18" charset="0"/>
                                </a:rPr>
                              </m:ctrlPr>
                            </m:sSupPr>
                            <m:e>
                              <m:d>
                                <m:dPr>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b="0" i="1">
                                          <a:latin typeface="Cambria Math" panose="02040503050406030204" pitchFamily="18" charset="0"/>
                                          <a:ea typeface="Cambria Math" panose="02040503050406030204" pitchFamily="18" charset="0"/>
                                        </a:rPr>
                                        <m:t>𝑝</m:t>
                                      </m:r>
                                    </m:sub>
                                  </m:sSub>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𝜖</m:t>
                                      </m:r>
                                    </m:e>
                                    <m:sub>
                                      <m:r>
                                        <a:rPr lang="en-US" sz="2400" b="0" i="1">
                                          <a:latin typeface="Cambria Math" panose="02040503050406030204" pitchFamily="18" charset="0"/>
                                          <a:ea typeface="Cambria Math" panose="02040503050406030204" pitchFamily="18" charset="0"/>
                                        </a:rPr>
                                        <m:t>𝑖</m:t>
                                      </m:r>
                                    </m:sub>
                                  </m:sSub>
                                </m:e>
                              </m:d>
                            </m:e>
                            <m:sup>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𝑋</m:t>
                                  </m:r>
                                </m:e>
                                <m:sub>
                                  <m:r>
                                    <a:rPr lang="en-US" sz="2400" b="0" i="1">
                                      <a:latin typeface="Cambria Math" panose="02040503050406030204" pitchFamily="18" charset="0"/>
                                      <a:ea typeface="Cambria Math" panose="02040503050406030204" pitchFamily="18" charset="0"/>
                                    </a:rPr>
                                    <m:t>𝑝𝑖</m:t>
                                  </m:r>
                                </m:sub>
                              </m:sSub>
                            </m:sup>
                          </m:sSup>
                          <m:r>
                            <a:rPr lang="en-US" sz="2400" i="1">
                              <a:latin typeface="Cambria Math" panose="02040503050406030204" pitchFamily="18" charset="0"/>
                            </a:rPr>
                            <m:t> </m:t>
                          </m:r>
                        </m:num>
                        <m:den>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𝑝𝑖</m:t>
                              </m:r>
                            </m:sub>
                          </m:sSub>
                          <m:r>
                            <a:rPr lang="en-US" sz="2400" i="1">
                              <a:latin typeface="Cambria Math" panose="02040503050406030204" pitchFamily="18" charset="0"/>
                            </a:rPr>
                            <m:t>! </m:t>
                          </m:r>
                        </m:den>
                      </m:f>
                      <m:r>
                        <m:rPr>
                          <m:sty m:val="p"/>
                        </m:rPr>
                        <a:rPr lang="en-US" sz="2400" b="0" i="0">
                          <a:latin typeface="Cambria Math" panose="02040503050406030204" pitchFamily="18" charset="0"/>
                        </a:rPr>
                        <m:t>exp</m:t>
                      </m:r>
                      <m:r>
                        <a:rPr lang="en-US" sz="2400" b="0" i="1">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i="1">
                                  <a:latin typeface="Cambria Math" panose="02040503050406030204" pitchFamily="18" charset="0"/>
                                  <a:ea typeface="Cambria Math" panose="02040503050406030204" pitchFamily="18" charset="0"/>
                                </a:rPr>
                                <m:t>𝑝</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𝜖</m:t>
                              </m:r>
                            </m:e>
                            <m:sub>
                              <m:r>
                                <a:rPr lang="en-US" sz="2400" i="1">
                                  <a:latin typeface="Cambria Math" panose="02040503050406030204" pitchFamily="18" charset="0"/>
                                  <a:ea typeface="Cambria Math" panose="02040503050406030204" pitchFamily="18" charset="0"/>
                                </a:rPr>
                                <m:t>𝑖</m:t>
                              </m:r>
                            </m:sub>
                          </m:sSub>
                        </m:e>
                      </m:d>
                    </m:oMath>
                  </m:oMathPara>
                </a14:m>
                <a:endParaRPr lang="en-US" dirty="0"/>
              </a:p>
            </p:txBody>
          </p:sp>
        </mc:Choice>
        <mc:Fallback xmlns="">
          <p:sp>
            <p:nvSpPr>
              <p:cNvPr id="4" name="TextBox 3">
                <a:extLst>
                  <a:ext uri="{FF2B5EF4-FFF2-40B4-BE49-F238E27FC236}">
                    <a16:creationId xmlns:a16="http://schemas.microsoft.com/office/drawing/2014/main" id="{73A32AAE-65EA-C04E-94FB-732CAB4C4D2B}"/>
                  </a:ext>
                </a:extLst>
              </p:cNvPr>
              <p:cNvSpPr txBox="1">
                <a:spLocks noRot="1" noChangeAspect="1" noMove="1" noResize="1" noEditPoints="1" noAdjustHandles="1" noChangeArrowheads="1" noChangeShapeType="1" noTextEdit="1"/>
              </p:cNvSpPr>
              <p:nvPr/>
            </p:nvSpPr>
            <p:spPr>
              <a:xfrm>
                <a:off x="1856509" y="2064328"/>
                <a:ext cx="7148946" cy="1085554"/>
              </a:xfrm>
              <a:prstGeom prst="rect">
                <a:avLst/>
              </a:prstGeom>
              <a:blipFill>
                <a:blip r:embed="rId2"/>
                <a:stretch>
                  <a:fillRect b="-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4955C06-2522-324F-BE2F-971C86283328}"/>
                  </a:ext>
                </a:extLst>
              </p:cNvPr>
              <p:cNvSpPr txBox="1"/>
              <p:nvPr/>
            </p:nvSpPr>
            <p:spPr>
              <a:xfrm>
                <a:off x="3020291" y="3948545"/>
                <a:ext cx="6761018" cy="1520160"/>
              </a:xfrm>
              <a:prstGeom prst="rect">
                <a:avLst/>
              </a:prstGeom>
              <a:noFill/>
            </p:spPr>
            <p:txBody>
              <a:bodyPr wrap="square" rtlCol="0">
                <a:spAutoFit/>
              </a:bodyPr>
              <a:lstStyle/>
              <a:p>
                <a:r>
                  <a:rPr lang="en-US" dirty="0"/>
                  <a:t>Where </a:t>
                </a:r>
              </a:p>
              <a:p>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𝑝𝑖</m:t>
                          </m:r>
                        </m:sub>
                      </m:sSub>
                      <m:r>
                        <a:rPr lang="en-US" b="0" i="1">
                          <a:latin typeface="Cambria Math" panose="02040503050406030204" pitchFamily="18" charset="0"/>
                        </a:rPr>
                        <m:t>=</m:t>
                      </m:r>
                      <m:r>
                        <a:rPr lang="en-US" b="0" i="1">
                          <a:latin typeface="Cambria Math" panose="02040503050406030204" pitchFamily="18" charset="0"/>
                        </a:rPr>
                        <m:t>𝑛𝑢𝑚𝑏𝑒𝑟</m:t>
                      </m:r>
                      <m:r>
                        <a:rPr lang="en-US" b="0" i="1">
                          <a:latin typeface="Cambria Math" panose="02040503050406030204" pitchFamily="18" charset="0"/>
                        </a:rPr>
                        <m:t> </m:t>
                      </m:r>
                      <m:r>
                        <a:rPr lang="en-US" b="0" i="1">
                          <a:latin typeface="Cambria Math" panose="02040503050406030204" pitchFamily="18" charset="0"/>
                        </a:rPr>
                        <m:t>𝑜𝑓</m:t>
                      </m:r>
                      <m:r>
                        <a:rPr lang="en-US" b="0" i="1">
                          <a:latin typeface="Cambria Math" panose="02040503050406030204" pitchFamily="18" charset="0"/>
                        </a:rPr>
                        <m:t> </m:t>
                      </m:r>
                      <m:r>
                        <a:rPr lang="en-US" b="0" i="1">
                          <a:latin typeface="Cambria Math" panose="02040503050406030204" pitchFamily="18" charset="0"/>
                        </a:rPr>
                        <m:t>𝑜𝑟𝑎𝑙</m:t>
                      </m:r>
                      <m:r>
                        <a:rPr lang="en-US" b="0" i="1">
                          <a:latin typeface="Cambria Math" panose="02040503050406030204" pitchFamily="18" charset="0"/>
                        </a:rPr>
                        <m:t> </m:t>
                      </m:r>
                      <m:r>
                        <a:rPr lang="en-US" b="0" i="1">
                          <a:latin typeface="Cambria Math" panose="02040503050406030204" pitchFamily="18" charset="0"/>
                        </a:rPr>
                        <m:t>𝑟𝑒𝑎𝑑𝑖𝑛𝑔</m:t>
                      </m:r>
                      <m:r>
                        <a:rPr lang="en-US" b="0" i="1">
                          <a:latin typeface="Cambria Math" panose="02040503050406030204" pitchFamily="18" charset="0"/>
                        </a:rPr>
                        <m:t> </m:t>
                      </m:r>
                      <m:r>
                        <a:rPr lang="en-US" b="0" i="1">
                          <a:latin typeface="Cambria Math" panose="02040503050406030204" pitchFamily="18" charset="0"/>
                        </a:rPr>
                        <m:t>𝑒𝑟𝑟𝑜𝑟𝑠</m:t>
                      </m:r>
                    </m:oMath>
                  </m:oMathPara>
                </a14:m>
                <a:endParaRPr lang="en-US" dirty="0"/>
              </a:p>
              <a:p>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𝜉</m:t>
                          </m:r>
                        </m:e>
                        <m:sub>
                          <m:r>
                            <a:rPr lang="en-US" i="1">
                              <a:latin typeface="Cambria Math" panose="02040503050406030204" pitchFamily="18" charset="0"/>
                              <a:ea typeface="Cambria Math" panose="02040503050406030204" pitchFamily="18" charset="0"/>
                            </a:rPr>
                            <m:t>𝑝</m:t>
                          </m:r>
                        </m:sub>
                      </m:sSub>
                      <m:r>
                        <a:rPr lang="en-US" b="0" i="1">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𝑝𝑒𝑟𝑠𝑜𝑛</m:t>
                      </m:r>
                      <m:r>
                        <a:rPr lang="en-US" b="0" i="1">
                          <a:latin typeface="Cambria Math" panose="02040503050406030204" pitchFamily="18" charset="0"/>
                          <a:ea typeface="Cambria Math" panose="02040503050406030204" pitchFamily="18" charset="0"/>
                        </a:rPr>
                        <m:t> </m:t>
                      </m:r>
                      <m:r>
                        <a:rPr lang="en-US" b="0" i="1">
                          <a:latin typeface="Cambria Math" panose="02040503050406030204" pitchFamily="18" charset="0"/>
                          <a:ea typeface="Cambria Math" panose="02040503050406030204" pitchFamily="18" charset="0"/>
                        </a:rPr>
                        <m:t>𝑎𝑏𝑖𝑙𝑖𝑡𝑦</m:t>
                      </m:r>
                    </m:oMath>
                  </m:oMathPara>
                </a14:m>
                <a:endParaRPr lang="en-US" b="0" dirty="0">
                  <a:ea typeface="Cambria Math" panose="02040503050406030204" pitchFamily="18" charset="0"/>
                </a:endParaRPr>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𝜖</m:t>
                        </m:r>
                      </m:e>
                      <m:sub>
                        <m:r>
                          <a:rPr lang="en-US" i="1">
                            <a:latin typeface="Cambria Math" panose="02040503050406030204" pitchFamily="18" charset="0"/>
                            <a:ea typeface="Cambria Math" panose="02040503050406030204" pitchFamily="18" charset="0"/>
                          </a:rPr>
                          <m:t>𝑖</m:t>
                        </m:r>
                      </m:sub>
                    </m:sSub>
                  </m:oMath>
                </a14:m>
                <a:r>
                  <a:rPr lang="en-US" dirty="0"/>
                  <a:t>= passage (item) difficulty</a:t>
                </a:r>
              </a:p>
              <a:p>
                <a:endParaRPr lang="en-US" dirty="0"/>
              </a:p>
            </p:txBody>
          </p:sp>
        </mc:Choice>
        <mc:Fallback xmlns="">
          <p:sp>
            <p:nvSpPr>
              <p:cNvPr id="5" name="TextBox 4">
                <a:extLst>
                  <a:ext uri="{FF2B5EF4-FFF2-40B4-BE49-F238E27FC236}">
                    <a16:creationId xmlns:a16="http://schemas.microsoft.com/office/drawing/2014/main" id="{04955C06-2522-324F-BE2F-971C86283328}"/>
                  </a:ext>
                </a:extLst>
              </p:cNvPr>
              <p:cNvSpPr txBox="1">
                <a:spLocks noRot="1" noChangeAspect="1" noMove="1" noResize="1" noEditPoints="1" noAdjustHandles="1" noChangeArrowheads="1" noChangeShapeType="1" noTextEdit="1"/>
              </p:cNvSpPr>
              <p:nvPr/>
            </p:nvSpPr>
            <p:spPr>
              <a:xfrm>
                <a:off x="3020291" y="3948545"/>
                <a:ext cx="6761018" cy="1520160"/>
              </a:xfrm>
              <a:prstGeom prst="rect">
                <a:avLst/>
              </a:prstGeom>
              <a:blipFill>
                <a:blip r:embed="rId3"/>
                <a:stretch>
                  <a:fillRect l="-750" t="-1653"/>
                </a:stretch>
              </a:blipFill>
            </p:spPr>
            <p:txBody>
              <a:bodyPr/>
              <a:lstStyle/>
              <a:p>
                <a:r>
                  <a:rPr lang="en-US">
                    <a:noFill/>
                  </a:rPr>
                  <a:t> </a:t>
                </a:r>
              </a:p>
            </p:txBody>
          </p:sp>
        </mc:Fallback>
      </mc:AlternateContent>
    </p:spTree>
    <p:extLst>
      <p:ext uri="{BB962C8B-B14F-4D97-AF65-F5344CB8AC3E}">
        <p14:creationId xmlns:p14="http://schemas.microsoft.com/office/powerpoint/2010/main" val="100997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80243-5793-D64C-A8D0-5CDF950E69A0}"/>
              </a:ext>
            </a:extLst>
          </p:cNvPr>
          <p:cNvSpPr>
            <a:spLocks noGrp="1"/>
          </p:cNvSpPr>
          <p:nvPr>
            <p:ph type="title"/>
          </p:nvPr>
        </p:nvSpPr>
        <p:spPr/>
        <p:txBody>
          <a:bodyPr/>
          <a:lstStyle/>
          <a:p>
            <a:r>
              <a:rPr lang="en-US" b="1" dirty="0"/>
              <a:t>What Rasch Noticed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940199C-96B0-624B-9640-09FFD23C3EBA}"/>
                  </a:ext>
                </a:extLst>
              </p:cNvPr>
              <p:cNvSpPr txBox="1"/>
              <p:nvPr/>
            </p:nvSpPr>
            <p:spPr>
              <a:xfrm>
                <a:off x="0" y="2638155"/>
                <a:ext cx="7148946" cy="10380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d>
                        <m:dPr>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𝑝𝑖</m:t>
                              </m:r>
                            </m:sub>
                          </m:sSub>
                        </m:e>
                      </m:d>
                      <m:r>
                        <a:rPr lang="en-US" sz="2400" b="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p>
                            <m:sSupPr>
                              <m:ctrlPr>
                                <a:rPr lang="en-US" sz="2400" b="0" i="1">
                                  <a:latin typeface="Cambria Math" panose="02040503050406030204" pitchFamily="18" charset="0"/>
                                  <a:ea typeface="Cambria Math" panose="02040503050406030204" pitchFamily="18" charset="0"/>
                                </a:rPr>
                              </m:ctrlPr>
                            </m:sSupPr>
                            <m:e>
                              <m:d>
                                <m:dPr>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b="0" i="1">
                                          <a:latin typeface="Cambria Math" panose="02040503050406030204" pitchFamily="18" charset="0"/>
                                          <a:ea typeface="Cambria Math" panose="02040503050406030204" pitchFamily="18" charset="0"/>
                                        </a:rPr>
                                        <m:t>𝑝</m:t>
                                      </m:r>
                                    </m:sub>
                                  </m:sSub>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𝜖</m:t>
                                      </m:r>
                                    </m:e>
                                    <m:sub>
                                      <m:r>
                                        <a:rPr lang="en-US" sz="2400" b="0" i="1">
                                          <a:latin typeface="Cambria Math" panose="02040503050406030204" pitchFamily="18" charset="0"/>
                                          <a:ea typeface="Cambria Math" panose="02040503050406030204" pitchFamily="18" charset="0"/>
                                        </a:rPr>
                                        <m:t>𝑖</m:t>
                                      </m:r>
                                    </m:sub>
                                  </m:sSub>
                                </m:e>
                              </m:d>
                            </m:e>
                            <m:sup>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𝑋</m:t>
                                  </m:r>
                                </m:e>
                                <m:sub>
                                  <m:r>
                                    <a:rPr lang="en-US" sz="2400" b="0" i="1">
                                      <a:latin typeface="Cambria Math" panose="02040503050406030204" pitchFamily="18" charset="0"/>
                                      <a:ea typeface="Cambria Math" panose="02040503050406030204" pitchFamily="18" charset="0"/>
                                    </a:rPr>
                                    <m:t>𝑝𝑖</m:t>
                                  </m:r>
                                </m:sub>
                              </m:sSub>
                            </m:sup>
                          </m:sSup>
                          <m:r>
                            <a:rPr lang="en-US" sz="2400" i="1">
                              <a:latin typeface="Cambria Math" panose="02040503050406030204" pitchFamily="18" charset="0"/>
                            </a:rPr>
                            <m:t> </m:t>
                          </m:r>
                        </m:num>
                        <m:den>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𝑝𝑖</m:t>
                              </m:r>
                            </m:sub>
                          </m:sSub>
                          <m:r>
                            <a:rPr lang="en-US" sz="2400" i="1">
                              <a:latin typeface="Cambria Math" panose="02040503050406030204" pitchFamily="18" charset="0"/>
                            </a:rPr>
                            <m:t>! </m:t>
                          </m:r>
                        </m:den>
                      </m:f>
                      <m:r>
                        <m:rPr>
                          <m:sty m:val="p"/>
                        </m:rPr>
                        <a:rPr lang="en-US" sz="2400" b="0" i="0">
                          <a:latin typeface="Cambria Math" panose="02040503050406030204" pitchFamily="18" charset="0"/>
                        </a:rPr>
                        <m:t>exp</m:t>
                      </m:r>
                      <m:r>
                        <a:rPr lang="en-US" sz="2400" b="0" i="1">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i="1">
                                  <a:latin typeface="Cambria Math" panose="02040503050406030204" pitchFamily="18" charset="0"/>
                                  <a:ea typeface="Cambria Math" panose="02040503050406030204" pitchFamily="18" charset="0"/>
                                </a:rPr>
                                <m:t>𝑝</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𝜖</m:t>
                              </m:r>
                            </m:e>
                            <m:sub>
                              <m:r>
                                <a:rPr lang="en-US" sz="2400" i="1">
                                  <a:latin typeface="Cambria Math" panose="02040503050406030204" pitchFamily="18" charset="0"/>
                                  <a:ea typeface="Cambria Math" panose="02040503050406030204" pitchFamily="18" charset="0"/>
                                </a:rPr>
                                <m:t>𝑖</m:t>
                              </m:r>
                            </m:sub>
                          </m:sSub>
                        </m:e>
                      </m:d>
                    </m:oMath>
                  </m:oMathPara>
                </a14:m>
                <a:endParaRPr lang="en-US" dirty="0"/>
              </a:p>
            </p:txBody>
          </p:sp>
        </mc:Choice>
        <mc:Fallback xmlns="">
          <p:sp>
            <p:nvSpPr>
              <p:cNvPr id="4" name="TextBox 3">
                <a:extLst>
                  <a:ext uri="{FF2B5EF4-FFF2-40B4-BE49-F238E27FC236}">
                    <a16:creationId xmlns:a16="http://schemas.microsoft.com/office/drawing/2014/main" id="{5940199C-96B0-624B-9640-09FFD23C3EBA}"/>
                  </a:ext>
                </a:extLst>
              </p:cNvPr>
              <p:cNvSpPr txBox="1">
                <a:spLocks noRot="1" noChangeAspect="1" noMove="1" noResize="1" noEditPoints="1" noAdjustHandles="1" noChangeArrowheads="1" noChangeShapeType="1" noTextEdit="1"/>
              </p:cNvSpPr>
              <p:nvPr/>
            </p:nvSpPr>
            <p:spPr>
              <a:xfrm>
                <a:off x="0" y="2638155"/>
                <a:ext cx="7148946" cy="1038041"/>
              </a:xfrm>
              <a:prstGeom prst="rect">
                <a:avLst/>
              </a:prstGeom>
              <a:blipFill>
                <a:blip r:embed="rId3"/>
                <a:stretch>
                  <a:fillRect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1EF7C69-5A86-B249-8F69-5BB7FEA8D4ED}"/>
                  </a:ext>
                </a:extLst>
              </p:cNvPr>
              <p:cNvSpPr txBox="1"/>
              <p:nvPr/>
            </p:nvSpPr>
            <p:spPr>
              <a:xfrm>
                <a:off x="4357254" y="2638154"/>
                <a:ext cx="7148946" cy="10380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d>
                        <m:dPr>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𝑝𝑗</m:t>
                              </m:r>
                            </m:sub>
                          </m:sSub>
                        </m:e>
                      </m:d>
                      <m:r>
                        <a:rPr lang="en-US" sz="2400" b="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p>
                            <m:sSupPr>
                              <m:ctrlPr>
                                <a:rPr lang="en-US" sz="2400" b="0" i="1">
                                  <a:latin typeface="Cambria Math" panose="02040503050406030204" pitchFamily="18" charset="0"/>
                                  <a:ea typeface="Cambria Math" panose="02040503050406030204" pitchFamily="18" charset="0"/>
                                </a:rPr>
                              </m:ctrlPr>
                            </m:sSupPr>
                            <m:e>
                              <m:d>
                                <m:dPr>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b="0" i="1">
                                          <a:latin typeface="Cambria Math" panose="02040503050406030204" pitchFamily="18" charset="0"/>
                                          <a:ea typeface="Cambria Math" panose="02040503050406030204" pitchFamily="18" charset="0"/>
                                        </a:rPr>
                                        <m:t>𝑝</m:t>
                                      </m:r>
                                    </m:sub>
                                  </m:sSub>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𝜖</m:t>
                                      </m:r>
                                    </m:e>
                                    <m:sub>
                                      <m:r>
                                        <a:rPr lang="en-US" sz="2400" b="0" i="1">
                                          <a:latin typeface="Cambria Math" panose="02040503050406030204" pitchFamily="18" charset="0"/>
                                          <a:ea typeface="Cambria Math" panose="02040503050406030204" pitchFamily="18" charset="0"/>
                                        </a:rPr>
                                        <m:t>𝑗</m:t>
                                      </m:r>
                                    </m:sub>
                                  </m:sSub>
                                </m:e>
                              </m:d>
                            </m:e>
                            <m:sup>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𝑋</m:t>
                                  </m:r>
                                </m:e>
                                <m:sub>
                                  <m:r>
                                    <a:rPr lang="en-US" sz="2400" b="0" i="1">
                                      <a:latin typeface="Cambria Math" panose="02040503050406030204" pitchFamily="18" charset="0"/>
                                      <a:ea typeface="Cambria Math" panose="02040503050406030204" pitchFamily="18" charset="0"/>
                                    </a:rPr>
                                    <m:t>𝑝𝑗</m:t>
                                  </m:r>
                                </m:sub>
                              </m:sSub>
                            </m:sup>
                          </m:sSup>
                          <m:r>
                            <a:rPr lang="en-US" sz="2400" i="1">
                              <a:latin typeface="Cambria Math" panose="02040503050406030204" pitchFamily="18" charset="0"/>
                            </a:rPr>
                            <m:t> </m:t>
                          </m:r>
                        </m:num>
                        <m:den>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𝑝</m:t>
                              </m:r>
                              <m:r>
                                <a:rPr lang="en-US" sz="2400" b="0" i="1">
                                  <a:latin typeface="Cambria Math" panose="02040503050406030204" pitchFamily="18" charset="0"/>
                                </a:rPr>
                                <m:t>𝑗</m:t>
                              </m:r>
                            </m:sub>
                          </m:sSub>
                          <m:r>
                            <a:rPr lang="en-US" sz="2400" i="1">
                              <a:latin typeface="Cambria Math" panose="02040503050406030204" pitchFamily="18" charset="0"/>
                            </a:rPr>
                            <m:t>! </m:t>
                          </m:r>
                        </m:den>
                      </m:f>
                      <m:r>
                        <m:rPr>
                          <m:sty m:val="p"/>
                        </m:rPr>
                        <a:rPr lang="en-US" sz="2400" b="0" i="0">
                          <a:latin typeface="Cambria Math" panose="02040503050406030204" pitchFamily="18" charset="0"/>
                        </a:rPr>
                        <m:t>exp</m:t>
                      </m:r>
                      <m:r>
                        <a:rPr lang="en-US" sz="2400" b="0" i="1">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𝜉</m:t>
                              </m:r>
                            </m:e>
                            <m:sub>
                              <m:r>
                                <a:rPr lang="en-US" sz="2400" i="1">
                                  <a:latin typeface="Cambria Math" panose="02040503050406030204" pitchFamily="18" charset="0"/>
                                  <a:ea typeface="Cambria Math" panose="02040503050406030204" pitchFamily="18" charset="0"/>
                                </a:rPr>
                                <m:t>𝑝</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𝜖</m:t>
                              </m:r>
                            </m:e>
                            <m:sub>
                              <m:r>
                                <a:rPr lang="en-US" sz="2400" b="0" i="1">
                                  <a:latin typeface="Cambria Math" panose="02040503050406030204" pitchFamily="18" charset="0"/>
                                  <a:ea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31EF7C69-5A86-B249-8F69-5BB7FEA8D4ED}"/>
                  </a:ext>
                </a:extLst>
              </p:cNvPr>
              <p:cNvSpPr txBox="1">
                <a:spLocks noRot="1" noChangeAspect="1" noMove="1" noResize="1" noEditPoints="1" noAdjustHandles="1" noChangeArrowheads="1" noChangeShapeType="1" noTextEdit="1"/>
              </p:cNvSpPr>
              <p:nvPr/>
            </p:nvSpPr>
            <p:spPr>
              <a:xfrm>
                <a:off x="4357254" y="2638154"/>
                <a:ext cx="7148946" cy="1038041"/>
              </a:xfrm>
              <a:prstGeom prst="rect">
                <a:avLst/>
              </a:prstGeom>
              <a:blipFill>
                <a:blip r:embed="rId4"/>
                <a:stretch>
                  <a:fillRect b="-609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76E6E7C-C909-7440-80F6-7B9126A49DD5}"/>
              </a:ext>
            </a:extLst>
          </p:cNvPr>
          <p:cNvSpPr txBox="1"/>
          <p:nvPr/>
        </p:nvSpPr>
        <p:spPr>
          <a:xfrm>
            <a:off x="838200" y="1911694"/>
            <a:ext cx="9022080" cy="646331"/>
          </a:xfrm>
          <a:prstGeom prst="rect">
            <a:avLst/>
          </a:prstGeom>
          <a:noFill/>
        </p:spPr>
        <p:txBody>
          <a:bodyPr wrap="square" rtlCol="0">
            <a:spAutoFit/>
          </a:bodyPr>
          <a:lstStyle/>
          <a:p>
            <a:r>
              <a:rPr lang="en-US" dirty="0"/>
              <a:t>Let’s say the same person (p) reads two different passages (passage i and passage j) that differ in their difficulty (one is longer than other other, or contains more challenging words)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5A9754D-D9AB-6341-81CD-0C8769EBE5DD}"/>
                  </a:ext>
                </a:extLst>
              </p:cNvPr>
              <p:cNvSpPr txBox="1"/>
              <p:nvPr/>
            </p:nvSpPr>
            <p:spPr>
              <a:xfrm>
                <a:off x="1614054" y="4964208"/>
                <a:ext cx="5486400" cy="7450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𝑝𝑖</m:t>
                              </m:r>
                            </m:sub>
                          </m:sSub>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𝑝</m:t>
                              </m:r>
                              <m:r>
                                <a:rPr lang="en-US" sz="2000" b="0" i="1">
                                  <a:latin typeface="Cambria Math" panose="02040503050406030204" pitchFamily="18" charset="0"/>
                                </a:rPr>
                                <m:t>𝑗</m:t>
                              </m:r>
                            </m:sub>
                          </m:sSub>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𝑋</m:t>
                              </m:r>
                            </m:e>
                            <m:sub>
                              <m:r>
                                <a:rPr lang="en-US" sz="2000" b="0" i="1">
                                  <a:latin typeface="Cambria Math" panose="02040503050406030204" pitchFamily="18" charset="0"/>
                                </a:rPr>
                                <m:t>𝑝</m:t>
                              </m:r>
                            </m:sub>
                          </m:sSub>
                          <m:r>
                            <a:rPr lang="en-US" sz="2000" b="0" i="1">
                              <a:latin typeface="Cambria Math" panose="02040503050406030204" pitchFamily="18" charset="0"/>
                            </a:rPr>
                            <m:t>. </m:t>
                          </m:r>
                        </m:e>
                      </m:d>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m>
                            <m:mPr>
                              <m:mcs>
                                <m:mc>
                                  <m:mcPr>
                                    <m:count m:val="1"/>
                                    <m:mcJc m:val="center"/>
                                  </m:mcPr>
                                </m:mc>
                              </m:mcs>
                              <m:ctrlPr>
                                <a:rPr lang="en-US" sz="2000" i="1">
                                  <a:latin typeface="Cambria Math" panose="02040503050406030204" pitchFamily="18" charset="0"/>
                                  <a:ea typeface="Cambria Math" panose="02040503050406030204" pitchFamily="18" charset="0"/>
                                </a:rPr>
                              </m:ctrlPr>
                            </m:mPr>
                            <m:mr>
                              <m:e>
                                <m:sSub>
                                  <m:sSubPr>
                                    <m:ctrlPr>
                                      <a:rPr lang="en-US" sz="2000" b="0" i="1">
                                        <a:latin typeface="Cambria Math" panose="02040503050406030204" pitchFamily="18" charset="0"/>
                                        <a:ea typeface="Cambria Math" panose="02040503050406030204" pitchFamily="18" charset="0"/>
                                      </a:rPr>
                                    </m:ctrlPr>
                                  </m:sSubPr>
                                  <m:e>
                                    <m:r>
                                      <m:rPr>
                                        <m:brk m:alnAt="7"/>
                                      </m:rPr>
                                      <a:rPr lang="en-US" sz="2000" b="0" i="1">
                                        <a:latin typeface="Cambria Math" panose="02040503050406030204" pitchFamily="18" charset="0"/>
                                        <a:ea typeface="Cambria Math" panose="02040503050406030204" pitchFamily="18" charset="0"/>
                                      </a:rPr>
                                      <m:t>𝑋</m:t>
                                    </m:r>
                                  </m:e>
                                  <m:sub>
                                    <m:r>
                                      <m:rPr>
                                        <m:brk m:alnAt="7"/>
                                      </m:rPr>
                                      <a:rPr lang="en-US" sz="2000" b="0" i="1">
                                        <a:latin typeface="Cambria Math" panose="02040503050406030204" pitchFamily="18" charset="0"/>
                                        <a:ea typeface="Cambria Math" panose="02040503050406030204" pitchFamily="18" charset="0"/>
                                      </a:rPr>
                                      <m:t>𝑝</m:t>
                                    </m:r>
                                  </m:sub>
                                </m:sSub>
                                <m:r>
                                  <m:rPr>
                                    <m:brk m:alnAt="7"/>
                                  </m:rPr>
                                  <a:rPr lang="en-US" sz="2000" b="0" i="1">
                                    <a:latin typeface="Cambria Math" panose="02040503050406030204" pitchFamily="18" charset="0"/>
                                    <a:ea typeface="Cambria Math" panose="02040503050406030204" pitchFamily="18" charset="0"/>
                                  </a:rPr>
                                  <m:t>.</m:t>
                                </m:r>
                                <m:r>
                                  <a:rPr lang="en-US" sz="2000" b="0" i="1">
                                    <a:latin typeface="Cambria Math" panose="02040503050406030204" pitchFamily="18" charset="0"/>
                                    <a:ea typeface="Cambria Math" panose="02040503050406030204" pitchFamily="18" charset="0"/>
                                  </a:rPr>
                                  <m:t> </m:t>
                                </m:r>
                              </m:e>
                            </m:mr>
                            <m:mr>
                              <m:e>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𝑋</m:t>
                                    </m:r>
                                  </m:e>
                                  <m:sub>
                                    <m:r>
                                      <a:rPr lang="en-US" sz="2000" b="0" i="1">
                                        <a:latin typeface="Cambria Math" panose="02040503050406030204" pitchFamily="18" charset="0"/>
                                        <a:ea typeface="Cambria Math" panose="02040503050406030204" pitchFamily="18" charset="0"/>
                                      </a:rPr>
                                      <m:t>𝑝𝑖</m:t>
                                    </m:r>
                                  </m:sub>
                                </m:sSub>
                              </m:e>
                            </m:mr>
                          </m:m>
                        </m:e>
                      </m:d>
                      <m:sSup>
                        <m:sSupPr>
                          <m:ctrlPr>
                            <a:rPr lang="en-US" sz="2000" b="0" i="1">
                              <a:latin typeface="Cambria Math" panose="02040503050406030204" pitchFamily="18" charset="0"/>
                              <a:ea typeface="Cambria Math" panose="02040503050406030204" pitchFamily="18" charset="0"/>
                            </a:rPr>
                          </m:ctrlPr>
                        </m:sSupPr>
                        <m:e>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𝜖</m:t>
                                      </m:r>
                                    </m:e>
                                    <m:sub>
                                      <m:r>
                                        <a:rPr lang="en-US" sz="2000" b="0" i="1">
                                          <a:latin typeface="Cambria Math" panose="02040503050406030204" pitchFamily="18" charset="0"/>
                                          <a:ea typeface="Cambria Math" panose="02040503050406030204" pitchFamily="18" charset="0"/>
                                        </a:rPr>
                                        <m:t>𝑖</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𝑖</m:t>
                                      </m:r>
                                    </m:sub>
                                  </m:sSub>
                                  <m:r>
                                    <a:rPr lang="en-US" sz="2000" b="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𝜖</m:t>
                                  </m:r>
                                  <m:r>
                                    <a:rPr lang="en-US" sz="2000" b="0" i="1" baseline="-25000">
                                      <a:latin typeface="Cambria Math" panose="02040503050406030204" pitchFamily="18" charset="0"/>
                                      <a:ea typeface="Cambria Math" panose="02040503050406030204" pitchFamily="18" charset="0"/>
                                    </a:rPr>
                                    <m:t>𝑗</m:t>
                                  </m:r>
                                </m:den>
                              </m:f>
                            </m:e>
                          </m:d>
                        </m:e>
                        <m:sup>
                          <m:sSub>
                            <m:sSubPr>
                              <m:ctrlPr>
                                <a:rPr lang="en-US" sz="2000" b="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𝑋</m:t>
                              </m:r>
                            </m:e>
                            <m:sub>
                              <m:r>
                                <a:rPr lang="en-US" sz="2000" b="0" i="1">
                                  <a:latin typeface="Cambria Math" panose="02040503050406030204" pitchFamily="18" charset="0"/>
                                  <a:ea typeface="Cambria Math" panose="02040503050406030204" pitchFamily="18" charset="0"/>
                                </a:rPr>
                                <m:t>𝑝𝑖</m:t>
                              </m:r>
                            </m:sub>
                          </m:sSub>
                        </m:sup>
                      </m:sSup>
                      <m:sSup>
                        <m:sSupPr>
                          <m:ctrlPr>
                            <a:rPr lang="en-US" sz="2000" i="1">
                              <a:latin typeface="Cambria Math" panose="02040503050406030204" pitchFamily="18" charset="0"/>
                              <a:ea typeface="Cambria Math" panose="02040503050406030204" pitchFamily="18" charset="0"/>
                            </a:rPr>
                          </m:ctrlPr>
                        </m:sSupPr>
                        <m:e>
                          <m:d>
                            <m:dPr>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b="0" i="1">
                                          <a:latin typeface="Cambria Math" panose="02040503050406030204" pitchFamily="18" charset="0"/>
                                          <a:ea typeface="Cambria Math" panose="02040503050406030204" pitchFamily="18" charset="0"/>
                                        </a:rPr>
                                        <m:t>𝑗</m:t>
                                      </m:r>
                                    </m:sub>
                                  </m:sSub>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𝜖</m:t>
                                  </m:r>
                                  <m:r>
                                    <a:rPr lang="en-US" sz="2000" i="1" baseline="-25000">
                                      <a:latin typeface="Cambria Math" panose="02040503050406030204" pitchFamily="18" charset="0"/>
                                      <a:ea typeface="Cambria Math" panose="02040503050406030204" pitchFamily="18" charset="0"/>
                                    </a:rPr>
                                    <m:t>𝑗</m:t>
                                  </m:r>
                                </m:den>
                              </m:f>
                            </m:e>
                          </m:d>
                        </m:e>
                        <m:sup>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𝑝</m:t>
                              </m:r>
                              <m:r>
                                <a:rPr lang="en-US" sz="2000" b="0" i="1">
                                  <a:latin typeface="Cambria Math" panose="02040503050406030204" pitchFamily="18" charset="0"/>
                                  <a:ea typeface="Cambria Math" panose="02040503050406030204" pitchFamily="18" charset="0"/>
                                </a:rPr>
                                <m:t>𝑗</m:t>
                              </m:r>
                            </m:sub>
                          </m:sSub>
                        </m:sup>
                      </m:sSup>
                    </m:oMath>
                  </m:oMathPara>
                </a14:m>
                <a:endParaRPr lang="en-US" dirty="0"/>
              </a:p>
            </p:txBody>
          </p:sp>
        </mc:Choice>
        <mc:Fallback xmlns="">
          <p:sp>
            <p:nvSpPr>
              <p:cNvPr id="7" name="TextBox 6">
                <a:extLst>
                  <a:ext uri="{FF2B5EF4-FFF2-40B4-BE49-F238E27FC236}">
                    <a16:creationId xmlns:a16="http://schemas.microsoft.com/office/drawing/2014/main" id="{B5A9754D-D9AB-6341-81CD-0C8769EBE5DD}"/>
                  </a:ext>
                </a:extLst>
              </p:cNvPr>
              <p:cNvSpPr txBox="1">
                <a:spLocks noRot="1" noChangeAspect="1" noMove="1" noResize="1" noEditPoints="1" noAdjustHandles="1" noChangeArrowheads="1" noChangeShapeType="1" noTextEdit="1"/>
              </p:cNvSpPr>
              <p:nvPr/>
            </p:nvSpPr>
            <p:spPr>
              <a:xfrm>
                <a:off x="1614054" y="4964208"/>
                <a:ext cx="5486400" cy="745076"/>
              </a:xfrm>
              <a:prstGeom prst="rect">
                <a:avLst/>
              </a:prstGeom>
              <a:blipFill>
                <a:blip r:embed="rId5"/>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B54435-38BC-7F4C-8F55-1E825184609A}"/>
                  </a:ext>
                </a:extLst>
              </p:cNvPr>
              <p:cNvSpPr txBox="1"/>
              <p:nvPr/>
            </p:nvSpPr>
            <p:spPr>
              <a:xfrm>
                <a:off x="1161704" y="3938220"/>
                <a:ext cx="7578436" cy="944746"/>
              </a:xfrm>
              <a:prstGeom prst="rect">
                <a:avLst/>
              </a:prstGeom>
              <a:noFill/>
            </p:spPr>
            <p:txBody>
              <a:bodyPr wrap="square" rtlCol="0">
                <a:spAutoFit/>
              </a:bodyPr>
              <a:lstStyle/>
              <a:p>
                <a:r>
                  <a:rPr lang="en-US" dirty="0"/>
                  <a:t>The joint probability of reading errors, conditional on total reading error, formed a binomial PDF that did not involve person ability (notice the absence of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𝜉</m:t>
                        </m:r>
                      </m:e>
                      <m:sub>
                        <m:r>
                          <a:rPr lang="en-US" i="1">
                            <a:latin typeface="Cambria Math" panose="02040503050406030204" pitchFamily="18" charset="0"/>
                            <a:ea typeface="Cambria Math" panose="02040503050406030204" pitchFamily="18" charset="0"/>
                          </a:rPr>
                          <m:t>𝑝</m:t>
                        </m:r>
                      </m:sub>
                    </m:sSub>
                  </m:oMath>
                </a14:m>
                <a:r>
                  <a:rPr lang="en-US" dirty="0"/>
                  <a:t> in the expressions below)</a:t>
                </a:r>
              </a:p>
            </p:txBody>
          </p:sp>
        </mc:Choice>
        <mc:Fallback xmlns="">
          <p:sp>
            <p:nvSpPr>
              <p:cNvPr id="8" name="TextBox 7">
                <a:extLst>
                  <a:ext uri="{FF2B5EF4-FFF2-40B4-BE49-F238E27FC236}">
                    <a16:creationId xmlns:a16="http://schemas.microsoft.com/office/drawing/2014/main" id="{F8B54435-38BC-7F4C-8F55-1E825184609A}"/>
                  </a:ext>
                </a:extLst>
              </p:cNvPr>
              <p:cNvSpPr txBox="1">
                <a:spLocks noRot="1" noChangeAspect="1" noMove="1" noResize="1" noEditPoints="1" noAdjustHandles="1" noChangeArrowheads="1" noChangeShapeType="1" noTextEdit="1"/>
              </p:cNvSpPr>
              <p:nvPr/>
            </p:nvSpPr>
            <p:spPr>
              <a:xfrm>
                <a:off x="1161704" y="3938220"/>
                <a:ext cx="7578436" cy="944746"/>
              </a:xfrm>
              <a:prstGeom prst="rect">
                <a:avLst/>
              </a:prstGeom>
              <a:blipFill>
                <a:blip r:embed="rId6"/>
                <a:stretch>
                  <a:fillRect l="-669" t="-2667" b="-666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FC649F99-D435-234F-A031-794BC8BB3F5D}"/>
              </a:ext>
            </a:extLst>
          </p:cNvPr>
          <p:cNvSpPr txBox="1"/>
          <p:nvPr/>
        </p:nvSpPr>
        <p:spPr>
          <a:xfrm>
            <a:off x="955964" y="5971309"/>
            <a:ext cx="10397836" cy="646331"/>
          </a:xfrm>
          <a:prstGeom prst="rect">
            <a:avLst/>
          </a:prstGeom>
          <a:noFill/>
        </p:spPr>
        <p:txBody>
          <a:bodyPr wrap="square" rtlCol="0">
            <a:spAutoFit/>
          </a:bodyPr>
          <a:lstStyle/>
          <a:p>
            <a:r>
              <a:rPr lang="en-US" dirty="0"/>
              <a:t>This meant it was possible to completely separate text parameters from person parameters, and in this sense, the measurement of difficulty does not depend on ability and vice-versa.</a:t>
            </a:r>
          </a:p>
        </p:txBody>
      </p:sp>
    </p:spTree>
    <p:extLst>
      <p:ext uri="{BB962C8B-B14F-4D97-AF65-F5344CB8AC3E}">
        <p14:creationId xmlns:p14="http://schemas.microsoft.com/office/powerpoint/2010/main" val="4054574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17A8C-FB98-F74B-AA7F-9DDC5F339F8B}"/>
              </a:ext>
            </a:extLst>
          </p:cNvPr>
          <p:cNvSpPr>
            <a:spLocks noGrp="1"/>
          </p:cNvSpPr>
          <p:nvPr>
            <p:ph type="title"/>
          </p:nvPr>
        </p:nvSpPr>
        <p:spPr/>
        <p:txBody>
          <a:bodyPr/>
          <a:lstStyle/>
          <a:p>
            <a:r>
              <a:rPr lang="en-US" b="1" dirty="0"/>
              <a:t>Applying this to dichotomously scored intelligence test items…</a:t>
            </a:r>
          </a:p>
        </p:txBody>
      </p:sp>
      <p:sp>
        <p:nvSpPr>
          <p:cNvPr id="4" name="TextBox 3">
            <a:extLst>
              <a:ext uri="{FF2B5EF4-FFF2-40B4-BE49-F238E27FC236}">
                <a16:creationId xmlns:a16="http://schemas.microsoft.com/office/drawing/2014/main" id="{36EEF834-F2A8-894B-A065-29E87BC2C934}"/>
              </a:ext>
            </a:extLst>
          </p:cNvPr>
          <p:cNvSpPr txBox="1"/>
          <p:nvPr/>
        </p:nvSpPr>
        <p:spPr>
          <a:xfrm>
            <a:off x="3358210" y="2158367"/>
            <a:ext cx="5235291" cy="830997"/>
          </a:xfrm>
          <a:prstGeom prst="rect">
            <a:avLst/>
          </a:prstGeom>
          <a:noFill/>
        </p:spPr>
        <p:txBody>
          <a:bodyPr wrap="square" rtlCol="0">
            <a:spAutoFit/>
          </a:bodyPr>
          <a:lstStyle/>
          <a:p>
            <a:r>
              <a:rPr lang="en-US" sz="2400" dirty="0"/>
              <a:t>Rasch: “The simplest function I know of” (logistic)</a:t>
            </a:r>
          </a:p>
        </p:txBody>
      </p:sp>
      <p:graphicFrame>
        <p:nvGraphicFramePr>
          <p:cNvPr id="5" name="Object 4">
            <a:extLst>
              <a:ext uri="{FF2B5EF4-FFF2-40B4-BE49-F238E27FC236}">
                <a16:creationId xmlns:a16="http://schemas.microsoft.com/office/drawing/2014/main" id="{2623C423-15AC-8C4B-A026-96F3CBFE6A17}"/>
              </a:ext>
            </a:extLst>
          </p:cNvPr>
          <p:cNvGraphicFramePr>
            <a:graphicFrameLocks noChangeAspect="1"/>
          </p:cNvGraphicFramePr>
          <p:nvPr>
            <p:extLst>
              <p:ext uri="{D42A27DB-BD31-4B8C-83A1-F6EECF244321}">
                <p14:modId xmlns:p14="http://schemas.microsoft.com/office/powerpoint/2010/main" val="1786641680"/>
              </p:ext>
            </p:extLst>
          </p:nvPr>
        </p:nvGraphicFramePr>
        <p:xfrm>
          <a:off x="946535" y="2054224"/>
          <a:ext cx="2184400" cy="1214438"/>
        </p:xfrm>
        <a:graphic>
          <a:graphicData uri="http://schemas.openxmlformats.org/presentationml/2006/ole">
            <mc:AlternateContent xmlns:mc="http://schemas.openxmlformats.org/markup-compatibility/2006">
              <mc:Choice xmlns:v="urn:schemas-microsoft-com:vml" Requires="v">
                <p:oleObj name="Equation" r:id="rId2" imgW="914400" imgH="508000" progId="Equation.DSMT4">
                  <p:embed/>
                </p:oleObj>
              </mc:Choice>
              <mc:Fallback>
                <p:oleObj name="Equation" r:id="rId2" imgW="914400" imgH="508000" progId="Equation.DSMT4">
                  <p:embed/>
                  <p:pic>
                    <p:nvPicPr>
                      <p:cNvPr id="11" name="Object 10"/>
                      <p:cNvPicPr/>
                      <p:nvPr/>
                    </p:nvPicPr>
                    <p:blipFill>
                      <a:blip r:embed="rId3"/>
                      <a:stretch>
                        <a:fillRect/>
                      </a:stretch>
                    </p:blipFill>
                    <p:spPr>
                      <a:xfrm>
                        <a:off x="946535" y="2054224"/>
                        <a:ext cx="2184400" cy="121443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7DB0B16-E1F1-B84A-B9AE-3085DFBDA809}"/>
                  </a:ext>
                </a:extLst>
              </p:cNvPr>
              <p:cNvSpPr txBox="1"/>
              <p:nvPr/>
            </p:nvSpPr>
            <p:spPr>
              <a:xfrm>
                <a:off x="1260763" y="3641666"/>
                <a:ext cx="6442364" cy="11771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a:latin typeface="Cambria Math" panose="02040503050406030204" pitchFamily="18" charset="0"/>
                        </a:rPr>
                        <m:t>𝑃</m:t>
                      </m:r>
                      <m:d>
                        <m:dPr>
                          <m:ctrlPr>
                            <a:rPr lang="en-US" sz="3200" b="0" i="1">
                              <a:latin typeface="Cambria Math" panose="02040503050406030204" pitchFamily="18" charset="0"/>
                            </a:rPr>
                          </m:ctrlPr>
                        </m:dPr>
                        <m:e>
                          <m:r>
                            <a:rPr lang="en-US" sz="3200" b="0" i="1">
                              <a:latin typeface="Cambria Math" panose="02040503050406030204" pitchFamily="18" charset="0"/>
                            </a:rPr>
                            <m:t>+</m:t>
                          </m:r>
                        </m:e>
                        <m:e>
                          <m:sSub>
                            <m:sSubPr>
                              <m:ctrlPr>
                                <a:rPr lang="en-US" sz="3200" b="0" i="1">
                                  <a:latin typeface="Cambria Math" panose="02040503050406030204" pitchFamily="18" charset="0"/>
                                  <a:ea typeface="Cambria Math" panose="02040503050406030204" pitchFamily="18" charset="0"/>
                                </a:rPr>
                              </m:ctrlPr>
                            </m:sSubPr>
                            <m:e>
                              <m:r>
                                <a:rPr lang="en-US" sz="3200" b="0" i="1">
                                  <a:latin typeface="Cambria Math" panose="02040503050406030204" pitchFamily="18" charset="0"/>
                                  <a:ea typeface="Cambria Math" panose="02040503050406030204" pitchFamily="18" charset="0"/>
                                </a:rPr>
                                <m:t>𝜉</m:t>
                              </m:r>
                            </m:e>
                            <m:sub>
                              <m:r>
                                <a:rPr lang="en-US" sz="3200" b="0" i="1">
                                  <a:latin typeface="Cambria Math" panose="02040503050406030204" pitchFamily="18" charset="0"/>
                                  <a:ea typeface="Cambria Math" panose="02040503050406030204" pitchFamily="18" charset="0"/>
                                </a:rPr>
                                <m:t>𝑝</m:t>
                              </m:r>
                            </m:sub>
                          </m:sSub>
                          <m:sSub>
                            <m:sSubPr>
                              <m:ctrlPr>
                                <a:rPr lang="en-US" sz="3200" b="0" i="1">
                                  <a:latin typeface="Cambria Math" panose="02040503050406030204" pitchFamily="18" charset="0"/>
                                  <a:ea typeface="Cambria Math" panose="02040503050406030204" pitchFamily="18" charset="0"/>
                                </a:rPr>
                              </m:ctrlPr>
                            </m:sSubPr>
                            <m:e>
                              <m:r>
                                <a:rPr lang="en-US" sz="3200" b="0" i="1">
                                  <a:latin typeface="Cambria Math" panose="02040503050406030204" pitchFamily="18" charset="0"/>
                                  <a:ea typeface="Cambria Math" panose="02040503050406030204" pitchFamily="18" charset="0"/>
                                </a:rPr>
                                <m:t>,</m:t>
                              </m:r>
                              <m:r>
                                <a:rPr lang="en-US" sz="3200" b="0" i="1">
                                  <a:latin typeface="Cambria Math" panose="02040503050406030204" pitchFamily="18" charset="0"/>
                                  <a:ea typeface="Cambria Math" panose="02040503050406030204" pitchFamily="18" charset="0"/>
                                </a:rPr>
                                <m:t>𝜖</m:t>
                              </m:r>
                            </m:e>
                            <m:sub>
                              <m:r>
                                <a:rPr lang="en-US" sz="3200" b="0" i="1">
                                  <a:latin typeface="Cambria Math" panose="02040503050406030204" pitchFamily="18" charset="0"/>
                                  <a:ea typeface="Cambria Math" panose="02040503050406030204" pitchFamily="18" charset="0"/>
                                </a:rPr>
                                <m:t>𝑖</m:t>
                              </m:r>
                            </m:sub>
                          </m:sSub>
                        </m:e>
                      </m:d>
                      <m:r>
                        <a:rPr lang="en-US" sz="3200" b="0" i="1">
                          <a:latin typeface="Cambria Math" panose="02040503050406030204" pitchFamily="18" charset="0"/>
                          <a:ea typeface="Cambria Math" panose="02040503050406030204" pitchFamily="18" charset="0"/>
                        </a:rPr>
                        <m:t>=</m:t>
                      </m:r>
                      <m:f>
                        <m:fPr>
                          <m:ctrlPr>
                            <a:rPr lang="en-US" sz="3200" b="0" i="1">
                              <a:latin typeface="Cambria Math" panose="02040503050406030204" pitchFamily="18" charset="0"/>
                              <a:ea typeface="Cambria Math" panose="02040503050406030204" pitchFamily="18" charset="0"/>
                            </a:rPr>
                          </m:ctrlPr>
                        </m:fPr>
                        <m:num>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𝜉</m:t>
                              </m:r>
                            </m:e>
                            <m:sub>
                              <m:r>
                                <a:rPr lang="en-US" sz="3200" i="1">
                                  <a:latin typeface="Cambria Math" panose="02040503050406030204" pitchFamily="18" charset="0"/>
                                  <a:ea typeface="Cambria Math" panose="02040503050406030204" pitchFamily="18" charset="0"/>
                                </a:rPr>
                                <m:t>𝑝</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𝜖</m:t>
                              </m:r>
                            </m:e>
                            <m:sub>
                              <m:r>
                                <a:rPr lang="en-US" sz="3200" i="1">
                                  <a:latin typeface="Cambria Math" panose="02040503050406030204" pitchFamily="18" charset="0"/>
                                  <a:ea typeface="Cambria Math" panose="02040503050406030204" pitchFamily="18" charset="0"/>
                                </a:rPr>
                                <m:t>𝑖</m:t>
                              </m:r>
                            </m:sub>
                          </m:sSub>
                        </m:num>
                        <m:den>
                          <m:r>
                            <a:rPr lang="en-US" sz="3200" b="0" i="1">
                              <a:latin typeface="Cambria Math" panose="02040503050406030204" pitchFamily="18" charset="0"/>
                              <a:ea typeface="Cambria Math" panose="02040503050406030204" pitchFamily="18" charset="0"/>
                            </a:rPr>
                            <m:t>1+</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𝜉</m:t>
                              </m:r>
                            </m:e>
                            <m:sub>
                              <m:r>
                                <a:rPr lang="en-US" sz="3200" i="1">
                                  <a:latin typeface="Cambria Math" panose="02040503050406030204" pitchFamily="18" charset="0"/>
                                  <a:ea typeface="Cambria Math" panose="02040503050406030204" pitchFamily="18" charset="0"/>
                                </a:rPr>
                                <m:t>𝑝</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𝜖</m:t>
                              </m:r>
                            </m:e>
                            <m:sub>
                              <m:r>
                                <a:rPr lang="en-US" sz="3200" i="1">
                                  <a:latin typeface="Cambria Math" panose="02040503050406030204" pitchFamily="18" charset="0"/>
                                  <a:ea typeface="Cambria Math" panose="02040503050406030204" pitchFamily="18" charset="0"/>
                                </a:rPr>
                                <m:t>𝑖</m:t>
                              </m:r>
                            </m:sub>
                          </m:sSub>
                        </m:den>
                      </m:f>
                    </m:oMath>
                  </m:oMathPara>
                </a14:m>
                <a:endParaRPr lang="en-US" sz="2400" dirty="0"/>
              </a:p>
            </p:txBody>
          </p:sp>
        </mc:Choice>
        <mc:Fallback xmlns="">
          <p:sp>
            <p:nvSpPr>
              <p:cNvPr id="6" name="TextBox 5">
                <a:extLst>
                  <a:ext uri="{FF2B5EF4-FFF2-40B4-BE49-F238E27FC236}">
                    <a16:creationId xmlns:a16="http://schemas.microsoft.com/office/drawing/2014/main" id="{47DB0B16-E1F1-B84A-B9AE-3085DFBDA809}"/>
                  </a:ext>
                </a:extLst>
              </p:cNvPr>
              <p:cNvSpPr txBox="1">
                <a:spLocks noRot="1" noChangeAspect="1" noMove="1" noResize="1" noEditPoints="1" noAdjustHandles="1" noChangeArrowheads="1" noChangeShapeType="1" noTextEdit="1"/>
              </p:cNvSpPr>
              <p:nvPr/>
            </p:nvSpPr>
            <p:spPr>
              <a:xfrm>
                <a:off x="1260763" y="3641666"/>
                <a:ext cx="6442364" cy="1177182"/>
              </a:xfrm>
              <a:prstGeom prst="rect">
                <a:avLst/>
              </a:prstGeom>
              <a:blipFill>
                <a:blip r:embed="rId5"/>
                <a:stretch>
                  <a:fillRect b="-537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399BFE6-6387-934A-8B65-946448A3DE9B}"/>
              </a:ext>
            </a:extLst>
          </p:cNvPr>
          <p:cNvSpPr txBox="1"/>
          <p:nvPr/>
        </p:nvSpPr>
        <p:spPr>
          <a:xfrm>
            <a:off x="838200" y="5320145"/>
            <a:ext cx="9074727" cy="1015663"/>
          </a:xfrm>
          <a:prstGeom prst="rect">
            <a:avLst/>
          </a:prstGeom>
          <a:noFill/>
          <a:ln>
            <a:solidFill>
              <a:schemeClr val="accent1"/>
            </a:solidFill>
          </a:ln>
        </p:spPr>
        <p:txBody>
          <a:bodyPr wrap="square" rtlCol="0">
            <a:spAutoFit/>
          </a:bodyPr>
          <a:lstStyle/>
          <a:p>
            <a:r>
              <a:rPr lang="en-US" sz="2000" dirty="0"/>
              <a:t>Where “+” was the symbol Rasch used for a correct item response. This was the original expression for what we now call the Rasch Model. It shares the same property of separability for its two parameters with the multiplicative Poisson.</a:t>
            </a:r>
          </a:p>
        </p:txBody>
      </p:sp>
    </p:spTree>
    <p:extLst>
      <p:ext uri="{BB962C8B-B14F-4D97-AF65-F5344CB8AC3E}">
        <p14:creationId xmlns:p14="http://schemas.microsoft.com/office/powerpoint/2010/main" val="54849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Modern Formulation</a:t>
            </a:r>
          </a:p>
        </p:txBody>
      </p:sp>
      <p:sp>
        <p:nvSpPr>
          <p:cNvPr id="8" name="TextBox 7"/>
          <p:cNvSpPr txBox="1"/>
          <p:nvPr/>
        </p:nvSpPr>
        <p:spPr>
          <a:xfrm>
            <a:off x="1436914" y="1690688"/>
            <a:ext cx="8768443" cy="1200329"/>
          </a:xfrm>
          <a:prstGeom prst="rect">
            <a:avLst/>
          </a:prstGeom>
          <a:noFill/>
        </p:spPr>
        <p:txBody>
          <a:bodyPr wrap="square" rtlCol="0">
            <a:spAutoFit/>
          </a:bodyPr>
          <a:lstStyle/>
          <a:p>
            <a:r>
              <a:rPr lang="en-US" sz="2400" dirty="0"/>
              <a:t>The present day expression known as the Rasch Model follows from a monotonic (“order preserving”) transformation to both person ability and item difficulty parameters</a:t>
            </a:r>
          </a:p>
        </p:txBody>
      </p:sp>
      <p:sp>
        <p:nvSpPr>
          <p:cNvPr id="4" name="Slide Number Placeholder 3"/>
          <p:cNvSpPr>
            <a:spLocks noGrp="1"/>
          </p:cNvSpPr>
          <p:nvPr>
            <p:ph type="sldNum" sz="quarter" idx="12"/>
          </p:nvPr>
        </p:nvSpPr>
        <p:spPr/>
        <p:txBody>
          <a:bodyPr/>
          <a:lstStyle/>
          <a:p>
            <a:fld id="{B45EA367-76FE-D949-98D2-428E246BFD0D}" type="slidenum">
              <a:rPr lang="uk-UA" smtClean="0"/>
              <a:t>14</a:t>
            </a:fld>
            <a:endParaRPr lang="uk-UA"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C5A557-09FD-744D-8AE8-9D38CBE12A5A}"/>
                  </a:ext>
                </a:extLst>
              </p:cNvPr>
              <p:cNvSpPr txBox="1"/>
              <p:nvPr/>
            </p:nvSpPr>
            <p:spPr>
              <a:xfrm>
                <a:off x="313899" y="3112298"/>
                <a:ext cx="7478973" cy="8595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𝜃</m:t>
                              </m:r>
                            </m:e>
                            <m:sub>
                              <m:r>
                                <a:rPr lang="en-US" sz="2400" b="0" i="1">
                                  <a:latin typeface="Cambria Math" panose="02040503050406030204" pitchFamily="18" charset="0"/>
                                  <a:ea typeface="Cambria Math" panose="02040503050406030204" pitchFamily="18" charset="0"/>
                                </a:rPr>
                                <m:t>𝑝</m:t>
                              </m:r>
                            </m:sub>
                          </m:sSub>
                          <m:r>
                            <a:rPr lang="en-US" sz="2400" b="0" i="1">
                              <a:latin typeface="Cambria Math" panose="02040503050406030204" pitchFamily="18" charset="0"/>
                              <a:ea typeface="Cambria Math" panose="02040503050406030204" pitchFamily="18" charset="0"/>
                            </a:rPr>
                            <m:t>=</m:t>
                          </m:r>
                          <m:r>
                            <m:rPr>
                              <m:sty m:val="p"/>
                            </m:rPr>
                            <a:rPr lang="en-US" sz="2400" b="0" i="0">
                              <a:latin typeface="Cambria Math" panose="02040503050406030204" pitchFamily="18" charset="0"/>
                              <a:ea typeface="Cambria Math" panose="02040503050406030204" pitchFamily="18" charset="0"/>
                            </a:rPr>
                            <m:t>ln</m:t>
                          </m:r>
                          <m:r>
                            <a:rPr lang="en-US" sz="2400" b="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𝜉</m:t>
                          </m:r>
                        </m:e>
                        <m:sub>
                          <m:r>
                            <a:rPr lang="en-US" sz="2400" i="1">
                              <a:latin typeface="Cambria Math" panose="02040503050406030204" pitchFamily="18" charset="0"/>
                              <a:ea typeface="Cambria Math" panose="02040503050406030204" pitchFamily="18" charset="0"/>
                            </a:rPr>
                            <m:t>𝑝</m:t>
                          </m:r>
                        </m:sub>
                      </m:sSub>
                      <m:r>
                        <a:rPr lang="en-US" sz="2400" b="0" i="1">
                          <a:latin typeface="Cambria Math" panose="02040503050406030204" pitchFamily="18" charset="0"/>
                          <a:ea typeface="Cambria Math" panose="02040503050406030204" pitchFamily="18" charset="0"/>
                        </a:rPr>
                        <m:t>)</m:t>
                      </m:r>
                    </m:oMath>
                  </m:oMathPara>
                </a14:m>
                <a:endParaRPr lang="en-US" sz="2400" b="0" dirty="0">
                  <a:ea typeface="Cambria Math" panose="02040503050406030204" pitchFamily="18" charset="0"/>
                </a:endParaRPr>
              </a:p>
              <a:p>
                <a:pPr algn="ct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𝑖</m:t>
                        </m:r>
                      </m:sub>
                    </m:sSub>
                    <m:r>
                      <a:rPr lang="en-US" sz="2400" b="0" i="1">
                        <a:latin typeface="Cambria Math" panose="02040503050406030204" pitchFamily="18" charset="0"/>
                        <a:ea typeface="Cambria Math" panose="02040503050406030204" pitchFamily="18" charset="0"/>
                      </a:rPr>
                      <m:t>=</m:t>
                    </m:r>
                    <m:r>
                      <m:rPr>
                        <m:sty m:val="p"/>
                      </m:rPr>
                      <a:rPr lang="en-US" sz="2400" b="0" i="0">
                        <a:latin typeface="Cambria Math" panose="02040503050406030204" pitchFamily="18" charset="0"/>
                        <a:ea typeface="Cambria Math" panose="02040503050406030204" pitchFamily="18" charset="0"/>
                      </a:rPr>
                      <m:t>ln</m:t>
                    </m:r>
                    <m:r>
                      <a:rPr lang="en-US" sz="2400" b="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𝜖</m:t>
                        </m:r>
                      </m:e>
                      <m:sub>
                        <m:r>
                          <a:rPr lang="en-US" sz="2400" i="1">
                            <a:latin typeface="Cambria Math" panose="02040503050406030204" pitchFamily="18" charset="0"/>
                            <a:ea typeface="Cambria Math" panose="02040503050406030204" pitchFamily="18" charset="0"/>
                          </a:rPr>
                          <m:t>𝑖</m:t>
                        </m:r>
                      </m:sub>
                    </m:sSub>
                  </m:oMath>
                </a14:m>
                <a:r>
                  <a:rPr lang="en-US" sz="2400" b="0" dirty="0">
                    <a:ea typeface="Cambria Math" panose="02040503050406030204" pitchFamily="18" charset="0"/>
                  </a:rPr>
                  <a:t>)</a:t>
                </a:r>
              </a:p>
            </p:txBody>
          </p:sp>
        </mc:Choice>
        <mc:Fallback xmlns="">
          <p:sp>
            <p:nvSpPr>
              <p:cNvPr id="6" name="TextBox 5">
                <a:extLst>
                  <a:ext uri="{FF2B5EF4-FFF2-40B4-BE49-F238E27FC236}">
                    <a16:creationId xmlns:a16="http://schemas.microsoft.com/office/drawing/2014/main" id="{48C5A557-09FD-744D-8AE8-9D38CBE12A5A}"/>
                  </a:ext>
                </a:extLst>
              </p:cNvPr>
              <p:cNvSpPr txBox="1">
                <a:spLocks noRot="1" noChangeAspect="1" noMove="1" noResize="1" noEditPoints="1" noAdjustHandles="1" noChangeArrowheads="1" noChangeShapeType="1" noTextEdit="1"/>
              </p:cNvSpPr>
              <p:nvPr/>
            </p:nvSpPr>
            <p:spPr>
              <a:xfrm>
                <a:off x="313899" y="3112298"/>
                <a:ext cx="7478973" cy="859531"/>
              </a:xfrm>
              <a:prstGeom prst="rect">
                <a:avLst/>
              </a:prstGeom>
              <a:blipFill>
                <a:blip r:embed="rId2"/>
                <a:stretch>
                  <a:fillRect b="-14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13341A-97D0-2B44-8A2A-E11409668F7A}"/>
                  </a:ext>
                </a:extLst>
              </p:cNvPr>
              <p:cNvSpPr txBox="1"/>
              <p:nvPr/>
            </p:nvSpPr>
            <p:spPr>
              <a:xfrm>
                <a:off x="1177806" y="4440746"/>
                <a:ext cx="6751544" cy="908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𝑃</m:t>
                      </m:r>
                      <m:d>
                        <m:dPr>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𝑝𝑖</m:t>
                              </m:r>
                            </m:sub>
                          </m:sSub>
                          <m:r>
                            <a:rPr lang="en-US" sz="2400" b="0" i="1">
                              <a:latin typeface="Cambria Math" panose="02040503050406030204" pitchFamily="18" charset="0"/>
                            </a:rPr>
                            <m:t>=1</m:t>
                          </m:r>
                        </m:e>
                        <m:e>
                          <m:sSub>
                            <m:sSubPr>
                              <m:ctrlPr>
                                <a:rPr lang="en-US" sz="2400" b="0" i="1">
                                  <a:latin typeface="Cambria Math" panose="02040503050406030204" pitchFamily="18" charset="0"/>
                                </a:rPr>
                              </m:ctrlPr>
                            </m:sSubPr>
                            <m:e>
                              <m:r>
                                <a:rPr lang="en-US" sz="2400" b="0" i="1">
                                  <a:latin typeface="Cambria Math" panose="02040503050406030204" pitchFamily="18" charset="0"/>
                                </a:rPr>
                                <m:t>𝜃</m:t>
                              </m:r>
                            </m:e>
                            <m:sub>
                              <m:r>
                                <a:rPr lang="en-US" sz="2400" b="0" i="1">
                                  <a:latin typeface="Cambria Math" panose="02040503050406030204" pitchFamily="18" charset="0"/>
                                </a:rPr>
                                <m:t>𝑝</m:t>
                              </m:r>
                            </m:sub>
                          </m:sSub>
                          <m:r>
                            <a:rPr lang="en-US" sz="2400" b="0" i="1">
                              <a:latin typeface="Cambria Math" panose="02040503050406030204" pitchFamily="18" charset="0"/>
                            </a:rPr>
                            <m:t>,</m:t>
                          </m:r>
                          <m:sSub>
                            <m:sSubPr>
                              <m:ctrlPr>
                                <a:rPr lang="en-US" sz="2400" b="0" i="1">
                                  <a:latin typeface="Cambria Math" panose="02040503050406030204" pitchFamily="18" charset="0"/>
                                </a:rPr>
                              </m:ctrlPr>
                            </m:sSubPr>
                            <m:e>
                              <m:r>
                                <a:rPr lang="en-US" sz="2400" b="0" i="1">
                                  <a:latin typeface="Cambria Math" panose="02040503050406030204" pitchFamily="18" charset="0"/>
                                </a:rPr>
                                <m:t>𝛽</m:t>
                              </m:r>
                            </m:e>
                            <m:sub>
                              <m:r>
                                <a:rPr lang="en-US" sz="2400" b="0" i="1">
                                  <a:latin typeface="Cambria Math" panose="02040503050406030204" pitchFamily="18" charset="0"/>
                                </a:rPr>
                                <m:t>𝑖</m:t>
                              </m:r>
                            </m:sub>
                          </m:sSub>
                        </m:e>
                      </m:d>
                      <m:r>
                        <a:rPr lang="en-US" sz="2400" b="0" i="1">
                          <a:latin typeface="Cambria Math" panose="02040503050406030204" pitchFamily="18" charset="0"/>
                        </a:rPr>
                        <m:t>=</m:t>
                      </m:r>
                      <m:f>
                        <m:fPr>
                          <m:ctrlPr>
                            <a:rPr lang="en-US" sz="2400" b="0" i="1">
                              <a:latin typeface="Cambria Math" panose="02040503050406030204" pitchFamily="18" charset="0"/>
                            </a:rPr>
                          </m:ctrlPr>
                        </m:fPr>
                        <m:num>
                          <m:r>
                            <m:rPr>
                              <m:sty m:val="p"/>
                            </m:rPr>
                            <a:rPr lang="en-US" sz="2400" b="0" i="0">
                              <a:latin typeface="Cambria Math" panose="02040503050406030204" pitchFamily="18" charset="0"/>
                            </a:rPr>
                            <m:t>exp</m:t>
                          </m:r>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𝑝</m:t>
                              </m:r>
                            </m:sub>
                          </m:sSub>
                          <m:r>
                            <a:rPr lang="en-US" sz="2400" b="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𝑖</m:t>
                              </m:r>
                            </m:sub>
                          </m:sSub>
                          <m:r>
                            <a:rPr lang="en-US" sz="2400" b="0" i="1">
                              <a:latin typeface="Cambria Math" panose="02040503050406030204" pitchFamily="18" charset="0"/>
                            </a:rPr>
                            <m:t>)</m:t>
                          </m:r>
                        </m:num>
                        <m:den>
                          <m:r>
                            <a:rPr lang="en-US" sz="2400" b="0" i="1">
                              <a:latin typeface="Cambria Math" panose="02040503050406030204" pitchFamily="18" charset="0"/>
                            </a:rPr>
                            <m:t>1+</m:t>
                          </m:r>
                          <m:r>
                            <m:rPr>
                              <m:sty m:val="p"/>
                            </m:rPr>
                            <a:rPr lang="en-US" sz="2400">
                              <a:latin typeface="Cambria Math" panose="02040503050406030204" pitchFamily="18" charset="0"/>
                            </a:rPr>
                            <m:t>exp</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𝑝</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𝑖</m:t>
                              </m:r>
                            </m:sub>
                          </m:sSub>
                          <m:r>
                            <a:rPr lang="en-US" sz="2400" i="1">
                              <a:latin typeface="Cambria Math" panose="02040503050406030204" pitchFamily="18" charset="0"/>
                            </a:rPr>
                            <m:t>)</m:t>
                          </m:r>
                        </m:den>
                      </m:f>
                    </m:oMath>
                  </m:oMathPara>
                </a14:m>
                <a:endParaRPr lang="en-US" dirty="0"/>
              </a:p>
            </p:txBody>
          </p:sp>
        </mc:Choice>
        <mc:Fallback xmlns="">
          <p:sp>
            <p:nvSpPr>
              <p:cNvPr id="7" name="TextBox 6">
                <a:extLst>
                  <a:ext uri="{FF2B5EF4-FFF2-40B4-BE49-F238E27FC236}">
                    <a16:creationId xmlns:a16="http://schemas.microsoft.com/office/drawing/2014/main" id="{0A13341A-97D0-2B44-8A2A-E11409668F7A}"/>
                  </a:ext>
                </a:extLst>
              </p:cNvPr>
              <p:cNvSpPr txBox="1">
                <a:spLocks noRot="1" noChangeAspect="1" noMove="1" noResize="1" noEditPoints="1" noAdjustHandles="1" noChangeArrowheads="1" noChangeShapeType="1" noTextEdit="1"/>
              </p:cNvSpPr>
              <p:nvPr/>
            </p:nvSpPr>
            <p:spPr>
              <a:xfrm>
                <a:off x="1177806" y="4440746"/>
                <a:ext cx="6751544" cy="908262"/>
              </a:xfrm>
              <a:prstGeom prst="rect">
                <a:avLst/>
              </a:prstGeom>
              <a:blipFill>
                <a:blip r:embed="rId3"/>
                <a:stretch>
                  <a:fillRect t="-1389" b="-5556"/>
                </a:stretch>
              </a:blipFill>
            </p:spPr>
            <p:txBody>
              <a:bodyPr/>
              <a:lstStyle/>
              <a:p>
                <a:r>
                  <a:rPr lang="en-US">
                    <a:noFill/>
                  </a:rPr>
                  <a:t> </a:t>
                </a:r>
              </a:p>
            </p:txBody>
          </p:sp>
        </mc:Fallback>
      </mc:AlternateContent>
    </p:spTree>
    <p:extLst>
      <p:ext uri="{BB962C8B-B14F-4D97-AF65-F5344CB8AC3E}">
        <p14:creationId xmlns:p14="http://schemas.microsoft.com/office/powerpoint/2010/main" val="3882937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41E4EF-9C61-3843-9453-FBF820AE03C5}"/>
              </a:ext>
            </a:extLst>
          </p:cNvPr>
          <p:cNvSpPr txBox="1"/>
          <p:nvPr/>
        </p:nvSpPr>
        <p:spPr>
          <a:xfrm>
            <a:off x="2024743" y="2890156"/>
            <a:ext cx="8850085" cy="707886"/>
          </a:xfrm>
          <a:prstGeom prst="rect">
            <a:avLst/>
          </a:prstGeom>
          <a:noFill/>
        </p:spPr>
        <p:txBody>
          <a:bodyPr wrap="square" rtlCol="0">
            <a:spAutoFit/>
          </a:bodyPr>
          <a:lstStyle/>
          <a:p>
            <a:r>
              <a:rPr lang="en-US" sz="4000" b="1" dirty="0"/>
              <a:t>Model Assumptions and Properties</a:t>
            </a:r>
          </a:p>
        </p:txBody>
      </p:sp>
    </p:spTree>
    <p:extLst>
      <p:ext uri="{BB962C8B-B14F-4D97-AF65-F5344CB8AC3E}">
        <p14:creationId xmlns:p14="http://schemas.microsoft.com/office/powerpoint/2010/main" val="710701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0C3E93A-B4A4-6547-8400-3EF227F0C958}" type="slidenum">
              <a:rPr lang="en-US" sz="1400"/>
              <a:pPr eaLnBrk="1" hangingPunct="1"/>
              <a:t>16</a:t>
            </a:fld>
            <a:endParaRPr lang="en-US" sz="1400" dirty="0"/>
          </a:p>
        </p:txBody>
      </p:sp>
      <p:sp>
        <p:nvSpPr>
          <p:cNvPr id="44034" name="Title 1"/>
          <p:cNvSpPr>
            <a:spLocks noGrp="1"/>
          </p:cNvSpPr>
          <p:nvPr>
            <p:ph type="title" idx="4294967295"/>
          </p:nvPr>
        </p:nvSpPr>
        <p:spPr>
          <a:xfrm>
            <a:off x="838200" y="304800"/>
            <a:ext cx="9372600" cy="1143000"/>
          </a:xfrm>
        </p:spPr>
        <p:txBody>
          <a:bodyPr>
            <a:normAutofit/>
          </a:bodyPr>
          <a:lstStyle/>
          <a:p>
            <a:r>
              <a:rPr lang="en-US" b="1" dirty="0">
                <a:ea typeface="ＭＳ Ｐゴシック" charset="0"/>
                <a:cs typeface="Calibri"/>
              </a:rPr>
              <a:t>Rasch Model Assumptions</a:t>
            </a:r>
          </a:p>
        </p:txBody>
      </p:sp>
      <p:sp>
        <p:nvSpPr>
          <p:cNvPr id="3" name="Content Placeholder 2"/>
          <p:cNvSpPr>
            <a:spLocks noGrp="1"/>
          </p:cNvSpPr>
          <p:nvPr>
            <p:ph idx="4294967295"/>
          </p:nvPr>
        </p:nvSpPr>
        <p:spPr/>
        <p:txBody>
          <a:bodyPr>
            <a:normAutofit/>
          </a:bodyPr>
          <a:lstStyle/>
          <a:p>
            <a:pPr>
              <a:defRPr/>
            </a:pPr>
            <a:r>
              <a:rPr lang="en-US" u="sng" dirty="0"/>
              <a:t>Unidimensionality</a:t>
            </a:r>
            <a:r>
              <a:rPr lang="en-US" dirty="0"/>
              <a:t>: A collection of items (i.e., a test) have been designed to measure one latent construct. </a:t>
            </a:r>
          </a:p>
          <a:p>
            <a:pPr>
              <a:defRPr/>
            </a:pPr>
            <a:r>
              <a:rPr lang="en-US" u="sng" dirty="0"/>
              <a:t>Local (Conditional) Independence</a:t>
            </a:r>
            <a:r>
              <a:rPr lang="en-US" dirty="0"/>
              <a:t>: Conditional on the latent construct, item responses within any given respondent are independent.</a:t>
            </a:r>
          </a:p>
          <a:p>
            <a:pPr>
              <a:defRPr/>
            </a:pPr>
            <a:r>
              <a:rPr lang="en-US" u="sng" dirty="0"/>
              <a:t>Functional Form</a:t>
            </a:r>
            <a:r>
              <a:rPr lang="en-US" dirty="0"/>
              <a:t>: The probability of a correct response to an item is a logistic function of a person parameter (“ability”) and just one item parameter (“difficulty”)</a:t>
            </a:r>
          </a:p>
          <a:p>
            <a:pPr>
              <a:defRPr/>
            </a:pPr>
            <a:r>
              <a:rPr lang="en-US" u="sng" dirty="0"/>
              <a:t>Continuous Quantitative Variable</a:t>
            </a:r>
            <a:r>
              <a:rPr lang="en-US" dirty="0"/>
              <a:t>: The underlying latent construct of measurement is a continuous quantity.</a:t>
            </a:r>
          </a:p>
          <a:p>
            <a:pPr>
              <a:defRPr/>
            </a:pPr>
            <a:endParaRPr lang="en-US" dirty="0"/>
          </a:p>
        </p:txBody>
      </p:sp>
    </p:spTree>
    <p:extLst>
      <p:ext uri="{BB962C8B-B14F-4D97-AF65-F5344CB8AC3E}">
        <p14:creationId xmlns:p14="http://schemas.microsoft.com/office/powerpoint/2010/main" val="3228010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b="1" dirty="0">
                <a:ea typeface="ＭＳ Ｐゴシック" charset="0"/>
                <a:cs typeface="Calibri"/>
              </a:rPr>
              <a:t>Rasch Model Properties</a:t>
            </a:r>
            <a:endParaRPr lang="en-US" b="1" dirty="0"/>
          </a:p>
        </p:txBody>
      </p:sp>
      <p:sp>
        <p:nvSpPr>
          <p:cNvPr id="3" name="Content Placeholder 2"/>
          <p:cNvSpPr>
            <a:spLocks noGrp="1"/>
          </p:cNvSpPr>
          <p:nvPr>
            <p:ph idx="1"/>
          </p:nvPr>
        </p:nvSpPr>
        <p:spPr/>
        <p:txBody>
          <a:bodyPr>
            <a:normAutofit fontScale="92500"/>
          </a:bodyPr>
          <a:lstStyle/>
          <a:p>
            <a:pPr>
              <a:defRPr/>
            </a:pPr>
            <a:r>
              <a:rPr lang="en-US" sz="3000" u="sng" dirty="0"/>
              <a:t>Parameter Invariance</a:t>
            </a:r>
            <a:r>
              <a:rPr lang="en-US" sz="3000" dirty="0"/>
              <a:t>: If the model fits, item &amp; person parameters should be the same regardless of the group of persons &amp; items used to estimate them.</a:t>
            </a:r>
          </a:p>
          <a:p>
            <a:pPr>
              <a:defRPr/>
            </a:pPr>
            <a:r>
              <a:rPr lang="en-US" sz="3000" u="sng" dirty="0"/>
              <a:t>Scale Indeterminacy</a:t>
            </a:r>
            <a:r>
              <a:rPr lang="en-US" sz="3000" dirty="0"/>
              <a:t>: The logit scale is only identified up to a linear transformation. This means it needs to be “anchored”.</a:t>
            </a:r>
          </a:p>
          <a:p>
            <a:pPr>
              <a:defRPr/>
            </a:pPr>
            <a:r>
              <a:rPr lang="en-US" sz="3000" u="sng" dirty="0"/>
              <a:t>Sufficiency and separability</a:t>
            </a:r>
            <a:r>
              <a:rPr lang="en-US" sz="3000" dirty="0"/>
              <a:t>: We can estimate item difficulty without including person ability and vice-versa.</a:t>
            </a:r>
          </a:p>
          <a:p>
            <a:pPr lvl="1">
              <a:defRPr/>
            </a:pPr>
            <a:r>
              <a:rPr lang="en-US" sz="2800" u="sng" dirty="0"/>
              <a:t>Specific objectivity</a:t>
            </a:r>
            <a:r>
              <a:rPr lang="en-US" sz="2800" dirty="0"/>
              <a:t>: Invariant comparisons among persons and items.</a:t>
            </a:r>
          </a:p>
          <a:p>
            <a:pPr>
              <a:defRPr/>
            </a:pPr>
            <a:r>
              <a:rPr lang="en-US" sz="3000" u="sng" dirty="0"/>
              <a:t>Interval Scale</a:t>
            </a:r>
            <a:r>
              <a:rPr lang="en-US" sz="3000" dirty="0"/>
              <a:t>: An argument can be made that the logit scale of the Rasch Model has a well-defined common unit for an interval scale.</a:t>
            </a:r>
          </a:p>
          <a:p>
            <a:pPr lvl="1">
              <a:defRPr/>
            </a:pPr>
            <a:endParaRPr lang="en-US" sz="2600" dirty="0"/>
          </a:p>
          <a:p>
            <a:endParaRPr lang="en-US" dirty="0"/>
          </a:p>
        </p:txBody>
      </p:sp>
      <p:sp>
        <p:nvSpPr>
          <p:cNvPr id="4" name="Slide Number Placeholder 3"/>
          <p:cNvSpPr>
            <a:spLocks noGrp="1"/>
          </p:cNvSpPr>
          <p:nvPr>
            <p:ph type="sldNum" sz="quarter" idx="12"/>
          </p:nvPr>
        </p:nvSpPr>
        <p:spPr/>
        <p:txBody>
          <a:bodyPr/>
          <a:lstStyle/>
          <a:p>
            <a:fld id="{B45EA367-76FE-D949-98D2-428E246BFD0D}" type="slidenum">
              <a:rPr lang="uk-UA" smtClean="0"/>
              <a:t>17</a:t>
            </a:fld>
            <a:endParaRPr lang="uk-UA" dirty="0"/>
          </a:p>
        </p:txBody>
      </p:sp>
    </p:spTree>
    <p:extLst>
      <p:ext uri="{BB962C8B-B14F-4D97-AF65-F5344CB8AC3E}">
        <p14:creationId xmlns:p14="http://schemas.microsoft.com/office/powerpoint/2010/main" val="2373525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87764FE-AD87-8043-8FBA-6A12E0F33AD5}" type="slidenum">
              <a:rPr lang="en-US" sz="1400"/>
              <a:pPr eaLnBrk="1" hangingPunct="1"/>
              <a:t>18</a:t>
            </a:fld>
            <a:endParaRPr lang="en-US" sz="1400" dirty="0"/>
          </a:p>
        </p:txBody>
      </p:sp>
      <p:sp>
        <p:nvSpPr>
          <p:cNvPr id="46082" name="Text Box 4"/>
          <p:cNvSpPr txBox="1">
            <a:spLocks noChangeArrowheads="1"/>
          </p:cNvSpPr>
          <p:nvPr/>
        </p:nvSpPr>
        <p:spPr bwMode="auto">
          <a:xfrm>
            <a:off x="3489282" y="2438386"/>
            <a:ext cx="6324600"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4000" b="1" dirty="0"/>
              <a:t> </a:t>
            </a:r>
            <a:r>
              <a:rPr lang="en-US" sz="4000" b="1" dirty="0">
                <a:latin typeface="Calibri"/>
                <a:cs typeface="Calibri"/>
              </a:rPr>
              <a:t>Scale Indeterminacy: Choosing an “Anchor”</a:t>
            </a:r>
          </a:p>
        </p:txBody>
      </p:sp>
    </p:spTree>
    <p:extLst>
      <p:ext uri="{BB962C8B-B14F-4D97-AF65-F5344CB8AC3E}">
        <p14:creationId xmlns:p14="http://schemas.microsoft.com/office/powerpoint/2010/main" val="437191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Number Placeholder 6"/>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66C6BC7-4738-D641-A3E9-135B63DF558E}" type="slidenum">
              <a:rPr lang="en-US" sz="1400"/>
              <a:pPr eaLnBrk="1" hangingPunct="1"/>
              <a:t>19</a:t>
            </a:fld>
            <a:endParaRPr lang="en-US" sz="1400" dirty="0"/>
          </a:p>
        </p:txBody>
      </p:sp>
      <p:sp>
        <p:nvSpPr>
          <p:cNvPr id="47106" name="Rectangle 2"/>
          <p:cNvSpPr>
            <a:spLocks noGrp="1" noChangeArrowheads="1"/>
          </p:cNvSpPr>
          <p:nvPr>
            <p:ph type="title"/>
          </p:nvPr>
        </p:nvSpPr>
        <p:spPr/>
        <p:txBody>
          <a:bodyPr>
            <a:normAutofit/>
          </a:bodyPr>
          <a:lstStyle/>
          <a:p>
            <a:pPr eaLnBrk="1" hangingPunct="1"/>
            <a:r>
              <a:rPr lang="en-US" b="1" dirty="0">
                <a:ea typeface="ＭＳ Ｐゴシック" charset="0"/>
                <a:cs typeface="Calibri"/>
              </a:rPr>
              <a:t>Indeterminacy of the Logit Scale</a:t>
            </a:r>
          </a:p>
        </p:txBody>
      </p:sp>
      <p:sp>
        <p:nvSpPr>
          <p:cNvPr id="47107" name="Rectangle 3"/>
          <p:cNvSpPr>
            <a:spLocks noGrp="1" noChangeArrowheads="1"/>
          </p:cNvSpPr>
          <p:nvPr>
            <p:ph type="body" sz="half" idx="1"/>
          </p:nvPr>
        </p:nvSpPr>
        <p:spPr>
          <a:xfrm>
            <a:off x="1981200" y="1600201"/>
            <a:ext cx="7620000" cy="4525963"/>
          </a:xfrm>
        </p:spPr>
        <p:txBody>
          <a:bodyPr/>
          <a:lstStyle/>
          <a:p>
            <a:pPr eaLnBrk="1" hangingPunct="1"/>
            <a:r>
              <a:rPr lang="en-US" sz="2400" dirty="0">
                <a:latin typeface="Calibri"/>
                <a:ea typeface="ＭＳ Ｐゴシック" charset="0"/>
                <a:cs typeface="Calibri"/>
              </a:rPr>
              <a:t>The IRT score scale is expressed in terms of logit values.</a:t>
            </a:r>
          </a:p>
          <a:p>
            <a:pPr eaLnBrk="1" hangingPunct="1"/>
            <a:endParaRPr lang="en-US" sz="2000" dirty="0">
              <a:latin typeface="Calibri"/>
              <a:ea typeface="ＭＳ Ｐゴシック" charset="0"/>
              <a:cs typeface="Calibri"/>
            </a:endParaRPr>
          </a:p>
          <a:p>
            <a:pPr eaLnBrk="1" hangingPunct="1"/>
            <a:endParaRPr lang="en-US" sz="2400" dirty="0">
              <a:latin typeface="Calibri"/>
              <a:ea typeface="ＭＳ Ｐゴシック" charset="0"/>
              <a:cs typeface="Calibri"/>
            </a:endParaRPr>
          </a:p>
          <a:p>
            <a:pPr eaLnBrk="1" hangingPunct="1"/>
            <a:endParaRPr lang="en-US" sz="2400" dirty="0">
              <a:latin typeface="Calibri"/>
              <a:ea typeface="ＭＳ Ｐゴシック" charset="0"/>
              <a:cs typeface="Calibri"/>
            </a:endParaRPr>
          </a:p>
          <a:p>
            <a:pPr eaLnBrk="1" hangingPunct="1"/>
            <a:r>
              <a:rPr lang="en-US" sz="2400" dirty="0">
                <a:latin typeface="Calibri"/>
                <a:ea typeface="ＭＳ Ｐゴシック" charset="0"/>
                <a:cs typeface="Calibri"/>
              </a:rPr>
              <a:t>Identification problem: on the right hand side of the eqn, you have three unknown parameters. Say the left hand side (log of the odds, i.e., logit) = 1.5</a:t>
            </a:r>
          </a:p>
        </p:txBody>
      </p:sp>
      <p:graphicFrame>
        <p:nvGraphicFramePr>
          <p:cNvPr id="47108" name="Object 2"/>
          <p:cNvGraphicFramePr>
            <a:graphicFrameLocks noChangeAspect="1"/>
          </p:cNvGraphicFramePr>
          <p:nvPr/>
        </p:nvGraphicFramePr>
        <p:xfrm>
          <a:off x="3259138" y="2203462"/>
          <a:ext cx="4913312" cy="1104900"/>
        </p:xfrm>
        <a:graphic>
          <a:graphicData uri="http://schemas.openxmlformats.org/presentationml/2006/ole">
            <mc:AlternateContent xmlns:mc="http://schemas.openxmlformats.org/markup-compatibility/2006">
              <mc:Choice xmlns:v="urn:schemas-microsoft-com:vml" Requires="v">
                <p:oleObj name="Equation" r:id="rId3" imgW="2146300" imgH="482600" progId="Equation.DSMT4">
                  <p:embed/>
                </p:oleObj>
              </mc:Choice>
              <mc:Fallback>
                <p:oleObj name="Equation" r:id="rId3" imgW="2146300" imgH="482600" progId="Equation.DSMT4">
                  <p:embed/>
                  <p:pic>
                    <p:nvPicPr>
                      <p:cNvPr id="4710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9138" y="2203462"/>
                        <a:ext cx="4913312" cy="11049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1064" name="Group 104"/>
          <p:cNvGraphicFramePr>
            <a:graphicFrameLocks noGrp="1"/>
          </p:cNvGraphicFramePr>
          <p:nvPr>
            <p:ph sz="half" idx="2"/>
          </p:nvPr>
        </p:nvGraphicFramePr>
        <p:xfrm>
          <a:off x="5486400" y="4953000"/>
          <a:ext cx="4038600" cy="1584330"/>
        </p:xfrm>
        <a:graphic>
          <a:graphicData uri="http://schemas.openxmlformats.org/drawingml/2006/table">
            <a:tbl>
              <a:tblPr/>
              <a:tblGrid>
                <a:gridCol w="808038">
                  <a:extLst>
                    <a:ext uri="{9D8B030D-6E8A-4147-A177-3AD203B41FA5}">
                      <a16:colId xmlns:a16="http://schemas.microsoft.com/office/drawing/2014/main" val="20000"/>
                    </a:ext>
                  </a:extLst>
                </a:gridCol>
                <a:gridCol w="808037">
                  <a:extLst>
                    <a:ext uri="{9D8B030D-6E8A-4147-A177-3AD203B41FA5}">
                      <a16:colId xmlns:a16="http://schemas.microsoft.com/office/drawing/2014/main" val="20001"/>
                    </a:ext>
                  </a:extLst>
                </a:gridCol>
                <a:gridCol w="806450">
                  <a:extLst>
                    <a:ext uri="{9D8B030D-6E8A-4147-A177-3AD203B41FA5}">
                      <a16:colId xmlns:a16="http://schemas.microsoft.com/office/drawing/2014/main" val="20002"/>
                    </a:ext>
                  </a:extLst>
                </a:gridCol>
                <a:gridCol w="808038">
                  <a:extLst>
                    <a:ext uri="{9D8B030D-6E8A-4147-A177-3AD203B41FA5}">
                      <a16:colId xmlns:a16="http://schemas.microsoft.com/office/drawing/2014/main" val="20003"/>
                    </a:ext>
                  </a:extLst>
                </a:gridCol>
                <a:gridCol w="808037">
                  <a:extLst>
                    <a:ext uri="{9D8B030D-6E8A-4147-A177-3AD203B41FA5}">
                      <a16:colId xmlns:a16="http://schemas.microsoft.com/office/drawing/2014/main" val="20004"/>
                    </a:ext>
                  </a:extLst>
                </a:gridCol>
              </a:tblGrid>
              <a:tr h="53310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3</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10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1.5</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.5</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-.5</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.25</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a:t>
                      </a:r>
                    </a:p>
                  </a:txBody>
                  <a:tcPr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a:t>
                      </a:r>
                    </a:p>
                  </a:txBody>
                  <a:tcPr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47135" name="Object 3"/>
          <p:cNvGraphicFramePr>
            <a:graphicFrameLocks noChangeAspect="1"/>
          </p:cNvGraphicFramePr>
          <p:nvPr/>
        </p:nvGraphicFramePr>
        <p:xfrm>
          <a:off x="5715001" y="5029200"/>
          <a:ext cx="384175" cy="533400"/>
        </p:xfrm>
        <a:graphic>
          <a:graphicData uri="http://schemas.openxmlformats.org/presentationml/2006/ole">
            <mc:AlternateContent xmlns:mc="http://schemas.openxmlformats.org/markup-compatibility/2006">
              <mc:Choice xmlns:v="urn:schemas-microsoft-com:vml" Requires="v">
                <p:oleObj name="Equation" r:id="rId5" imgW="165028" imgH="228501" progId="Equation.DSMT4">
                  <p:embed/>
                </p:oleObj>
              </mc:Choice>
              <mc:Fallback>
                <p:oleObj name="Equation" r:id="rId5" imgW="165028" imgH="228501" progId="Equation.DSMT4">
                  <p:embed/>
                  <p:pic>
                    <p:nvPicPr>
                      <p:cNvPr id="4713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1" y="5029200"/>
                        <a:ext cx="384175"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47136" name="Object 4"/>
          <p:cNvGraphicFramePr>
            <a:graphicFrameLocks noChangeAspect="1"/>
          </p:cNvGraphicFramePr>
          <p:nvPr/>
        </p:nvGraphicFramePr>
        <p:xfrm>
          <a:off x="5715000" y="5486400"/>
          <a:ext cx="330200" cy="457200"/>
        </p:xfrm>
        <a:graphic>
          <a:graphicData uri="http://schemas.openxmlformats.org/presentationml/2006/ole">
            <mc:AlternateContent xmlns:mc="http://schemas.openxmlformats.org/markup-compatibility/2006">
              <mc:Choice xmlns:v="urn:schemas-microsoft-com:vml" Requires="v">
                <p:oleObj name="Equation" r:id="rId7" imgW="165028" imgH="228501" progId="Equation.DSMT4">
                  <p:embed/>
                </p:oleObj>
              </mc:Choice>
              <mc:Fallback>
                <p:oleObj name="Equation" r:id="rId7" imgW="165028" imgH="228501" progId="Equation.DSMT4">
                  <p:embed/>
                  <p:pic>
                    <p:nvPicPr>
                      <p:cNvPr id="4713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5486400"/>
                        <a:ext cx="330200" cy="457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47137" name="Text Box 90"/>
          <p:cNvSpPr txBox="1">
            <a:spLocks noChangeArrowheads="1"/>
          </p:cNvSpPr>
          <p:nvPr/>
        </p:nvSpPr>
        <p:spPr bwMode="auto">
          <a:xfrm>
            <a:off x="2514600" y="5029200"/>
            <a:ext cx="2743200" cy="120015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latin typeface="Calibri"/>
                <a:cs typeface="Calibri"/>
              </a:rPr>
              <a:t>All of the following would be admissible values for person and item parameters</a:t>
            </a:r>
          </a:p>
        </p:txBody>
      </p:sp>
      <p:graphicFrame>
        <p:nvGraphicFramePr>
          <p:cNvPr id="47138" name="Object 5"/>
          <p:cNvGraphicFramePr>
            <a:graphicFrameLocks noChangeAspect="1"/>
          </p:cNvGraphicFramePr>
          <p:nvPr/>
        </p:nvGraphicFramePr>
        <p:xfrm>
          <a:off x="5715000" y="6096000"/>
          <a:ext cx="381000" cy="349250"/>
        </p:xfrm>
        <a:graphic>
          <a:graphicData uri="http://schemas.openxmlformats.org/presentationml/2006/ole">
            <mc:AlternateContent xmlns:mc="http://schemas.openxmlformats.org/markup-compatibility/2006">
              <mc:Choice xmlns:v="urn:schemas-microsoft-com:vml" Requires="v">
                <p:oleObj name="Equation" r:id="rId9" imgW="152334" imgH="139639" progId="Equation.3">
                  <p:embed/>
                </p:oleObj>
              </mc:Choice>
              <mc:Fallback>
                <p:oleObj name="Equation" r:id="rId9" imgW="152334" imgH="139639" progId="Equation.3">
                  <p:embed/>
                  <p:pic>
                    <p:nvPicPr>
                      <p:cNvPr id="47138"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5000" y="6096000"/>
                        <a:ext cx="381000" cy="349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780661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5"/>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6A0374E-BB92-B549-A2C5-0A3AE907A998}" type="slidenum">
              <a:rPr lang="en-US" sz="1400"/>
              <a:pPr eaLnBrk="1" hangingPunct="1"/>
              <a:t>20</a:t>
            </a:fld>
            <a:endParaRPr lang="en-US" sz="1400" dirty="0"/>
          </a:p>
        </p:txBody>
      </p:sp>
      <p:sp>
        <p:nvSpPr>
          <p:cNvPr id="49154" name="Rectangle 2"/>
          <p:cNvSpPr>
            <a:spLocks noGrp="1" noChangeArrowheads="1"/>
          </p:cNvSpPr>
          <p:nvPr>
            <p:ph type="title"/>
          </p:nvPr>
        </p:nvSpPr>
        <p:spPr/>
        <p:txBody>
          <a:bodyPr/>
          <a:lstStyle/>
          <a:p>
            <a:pPr eaLnBrk="1" hangingPunct="1"/>
            <a:r>
              <a:rPr lang="en-US" b="1" dirty="0">
                <a:ea typeface="ＭＳ Ｐゴシック" charset="0"/>
                <a:cs typeface="Calibri"/>
              </a:rPr>
              <a:t>“Anchoring” the Scale</a:t>
            </a:r>
          </a:p>
        </p:txBody>
      </p:sp>
      <p:sp>
        <p:nvSpPr>
          <p:cNvPr id="49155" name="Rectangle 3"/>
          <p:cNvSpPr>
            <a:spLocks noGrp="1" noChangeArrowheads="1"/>
          </p:cNvSpPr>
          <p:nvPr>
            <p:ph type="body" idx="1"/>
          </p:nvPr>
        </p:nvSpPr>
        <p:spPr/>
        <p:txBody>
          <a:bodyPr/>
          <a:lstStyle/>
          <a:p>
            <a:pPr eaLnBrk="1" hangingPunct="1"/>
            <a:r>
              <a:rPr lang="en-US" sz="2400" dirty="0">
                <a:latin typeface="Calibri" charset="0"/>
                <a:ea typeface="Calibri" charset="0"/>
                <a:cs typeface="Calibri" charset="0"/>
              </a:rPr>
              <a:t>Two things need anchoring: location of scale, variability of scale.</a:t>
            </a:r>
          </a:p>
          <a:p>
            <a:pPr eaLnBrk="1" hangingPunct="1"/>
            <a:r>
              <a:rPr lang="en-US" sz="2400" dirty="0">
                <a:latin typeface="Calibri" charset="0"/>
                <a:ea typeface="Calibri" charset="0"/>
                <a:cs typeface="Calibri" charset="0"/>
              </a:rPr>
              <a:t>Two choices: anchor (e.g., constrain) the item parameters OR the person parameters.</a:t>
            </a:r>
          </a:p>
          <a:p>
            <a:pPr eaLnBrk="1" hangingPunct="1">
              <a:buFontTx/>
              <a:buNone/>
            </a:pPr>
            <a:r>
              <a:rPr lang="en-US" dirty="0">
                <a:latin typeface="Calibri" charset="0"/>
                <a:ea typeface="Calibri" charset="0"/>
                <a:cs typeface="Calibri" charset="0"/>
              </a:rPr>
              <a:t>ITEM SIDE (Rasch Tradition)</a:t>
            </a:r>
          </a:p>
          <a:p>
            <a:pPr eaLnBrk="1" hangingPunct="1"/>
            <a:r>
              <a:rPr lang="en-US" sz="2400" dirty="0">
                <a:latin typeface="Calibri" charset="0"/>
                <a:ea typeface="Calibri" charset="0"/>
                <a:cs typeface="Calibri" charset="0"/>
              </a:rPr>
              <a:t>Set mean of item difficulty to be 0, common discrimination =1</a:t>
            </a:r>
          </a:p>
          <a:p>
            <a:pPr eaLnBrk="1" hangingPunct="1"/>
            <a:r>
              <a:rPr lang="en-US" sz="2400" dirty="0">
                <a:latin typeface="Calibri" charset="0"/>
                <a:ea typeface="Calibri" charset="0"/>
                <a:cs typeface="Calibri" charset="0"/>
              </a:rPr>
              <a:t>Mean and SD of person distribution are free to vary.</a:t>
            </a:r>
          </a:p>
          <a:p>
            <a:pPr eaLnBrk="1" hangingPunct="1">
              <a:buFontTx/>
              <a:buNone/>
            </a:pPr>
            <a:r>
              <a:rPr lang="en-US" dirty="0">
                <a:latin typeface="Calibri" charset="0"/>
                <a:ea typeface="Calibri" charset="0"/>
                <a:cs typeface="Calibri" charset="0"/>
              </a:rPr>
              <a:t>PERSON SIDE (Lord-Birnbaum Tradition, Thurstone)</a:t>
            </a:r>
          </a:p>
          <a:p>
            <a:pPr eaLnBrk="1" hangingPunct="1"/>
            <a:r>
              <a:rPr lang="en-US" sz="2400" dirty="0">
                <a:latin typeface="Calibri" charset="0"/>
                <a:ea typeface="Calibri" charset="0"/>
                <a:cs typeface="Calibri" charset="0"/>
              </a:rPr>
              <a:t>Set mean of person proficiency to be 0, SD =1</a:t>
            </a:r>
          </a:p>
          <a:p>
            <a:pPr eaLnBrk="1" hangingPunct="1"/>
            <a:r>
              <a:rPr lang="en-US" sz="2400" dirty="0">
                <a:latin typeface="Calibri" charset="0"/>
                <a:ea typeface="Calibri" charset="0"/>
                <a:cs typeface="Calibri" charset="0"/>
              </a:rPr>
              <a:t>Mean of item difficulty and values of item discrimination parameters free to vary</a:t>
            </a:r>
          </a:p>
          <a:p>
            <a:pPr eaLnBrk="1" hangingPunct="1"/>
            <a:endParaRPr lang="en-US" sz="2400"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762756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3"/>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87764FE-AD87-8043-8FBA-6A12E0F33AD5}" type="slidenum">
              <a:rPr lang="en-US" sz="1400"/>
              <a:pPr eaLnBrk="1" hangingPunct="1"/>
              <a:t>21</a:t>
            </a:fld>
            <a:endParaRPr lang="en-US" sz="1400" dirty="0"/>
          </a:p>
        </p:txBody>
      </p:sp>
      <p:sp>
        <p:nvSpPr>
          <p:cNvPr id="46082" name="Text Box 4"/>
          <p:cNvSpPr txBox="1">
            <a:spLocks noChangeArrowheads="1"/>
          </p:cNvSpPr>
          <p:nvPr/>
        </p:nvSpPr>
        <p:spPr bwMode="auto">
          <a:xfrm>
            <a:off x="3489282" y="2792328"/>
            <a:ext cx="6324600"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4000" b="1" dirty="0"/>
              <a:t> “</a:t>
            </a:r>
            <a:r>
              <a:rPr lang="en-US" sz="4000" b="1" dirty="0">
                <a:latin typeface="Calibri"/>
                <a:cs typeface="Calibri"/>
              </a:rPr>
              <a:t>Specific Objectivity”</a:t>
            </a:r>
          </a:p>
        </p:txBody>
      </p:sp>
    </p:spTree>
    <p:extLst>
      <p:ext uri="{BB962C8B-B14F-4D97-AF65-F5344CB8AC3E}">
        <p14:creationId xmlns:p14="http://schemas.microsoft.com/office/powerpoint/2010/main" val="2980557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Number Placeholder 5"/>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2A5B089-3DC2-6546-AB86-B260FE17C084}" type="slidenum">
              <a:rPr lang="en-US" sz="1400"/>
              <a:pPr eaLnBrk="1" hangingPunct="1"/>
              <a:t>22</a:t>
            </a:fld>
            <a:endParaRPr lang="en-US" sz="1400" dirty="0"/>
          </a:p>
        </p:txBody>
      </p:sp>
      <p:sp>
        <p:nvSpPr>
          <p:cNvPr id="50178" name="Rectangle 2"/>
          <p:cNvSpPr>
            <a:spLocks noGrp="1" noChangeArrowheads="1"/>
          </p:cNvSpPr>
          <p:nvPr>
            <p:ph type="title"/>
          </p:nvPr>
        </p:nvSpPr>
        <p:spPr/>
        <p:txBody>
          <a:bodyPr/>
          <a:lstStyle/>
          <a:p>
            <a:pPr eaLnBrk="1" hangingPunct="1"/>
            <a:r>
              <a:rPr lang="en-US" b="1" dirty="0">
                <a:ea typeface="ＭＳ Ｐゴシック" charset="0"/>
                <a:cs typeface="Calibri"/>
              </a:rPr>
              <a:t>Specific Objectivity</a:t>
            </a:r>
          </a:p>
        </p:txBody>
      </p:sp>
      <p:sp>
        <p:nvSpPr>
          <p:cNvPr id="50179" name="Rectangle 3"/>
          <p:cNvSpPr>
            <a:spLocks noGrp="1" noChangeArrowheads="1"/>
          </p:cNvSpPr>
          <p:nvPr>
            <p:ph type="body" idx="1"/>
          </p:nvPr>
        </p:nvSpPr>
        <p:spPr/>
        <p:txBody>
          <a:bodyPr>
            <a:normAutofit fontScale="92500" lnSpcReduction="20000"/>
          </a:bodyPr>
          <a:lstStyle/>
          <a:p>
            <a:pPr eaLnBrk="1" hangingPunct="1"/>
            <a:r>
              <a:rPr lang="en-US" i="1" dirty="0">
                <a:latin typeface="Calibri"/>
                <a:ea typeface="ＭＳ Ｐゴシック" charset="0"/>
                <a:cs typeface="Calibri"/>
              </a:rPr>
              <a:t>Comparisons</a:t>
            </a:r>
            <a:r>
              <a:rPr lang="en-US" dirty="0">
                <a:latin typeface="Calibri"/>
                <a:ea typeface="ＭＳ Ｐゴシック" charset="0"/>
                <a:cs typeface="Calibri"/>
              </a:rPr>
              <a:t> between objects must be generalizable beyond the specific conditions under which they were observed. </a:t>
            </a:r>
          </a:p>
          <a:p>
            <a:pPr eaLnBrk="1" hangingPunct="1"/>
            <a:r>
              <a:rPr lang="en-US" dirty="0">
                <a:latin typeface="Calibri"/>
                <a:ea typeface="ＭＳ Ｐゴシック" charset="0"/>
                <a:cs typeface="Calibri"/>
              </a:rPr>
              <a:t>Rasch (1960, 1967):</a:t>
            </a:r>
          </a:p>
          <a:p>
            <a:pPr lvl="1" eaLnBrk="1" hangingPunct="1"/>
            <a:r>
              <a:rPr lang="en-US" dirty="0">
                <a:latin typeface="Calibri"/>
                <a:ea typeface="ＭＳ Ｐゴシック" charset="0"/>
                <a:cs typeface="Calibri"/>
              </a:rPr>
              <a:t>Comparisons between persons are invariant over the specific items used to measure them.</a:t>
            </a:r>
          </a:p>
          <a:p>
            <a:pPr lvl="1" eaLnBrk="1" hangingPunct="1"/>
            <a:r>
              <a:rPr lang="en-US" dirty="0">
                <a:latin typeface="Calibri"/>
                <a:ea typeface="ＭＳ Ｐゴシック" charset="0"/>
                <a:cs typeface="Calibri"/>
              </a:rPr>
              <a:t>Comparisons between items are invariant over the specific persons used to calibrate them.</a:t>
            </a:r>
          </a:p>
          <a:p>
            <a:pPr eaLnBrk="1" hangingPunct="1"/>
            <a:r>
              <a:rPr lang="en-US" dirty="0">
                <a:latin typeface="Calibri"/>
                <a:ea typeface="ＭＳ Ｐゴシック" charset="0"/>
                <a:cs typeface="Calibri"/>
              </a:rPr>
              <a:t>Rasch was actually a bit vague about this concept, and the extent to which it was different from the more general IRT property of parameter invariance.</a:t>
            </a:r>
          </a:p>
          <a:p>
            <a:pPr eaLnBrk="1" hangingPunct="1"/>
            <a:r>
              <a:rPr lang="en-US" dirty="0">
                <a:latin typeface="Calibri"/>
                <a:ea typeface="ＭＳ Ｐゴシック" charset="0"/>
                <a:cs typeface="Calibri"/>
              </a:rPr>
              <a:t>Specific objectivity in the Rasch Model can be seen a consequence of two other features that are specific to estimation of the model’s parameters: </a:t>
            </a:r>
            <a:r>
              <a:rPr lang="en-US" i="1" dirty="0">
                <a:latin typeface="Calibri"/>
                <a:ea typeface="ＭＳ Ｐゴシック" charset="0"/>
                <a:cs typeface="Calibri"/>
              </a:rPr>
              <a:t>sufficiency</a:t>
            </a:r>
            <a:r>
              <a:rPr lang="en-US" dirty="0">
                <a:latin typeface="Calibri"/>
                <a:ea typeface="ＭＳ Ｐゴシック" charset="0"/>
                <a:cs typeface="Calibri"/>
              </a:rPr>
              <a:t> and </a:t>
            </a:r>
            <a:r>
              <a:rPr lang="en-US" i="1" dirty="0">
                <a:latin typeface="Calibri"/>
                <a:ea typeface="ＭＳ Ｐゴシック" charset="0"/>
                <a:cs typeface="Calibri"/>
              </a:rPr>
              <a:t>separability</a:t>
            </a:r>
            <a:r>
              <a:rPr lang="en-US" dirty="0">
                <a:latin typeface="Calibri"/>
                <a:ea typeface="ＭＳ Ｐゴシック" charset="0"/>
                <a:cs typeface="Calibri"/>
              </a:rPr>
              <a:t>. I’ll focus on the feature of separability in what follows.</a:t>
            </a:r>
          </a:p>
        </p:txBody>
      </p:sp>
    </p:spTree>
    <p:extLst>
      <p:ext uri="{BB962C8B-B14F-4D97-AF65-F5344CB8AC3E}">
        <p14:creationId xmlns:p14="http://schemas.microsoft.com/office/powerpoint/2010/main" val="1701577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D90B-4409-1C42-8557-44B6657D7F2E}"/>
              </a:ext>
            </a:extLst>
          </p:cNvPr>
          <p:cNvSpPr>
            <a:spLocks noGrp="1"/>
          </p:cNvSpPr>
          <p:nvPr>
            <p:ph type="title" idx="4294967295"/>
          </p:nvPr>
        </p:nvSpPr>
        <p:spPr>
          <a:xfrm>
            <a:off x="838200" y="2766218"/>
            <a:ext cx="10515600" cy="1325563"/>
          </a:xfrm>
        </p:spPr>
        <p:txBody>
          <a:bodyPr/>
          <a:lstStyle/>
          <a:p>
            <a:r>
              <a:rPr lang="en-US" dirty="0"/>
              <a:t>Activity</a:t>
            </a:r>
          </a:p>
        </p:txBody>
      </p:sp>
    </p:spTree>
    <p:extLst>
      <p:ext uri="{BB962C8B-B14F-4D97-AF65-F5344CB8AC3E}">
        <p14:creationId xmlns:p14="http://schemas.microsoft.com/office/powerpoint/2010/main" val="45230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40D47-62ED-CB4E-B79A-1ABE42E37E47}"/>
              </a:ext>
            </a:extLst>
          </p:cNvPr>
          <p:cNvSpPr>
            <a:spLocks noGrp="1"/>
          </p:cNvSpPr>
          <p:nvPr>
            <p:ph type="title"/>
          </p:nvPr>
        </p:nvSpPr>
        <p:spPr/>
        <p:txBody>
          <a:bodyPr/>
          <a:lstStyle/>
          <a:p>
            <a:r>
              <a:rPr lang="en-US" b="1" dirty="0"/>
              <a:t>IRFs for 2PL vs. Rasch Model for Two Items</a:t>
            </a:r>
          </a:p>
        </p:txBody>
      </p:sp>
      <p:pic>
        <p:nvPicPr>
          <p:cNvPr id="6" name="Content Placeholder 5">
            <a:extLst>
              <a:ext uri="{FF2B5EF4-FFF2-40B4-BE49-F238E27FC236}">
                <a16:creationId xmlns:a16="http://schemas.microsoft.com/office/drawing/2014/main" id="{BEEFA905-95B3-1F47-9DFB-74FEE8C7DF41}"/>
              </a:ext>
            </a:extLst>
          </p:cNvPr>
          <p:cNvPicPr>
            <a:picLocks noGrp="1" noChangeAspect="1"/>
          </p:cNvPicPr>
          <p:nvPr>
            <p:ph sz="half" idx="1"/>
          </p:nvPr>
        </p:nvPicPr>
        <p:blipFill>
          <a:blip r:embed="rId2"/>
          <a:stretch>
            <a:fillRect/>
          </a:stretch>
        </p:blipFill>
        <p:spPr>
          <a:xfrm>
            <a:off x="660399" y="1902675"/>
            <a:ext cx="4839521" cy="3668392"/>
          </a:xfrm>
          <a:prstGeom prst="rect">
            <a:avLst/>
          </a:prstGeom>
        </p:spPr>
      </p:pic>
      <p:pic>
        <p:nvPicPr>
          <p:cNvPr id="7" name="Content Placeholder 6">
            <a:extLst>
              <a:ext uri="{FF2B5EF4-FFF2-40B4-BE49-F238E27FC236}">
                <a16:creationId xmlns:a16="http://schemas.microsoft.com/office/drawing/2014/main" id="{DD3F4B51-CFC8-984E-A94C-22A510A1765E}"/>
              </a:ext>
            </a:extLst>
          </p:cNvPr>
          <p:cNvPicPr>
            <a:picLocks noGrp="1" noChangeAspect="1"/>
          </p:cNvPicPr>
          <p:nvPr>
            <p:ph sz="half" idx="2"/>
          </p:nvPr>
        </p:nvPicPr>
        <p:blipFill>
          <a:blip r:embed="rId3"/>
          <a:stretch>
            <a:fillRect/>
          </a:stretch>
        </p:blipFill>
        <p:spPr>
          <a:xfrm>
            <a:off x="5943599" y="1796861"/>
            <a:ext cx="5046134" cy="382500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D7975B-27D1-F947-BA14-28B9FB6FB53C}"/>
                  </a:ext>
                </a:extLst>
              </p:cNvPr>
              <p:cNvSpPr txBox="1"/>
              <p:nvPr/>
            </p:nvSpPr>
            <p:spPr>
              <a:xfrm>
                <a:off x="240481" y="5571067"/>
                <a:ext cx="5046134" cy="646331"/>
              </a:xfrm>
              <a:prstGeom prst="rect">
                <a:avLst/>
              </a:prstGeom>
              <a:noFill/>
            </p:spPr>
            <p:txBody>
              <a:bodyPr wrap="square" rtlCol="0">
                <a:spAutoFit/>
              </a:bodyPr>
              <a:lstStyle/>
              <a:p>
                <a:r>
                  <a:rPr lang="en-US" dirty="0"/>
                  <a:t>Blue: </a:t>
                </a:r>
                <a14:m>
                  <m:oMath xmlns:m="http://schemas.openxmlformats.org/officeDocument/2006/math">
                    <m:r>
                      <a:rPr lang="en-US" b="0"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 1,  </m:t>
                    </m:r>
                    <m:r>
                      <a:rPr lang="en-US" i="1">
                        <a:latin typeface="Cambria Math" panose="02040503050406030204" pitchFamily="18" charset="0"/>
                      </a:rPr>
                      <m:t>𝑏</m:t>
                    </m:r>
                    <m:r>
                      <a:rPr lang="en-US" i="1">
                        <a:latin typeface="Cambria Math" panose="02040503050406030204" pitchFamily="18" charset="0"/>
                      </a:rPr>
                      <m:t>=−.5,  </m:t>
                    </m:r>
                    <m:r>
                      <a:rPr lang="en-US" i="1">
                        <a:latin typeface="Cambria Math" panose="02040503050406030204" pitchFamily="18" charset="0"/>
                      </a:rPr>
                      <m:t>𝑐</m:t>
                    </m:r>
                    <m:r>
                      <a:rPr lang="en-US" i="1">
                        <a:latin typeface="Cambria Math" panose="02040503050406030204" pitchFamily="18" charset="0"/>
                      </a:rPr>
                      <m:t> = 0</m:t>
                    </m:r>
                  </m:oMath>
                </a14:m>
                <a:endParaRPr lang="en-US" dirty="0"/>
              </a:p>
              <a:p>
                <a:r>
                  <a:rPr lang="en-US" dirty="0"/>
                  <a:t>Magenta :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 = 2,  </m:t>
                    </m:r>
                    <m:r>
                      <a:rPr lang="en-US" i="1">
                        <a:latin typeface="Cambria Math" panose="02040503050406030204" pitchFamily="18" charset="0"/>
                      </a:rPr>
                      <m:t>𝑏</m:t>
                    </m:r>
                    <m:r>
                      <a:rPr lang="en-US" i="1">
                        <a:latin typeface="Cambria Math" panose="02040503050406030204" pitchFamily="18" charset="0"/>
                      </a:rPr>
                      <m:t>= 0,  </m:t>
                    </m:r>
                    <m:r>
                      <a:rPr lang="en-US" i="1">
                        <a:latin typeface="Cambria Math" panose="02040503050406030204" pitchFamily="18" charset="0"/>
                      </a:rPr>
                      <m:t>𝑐</m:t>
                    </m:r>
                    <m:r>
                      <a:rPr lang="en-US" i="1">
                        <a:latin typeface="Cambria Math" panose="02040503050406030204" pitchFamily="18" charset="0"/>
                      </a:rPr>
                      <m:t> = 0</m:t>
                    </m:r>
                  </m:oMath>
                </a14:m>
                <a:endParaRPr lang="en-US" dirty="0"/>
              </a:p>
            </p:txBody>
          </p:sp>
        </mc:Choice>
        <mc:Fallback xmlns="">
          <p:sp>
            <p:nvSpPr>
              <p:cNvPr id="8" name="TextBox 7">
                <a:extLst>
                  <a:ext uri="{FF2B5EF4-FFF2-40B4-BE49-F238E27FC236}">
                    <a16:creationId xmlns:a16="http://schemas.microsoft.com/office/drawing/2014/main" id="{61D7975B-27D1-F947-BA14-28B9FB6FB53C}"/>
                  </a:ext>
                </a:extLst>
              </p:cNvPr>
              <p:cNvSpPr txBox="1">
                <a:spLocks noRot="1" noChangeAspect="1" noMove="1" noResize="1" noEditPoints="1" noAdjustHandles="1" noChangeArrowheads="1" noChangeShapeType="1" noTextEdit="1"/>
              </p:cNvSpPr>
              <p:nvPr/>
            </p:nvSpPr>
            <p:spPr>
              <a:xfrm>
                <a:off x="240481" y="5571067"/>
                <a:ext cx="5046134" cy="646331"/>
              </a:xfrm>
              <a:prstGeom prst="rect">
                <a:avLst/>
              </a:prstGeom>
              <a:blipFill>
                <a:blip r:embed="rId4"/>
                <a:stretch>
                  <a:fillRect l="-1005"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A490513-EC08-E443-9FD2-05D4C9B0156F}"/>
                  </a:ext>
                </a:extLst>
              </p:cNvPr>
              <p:cNvSpPr txBox="1"/>
              <p:nvPr/>
            </p:nvSpPr>
            <p:spPr>
              <a:xfrm>
                <a:off x="6527799" y="5571066"/>
                <a:ext cx="3877733" cy="646331"/>
              </a:xfrm>
              <a:prstGeom prst="rect">
                <a:avLst/>
              </a:prstGeom>
              <a:noFill/>
            </p:spPr>
            <p:txBody>
              <a:bodyPr wrap="square" rtlCol="0">
                <a:spAutoFit/>
              </a:bodyPr>
              <a:lstStyle/>
              <a:p>
                <a:r>
                  <a:rPr lang="en-US" dirty="0"/>
                  <a:t>Blue: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 = 1,  </m:t>
                    </m:r>
                    <m:r>
                      <a:rPr lang="en-US" i="1">
                        <a:latin typeface="Cambria Math" panose="02040503050406030204" pitchFamily="18" charset="0"/>
                      </a:rPr>
                      <m:t>𝑏</m:t>
                    </m:r>
                    <m:r>
                      <a:rPr lang="en-US" i="1">
                        <a:latin typeface="Cambria Math" panose="02040503050406030204" pitchFamily="18" charset="0"/>
                      </a:rPr>
                      <m:t>=−.5,  </m:t>
                    </m:r>
                    <m:r>
                      <a:rPr lang="en-US" i="1">
                        <a:latin typeface="Cambria Math" panose="02040503050406030204" pitchFamily="18" charset="0"/>
                      </a:rPr>
                      <m:t>𝑐</m:t>
                    </m:r>
                    <m:r>
                      <a:rPr lang="en-US" i="1">
                        <a:latin typeface="Cambria Math" panose="02040503050406030204" pitchFamily="18" charset="0"/>
                      </a:rPr>
                      <m:t> = 0</m:t>
                    </m:r>
                  </m:oMath>
                </a14:m>
                <a:endParaRPr lang="en-US" dirty="0"/>
              </a:p>
              <a:p>
                <a:r>
                  <a:rPr lang="en-US" dirty="0"/>
                  <a:t>Magenta: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 =1,  </m:t>
                    </m:r>
                    <m:r>
                      <a:rPr lang="en-US" i="1">
                        <a:latin typeface="Cambria Math" panose="02040503050406030204" pitchFamily="18" charset="0"/>
                      </a:rPr>
                      <m:t>𝑏</m:t>
                    </m:r>
                    <m:r>
                      <a:rPr lang="en-US" i="1">
                        <a:latin typeface="Cambria Math" panose="02040503050406030204" pitchFamily="18" charset="0"/>
                      </a:rPr>
                      <m:t>= 0,  </m:t>
                    </m:r>
                    <m:r>
                      <a:rPr lang="en-US" i="1">
                        <a:latin typeface="Cambria Math" panose="02040503050406030204" pitchFamily="18" charset="0"/>
                      </a:rPr>
                      <m:t>𝑐</m:t>
                    </m:r>
                    <m:r>
                      <a:rPr lang="en-US" i="1">
                        <a:latin typeface="Cambria Math" panose="02040503050406030204" pitchFamily="18" charset="0"/>
                      </a:rPr>
                      <m:t> = 0</m:t>
                    </m:r>
                  </m:oMath>
                </a14:m>
                <a:endParaRPr lang="en-US" dirty="0"/>
              </a:p>
            </p:txBody>
          </p:sp>
        </mc:Choice>
        <mc:Fallback xmlns="">
          <p:sp>
            <p:nvSpPr>
              <p:cNvPr id="10" name="TextBox 9">
                <a:extLst>
                  <a:ext uri="{FF2B5EF4-FFF2-40B4-BE49-F238E27FC236}">
                    <a16:creationId xmlns:a16="http://schemas.microsoft.com/office/drawing/2014/main" id="{6A490513-EC08-E443-9FD2-05D4C9B0156F}"/>
                  </a:ext>
                </a:extLst>
              </p:cNvPr>
              <p:cNvSpPr txBox="1">
                <a:spLocks noRot="1" noChangeAspect="1" noMove="1" noResize="1" noEditPoints="1" noAdjustHandles="1" noChangeArrowheads="1" noChangeShapeType="1" noTextEdit="1"/>
              </p:cNvSpPr>
              <p:nvPr/>
            </p:nvSpPr>
            <p:spPr>
              <a:xfrm>
                <a:off x="6527799" y="5571066"/>
                <a:ext cx="3877733" cy="646331"/>
              </a:xfrm>
              <a:prstGeom prst="rect">
                <a:avLst/>
              </a:prstGeom>
              <a:blipFill>
                <a:blip r:embed="rId5"/>
                <a:stretch>
                  <a:fillRect l="-1307" t="-3846" b="-13462"/>
                </a:stretch>
              </a:blipFill>
            </p:spPr>
            <p:txBody>
              <a:bodyPr/>
              <a:lstStyle/>
              <a:p>
                <a:r>
                  <a:rPr lang="en-US">
                    <a:noFill/>
                  </a:rPr>
                  <a:t> </a:t>
                </a:r>
              </a:p>
            </p:txBody>
          </p:sp>
        </mc:Fallback>
      </mc:AlternateContent>
    </p:spTree>
    <p:extLst>
      <p:ext uri="{BB962C8B-B14F-4D97-AF65-F5344CB8AC3E}">
        <p14:creationId xmlns:p14="http://schemas.microsoft.com/office/powerpoint/2010/main" val="1005413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335923D-8DB4-D142-8DAB-4F9E19328306}"/>
              </a:ext>
            </a:extLst>
          </p:cNvPr>
          <p:cNvSpPr>
            <a:spLocks noGrp="1"/>
          </p:cNvSpPr>
          <p:nvPr>
            <p:ph type="title"/>
          </p:nvPr>
        </p:nvSpPr>
        <p:spPr/>
        <p:txBody>
          <a:bodyPr/>
          <a:lstStyle/>
          <a:p>
            <a:r>
              <a:rPr lang="en-US" dirty="0"/>
              <a:t>IRFs with Outcome Switched from Probability to Logit (log odds) of Correct Item Response</a:t>
            </a:r>
          </a:p>
        </p:txBody>
      </p:sp>
      <p:pic>
        <p:nvPicPr>
          <p:cNvPr id="11" name="Picture 10">
            <a:extLst>
              <a:ext uri="{FF2B5EF4-FFF2-40B4-BE49-F238E27FC236}">
                <a16:creationId xmlns:a16="http://schemas.microsoft.com/office/drawing/2014/main" id="{5ED07FEB-8D46-2448-A39D-DAAA9B0396F0}"/>
              </a:ext>
            </a:extLst>
          </p:cNvPr>
          <p:cNvPicPr>
            <a:picLocks noChangeAspect="1"/>
          </p:cNvPicPr>
          <p:nvPr/>
        </p:nvPicPr>
        <p:blipFill>
          <a:blip r:embed="rId2"/>
          <a:stretch>
            <a:fillRect/>
          </a:stretch>
        </p:blipFill>
        <p:spPr>
          <a:xfrm>
            <a:off x="495636" y="2076450"/>
            <a:ext cx="5057054" cy="3833283"/>
          </a:xfrm>
          <a:prstGeom prst="rect">
            <a:avLst/>
          </a:prstGeom>
        </p:spPr>
      </p:pic>
      <p:pic>
        <p:nvPicPr>
          <p:cNvPr id="12" name="Picture 11">
            <a:extLst>
              <a:ext uri="{FF2B5EF4-FFF2-40B4-BE49-F238E27FC236}">
                <a16:creationId xmlns:a16="http://schemas.microsoft.com/office/drawing/2014/main" id="{88AED822-B130-7643-9CFF-7B56EAD6CB83}"/>
              </a:ext>
            </a:extLst>
          </p:cNvPr>
          <p:cNvPicPr>
            <a:picLocks noChangeAspect="1"/>
          </p:cNvPicPr>
          <p:nvPr/>
        </p:nvPicPr>
        <p:blipFill>
          <a:blip r:embed="rId3"/>
          <a:stretch>
            <a:fillRect/>
          </a:stretch>
        </p:blipFill>
        <p:spPr>
          <a:xfrm>
            <a:off x="5895254" y="2076450"/>
            <a:ext cx="5257800" cy="398545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9B69E46-C24E-4A48-BCD4-8D8D7C778F00}"/>
                  </a:ext>
                </a:extLst>
              </p:cNvPr>
              <p:cNvSpPr txBox="1"/>
              <p:nvPr/>
            </p:nvSpPr>
            <p:spPr>
              <a:xfrm>
                <a:off x="-622852" y="2516798"/>
                <a:ext cx="245165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𝑎</m:t>
                          </m:r>
                        </m:e>
                        <m:sub>
                          <m:r>
                            <a:rPr lang="en-US" b="0" i="1">
                              <a:latin typeface="Cambria Math" panose="02040503050406030204" pitchFamily="18" charset="0"/>
                            </a:rPr>
                            <m:t>𝑖</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𝜃</m:t>
                          </m:r>
                        </m:e>
                        <m:sub>
                          <m:r>
                            <a:rPr lang="en-US" b="0" i="1">
                              <a:latin typeface="Cambria Math" panose="02040503050406030204" pitchFamily="18" charset="0"/>
                            </a:rPr>
                            <m:t>𝑝</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𝑏</m:t>
                          </m:r>
                        </m:e>
                        <m:sub>
                          <m:r>
                            <a:rPr lang="en-US" b="0" i="1">
                              <a:latin typeface="Cambria Math" panose="02040503050406030204" pitchFamily="18" charset="0"/>
                            </a:rPr>
                            <m:t>𝑖</m:t>
                          </m:r>
                        </m:sub>
                      </m:sSub>
                      <m:r>
                        <a:rPr lang="en-US" b="0" i="1">
                          <a:latin typeface="Cambria Math" panose="02040503050406030204" pitchFamily="18" charset="0"/>
                        </a:rPr>
                        <m:t>)</m:t>
                      </m:r>
                    </m:oMath>
                  </m:oMathPara>
                </a14:m>
                <a:endParaRPr lang="en-US" dirty="0"/>
              </a:p>
            </p:txBody>
          </p:sp>
        </mc:Choice>
        <mc:Fallback xmlns="">
          <p:sp>
            <p:nvSpPr>
              <p:cNvPr id="13" name="TextBox 12">
                <a:extLst>
                  <a:ext uri="{FF2B5EF4-FFF2-40B4-BE49-F238E27FC236}">
                    <a16:creationId xmlns:a16="http://schemas.microsoft.com/office/drawing/2014/main" id="{89B69E46-C24E-4A48-BCD4-8D8D7C778F00}"/>
                  </a:ext>
                </a:extLst>
              </p:cNvPr>
              <p:cNvSpPr txBox="1">
                <a:spLocks noRot="1" noChangeAspect="1" noMove="1" noResize="1" noEditPoints="1" noAdjustHandles="1" noChangeArrowheads="1" noChangeShapeType="1" noTextEdit="1"/>
              </p:cNvSpPr>
              <p:nvPr/>
            </p:nvSpPr>
            <p:spPr>
              <a:xfrm>
                <a:off x="-622852" y="2516798"/>
                <a:ext cx="2451652" cy="390748"/>
              </a:xfrm>
              <a:prstGeom prst="rect">
                <a:avLst/>
              </a:prstGeom>
              <a:blipFill>
                <a:blip r:embed="rId4"/>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15897D1-4AE5-FF44-9C5B-5F48D14B8B71}"/>
                  </a:ext>
                </a:extLst>
              </p:cNvPr>
              <p:cNvSpPr txBox="1"/>
              <p:nvPr/>
            </p:nvSpPr>
            <p:spPr>
              <a:xfrm>
                <a:off x="4777409" y="2516798"/>
                <a:ext cx="245165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1(</m:t>
                      </m:r>
                      <m:sSub>
                        <m:sSubPr>
                          <m:ctrlPr>
                            <a:rPr lang="en-US" b="0" i="1">
                              <a:latin typeface="Cambria Math" panose="02040503050406030204" pitchFamily="18" charset="0"/>
                            </a:rPr>
                          </m:ctrlPr>
                        </m:sSubPr>
                        <m:e>
                          <m:r>
                            <a:rPr lang="en-US" b="0" i="1">
                              <a:latin typeface="Cambria Math" panose="02040503050406030204" pitchFamily="18" charset="0"/>
                            </a:rPr>
                            <m:t>𝜃</m:t>
                          </m:r>
                        </m:e>
                        <m:sub>
                          <m:r>
                            <a:rPr lang="en-US" b="0" i="1">
                              <a:latin typeface="Cambria Math" panose="02040503050406030204" pitchFamily="18" charset="0"/>
                            </a:rPr>
                            <m:t>𝑝</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𝑏</m:t>
                          </m:r>
                        </m:e>
                        <m:sub>
                          <m:r>
                            <a:rPr lang="en-US" b="0" i="1">
                              <a:latin typeface="Cambria Math" panose="02040503050406030204" pitchFamily="18" charset="0"/>
                            </a:rPr>
                            <m:t>𝑖</m:t>
                          </m:r>
                        </m:sub>
                      </m:sSub>
                      <m:r>
                        <a:rPr lang="en-US" b="0" i="1">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215897D1-4AE5-FF44-9C5B-5F48D14B8B71}"/>
                  </a:ext>
                </a:extLst>
              </p:cNvPr>
              <p:cNvSpPr txBox="1">
                <a:spLocks noRot="1" noChangeAspect="1" noMove="1" noResize="1" noEditPoints="1" noAdjustHandles="1" noChangeArrowheads="1" noChangeShapeType="1" noTextEdit="1"/>
              </p:cNvSpPr>
              <p:nvPr/>
            </p:nvSpPr>
            <p:spPr>
              <a:xfrm>
                <a:off x="4777409" y="2516798"/>
                <a:ext cx="2451652" cy="390748"/>
              </a:xfrm>
              <a:prstGeom prst="rect">
                <a:avLst/>
              </a:prstGeom>
              <a:blipFill>
                <a:blip r:embed="rId5"/>
                <a:stretch>
                  <a:fillRect b="-6250"/>
                </a:stretch>
              </a:blipFill>
            </p:spPr>
            <p:txBody>
              <a:bodyPr/>
              <a:lstStyle/>
              <a:p>
                <a:r>
                  <a:rPr lang="en-US">
                    <a:noFill/>
                  </a:rPr>
                  <a:t> </a:t>
                </a:r>
              </a:p>
            </p:txBody>
          </p:sp>
        </mc:Fallback>
      </mc:AlternateContent>
    </p:spTree>
    <p:extLst>
      <p:ext uri="{BB962C8B-B14F-4D97-AF65-F5344CB8AC3E}">
        <p14:creationId xmlns:p14="http://schemas.microsoft.com/office/powerpoint/2010/main" val="2701108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5B5-C4BB-984C-ADBB-18EDE75C31A3}"/>
              </a:ext>
            </a:extLst>
          </p:cNvPr>
          <p:cNvSpPr>
            <a:spLocks noGrp="1"/>
          </p:cNvSpPr>
          <p:nvPr>
            <p:ph type="title"/>
          </p:nvPr>
        </p:nvSpPr>
        <p:spPr/>
        <p:txBody>
          <a:bodyPr>
            <a:normAutofit/>
          </a:bodyPr>
          <a:lstStyle/>
          <a:p>
            <a:r>
              <a:rPr lang="en-US" sz="3600" dirty="0"/>
              <a:t>Compare Two Pairs of students relative to predicted performance on each item based on the 2PL</a:t>
            </a:r>
          </a:p>
        </p:txBody>
      </p:sp>
      <p:graphicFrame>
        <p:nvGraphicFramePr>
          <p:cNvPr id="6" name="Content Placeholder 5">
            <a:extLst>
              <a:ext uri="{FF2B5EF4-FFF2-40B4-BE49-F238E27FC236}">
                <a16:creationId xmlns:a16="http://schemas.microsoft.com/office/drawing/2014/main" id="{85998AE8-F9D3-7040-A383-EC0C958802BB}"/>
              </a:ext>
            </a:extLst>
          </p:cNvPr>
          <p:cNvGraphicFramePr>
            <a:graphicFrameLocks noGrp="1"/>
          </p:cNvGraphicFramePr>
          <p:nvPr>
            <p:ph idx="1"/>
            <p:extLst>
              <p:ext uri="{D42A27DB-BD31-4B8C-83A1-F6EECF244321}">
                <p14:modId xmlns:p14="http://schemas.microsoft.com/office/powerpoint/2010/main" val="4152036123"/>
              </p:ext>
            </p:extLst>
          </p:nvPr>
        </p:nvGraphicFramePr>
        <p:xfrm>
          <a:off x="838200" y="1947441"/>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Larry</a:t>
                      </a:r>
                    </a:p>
                  </a:txBody>
                  <a:tcPr/>
                </a:tc>
                <a:tc>
                  <a:txBody>
                    <a:bodyPr/>
                    <a:lstStyle/>
                    <a:p>
                      <a:r>
                        <a:rPr lang="en-US" dirty="0"/>
                        <a:t>-0.5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58124036"/>
                  </a:ext>
                </a:extLst>
              </a:tr>
              <a:tr h="370840">
                <a:tc>
                  <a:txBody>
                    <a:bodyPr/>
                    <a:lstStyle/>
                    <a:p>
                      <a:r>
                        <a:rPr lang="en-US" dirty="0"/>
                        <a:t>Kevin</a:t>
                      </a:r>
                    </a:p>
                  </a:txBody>
                  <a:tcPr/>
                </a:tc>
                <a:tc>
                  <a:txBody>
                    <a:bodyPr/>
                    <a:lstStyle/>
                    <a:p>
                      <a:r>
                        <a:rPr lang="en-US" dirty="0"/>
                        <a:t>-1.0</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05328884"/>
                  </a:ext>
                </a:extLst>
              </a:tr>
              <a:tr h="370840">
                <a:tc>
                  <a:txBody>
                    <a:bodyPr/>
                    <a:lstStyle/>
                    <a:p>
                      <a:r>
                        <a:rPr lang="en-US" dirty="0"/>
                        <a:t>Difference </a:t>
                      </a:r>
                    </a:p>
                  </a:txBody>
                  <a:tcPr/>
                </a:tc>
                <a:tc>
                  <a:txBody>
                    <a:bodyPr/>
                    <a:lstStyle/>
                    <a:p>
                      <a:r>
                        <a:rPr lang="en-US" dirty="0"/>
                        <a:t> 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578750812"/>
                  </a:ext>
                </a:extLst>
              </a:tr>
            </a:tbl>
          </a:graphicData>
        </a:graphic>
      </p:graphicFrame>
      <p:graphicFrame>
        <p:nvGraphicFramePr>
          <p:cNvPr id="7" name="Content Placeholder 5">
            <a:extLst>
              <a:ext uri="{FF2B5EF4-FFF2-40B4-BE49-F238E27FC236}">
                <a16:creationId xmlns:a16="http://schemas.microsoft.com/office/drawing/2014/main" id="{EEB5EBCE-E5D3-C344-81ED-C258A02498DC}"/>
              </a:ext>
            </a:extLst>
          </p:cNvPr>
          <p:cNvGraphicFramePr>
            <a:graphicFrameLocks/>
          </p:cNvGraphicFramePr>
          <p:nvPr/>
        </p:nvGraphicFramePr>
        <p:xfrm>
          <a:off x="838200" y="3956794"/>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Celia</a:t>
                      </a:r>
                    </a:p>
                  </a:txBody>
                  <a:tcPr/>
                </a:tc>
                <a:tc>
                  <a:txBody>
                    <a:bodyPr/>
                    <a:lstStyle/>
                    <a:p>
                      <a:r>
                        <a:rPr lang="en-US" dirty="0"/>
                        <a:t>1.5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58124036"/>
                  </a:ext>
                </a:extLst>
              </a:tr>
              <a:tr h="370840">
                <a:tc>
                  <a:txBody>
                    <a:bodyPr/>
                    <a:lstStyle/>
                    <a:p>
                      <a:r>
                        <a:rPr lang="en-US" dirty="0"/>
                        <a:t>Temple</a:t>
                      </a:r>
                    </a:p>
                  </a:txBody>
                  <a:tcPr/>
                </a:tc>
                <a:tc>
                  <a:txBody>
                    <a:bodyPr/>
                    <a:lstStyle/>
                    <a:p>
                      <a:r>
                        <a:rPr lang="en-US" dirty="0"/>
                        <a:t>1.0</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05328884"/>
                  </a:ext>
                </a:extLst>
              </a:tr>
              <a:tr h="370840">
                <a:tc>
                  <a:txBody>
                    <a:bodyPr/>
                    <a:lstStyle/>
                    <a:p>
                      <a:r>
                        <a:rPr lang="en-US" dirty="0"/>
                        <a:t>Difference</a:t>
                      </a:r>
                    </a:p>
                  </a:txBody>
                  <a:tcPr/>
                </a:tc>
                <a:tc>
                  <a:txBody>
                    <a:bodyPr/>
                    <a:lstStyle/>
                    <a:p>
                      <a:r>
                        <a:rPr lang="en-US" dirty="0"/>
                        <a:t>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578750812"/>
                  </a:ext>
                </a:extLst>
              </a:tr>
            </a:tbl>
          </a:graphicData>
        </a:graphic>
      </p:graphicFrame>
      <p:sp>
        <p:nvSpPr>
          <p:cNvPr id="3" name="TextBox 2">
            <a:extLst>
              <a:ext uri="{FF2B5EF4-FFF2-40B4-BE49-F238E27FC236}">
                <a16:creationId xmlns:a16="http://schemas.microsoft.com/office/drawing/2014/main" id="{428791B4-0196-CF45-933F-13352E4229D9}"/>
              </a:ext>
            </a:extLst>
          </p:cNvPr>
          <p:cNvSpPr txBox="1"/>
          <p:nvPr/>
        </p:nvSpPr>
        <p:spPr>
          <a:xfrm>
            <a:off x="838199" y="6135757"/>
            <a:ext cx="8093765" cy="369332"/>
          </a:xfrm>
          <a:prstGeom prst="rect">
            <a:avLst/>
          </a:prstGeom>
          <a:noFill/>
        </p:spPr>
        <p:txBody>
          <a:bodyPr wrap="square" rtlCol="0">
            <a:spAutoFit/>
          </a:bodyPr>
          <a:lstStyle/>
          <a:p>
            <a:r>
              <a:rPr lang="en-US"/>
              <a:t>2PL item parameters</a:t>
            </a:r>
            <a:r>
              <a:rPr lang="en-US">
                <a:sym typeface="Wingdings" pitchFamily="2" charset="2"/>
              </a:rPr>
              <a:t> </a:t>
            </a:r>
            <a:r>
              <a:rPr lang="en-US"/>
              <a:t>Item 1 (blue ICC) a = 1, b = -.5   Item 2 (magenta) a = 2, b = 0.</a:t>
            </a:r>
          </a:p>
        </p:txBody>
      </p:sp>
    </p:spTree>
    <p:extLst>
      <p:ext uri="{BB962C8B-B14F-4D97-AF65-F5344CB8AC3E}">
        <p14:creationId xmlns:p14="http://schemas.microsoft.com/office/powerpoint/2010/main" val="2181956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5B5-C4BB-984C-ADBB-18EDE75C31A3}"/>
              </a:ext>
            </a:extLst>
          </p:cNvPr>
          <p:cNvSpPr>
            <a:spLocks noGrp="1"/>
          </p:cNvSpPr>
          <p:nvPr>
            <p:ph type="title"/>
          </p:nvPr>
        </p:nvSpPr>
        <p:spPr/>
        <p:txBody>
          <a:bodyPr>
            <a:normAutofit/>
          </a:bodyPr>
          <a:lstStyle/>
          <a:p>
            <a:r>
              <a:rPr lang="en-US" sz="3600" dirty="0"/>
              <a:t>Compare Two Pairs of students relative to predicted performance on each item based on the 2PL</a:t>
            </a:r>
          </a:p>
        </p:txBody>
      </p:sp>
      <p:graphicFrame>
        <p:nvGraphicFramePr>
          <p:cNvPr id="6" name="Content Placeholder 5">
            <a:extLst>
              <a:ext uri="{FF2B5EF4-FFF2-40B4-BE49-F238E27FC236}">
                <a16:creationId xmlns:a16="http://schemas.microsoft.com/office/drawing/2014/main" id="{85998AE8-F9D3-7040-A383-EC0C958802BB}"/>
              </a:ext>
            </a:extLst>
          </p:cNvPr>
          <p:cNvGraphicFramePr>
            <a:graphicFrameLocks noGrp="1"/>
          </p:cNvGraphicFramePr>
          <p:nvPr>
            <p:ph idx="1"/>
            <p:extLst>
              <p:ext uri="{D42A27DB-BD31-4B8C-83A1-F6EECF244321}">
                <p14:modId xmlns:p14="http://schemas.microsoft.com/office/powerpoint/2010/main" val="1922501575"/>
              </p:ext>
            </p:extLst>
          </p:nvPr>
        </p:nvGraphicFramePr>
        <p:xfrm>
          <a:off x="838200" y="1947441"/>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Larry</a:t>
                      </a:r>
                    </a:p>
                  </a:txBody>
                  <a:tcPr/>
                </a:tc>
                <a:tc>
                  <a:txBody>
                    <a:bodyPr/>
                    <a:lstStyle/>
                    <a:p>
                      <a:r>
                        <a:rPr lang="en-US" dirty="0"/>
                        <a:t>-0.5</a:t>
                      </a:r>
                    </a:p>
                  </a:txBody>
                  <a:tcPr/>
                </a:tc>
                <a:tc>
                  <a:txBody>
                    <a:bodyPr/>
                    <a:lstStyle/>
                    <a:p>
                      <a:pPr algn="ctr"/>
                      <a:r>
                        <a:rPr lang="en-US" dirty="0"/>
                        <a:t>.50</a:t>
                      </a:r>
                    </a:p>
                  </a:txBody>
                  <a:tcPr/>
                </a:tc>
                <a:tc>
                  <a:txBody>
                    <a:bodyPr/>
                    <a:lstStyle/>
                    <a:p>
                      <a:pPr algn="ctr"/>
                      <a:r>
                        <a:rPr lang="en-US" dirty="0"/>
                        <a:t>0</a:t>
                      </a:r>
                    </a:p>
                  </a:txBody>
                  <a:tcPr/>
                </a:tc>
                <a:tc>
                  <a:txBody>
                    <a:bodyPr/>
                    <a:lstStyle/>
                    <a:p>
                      <a:pPr algn="ctr"/>
                      <a:r>
                        <a:rPr lang="en-US" dirty="0"/>
                        <a:t>.27</a:t>
                      </a:r>
                    </a:p>
                  </a:txBody>
                  <a:tcPr/>
                </a:tc>
                <a:tc>
                  <a:txBody>
                    <a:bodyPr/>
                    <a:lstStyle/>
                    <a:p>
                      <a:pPr algn="ctr"/>
                      <a:r>
                        <a:rPr lang="en-US" dirty="0"/>
                        <a:t>-1</a:t>
                      </a:r>
                    </a:p>
                  </a:txBody>
                  <a:tcPr/>
                </a:tc>
                <a:extLst>
                  <a:ext uri="{0D108BD9-81ED-4DB2-BD59-A6C34878D82A}">
                    <a16:rowId xmlns:a16="http://schemas.microsoft.com/office/drawing/2014/main" val="3658124036"/>
                  </a:ext>
                </a:extLst>
              </a:tr>
              <a:tr h="370840">
                <a:tc>
                  <a:txBody>
                    <a:bodyPr/>
                    <a:lstStyle/>
                    <a:p>
                      <a:r>
                        <a:rPr lang="en-US" dirty="0"/>
                        <a:t>Kevin</a:t>
                      </a:r>
                    </a:p>
                  </a:txBody>
                  <a:tcPr/>
                </a:tc>
                <a:tc>
                  <a:txBody>
                    <a:bodyPr/>
                    <a:lstStyle/>
                    <a:p>
                      <a:r>
                        <a:rPr lang="en-US" dirty="0"/>
                        <a:t>-1.0</a:t>
                      </a:r>
                    </a:p>
                  </a:txBody>
                  <a:tcPr/>
                </a:tc>
                <a:tc>
                  <a:txBody>
                    <a:bodyPr/>
                    <a:lstStyle/>
                    <a:p>
                      <a:pPr algn="ctr"/>
                      <a:r>
                        <a:rPr lang="en-US" dirty="0"/>
                        <a:t>.38</a:t>
                      </a:r>
                    </a:p>
                  </a:txBody>
                  <a:tcPr/>
                </a:tc>
                <a:tc>
                  <a:txBody>
                    <a:bodyPr/>
                    <a:lstStyle/>
                    <a:p>
                      <a:pPr algn="ctr"/>
                      <a:r>
                        <a:rPr lang="en-US" dirty="0"/>
                        <a:t>-.5</a:t>
                      </a:r>
                    </a:p>
                  </a:txBody>
                  <a:tcPr/>
                </a:tc>
                <a:tc>
                  <a:txBody>
                    <a:bodyPr/>
                    <a:lstStyle/>
                    <a:p>
                      <a:pPr algn="ctr"/>
                      <a:r>
                        <a:rPr lang="en-US" dirty="0"/>
                        <a:t>.12</a:t>
                      </a:r>
                    </a:p>
                  </a:txBody>
                  <a:tcPr/>
                </a:tc>
                <a:tc>
                  <a:txBody>
                    <a:bodyPr/>
                    <a:lstStyle/>
                    <a:p>
                      <a:pPr algn="ctr"/>
                      <a:r>
                        <a:rPr lang="en-US" dirty="0"/>
                        <a:t>-2</a:t>
                      </a:r>
                    </a:p>
                  </a:txBody>
                  <a:tcPr/>
                </a:tc>
                <a:extLst>
                  <a:ext uri="{0D108BD9-81ED-4DB2-BD59-A6C34878D82A}">
                    <a16:rowId xmlns:a16="http://schemas.microsoft.com/office/drawing/2014/main" val="2705328884"/>
                  </a:ext>
                </a:extLst>
              </a:tr>
              <a:tr h="370840">
                <a:tc>
                  <a:txBody>
                    <a:bodyPr/>
                    <a:lstStyle/>
                    <a:p>
                      <a:r>
                        <a:rPr lang="en-US" dirty="0"/>
                        <a:t>Difference </a:t>
                      </a:r>
                    </a:p>
                  </a:txBody>
                  <a:tcPr/>
                </a:tc>
                <a:tc>
                  <a:txBody>
                    <a:bodyPr/>
                    <a:lstStyle/>
                    <a:p>
                      <a:r>
                        <a:rPr lang="en-US" dirty="0"/>
                        <a:t> 0.5</a:t>
                      </a:r>
                    </a:p>
                  </a:txBody>
                  <a:tcPr/>
                </a:tc>
                <a:tc>
                  <a:txBody>
                    <a:bodyPr/>
                    <a:lstStyle/>
                    <a:p>
                      <a:pPr algn="ctr"/>
                      <a:r>
                        <a:rPr lang="en-US" dirty="0"/>
                        <a:t>.12</a:t>
                      </a:r>
                    </a:p>
                  </a:txBody>
                  <a:tcPr/>
                </a:tc>
                <a:tc>
                  <a:txBody>
                    <a:bodyPr/>
                    <a:lstStyle/>
                    <a:p>
                      <a:pPr algn="ctr"/>
                      <a:r>
                        <a:rPr lang="en-US" dirty="0"/>
                        <a:t>.5</a:t>
                      </a:r>
                    </a:p>
                  </a:txBody>
                  <a:tcPr/>
                </a:tc>
                <a:tc>
                  <a:txBody>
                    <a:bodyPr/>
                    <a:lstStyle/>
                    <a:p>
                      <a:pPr algn="ctr"/>
                      <a:r>
                        <a:rPr lang="en-US" dirty="0"/>
                        <a:t>.15</a:t>
                      </a:r>
                    </a:p>
                  </a:txBody>
                  <a:tcPr/>
                </a:tc>
                <a:tc>
                  <a:txBody>
                    <a:bodyPr/>
                    <a:lstStyle/>
                    <a:p>
                      <a:pPr algn="ctr"/>
                      <a:r>
                        <a:rPr lang="en-US" dirty="0"/>
                        <a:t>1</a:t>
                      </a:r>
                    </a:p>
                  </a:txBody>
                  <a:tcPr/>
                </a:tc>
                <a:extLst>
                  <a:ext uri="{0D108BD9-81ED-4DB2-BD59-A6C34878D82A}">
                    <a16:rowId xmlns:a16="http://schemas.microsoft.com/office/drawing/2014/main" val="2578750812"/>
                  </a:ext>
                </a:extLst>
              </a:tr>
            </a:tbl>
          </a:graphicData>
        </a:graphic>
      </p:graphicFrame>
      <p:graphicFrame>
        <p:nvGraphicFramePr>
          <p:cNvPr id="7" name="Content Placeholder 5">
            <a:extLst>
              <a:ext uri="{FF2B5EF4-FFF2-40B4-BE49-F238E27FC236}">
                <a16:creationId xmlns:a16="http://schemas.microsoft.com/office/drawing/2014/main" id="{EEB5EBCE-E5D3-C344-81ED-C258A02498DC}"/>
              </a:ext>
            </a:extLst>
          </p:cNvPr>
          <p:cNvGraphicFramePr>
            <a:graphicFrameLocks/>
          </p:cNvGraphicFramePr>
          <p:nvPr>
            <p:extLst>
              <p:ext uri="{D42A27DB-BD31-4B8C-83A1-F6EECF244321}">
                <p14:modId xmlns:p14="http://schemas.microsoft.com/office/powerpoint/2010/main" val="1747153063"/>
              </p:ext>
            </p:extLst>
          </p:nvPr>
        </p:nvGraphicFramePr>
        <p:xfrm>
          <a:off x="838200" y="3956794"/>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Celia</a:t>
                      </a:r>
                    </a:p>
                  </a:txBody>
                  <a:tcPr/>
                </a:tc>
                <a:tc>
                  <a:txBody>
                    <a:bodyPr/>
                    <a:lstStyle/>
                    <a:p>
                      <a:r>
                        <a:rPr lang="en-US" dirty="0"/>
                        <a:t>1.5</a:t>
                      </a:r>
                    </a:p>
                  </a:txBody>
                  <a:tcPr/>
                </a:tc>
                <a:tc>
                  <a:txBody>
                    <a:bodyPr/>
                    <a:lstStyle/>
                    <a:p>
                      <a:pPr algn="ctr"/>
                      <a:r>
                        <a:rPr lang="en-US" dirty="0"/>
                        <a:t>.88</a:t>
                      </a:r>
                    </a:p>
                  </a:txBody>
                  <a:tcPr/>
                </a:tc>
                <a:tc>
                  <a:txBody>
                    <a:bodyPr/>
                    <a:lstStyle/>
                    <a:p>
                      <a:pPr algn="ctr"/>
                      <a:r>
                        <a:rPr lang="en-US" dirty="0"/>
                        <a:t>2</a:t>
                      </a:r>
                    </a:p>
                  </a:txBody>
                  <a:tcPr/>
                </a:tc>
                <a:tc>
                  <a:txBody>
                    <a:bodyPr/>
                    <a:lstStyle/>
                    <a:p>
                      <a:pPr algn="ctr"/>
                      <a:r>
                        <a:rPr lang="en-US" dirty="0"/>
                        <a:t>.95</a:t>
                      </a:r>
                    </a:p>
                  </a:txBody>
                  <a:tcPr/>
                </a:tc>
                <a:tc>
                  <a:txBody>
                    <a:bodyPr/>
                    <a:lstStyle/>
                    <a:p>
                      <a:pPr algn="ctr"/>
                      <a:r>
                        <a:rPr lang="en-US" dirty="0"/>
                        <a:t>3</a:t>
                      </a:r>
                    </a:p>
                  </a:txBody>
                  <a:tcPr/>
                </a:tc>
                <a:extLst>
                  <a:ext uri="{0D108BD9-81ED-4DB2-BD59-A6C34878D82A}">
                    <a16:rowId xmlns:a16="http://schemas.microsoft.com/office/drawing/2014/main" val="3658124036"/>
                  </a:ext>
                </a:extLst>
              </a:tr>
              <a:tr h="370840">
                <a:tc>
                  <a:txBody>
                    <a:bodyPr/>
                    <a:lstStyle/>
                    <a:p>
                      <a:r>
                        <a:rPr lang="en-US" dirty="0"/>
                        <a:t>Temple</a:t>
                      </a:r>
                    </a:p>
                  </a:txBody>
                  <a:tcPr/>
                </a:tc>
                <a:tc>
                  <a:txBody>
                    <a:bodyPr/>
                    <a:lstStyle/>
                    <a:p>
                      <a:r>
                        <a:rPr lang="en-US" dirty="0"/>
                        <a:t>1.0</a:t>
                      </a:r>
                    </a:p>
                  </a:txBody>
                  <a:tcPr/>
                </a:tc>
                <a:tc>
                  <a:txBody>
                    <a:bodyPr/>
                    <a:lstStyle/>
                    <a:p>
                      <a:pPr algn="ctr"/>
                      <a:r>
                        <a:rPr lang="en-US" dirty="0"/>
                        <a:t>.82</a:t>
                      </a:r>
                    </a:p>
                  </a:txBody>
                  <a:tcPr/>
                </a:tc>
                <a:tc>
                  <a:txBody>
                    <a:bodyPr/>
                    <a:lstStyle/>
                    <a:p>
                      <a:pPr algn="ctr"/>
                      <a:r>
                        <a:rPr lang="en-US" dirty="0"/>
                        <a:t>1.5</a:t>
                      </a:r>
                    </a:p>
                  </a:txBody>
                  <a:tcPr/>
                </a:tc>
                <a:tc>
                  <a:txBody>
                    <a:bodyPr/>
                    <a:lstStyle/>
                    <a:p>
                      <a:pPr algn="ctr"/>
                      <a:r>
                        <a:rPr lang="en-US" dirty="0"/>
                        <a:t>.88</a:t>
                      </a:r>
                    </a:p>
                  </a:txBody>
                  <a:tcPr/>
                </a:tc>
                <a:tc>
                  <a:txBody>
                    <a:bodyPr/>
                    <a:lstStyle/>
                    <a:p>
                      <a:pPr algn="ctr"/>
                      <a:r>
                        <a:rPr lang="en-US" dirty="0"/>
                        <a:t>2</a:t>
                      </a:r>
                    </a:p>
                  </a:txBody>
                  <a:tcPr/>
                </a:tc>
                <a:extLst>
                  <a:ext uri="{0D108BD9-81ED-4DB2-BD59-A6C34878D82A}">
                    <a16:rowId xmlns:a16="http://schemas.microsoft.com/office/drawing/2014/main" val="2705328884"/>
                  </a:ext>
                </a:extLst>
              </a:tr>
              <a:tr h="370840">
                <a:tc>
                  <a:txBody>
                    <a:bodyPr/>
                    <a:lstStyle/>
                    <a:p>
                      <a:r>
                        <a:rPr lang="en-US" dirty="0"/>
                        <a:t>Difference</a:t>
                      </a:r>
                    </a:p>
                  </a:txBody>
                  <a:tcPr/>
                </a:tc>
                <a:tc>
                  <a:txBody>
                    <a:bodyPr/>
                    <a:lstStyle/>
                    <a:p>
                      <a:r>
                        <a:rPr lang="en-US" dirty="0"/>
                        <a:t>0.5</a:t>
                      </a:r>
                    </a:p>
                  </a:txBody>
                  <a:tcPr/>
                </a:tc>
                <a:tc>
                  <a:txBody>
                    <a:bodyPr/>
                    <a:lstStyle/>
                    <a:p>
                      <a:pPr algn="ctr"/>
                      <a:r>
                        <a:rPr lang="en-US" dirty="0"/>
                        <a:t>.06</a:t>
                      </a:r>
                    </a:p>
                  </a:txBody>
                  <a:tcPr/>
                </a:tc>
                <a:tc>
                  <a:txBody>
                    <a:bodyPr/>
                    <a:lstStyle/>
                    <a:p>
                      <a:pPr algn="ctr"/>
                      <a:r>
                        <a:rPr lang="en-US" dirty="0"/>
                        <a:t>.5</a:t>
                      </a:r>
                    </a:p>
                  </a:txBody>
                  <a:tcPr/>
                </a:tc>
                <a:tc>
                  <a:txBody>
                    <a:bodyPr/>
                    <a:lstStyle/>
                    <a:p>
                      <a:pPr algn="ctr"/>
                      <a:r>
                        <a:rPr lang="en-US" dirty="0"/>
                        <a:t>.07</a:t>
                      </a:r>
                    </a:p>
                  </a:txBody>
                  <a:tcPr/>
                </a:tc>
                <a:tc>
                  <a:txBody>
                    <a:bodyPr/>
                    <a:lstStyle/>
                    <a:p>
                      <a:pPr algn="ctr"/>
                      <a:r>
                        <a:rPr lang="en-US" dirty="0"/>
                        <a:t>1</a:t>
                      </a:r>
                    </a:p>
                  </a:txBody>
                  <a:tcPr/>
                </a:tc>
                <a:extLst>
                  <a:ext uri="{0D108BD9-81ED-4DB2-BD59-A6C34878D82A}">
                    <a16:rowId xmlns:a16="http://schemas.microsoft.com/office/drawing/2014/main" val="2578750812"/>
                  </a:ext>
                </a:extLst>
              </a:tr>
            </a:tbl>
          </a:graphicData>
        </a:graphic>
      </p:graphicFrame>
      <p:sp>
        <p:nvSpPr>
          <p:cNvPr id="3" name="TextBox 2">
            <a:extLst>
              <a:ext uri="{FF2B5EF4-FFF2-40B4-BE49-F238E27FC236}">
                <a16:creationId xmlns:a16="http://schemas.microsoft.com/office/drawing/2014/main" id="{428791B4-0196-CF45-933F-13352E4229D9}"/>
              </a:ext>
            </a:extLst>
          </p:cNvPr>
          <p:cNvSpPr txBox="1"/>
          <p:nvPr/>
        </p:nvSpPr>
        <p:spPr>
          <a:xfrm>
            <a:off x="838199" y="6135757"/>
            <a:ext cx="8093765" cy="369332"/>
          </a:xfrm>
          <a:prstGeom prst="rect">
            <a:avLst/>
          </a:prstGeom>
          <a:noFill/>
        </p:spPr>
        <p:txBody>
          <a:bodyPr wrap="square" rtlCol="0">
            <a:spAutoFit/>
          </a:bodyPr>
          <a:lstStyle/>
          <a:p>
            <a:r>
              <a:rPr lang="en-US"/>
              <a:t>2PL item parameters</a:t>
            </a:r>
            <a:r>
              <a:rPr lang="en-US">
                <a:sym typeface="Wingdings" pitchFamily="2" charset="2"/>
              </a:rPr>
              <a:t> </a:t>
            </a:r>
            <a:r>
              <a:rPr lang="en-US"/>
              <a:t>Item 1 (blue ICC) a = 1, b = -.5   Item 2 (magenta) a = 2, b = 0.</a:t>
            </a:r>
          </a:p>
        </p:txBody>
      </p:sp>
    </p:spTree>
    <p:extLst>
      <p:ext uri="{BB962C8B-B14F-4D97-AF65-F5344CB8AC3E}">
        <p14:creationId xmlns:p14="http://schemas.microsoft.com/office/powerpoint/2010/main" val="1870976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5B5-C4BB-984C-ADBB-18EDE75C31A3}"/>
              </a:ext>
            </a:extLst>
          </p:cNvPr>
          <p:cNvSpPr>
            <a:spLocks noGrp="1"/>
          </p:cNvSpPr>
          <p:nvPr>
            <p:ph type="title"/>
          </p:nvPr>
        </p:nvSpPr>
        <p:spPr/>
        <p:txBody>
          <a:bodyPr>
            <a:normAutofit/>
          </a:bodyPr>
          <a:lstStyle/>
          <a:p>
            <a:r>
              <a:rPr lang="en-US" sz="3600" dirty="0"/>
              <a:t>Now do the same thing relative to performance on each item as predicted based on the Rasch Model</a:t>
            </a:r>
          </a:p>
        </p:txBody>
      </p:sp>
      <p:graphicFrame>
        <p:nvGraphicFramePr>
          <p:cNvPr id="6" name="Content Placeholder 5">
            <a:extLst>
              <a:ext uri="{FF2B5EF4-FFF2-40B4-BE49-F238E27FC236}">
                <a16:creationId xmlns:a16="http://schemas.microsoft.com/office/drawing/2014/main" id="{85998AE8-F9D3-7040-A383-EC0C958802BB}"/>
              </a:ext>
            </a:extLst>
          </p:cNvPr>
          <p:cNvGraphicFramePr>
            <a:graphicFrameLocks noGrp="1"/>
          </p:cNvGraphicFramePr>
          <p:nvPr>
            <p:ph idx="1"/>
          </p:nvPr>
        </p:nvGraphicFramePr>
        <p:xfrm>
          <a:off x="838200" y="1947441"/>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Larry</a:t>
                      </a:r>
                    </a:p>
                  </a:txBody>
                  <a:tcPr/>
                </a:tc>
                <a:tc>
                  <a:txBody>
                    <a:bodyPr/>
                    <a:lstStyle/>
                    <a:p>
                      <a:r>
                        <a:rPr lang="en-US" dirty="0"/>
                        <a:t>-0.5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58124036"/>
                  </a:ext>
                </a:extLst>
              </a:tr>
              <a:tr h="370840">
                <a:tc>
                  <a:txBody>
                    <a:bodyPr/>
                    <a:lstStyle/>
                    <a:p>
                      <a:r>
                        <a:rPr lang="en-US" dirty="0"/>
                        <a:t>Kevin</a:t>
                      </a:r>
                    </a:p>
                  </a:txBody>
                  <a:tcPr/>
                </a:tc>
                <a:tc>
                  <a:txBody>
                    <a:bodyPr/>
                    <a:lstStyle/>
                    <a:p>
                      <a:r>
                        <a:rPr lang="en-US" dirty="0"/>
                        <a:t>-1.0</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05328884"/>
                  </a:ext>
                </a:extLst>
              </a:tr>
              <a:tr h="370840">
                <a:tc>
                  <a:txBody>
                    <a:bodyPr/>
                    <a:lstStyle/>
                    <a:p>
                      <a:r>
                        <a:rPr lang="en-US" dirty="0"/>
                        <a:t>Difference </a:t>
                      </a:r>
                    </a:p>
                  </a:txBody>
                  <a:tcPr/>
                </a:tc>
                <a:tc>
                  <a:txBody>
                    <a:bodyPr/>
                    <a:lstStyle/>
                    <a:p>
                      <a:r>
                        <a:rPr lang="en-US" dirty="0"/>
                        <a:t> 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578750812"/>
                  </a:ext>
                </a:extLst>
              </a:tr>
            </a:tbl>
          </a:graphicData>
        </a:graphic>
      </p:graphicFrame>
      <p:graphicFrame>
        <p:nvGraphicFramePr>
          <p:cNvPr id="7" name="Content Placeholder 5">
            <a:extLst>
              <a:ext uri="{FF2B5EF4-FFF2-40B4-BE49-F238E27FC236}">
                <a16:creationId xmlns:a16="http://schemas.microsoft.com/office/drawing/2014/main" id="{EEB5EBCE-E5D3-C344-81ED-C258A02498DC}"/>
              </a:ext>
            </a:extLst>
          </p:cNvPr>
          <p:cNvGraphicFramePr>
            <a:graphicFrameLocks/>
          </p:cNvGraphicFramePr>
          <p:nvPr/>
        </p:nvGraphicFramePr>
        <p:xfrm>
          <a:off x="838200" y="4297155"/>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Celia</a:t>
                      </a:r>
                    </a:p>
                  </a:txBody>
                  <a:tcPr/>
                </a:tc>
                <a:tc>
                  <a:txBody>
                    <a:bodyPr/>
                    <a:lstStyle/>
                    <a:p>
                      <a:r>
                        <a:rPr lang="en-US" dirty="0"/>
                        <a:t>1.5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58124036"/>
                  </a:ext>
                </a:extLst>
              </a:tr>
              <a:tr h="370840">
                <a:tc>
                  <a:txBody>
                    <a:bodyPr/>
                    <a:lstStyle/>
                    <a:p>
                      <a:r>
                        <a:rPr lang="en-US" dirty="0"/>
                        <a:t>Temple</a:t>
                      </a:r>
                    </a:p>
                  </a:txBody>
                  <a:tcPr/>
                </a:tc>
                <a:tc>
                  <a:txBody>
                    <a:bodyPr/>
                    <a:lstStyle/>
                    <a:p>
                      <a:r>
                        <a:rPr lang="en-US" dirty="0"/>
                        <a:t>1.0</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05328884"/>
                  </a:ext>
                </a:extLst>
              </a:tr>
              <a:tr h="370840">
                <a:tc>
                  <a:txBody>
                    <a:bodyPr/>
                    <a:lstStyle/>
                    <a:p>
                      <a:r>
                        <a:rPr lang="en-US" dirty="0"/>
                        <a:t>Difference</a:t>
                      </a:r>
                    </a:p>
                  </a:txBody>
                  <a:tcPr/>
                </a:tc>
                <a:tc>
                  <a:txBody>
                    <a:bodyPr/>
                    <a:lstStyle/>
                    <a:p>
                      <a:r>
                        <a:rPr lang="en-US" dirty="0"/>
                        <a:t>0.5</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578750812"/>
                  </a:ext>
                </a:extLst>
              </a:tr>
            </a:tbl>
          </a:graphicData>
        </a:graphic>
      </p:graphicFrame>
      <p:sp>
        <p:nvSpPr>
          <p:cNvPr id="5" name="TextBox 4">
            <a:extLst>
              <a:ext uri="{FF2B5EF4-FFF2-40B4-BE49-F238E27FC236}">
                <a16:creationId xmlns:a16="http://schemas.microsoft.com/office/drawing/2014/main" id="{2EF16C66-FCA6-4C41-9CF1-B4072419CD1A}"/>
              </a:ext>
            </a:extLst>
          </p:cNvPr>
          <p:cNvSpPr txBox="1"/>
          <p:nvPr/>
        </p:nvSpPr>
        <p:spPr>
          <a:xfrm>
            <a:off x="838199" y="6215269"/>
            <a:ext cx="8716618" cy="369332"/>
          </a:xfrm>
          <a:prstGeom prst="rect">
            <a:avLst/>
          </a:prstGeom>
          <a:noFill/>
        </p:spPr>
        <p:txBody>
          <a:bodyPr wrap="square" rtlCol="0">
            <a:spAutoFit/>
          </a:bodyPr>
          <a:lstStyle/>
          <a:p>
            <a:r>
              <a:rPr lang="en-US"/>
              <a:t>Rasch item parameters</a:t>
            </a:r>
            <a:r>
              <a:rPr lang="en-US">
                <a:sym typeface="Wingdings" pitchFamily="2" charset="2"/>
              </a:rPr>
              <a:t> </a:t>
            </a:r>
            <a:r>
              <a:rPr lang="en-US"/>
              <a:t>Item 1 (blue ICC) a = 1, b = -.5   Item 2 (magenta) a = 1, b = 0.</a:t>
            </a:r>
          </a:p>
        </p:txBody>
      </p:sp>
    </p:spTree>
    <p:extLst>
      <p:ext uri="{BB962C8B-B14F-4D97-AF65-F5344CB8AC3E}">
        <p14:creationId xmlns:p14="http://schemas.microsoft.com/office/powerpoint/2010/main" val="3908185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965B5-C4BB-984C-ADBB-18EDE75C31A3}"/>
              </a:ext>
            </a:extLst>
          </p:cNvPr>
          <p:cNvSpPr>
            <a:spLocks noGrp="1"/>
          </p:cNvSpPr>
          <p:nvPr>
            <p:ph type="title"/>
          </p:nvPr>
        </p:nvSpPr>
        <p:spPr/>
        <p:txBody>
          <a:bodyPr>
            <a:normAutofit/>
          </a:bodyPr>
          <a:lstStyle/>
          <a:p>
            <a:r>
              <a:rPr lang="en-US" sz="3600" dirty="0"/>
              <a:t>Now do the same thing relative to performance on each item as predicted based on the Rasch Model</a:t>
            </a:r>
          </a:p>
        </p:txBody>
      </p:sp>
      <p:graphicFrame>
        <p:nvGraphicFramePr>
          <p:cNvPr id="6" name="Content Placeholder 5">
            <a:extLst>
              <a:ext uri="{FF2B5EF4-FFF2-40B4-BE49-F238E27FC236}">
                <a16:creationId xmlns:a16="http://schemas.microsoft.com/office/drawing/2014/main" id="{85998AE8-F9D3-7040-A383-EC0C958802BB}"/>
              </a:ext>
            </a:extLst>
          </p:cNvPr>
          <p:cNvGraphicFramePr>
            <a:graphicFrameLocks noGrp="1"/>
          </p:cNvGraphicFramePr>
          <p:nvPr>
            <p:ph idx="1"/>
            <p:extLst>
              <p:ext uri="{D42A27DB-BD31-4B8C-83A1-F6EECF244321}">
                <p14:modId xmlns:p14="http://schemas.microsoft.com/office/powerpoint/2010/main" val="2550427454"/>
              </p:ext>
            </p:extLst>
          </p:nvPr>
        </p:nvGraphicFramePr>
        <p:xfrm>
          <a:off x="838200" y="1947441"/>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Larry</a:t>
                      </a:r>
                    </a:p>
                  </a:txBody>
                  <a:tcPr/>
                </a:tc>
                <a:tc>
                  <a:txBody>
                    <a:bodyPr/>
                    <a:lstStyle/>
                    <a:p>
                      <a:r>
                        <a:rPr lang="en-US" dirty="0"/>
                        <a:t>-0.5</a:t>
                      </a:r>
                    </a:p>
                  </a:txBody>
                  <a:tcPr/>
                </a:tc>
                <a:tc>
                  <a:txBody>
                    <a:bodyPr/>
                    <a:lstStyle/>
                    <a:p>
                      <a:pPr algn="ctr"/>
                      <a:r>
                        <a:rPr lang="en-US" dirty="0"/>
                        <a:t>.50</a:t>
                      </a:r>
                    </a:p>
                  </a:txBody>
                  <a:tcPr/>
                </a:tc>
                <a:tc>
                  <a:txBody>
                    <a:bodyPr/>
                    <a:lstStyle/>
                    <a:p>
                      <a:pPr algn="ctr"/>
                      <a:r>
                        <a:rPr lang="en-US" dirty="0"/>
                        <a:t>0</a:t>
                      </a:r>
                    </a:p>
                  </a:txBody>
                  <a:tcPr/>
                </a:tc>
                <a:tc>
                  <a:txBody>
                    <a:bodyPr/>
                    <a:lstStyle/>
                    <a:p>
                      <a:pPr algn="ctr"/>
                      <a:r>
                        <a:rPr lang="en-US" dirty="0"/>
                        <a:t>.38</a:t>
                      </a:r>
                    </a:p>
                  </a:txBody>
                  <a:tcPr/>
                </a:tc>
                <a:tc>
                  <a:txBody>
                    <a:bodyPr/>
                    <a:lstStyle/>
                    <a:p>
                      <a:pPr algn="ctr"/>
                      <a:r>
                        <a:rPr lang="en-US" dirty="0"/>
                        <a:t>-.5</a:t>
                      </a:r>
                    </a:p>
                  </a:txBody>
                  <a:tcPr/>
                </a:tc>
                <a:extLst>
                  <a:ext uri="{0D108BD9-81ED-4DB2-BD59-A6C34878D82A}">
                    <a16:rowId xmlns:a16="http://schemas.microsoft.com/office/drawing/2014/main" val="3658124036"/>
                  </a:ext>
                </a:extLst>
              </a:tr>
              <a:tr h="370840">
                <a:tc>
                  <a:txBody>
                    <a:bodyPr/>
                    <a:lstStyle/>
                    <a:p>
                      <a:r>
                        <a:rPr lang="en-US" dirty="0"/>
                        <a:t>Kevin</a:t>
                      </a:r>
                    </a:p>
                  </a:txBody>
                  <a:tcPr/>
                </a:tc>
                <a:tc>
                  <a:txBody>
                    <a:bodyPr/>
                    <a:lstStyle/>
                    <a:p>
                      <a:r>
                        <a:rPr lang="en-US" dirty="0"/>
                        <a:t>-1.0</a:t>
                      </a:r>
                    </a:p>
                  </a:txBody>
                  <a:tcPr/>
                </a:tc>
                <a:tc>
                  <a:txBody>
                    <a:bodyPr/>
                    <a:lstStyle/>
                    <a:p>
                      <a:pPr algn="ctr"/>
                      <a:r>
                        <a:rPr lang="en-US" dirty="0"/>
                        <a:t>.38</a:t>
                      </a:r>
                    </a:p>
                  </a:txBody>
                  <a:tcPr/>
                </a:tc>
                <a:tc>
                  <a:txBody>
                    <a:bodyPr/>
                    <a:lstStyle/>
                    <a:p>
                      <a:pPr algn="ctr"/>
                      <a:r>
                        <a:rPr lang="en-US" dirty="0"/>
                        <a:t>-.5</a:t>
                      </a:r>
                    </a:p>
                  </a:txBody>
                  <a:tcPr/>
                </a:tc>
                <a:tc>
                  <a:txBody>
                    <a:bodyPr/>
                    <a:lstStyle/>
                    <a:p>
                      <a:pPr algn="ctr"/>
                      <a:r>
                        <a:rPr lang="en-US" dirty="0"/>
                        <a:t>.27</a:t>
                      </a:r>
                    </a:p>
                  </a:txBody>
                  <a:tcPr/>
                </a:tc>
                <a:tc>
                  <a:txBody>
                    <a:bodyPr/>
                    <a:lstStyle/>
                    <a:p>
                      <a:pPr algn="ctr"/>
                      <a:r>
                        <a:rPr lang="en-US" dirty="0"/>
                        <a:t>-1</a:t>
                      </a:r>
                    </a:p>
                  </a:txBody>
                  <a:tcPr/>
                </a:tc>
                <a:extLst>
                  <a:ext uri="{0D108BD9-81ED-4DB2-BD59-A6C34878D82A}">
                    <a16:rowId xmlns:a16="http://schemas.microsoft.com/office/drawing/2014/main" val="2705328884"/>
                  </a:ext>
                </a:extLst>
              </a:tr>
              <a:tr h="370840">
                <a:tc>
                  <a:txBody>
                    <a:bodyPr/>
                    <a:lstStyle/>
                    <a:p>
                      <a:r>
                        <a:rPr lang="en-US" dirty="0"/>
                        <a:t>Difference </a:t>
                      </a:r>
                    </a:p>
                  </a:txBody>
                  <a:tcPr/>
                </a:tc>
                <a:tc>
                  <a:txBody>
                    <a:bodyPr/>
                    <a:lstStyle/>
                    <a:p>
                      <a:r>
                        <a:rPr lang="en-US" dirty="0"/>
                        <a:t> 0.5</a:t>
                      </a:r>
                    </a:p>
                  </a:txBody>
                  <a:tcPr/>
                </a:tc>
                <a:tc>
                  <a:txBody>
                    <a:bodyPr/>
                    <a:lstStyle/>
                    <a:p>
                      <a:pPr algn="ctr"/>
                      <a:r>
                        <a:rPr lang="en-US" dirty="0"/>
                        <a:t>.12</a:t>
                      </a:r>
                    </a:p>
                  </a:txBody>
                  <a:tcPr/>
                </a:tc>
                <a:tc>
                  <a:txBody>
                    <a:bodyPr/>
                    <a:lstStyle/>
                    <a:p>
                      <a:pPr algn="ctr"/>
                      <a:r>
                        <a:rPr lang="en-US" dirty="0"/>
                        <a:t>.5</a:t>
                      </a:r>
                    </a:p>
                  </a:txBody>
                  <a:tcPr/>
                </a:tc>
                <a:tc>
                  <a:txBody>
                    <a:bodyPr/>
                    <a:lstStyle/>
                    <a:p>
                      <a:pPr algn="ctr"/>
                      <a:r>
                        <a:rPr lang="en-US" dirty="0"/>
                        <a:t>.11</a:t>
                      </a:r>
                    </a:p>
                  </a:txBody>
                  <a:tcPr/>
                </a:tc>
                <a:tc>
                  <a:txBody>
                    <a:bodyPr/>
                    <a:lstStyle/>
                    <a:p>
                      <a:pPr algn="ctr"/>
                      <a:r>
                        <a:rPr lang="en-US" dirty="0"/>
                        <a:t>.5</a:t>
                      </a:r>
                    </a:p>
                  </a:txBody>
                  <a:tcPr/>
                </a:tc>
                <a:extLst>
                  <a:ext uri="{0D108BD9-81ED-4DB2-BD59-A6C34878D82A}">
                    <a16:rowId xmlns:a16="http://schemas.microsoft.com/office/drawing/2014/main" val="2578750812"/>
                  </a:ext>
                </a:extLst>
              </a:tr>
            </a:tbl>
          </a:graphicData>
        </a:graphic>
      </p:graphicFrame>
      <p:graphicFrame>
        <p:nvGraphicFramePr>
          <p:cNvPr id="7" name="Content Placeholder 5">
            <a:extLst>
              <a:ext uri="{FF2B5EF4-FFF2-40B4-BE49-F238E27FC236}">
                <a16:creationId xmlns:a16="http://schemas.microsoft.com/office/drawing/2014/main" id="{EEB5EBCE-E5D3-C344-81ED-C258A02498DC}"/>
              </a:ext>
            </a:extLst>
          </p:cNvPr>
          <p:cNvGraphicFramePr>
            <a:graphicFrameLocks/>
          </p:cNvGraphicFramePr>
          <p:nvPr>
            <p:extLst>
              <p:ext uri="{D42A27DB-BD31-4B8C-83A1-F6EECF244321}">
                <p14:modId xmlns:p14="http://schemas.microsoft.com/office/powerpoint/2010/main" val="3109860580"/>
              </p:ext>
            </p:extLst>
          </p:nvPr>
        </p:nvGraphicFramePr>
        <p:xfrm>
          <a:off x="838200" y="4297155"/>
          <a:ext cx="10515600" cy="1752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988731297"/>
                    </a:ext>
                  </a:extLst>
                </a:gridCol>
                <a:gridCol w="1752600">
                  <a:extLst>
                    <a:ext uri="{9D8B030D-6E8A-4147-A177-3AD203B41FA5}">
                      <a16:colId xmlns:a16="http://schemas.microsoft.com/office/drawing/2014/main" val="4034888755"/>
                    </a:ext>
                  </a:extLst>
                </a:gridCol>
                <a:gridCol w="1752600">
                  <a:extLst>
                    <a:ext uri="{9D8B030D-6E8A-4147-A177-3AD203B41FA5}">
                      <a16:colId xmlns:a16="http://schemas.microsoft.com/office/drawing/2014/main" val="1031706386"/>
                    </a:ext>
                  </a:extLst>
                </a:gridCol>
                <a:gridCol w="1752600">
                  <a:extLst>
                    <a:ext uri="{9D8B030D-6E8A-4147-A177-3AD203B41FA5}">
                      <a16:colId xmlns:a16="http://schemas.microsoft.com/office/drawing/2014/main" val="3727796609"/>
                    </a:ext>
                  </a:extLst>
                </a:gridCol>
                <a:gridCol w="1752600">
                  <a:extLst>
                    <a:ext uri="{9D8B030D-6E8A-4147-A177-3AD203B41FA5}">
                      <a16:colId xmlns:a16="http://schemas.microsoft.com/office/drawing/2014/main" val="3733397701"/>
                    </a:ext>
                  </a:extLst>
                </a:gridCol>
                <a:gridCol w="1752600">
                  <a:extLst>
                    <a:ext uri="{9D8B030D-6E8A-4147-A177-3AD203B41FA5}">
                      <a16:colId xmlns:a16="http://schemas.microsoft.com/office/drawing/2014/main" val="193153075"/>
                    </a:ext>
                  </a:extLst>
                </a:gridCol>
              </a:tblGrid>
              <a:tr h="370840">
                <a:tc>
                  <a:txBody>
                    <a:bodyPr/>
                    <a:lstStyle/>
                    <a:p>
                      <a:r>
                        <a:rPr lang="en-US" dirty="0"/>
                        <a:t>Student</a:t>
                      </a:r>
                    </a:p>
                  </a:txBody>
                  <a:tcPr/>
                </a:tc>
                <a:tc>
                  <a:txBody>
                    <a:bodyPr/>
                    <a:lstStyle/>
                    <a:p>
                      <a:r>
                        <a:rPr lang="en-US" dirty="0"/>
                        <a:t>Theta</a:t>
                      </a:r>
                    </a:p>
                  </a:txBody>
                  <a:tcPr/>
                </a:tc>
                <a:tc>
                  <a:txBody>
                    <a:bodyPr/>
                    <a:lstStyle/>
                    <a:p>
                      <a:r>
                        <a:rPr lang="en-US" dirty="0"/>
                        <a:t>P(item 1 is correct)</a:t>
                      </a:r>
                    </a:p>
                  </a:txBody>
                  <a:tcPr/>
                </a:tc>
                <a:tc>
                  <a:txBody>
                    <a:bodyPr/>
                    <a:lstStyle/>
                    <a:p>
                      <a:r>
                        <a:rPr lang="en-US" dirty="0"/>
                        <a:t>Log Odds item 1 is correct</a:t>
                      </a:r>
                    </a:p>
                  </a:txBody>
                  <a:tcPr/>
                </a:tc>
                <a:tc>
                  <a:txBody>
                    <a:bodyPr/>
                    <a:lstStyle/>
                    <a:p>
                      <a:r>
                        <a:rPr lang="en-US" dirty="0"/>
                        <a:t>P(item 2 is correct)</a:t>
                      </a:r>
                    </a:p>
                  </a:txBody>
                  <a:tcPr/>
                </a:tc>
                <a:tc>
                  <a:txBody>
                    <a:bodyPr/>
                    <a:lstStyle/>
                    <a:p>
                      <a:r>
                        <a:rPr lang="en-US" dirty="0"/>
                        <a:t>Log Odds item 2 is correct</a:t>
                      </a:r>
                    </a:p>
                  </a:txBody>
                  <a:tcPr/>
                </a:tc>
                <a:extLst>
                  <a:ext uri="{0D108BD9-81ED-4DB2-BD59-A6C34878D82A}">
                    <a16:rowId xmlns:a16="http://schemas.microsoft.com/office/drawing/2014/main" val="1636194409"/>
                  </a:ext>
                </a:extLst>
              </a:tr>
              <a:tr h="370840">
                <a:tc>
                  <a:txBody>
                    <a:bodyPr/>
                    <a:lstStyle/>
                    <a:p>
                      <a:r>
                        <a:rPr lang="en-US" dirty="0"/>
                        <a:t>Celia</a:t>
                      </a:r>
                    </a:p>
                  </a:txBody>
                  <a:tcPr/>
                </a:tc>
                <a:tc>
                  <a:txBody>
                    <a:bodyPr/>
                    <a:lstStyle/>
                    <a:p>
                      <a:r>
                        <a:rPr lang="en-US" dirty="0"/>
                        <a:t>1.5</a:t>
                      </a:r>
                    </a:p>
                  </a:txBody>
                  <a:tcPr/>
                </a:tc>
                <a:tc>
                  <a:txBody>
                    <a:bodyPr/>
                    <a:lstStyle/>
                    <a:p>
                      <a:pPr algn="ctr"/>
                      <a:r>
                        <a:rPr lang="en-US" dirty="0"/>
                        <a:t>.88</a:t>
                      </a:r>
                    </a:p>
                  </a:txBody>
                  <a:tcPr/>
                </a:tc>
                <a:tc>
                  <a:txBody>
                    <a:bodyPr/>
                    <a:lstStyle/>
                    <a:p>
                      <a:pPr algn="ctr"/>
                      <a:r>
                        <a:rPr lang="en-US" dirty="0"/>
                        <a:t>2</a:t>
                      </a:r>
                    </a:p>
                  </a:txBody>
                  <a:tcPr/>
                </a:tc>
                <a:tc>
                  <a:txBody>
                    <a:bodyPr/>
                    <a:lstStyle/>
                    <a:p>
                      <a:pPr algn="ctr"/>
                      <a:r>
                        <a:rPr lang="en-US" dirty="0"/>
                        <a:t>.82</a:t>
                      </a:r>
                    </a:p>
                  </a:txBody>
                  <a:tcPr/>
                </a:tc>
                <a:tc>
                  <a:txBody>
                    <a:bodyPr/>
                    <a:lstStyle/>
                    <a:p>
                      <a:pPr algn="ctr"/>
                      <a:r>
                        <a:rPr lang="en-US" dirty="0"/>
                        <a:t>1.5</a:t>
                      </a:r>
                    </a:p>
                  </a:txBody>
                  <a:tcPr/>
                </a:tc>
                <a:extLst>
                  <a:ext uri="{0D108BD9-81ED-4DB2-BD59-A6C34878D82A}">
                    <a16:rowId xmlns:a16="http://schemas.microsoft.com/office/drawing/2014/main" val="3658124036"/>
                  </a:ext>
                </a:extLst>
              </a:tr>
              <a:tr h="370840">
                <a:tc>
                  <a:txBody>
                    <a:bodyPr/>
                    <a:lstStyle/>
                    <a:p>
                      <a:r>
                        <a:rPr lang="en-US" dirty="0"/>
                        <a:t>Temple</a:t>
                      </a:r>
                    </a:p>
                  </a:txBody>
                  <a:tcPr/>
                </a:tc>
                <a:tc>
                  <a:txBody>
                    <a:bodyPr/>
                    <a:lstStyle/>
                    <a:p>
                      <a:r>
                        <a:rPr lang="en-US" dirty="0"/>
                        <a:t>1.0</a:t>
                      </a:r>
                    </a:p>
                  </a:txBody>
                  <a:tcPr/>
                </a:tc>
                <a:tc>
                  <a:txBody>
                    <a:bodyPr/>
                    <a:lstStyle/>
                    <a:p>
                      <a:pPr algn="ctr"/>
                      <a:r>
                        <a:rPr lang="en-US" dirty="0"/>
                        <a:t>.82</a:t>
                      </a:r>
                    </a:p>
                  </a:txBody>
                  <a:tcPr/>
                </a:tc>
                <a:tc>
                  <a:txBody>
                    <a:bodyPr/>
                    <a:lstStyle/>
                    <a:p>
                      <a:pPr algn="ctr"/>
                      <a:r>
                        <a:rPr lang="en-US" dirty="0"/>
                        <a:t>1.5</a:t>
                      </a:r>
                    </a:p>
                  </a:txBody>
                  <a:tcPr/>
                </a:tc>
                <a:tc>
                  <a:txBody>
                    <a:bodyPr/>
                    <a:lstStyle/>
                    <a:p>
                      <a:pPr algn="ctr"/>
                      <a:r>
                        <a:rPr lang="en-US" dirty="0"/>
                        <a:t>.73</a:t>
                      </a:r>
                    </a:p>
                  </a:txBody>
                  <a:tcPr/>
                </a:tc>
                <a:tc>
                  <a:txBody>
                    <a:bodyPr/>
                    <a:lstStyle/>
                    <a:p>
                      <a:pPr algn="ctr"/>
                      <a:r>
                        <a:rPr lang="en-US" dirty="0"/>
                        <a:t>1.0</a:t>
                      </a:r>
                    </a:p>
                  </a:txBody>
                  <a:tcPr/>
                </a:tc>
                <a:extLst>
                  <a:ext uri="{0D108BD9-81ED-4DB2-BD59-A6C34878D82A}">
                    <a16:rowId xmlns:a16="http://schemas.microsoft.com/office/drawing/2014/main" val="2705328884"/>
                  </a:ext>
                </a:extLst>
              </a:tr>
              <a:tr h="370840">
                <a:tc>
                  <a:txBody>
                    <a:bodyPr/>
                    <a:lstStyle/>
                    <a:p>
                      <a:r>
                        <a:rPr lang="en-US" dirty="0"/>
                        <a:t>Difference</a:t>
                      </a:r>
                    </a:p>
                  </a:txBody>
                  <a:tcPr/>
                </a:tc>
                <a:tc>
                  <a:txBody>
                    <a:bodyPr/>
                    <a:lstStyle/>
                    <a:p>
                      <a:r>
                        <a:rPr lang="en-US" dirty="0"/>
                        <a:t>0.5</a:t>
                      </a:r>
                    </a:p>
                  </a:txBody>
                  <a:tcPr/>
                </a:tc>
                <a:tc>
                  <a:txBody>
                    <a:bodyPr/>
                    <a:lstStyle/>
                    <a:p>
                      <a:pPr algn="ctr"/>
                      <a:r>
                        <a:rPr lang="en-US" dirty="0"/>
                        <a:t>.06</a:t>
                      </a:r>
                    </a:p>
                  </a:txBody>
                  <a:tcPr/>
                </a:tc>
                <a:tc>
                  <a:txBody>
                    <a:bodyPr/>
                    <a:lstStyle/>
                    <a:p>
                      <a:pPr algn="ctr"/>
                      <a:r>
                        <a:rPr lang="en-US" dirty="0"/>
                        <a:t>.5</a:t>
                      </a:r>
                    </a:p>
                  </a:txBody>
                  <a:tcPr/>
                </a:tc>
                <a:tc>
                  <a:txBody>
                    <a:bodyPr/>
                    <a:lstStyle/>
                    <a:p>
                      <a:pPr algn="ctr"/>
                      <a:r>
                        <a:rPr lang="en-US" dirty="0"/>
                        <a:t>.09</a:t>
                      </a:r>
                    </a:p>
                  </a:txBody>
                  <a:tcPr/>
                </a:tc>
                <a:tc>
                  <a:txBody>
                    <a:bodyPr/>
                    <a:lstStyle/>
                    <a:p>
                      <a:pPr algn="ctr"/>
                      <a:r>
                        <a:rPr lang="en-US" dirty="0"/>
                        <a:t>.5</a:t>
                      </a:r>
                    </a:p>
                  </a:txBody>
                  <a:tcPr/>
                </a:tc>
                <a:extLst>
                  <a:ext uri="{0D108BD9-81ED-4DB2-BD59-A6C34878D82A}">
                    <a16:rowId xmlns:a16="http://schemas.microsoft.com/office/drawing/2014/main" val="2578750812"/>
                  </a:ext>
                </a:extLst>
              </a:tr>
            </a:tbl>
          </a:graphicData>
        </a:graphic>
      </p:graphicFrame>
      <p:sp>
        <p:nvSpPr>
          <p:cNvPr id="5" name="TextBox 4">
            <a:extLst>
              <a:ext uri="{FF2B5EF4-FFF2-40B4-BE49-F238E27FC236}">
                <a16:creationId xmlns:a16="http://schemas.microsoft.com/office/drawing/2014/main" id="{2F4D76B0-6A90-004D-8056-8E966C8D41DE}"/>
              </a:ext>
            </a:extLst>
          </p:cNvPr>
          <p:cNvSpPr txBox="1"/>
          <p:nvPr/>
        </p:nvSpPr>
        <p:spPr>
          <a:xfrm>
            <a:off x="838199" y="6215269"/>
            <a:ext cx="8716618" cy="369332"/>
          </a:xfrm>
          <a:prstGeom prst="rect">
            <a:avLst/>
          </a:prstGeom>
          <a:noFill/>
        </p:spPr>
        <p:txBody>
          <a:bodyPr wrap="square" rtlCol="0">
            <a:spAutoFit/>
          </a:bodyPr>
          <a:lstStyle/>
          <a:p>
            <a:r>
              <a:rPr lang="en-US"/>
              <a:t>Rasch item parameters</a:t>
            </a:r>
            <a:r>
              <a:rPr lang="en-US">
                <a:sym typeface="Wingdings" pitchFamily="2" charset="2"/>
              </a:rPr>
              <a:t> </a:t>
            </a:r>
            <a:r>
              <a:rPr lang="en-US"/>
              <a:t>Item 1 (blue ICC) a = 1, b = -.5   Item 2 (magenta) a = 1, b = 0.</a:t>
            </a:r>
          </a:p>
        </p:txBody>
      </p:sp>
    </p:spTree>
    <p:extLst>
      <p:ext uri="{BB962C8B-B14F-4D97-AF65-F5344CB8AC3E}">
        <p14:creationId xmlns:p14="http://schemas.microsoft.com/office/powerpoint/2010/main" val="34265158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5E0B8-6093-6149-836D-7F6BEC0788F7}"/>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7B578411-51D6-F645-8938-E3C6C1A6F74E}"/>
              </a:ext>
            </a:extLst>
          </p:cNvPr>
          <p:cNvSpPr>
            <a:spLocks noGrp="1"/>
          </p:cNvSpPr>
          <p:nvPr>
            <p:ph idx="1"/>
          </p:nvPr>
        </p:nvSpPr>
        <p:spPr/>
        <p:txBody>
          <a:bodyPr/>
          <a:lstStyle/>
          <a:p>
            <a:pPr marL="0" indent="0">
              <a:buNone/>
            </a:pPr>
            <a:r>
              <a:rPr lang="en-US" dirty="0"/>
              <a:t>For each model (2PL, Rasch)</a:t>
            </a:r>
          </a:p>
          <a:p>
            <a:pPr marL="514350" indent="-514350">
              <a:buFont typeface="+mj-lt"/>
              <a:buAutoNum type="arabicPeriod"/>
            </a:pPr>
            <a:r>
              <a:rPr lang="en-US" dirty="0"/>
              <a:t>What do you notice about the differences in probabilities of correct item responses for </a:t>
            </a:r>
          </a:p>
          <a:p>
            <a:pPr lvl="1"/>
            <a:r>
              <a:rPr lang="en-US" dirty="0"/>
              <a:t>the same item across different student pairings, and </a:t>
            </a:r>
          </a:p>
          <a:p>
            <a:pPr lvl="1"/>
            <a:r>
              <a:rPr lang="en-US" dirty="0"/>
              <a:t>the same student pairing across different items?</a:t>
            </a:r>
          </a:p>
          <a:p>
            <a:pPr marL="514350" indent="-514350">
              <a:buFont typeface="+mj-lt"/>
              <a:buAutoNum type="arabicPeriod"/>
            </a:pPr>
            <a:r>
              <a:rPr lang="en-US" dirty="0"/>
              <a:t>What do you notice about the differences in the logit of correct item responses for </a:t>
            </a:r>
          </a:p>
          <a:p>
            <a:pPr lvl="1"/>
            <a:r>
              <a:rPr lang="en-US" dirty="0"/>
              <a:t>the same item across different student pairings, and </a:t>
            </a:r>
          </a:p>
          <a:p>
            <a:pPr lvl="1"/>
            <a:r>
              <a:rPr lang="en-US" dirty="0"/>
              <a:t>the same student pairing across different items?</a:t>
            </a:r>
          </a:p>
          <a:p>
            <a:endParaRPr lang="en-US" dirty="0"/>
          </a:p>
        </p:txBody>
      </p:sp>
    </p:spTree>
    <p:extLst>
      <p:ext uri="{BB962C8B-B14F-4D97-AF65-F5344CB8AC3E}">
        <p14:creationId xmlns:p14="http://schemas.microsoft.com/office/powerpoint/2010/main" val="1051802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Number Placeholder 6"/>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9957E3B-A939-A741-8610-420121943F7A}" type="slidenum">
              <a:rPr lang="en-US" sz="1400"/>
              <a:pPr eaLnBrk="1" hangingPunct="1"/>
              <a:t>31</a:t>
            </a:fld>
            <a:endParaRPr lang="en-US" sz="1400" dirty="0"/>
          </a:p>
        </p:txBody>
      </p:sp>
      <p:sp>
        <p:nvSpPr>
          <p:cNvPr id="51202" name="Rectangle 2"/>
          <p:cNvSpPr>
            <a:spLocks noGrp="1" noChangeArrowheads="1"/>
          </p:cNvSpPr>
          <p:nvPr>
            <p:ph type="title"/>
          </p:nvPr>
        </p:nvSpPr>
        <p:spPr>
          <a:xfrm>
            <a:off x="838200" y="112206"/>
            <a:ext cx="10515600" cy="1325563"/>
          </a:xfrm>
        </p:spPr>
        <p:txBody>
          <a:bodyPr/>
          <a:lstStyle/>
          <a:p>
            <a:pPr eaLnBrk="1" hangingPunct="1"/>
            <a:r>
              <a:rPr lang="en-US" sz="4000" b="1" dirty="0">
                <a:ea typeface="ＭＳ Ｐゴシック" charset="0"/>
                <a:cs typeface="Calibri"/>
              </a:rPr>
              <a:t>Invariant Person Comparisons</a:t>
            </a:r>
          </a:p>
        </p:txBody>
      </p:sp>
      <p:sp>
        <p:nvSpPr>
          <p:cNvPr id="51203" name="Rectangle 4"/>
          <p:cNvSpPr>
            <a:spLocks noGrp="1" noChangeArrowheads="1"/>
          </p:cNvSpPr>
          <p:nvPr>
            <p:ph type="body" sz="half" idx="1"/>
          </p:nvPr>
        </p:nvSpPr>
        <p:spPr>
          <a:xfrm>
            <a:off x="1905000" y="1295400"/>
            <a:ext cx="4038600" cy="4343400"/>
          </a:xfrm>
          <a:noFill/>
          <a:ln>
            <a:solidFill>
              <a:schemeClr val="tx1"/>
            </a:solidFill>
            <a:miter lim="800000"/>
            <a:headEnd/>
            <a:tailEnd/>
          </a:ln>
        </p:spPr>
        <p:txBody>
          <a:bodyPr/>
          <a:lstStyle/>
          <a:p>
            <a:pPr eaLnBrk="1" hangingPunct="1">
              <a:buFontTx/>
              <a:buNone/>
            </a:pPr>
            <a:r>
              <a:rPr lang="en-US" sz="2400" dirty="0">
                <a:latin typeface="Arial" charset="0"/>
                <a:ea typeface="ＭＳ Ｐゴシック" charset="0"/>
                <a:cs typeface="ＭＳ Ｐゴシック" charset="0"/>
              </a:rPr>
              <a:t>RASCH MODEL</a:t>
            </a: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1800"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r>
              <a:rPr lang="en-US" sz="1800" dirty="0">
                <a:latin typeface="Arial" charset="0"/>
                <a:ea typeface="ＭＳ Ｐゴシック" charset="0"/>
                <a:cs typeface="ＭＳ Ｐゴシック" charset="0"/>
              </a:rPr>
              <a:t>Comparison only depends on ability of two respondents-- item difficulty drops out of eqn.</a:t>
            </a: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p:txBody>
      </p:sp>
      <p:sp>
        <p:nvSpPr>
          <p:cNvPr id="51204" name="Rectangle 5"/>
          <p:cNvSpPr>
            <a:spLocks noGrp="1" noChangeArrowheads="1"/>
          </p:cNvSpPr>
          <p:nvPr>
            <p:ph type="body" sz="half" idx="2"/>
          </p:nvPr>
        </p:nvSpPr>
        <p:spPr>
          <a:xfrm>
            <a:off x="6096000" y="1295400"/>
            <a:ext cx="4038600" cy="4343400"/>
          </a:xfrm>
          <a:noFill/>
          <a:ln>
            <a:solidFill>
              <a:schemeClr val="tx1"/>
            </a:solidFill>
            <a:miter lim="800000"/>
            <a:headEnd/>
            <a:tailEnd/>
          </a:ln>
        </p:spPr>
        <p:txBody>
          <a:bodyPr/>
          <a:lstStyle/>
          <a:p>
            <a:pPr eaLnBrk="1" hangingPunct="1">
              <a:buFontTx/>
              <a:buNone/>
            </a:pPr>
            <a:r>
              <a:rPr lang="en-US" sz="2400" dirty="0">
                <a:latin typeface="Arial" charset="0"/>
                <a:ea typeface="ＭＳ Ｐゴシック" charset="0"/>
                <a:cs typeface="ＭＳ Ｐゴシック" charset="0"/>
              </a:rPr>
              <a:t>2PL MODEL</a:t>
            </a: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r>
              <a:rPr lang="en-US" sz="1800" dirty="0">
                <a:latin typeface="Arial" charset="0"/>
                <a:ea typeface="ＭＳ Ｐゴシック" charset="0"/>
                <a:cs typeface="ＭＳ Ｐゴシック" charset="0"/>
              </a:rPr>
              <a:t>Comparison depends on both ability of two respondents, and discrimination of the item.</a:t>
            </a:r>
          </a:p>
          <a:p>
            <a:pPr eaLnBrk="1" hangingPunct="1">
              <a:buFontTx/>
              <a:buNone/>
            </a:pPr>
            <a:endParaRPr lang="en-US" sz="1800" dirty="0">
              <a:latin typeface="Arial" charset="0"/>
              <a:ea typeface="ＭＳ Ｐゴシック" charset="0"/>
              <a:cs typeface="ＭＳ Ｐゴシック" charset="0"/>
            </a:endParaRPr>
          </a:p>
          <a:p>
            <a:pPr eaLnBrk="1" hangingPunct="1">
              <a:buFontTx/>
              <a:buNone/>
            </a:pPr>
            <a:endParaRPr lang="en-US" sz="20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p:txBody>
      </p:sp>
      <p:graphicFrame>
        <p:nvGraphicFramePr>
          <p:cNvPr id="51205" name="Object 2"/>
          <p:cNvGraphicFramePr>
            <a:graphicFrameLocks noChangeAspect="1"/>
          </p:cNvGraphicFramePr>
          <p:nvPr/>
        </p:nvGraphicFramePr>
        <p:xfrm>
          <a:off x="6070600" y="2565400"/>
          <a:ext cx="914400" cy="198438"/>
        </p:xfrm>
        <a:graphic>
          <a:graphicData uri="http://schemas.openxmlformats.org/presentationml/2006/ole">
            <mc:AlternateContent xmlns:mc="http://schemas.openxmlformats.org/markup-compatibility/2006">
              <mc:Choice xmlns:v="urn:schemas-microsoft-com:vml" Requires="v">
                <p:oleObj name="Equation" r:id="rId2" imgW="435285" imgH="677109" progId="Equation.DSMT4">
                  <p:embed/>
                </p:oleObj>
              </mc:Choice>
              <mc:Fallback>
                <p:oleObj name="Equation" r:id="rId2" imgW="435285" imgH="677109" progId="Equation.DSMT4">
                  <p:embed/>
                  <p:pic>
                    <p:nvPicPr>
                      <p:cNvPr id="5120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0600" y="2565400"/>
                        <a:ext cx="914400" cy="1984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06" name="Object 3"/>
          <p:cNvGraphicFramePr>
            <a:graphicFrameLocks noChangeAspect="1"/>
          </p:cNvGraphicFramePr>
          <p:nvPr/>
        </p:nvGraphicFramePr>
        <p:xfrm>
          <a:off x="2717800" y="5707063"/>
          <a:ext cx="4699000" cy="1033462"/>
        </p:xfrm>
        <a:graphic>
          <a:graphicData uri="http://schemas.openxmlformats.org/presentationml/2006/ole">
            <mc:AlternateContent xmlns:mc="http://schemas.openxmlformats.org/markup-compatibility/2006">
              <mc:Choice xmlns:v="urn:schemas-microsoft-com:vml" Requires="v">
                <p:oleObj name="Equation" r:id="rId4" imgW="2197100" imgH="482600" progId="Equation.DSMT4">
                  <p:embed/>
                </p:oleObj>
              </mc:Choice>
              <mc:Fallback>
                <p:oleObj name="Equation" r:id="rId4" imgW="2197100" imgH="482600" progId="Equation.DSMT4">
                  <p:embed/>
                  <p:pic>
                    <p:nvPicPr>
                      <p:cNvPr id="5120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7800" y="5707063"/>
                        <a:ext cx="4699000" cy="10334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07" name="Object 4"/>
          <p:cNvGraphicFramePr>
            <a:graphicFrameLocks noChangeAspect="1"/>
          </p:cNvGraphicFramePr>
          <p:nvPr/>
        </p:nvGraphicFramePr>
        <p:xfrm>
          <a:off x="1995488" y="1981201"/>
          <a:ext cx="2514600" cy="498475"/>
        </p:xfrm>
        <a:graphic>
          <a:graphicData uri="http://schemas.openxmlformats.org/presentationml/2006/ole">
            <mc:AlternateContent xmlns:mc="http://schemas.openxmlformats.org/markup-compatibility/2006">
              <mc:Choice xmlns:v="urn:schemas-microsoft-com:vml" Requires="v">
                <p:oleObj name="Equation" r:id="rId6" imgW="1155700" imgH="228600" progId="Equation.DSMT4">
                  <p:embed/>
                </p:oleObj>
              </mc:Choice>
              <mc:Fallback>
                <p:oleObj name="Equation" r:id="rId6" imgW="1155700" imgH="228600" progId="Equation.DSMT4">
                  <p:embed/>
                  <p:pic>
                    <p:nvPicPr>
                      <p:cNvPr id="5120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5488" y="1981201"/>
                        <a:ext cx="2514600"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08" name="Object 5"/>
          <p:cNvGraphicFramePr>
            <a:graphicFrameLocks noChangeAspect="1"/>
          </p:cNvGraphicFramePr>
          <p:nvPr/>
        </p:nvGraphicFramePr>
        <p:xfrm>
          <a:off x="1993900" y="2514601"/>
          <a:ext cx="2598738" cy="498475"/>
        </p:xfrm>
        <a:graphic>
          <a:graphicData uri="http://schemas.openxmlformats.org/presentationml/2006/ole">
            <mc:AlternateContent xmlns:mc="http://schemas.openxmlformats.org/markup-compatibility/2006">
              <mc:Choice xmlns:v="urn:schemas-microsoft-com:vml" Requires="v">
                <p:oleObj name="Equation" r:id="rId8" imgW="1193800" imgH="228600" progId="Equation.DSMT4">
                  <p:embed/>
                </p:oleObj>
              </mc:Choice>
              <mc:Fallback>
                <p:oleObj name="Equation" r:id="rId8" imgW="1193800" imgH="228600" progId="Equation.DSMT4">
                  <p:embed/>
                  <p:pic>
                    <p:nvPicPr>
                      <p:cNvPr id="51208"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3900" y="2514601"/>
                        <a:ext cx="2598738"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09" name="Object 6"/>
          <p:cNvGraphicFramePr>
            <a:graphicFrameLocks noChangeAspect="1"/>
          </p:cNvGraphicFramePr>
          <p:nvPr/>
        </p:nvGraphicFramePr>
        <p:xfrm>
          <a:off x="2178050" y="3124201"/>
          <a:ext cx="2501900" cy="1298575"/>
        </p:xfrm>
        <a:graphic>
          <a:graphicData uri="http://schemas.openxmlformats.org/presentationml/2006/ole">
            <mc:AlternateContent xmlns:mc="http://schemas.openxmlformats.org/markup-compatibility/2006">
              <mc:Choice xmlns:v="urn:schemas-microsoft-com:vml" Requires="v">
                <p:oleObj name="Equation" r:id="rId10" imgW="1320800" imgH="685800" progId="Equation.DSMT4">
                  <p:embed/>
                </p:oleObj>
              </mc:Choice>
              <mc:Fallback>
                <p:oleObj name="Equation" r:id="rId10" imgW="1320800" imgH="685800" progId="Equation.DSMT4">
                  <p:embed/>
                  <p:pic>
                    <p:nvPicPr>
                      <p:cNvPr id="51209"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8050" y="3124201"/>
                        <a:ext cx="2501900" cy="1298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10" name="Object 7"/>
          <p:cNvGraphicFramePr>
            <a:graphicFrameLocks noChangeAspect="1"/>
          </p:cNvGraphicFramePr>
          <p:nvPr/>
        </p:nvGraphicFramePr>
        <p:xfrm>
          <a:off x="6213475" y="1981201"/>
          <a:ext cx="3068638" cy="498475"/>
        </p:xfrm>
        <a:graphic>
          <a:graphicData uri="http://schemas.openxmlformats.org/presentationml/2006/ole">
            <mc:AlternateContent xmlns:mc="http://schemas.openxmlformats.org/markup-compatibility/2006">
              <mc:Choice xmlns:v="urn:schemas-microsoft-com:vml" Requires="v">
                <p:oleObj name="Equation" r:id="rId12" imgW="1409700" imgH="228600" progId="Equation.DSMT4">
                  <p:embed/>
                </p:oleObj>
              </mc:Choice>
              <mc:Fallback>
                <p:oleObj name="Equation" r:id="rId12" imgW="1409700" imgH="228600" progId="Equation.DSMT4">
                  <p:embed/>
                  <p:pic>
                    <p:nvPicPr>
                      <p:cNvPr id="5121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13475" y="1981201"/>
                        <a:ext cx="3068638"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11" name="Object 8"/>
          <p:cNvGraphicFramePr>
            <a:graphicFrameLocks noChangeAspect="1"/>
          </p:cNvGraphicFramePr>
          <p:nvPr/>
        </p:nvGraphicFramePr>
        <p:xfrm>
          <a:off x="6213475" y="2514601"/>
          <a:ext cx="3151188" cy="498475"/>
        </p:xfrm>
        <a:graphic>
          <a:graphicData uri="http://schemas.openxmlformats.org/presentationml/2006/ole">
            <mc:AlternateContent xmlns:mc="http://schemas.openxmlformats.org/markup-compatibility/2006">
              <mc:Choice xmlns:v="urn:schemas-microsoft-com:vml" Requires="v">
                <p:oleObj name="Equation" r:id="rId14" imgW="1447800" imgH="228600" progId="Equation.DSMT4">
                  <p:embed/>
                </p:oleObj>
              </mc:Choice>
              <mc:Fallback>
                <p:oleObj name="Equation" r:id="rId14" imgW="1447800" imgH="228600" progId="Equation.DSMT4">
                  <p:embed/>
                  <p:pic>
                    <p:nvPicPr>
                      <p:cNvPr id="51211"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13475" y="2514601"/>
                        <a:ext cx="3151188"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1212" name="Object 9"/>
          <p:cNvGraphicFramePr>
            <a:graphicFrameLocks noChangeAspect="1"/>
          </p:cNvGraphicFramePr>
          <p:nvPr/>
        </p:nvGraphicFramePr>
        <p:xfrm>
          <a:off x="6324601" y="3124201"/>
          <a:ext cx="3008313" cy="1298575"/>
        </p:xfrm>
        <a:graphic>
          <a:graphicData uri="http://schemas.openxmlformats.org/presentationml/2006/ole">
            <mc:AlternateContent xmlns:mc="http://schemas.openxmlformats.org/markup-compatibility/2006">
              <mc:Choice xmlns:v="urn:schemas-microsoft-com:vml" Requires="v">
                <p:oleObj name="Equation" r:id="rId16" imgW="1587500" imgH="685800" progId="Equation.3">
                  <p:embed/>
                </p:oleObj>
              </mc:Choice>
              <mc:Fallback>
                <p:oleObj name="Equation" r:id="rId16" imgW="1587500" imgH="685800" progId="Equation.3">
                  <p:embed/>
                  <p:pic>
                    <p:nvPicPr>
                      <p:cNvPr id="51212"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24601" y="3124201"/>
                        <a:ext cx="3008313" cy="1298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112136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Number Placeholder 6"/>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4D3701D-0B22-ED44-B435-CC2C90C7E03B}" type="slidenum">
              <a:rPr lang="en-US" sz="1400"/>
              <a:pPr eaLnBrk="1" hangingPunct="1"/>
              <a:t>32</a:t>
            </a:fld>
            <a:endParaRPr lang="en-US" sz="1400" dirty="0"/>
          </a:p>
        </p:txBody>
      </p:sp>
      <p:sp>
        <p:nvSpPr>
          <p:cNvPr id="52226" name="Rectangle 2"/>
          <p:cNvSpPr>
            <a:spLocks noGrp="1" noChangeArrowheads="1"/>
          </p:cNvSpPr>
          <p:nvPr>
            <p:ph type="title"/>
          </p:nvPr>
        </p:nvSpPr>
        <p:spPr>
          <a:xfrm>
            <a:off x="838200" y="131665"/>
            <a:ext cx="10515600" cy="1325563"/>
          </a:xfrm>
        </p:spPr>
        <p:txBody>
          <a:bodyPr/>
          <a:lstStyle/>
          <a:p>
            <a:pPr eaLnBrk="1" hangingPunct="1"/>
            <a:r>
              <a:rPr lang="en-US" sz="4000" b="1" dirty="0">
                <a:ea typeface="ＭＳ Ｐゴシック" charset="0"/>
                <a:cs typeface="Calibri"/>
              </a:rPr>
              <a:t>Invariant Item Comparisons</a:t>
            </a:r>
            <a:endParaRPr lang="en-US" b="1" dirty="0">
              <a:ea typeface="ＭＳ Ｐゴシック" charset="0"/>
              <a:cs typeface="Calibri"/>
            </a:endParaRPr>
          </a:p>
        </p:txBody>
      </p:sp>
      <p:sp>
        <p:nvSpPr>
          <p:cNvPr id="52227" name="Rectangle 3"/>
          <p:cNvSpPr>
            <a:spLocks noGrp="1" noChangeArrowheads="1"/>
          </p:cNvSpPr>
          <p:nvPr>
            <p:ph type="body" sz="half" idx="1"/>
          </p:nvPr>
        </p:nvSpPr>
        <p:spPr>
          <a:xfrm>
            <a:off x="1905000" y="1295400"/>
            <a:ext cx="4038600" cy="4343400"/>
          </a:xfrm>
          <a:noFill/>
          <a:ln>
            <a:solidFill>
              <a:schemeClr val="tx1"/>
            </a:solidFill>
            <a:miter lim="800000"/>
            <a:headEnd/>
            <a:tailEnd/>
          </a:ln>
        </p:spPr>
        <p:txBody>
          <a:bodyPr/>
          <a:lstStyle/>
          <a:p>
            <a:pPr eaLnBrk="1" hangingPunct="1">
              <a:buFontTx/>
              <a:buNone/>
            </a:pPr>
            <a:r>
              <a:rPr lang="en-US" dirty="0">
                <a:latin typeface="Arial" charset="0"/>
                <a:ea typeface="ＭＳ Ｐゴシック" charset="0"/>
                <a:cs typeface="ＭＳ Ｐゴシック" charset="0"/>
              </a:rPr>
              <a:t>RASCH MODEL</a:t>
            </a: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sz="2000" dirty="0">
              <a:latin typeface="Arial" charset="0"/>
              <a:ea typeface="ＭＳ Ｐゴシック" charset="0"/>
              <a:cs typeface="ＭＳ Ｐゴシック" charset="0"/>
            </a:endParaRPr>
          </a:p>
          <a:p>
            <a:pPr eaLnBrk="1" hangingPunct="1"/>
            <a:endParaRPr lang="en-US" sz="2000" dirty="0">
              <a:latin typeface="Arial" charset="0"/>
              <a:ea typeface="ＭＳ Ｐゴシック" charset="0"/>
              <a:cs typeface="ＭＳ Ｐゴシック" charset="0"/>
            </a:endParaRPr>
          </a:p>
          <a:p>
            <a:pPr eaLnBrk="1" hangingPunct="1"/>
            <a:r>
              <a:rPr lang="en-US" sz="1800" dirty="0">
                <a:latin typeface="Arial" charset="0"/>
                <a:ea typeface="ＭＳ Ｐゴシック" charset="0"/>
                <a:cs typeface="ＭＳ Ｐゴシック" charset="0"/>
              </a:rPr>
              <a:t>Comparison only depends on difficulty of items, person ability drops out of eqn.</a:t>
            </a:r>
          </a:p>
          <a:p>
            <a:pPr eaLnBrk="1" hangingPunct="1">
              <a:buFontTx/>
              <a:buNone/>
            </a:pPr>
            <a:endParaRPr lang="en-US" sz="1800"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p:txBody>
      </p:sp>
      <p:sp>
        <p:nvSpPr>
          <p:cNvPr id="52228" name="Rectangle 4"/>
          <p:cNvSpPr>
            <a:spLocks noGrp="1" noChangeArrowheads="1"/>
          </p:cNvSpPr>
          <p:nvPr>
            <p:ph type="body" sz="half" idx="2"/>
          </p:nvPr>
        </p:nvSpPr>
        <p:spPr>
          <a:xfrm>
            <a:off x="6096000" y="1295400"/>
            <a:ext cx="4267200" cy="4343400"/>
          </a:xfrm>
          <a:noFill/>
          <a:ln>
            <a:solidFill>
              <a:schemeClr val="tx1"/>
            </a:solidFill>
            <a:miter lim="800000"/>
            <a:headEnd/>
            <a:tailEnd/>
          </a:ln>
        </p:spPr>
        <p:txBody>
          <a:bodyPr/>
          <a:lstStyle/>
          <a:p>
            <a:pPr eaLnBrk="1" hangingPunct="1">
              <a:buFontTx/>
              <a:buNone/>
            </a:pPr>
            <a:r>
              <a:rPr lang="en-US" dirty="0">
                <a:latin typeface="Arial" charset="0"/>
                <a:ea typeface="ＭＳ Ｐゴシック" charset="0"/>
                <a:cs typeface="ＭＳ Ｐゴシック" charset="0"/>
              </a:rPr>
              <a:t>2PL MODEL</a:t>
            </a: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a:p>
            <a:pPr eaLnBrk="1" hangingPunct="1"/>
            <a:endParaRPr lang="en-US" sz="1800" dirty="0">
              <a:latin typeface="Arial" charset="0"/>
              <a:ea typeface="ＭＳ Ｐゴシック" charset="0"/>
              <a:cs typeface="ＭＳ Ｐゴシック" charset="0"/>
            </a:endParaRPr>
          </a:p>
          <a:p>
            <a:pPr eaLnBrk="1" hangingPunct="1"/>
            <a:r>
              <a:rPr lang="en-US" sz="1800" dirty="0">
                <a:latin typeface="Arial" charset="0"/>
                <a:ea typeface="ＭＳ Ｐゴシック" charset="0"/>
                <a:cs typeface="ＭＳ Ｐゴシック" charset="0"/>
              </a:rPr>
              <a:t>Comparison depends on person ability, as well as difficulty &amp; discrimination of the items.</a:t>
            </a:r>
          </a:p>
          <a:p>
            <a:pPr eaLnBrk="1" hangingPunct="1">
              <a:buFontTx/>
              <a:buNone/>
            </a:pPr>
            <a:endParaRPr lang="en-US" sz="1800" dirty="0">
              <a:latin typeface="Arial" charset="0"/>
              <a:ea typeface="ＭＳ Ｐゴシック" charset="0"/>
              <a:cs typeface="ＭＳ Ｐゴシック" charset="0"/>
            </a:endParaRPr>
          </a:p>
          <a:p>
            <a:pPr eaLnBrk="1" hangingPunct="1">
              <a:buFontTx/>
              <a:buNone/>
            </a:pPr>
            <a:endParaRPr lang="en-US" sz="2400" dirty="0">
              <a:latin typeface="Arial" charset="0"/>
              <a:ea typeface="ＭＳ Ｐゴシック" charset="0"/>
              <a:cs typeface="ＭＳ Ｐゴシック" charset="0"/>
            </a:endParaRPr>
          </a:p>
          <a:p>
            <a:pPr eaLnBrk="1" hangingPunct="1">
              <a:buFontTx/>
              <a:buNone/>
            </a:pPr>
            <a:endParaRPr lang="en-US" dirty="0">
              <a:latin typeface="Arial" charset="0"/>
              <a:ea typeface="ＭＳ Ｐゴシック" charset="0"/>
              <a:cs typeface="ＭＳ Ｐゴシック" charset="0"/>
            </a:endParaRPr>
          </a:p>
        </p:txBody>
      </p:sp>
      <p:graphicFrame>
        <p:nvGraphicFramePr>
          <p:cNvPr id="52229" name="Object 2"/>
          <p:cNvGraphicFramePr>
            <a:graphicFrameLocks noChangeAspect="1"/>
          </p:cNvGraphicFramePr>
          <p:nvPr/>
        </p:nvGraphicFramePr>
        <p:xfrm>
          <a:off x="6070600" y="2565400"/>
          <a:ext cx="914400" cy="198438"/>
        </p:xfrm>
        <a:graphic>
          <a:graphicData uri="http://schemas.openxmlformats.org/presentationml/2006/ole">
            <mc:AlternateContent xmlns:mc="http://schemas.openxmlformats.org/markup-compatibility/2006">
              <mc:Choice xmlns:v="urn:schemas-microsoft-com:vml" Requires="v">
                <p:oleObj name="Equation" r:id="rId2" imgW="435285" imgH="677109" progId="Equation.DSMT4">
                  <p:embed/>
                </p:oleObj>
              </mc:Choice>
              <mc:Fallback>
                <p:oleObj name="Equation" r:id="rId2" imgW="435285" imgH="677109" progId="Equation.DSMT4">
                  <p:embed/>
                  <p:pic>
                    <p:nvPicPr>
                      <p:cNvPr id="5222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0600" y="2565400"/>
                        <a:ext cx="914400" cy="1984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0" name="Object 3"/>
          <p:cNvGraphicFramePr>
            <a:graphicFrameLocks noChangeAspect="1"/>
          </p:cNvGraphicFramePr>
          <p:nvPr/>
        </p:nvGraphicFramePr>
        <p:xfrm>
          <a:off x="2717800" y="5707063"/>
          <a:ext cx="4699000" cy="1033462"/>
        </p:xfrm>
        <a:graphic>
          <a:graphicData uri="http://schemas.openxmlformats.org/presentationml/2006/ole">
            <mc:AlternateContent xmlns:mc="http://schemas.openxmlformats.org/markup-compatibility/2006">
              <mc:Choice xmlns:v="urn:schemas-microsoft-com:vml" Requires="v">
                <p:oleObj name="Equation" r:id="rId4" imgW="2197100" imgH="482600" progId="Equation.DSMT4">
                  <p:embed/>
                </p:oleObj>
              </mc:Choice>
              <mc:Fallback>
                <p:oleObj name="Equation" r:id="rId4" imgW="2197100" imgH="482600" progId="Equation.DSMT4">
                  <p:embed/>
                  <p:pic>
                    <p:nvPicPr>
                      <p:cNvPr id="5223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7800" y="5707063"/>
                        <a:ext cx="4699000" cy="10334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1" name="Object 4"/>
          <p:cNvGraphicFramePr>
            <a:graphicFrameLocks noChangeAspect="1"/>
          </p:cNvGraphicFramePr>
          <p:nvPr/>
        </p:nvGraphicFramePr>
        <p:xfrm>
          <a:off x="1966913" y="1981201"/>
          <a:ext cx="2571750" cy="498475"/>
        </p:xfrm>
        <a:graphic>
          <a:graphicData uri="http://schemas.openxmlformats.org/presentationml/2006/ole">
            <mc:AlternateContent xmlns:mc="http://schemas.openxmlformats.org/markup-compatibility/2006">
              <mc:Choice xmlns:v="urn:schemas-microsoft-com:vml" Requires="v">
                <p:oleObj name="Equation" r:id="rId6" imgW="1181100" imgH="228600" progId="Equation.DSMT4">
                  <p:embed/>
                </p:oleObj>
              </mc:Choice>
              <mc:Fallback>
                <p:oleObj name="Equation" r:id="rId6" imgW="1181100" imgH="228600" progId="Equation.DSMT4">
                  <p:embed/>
                  <p:pic>
                    <p:nvPicPr>
                      <p:cNvPr id="52231"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6913" y="1981201"/>
                        <a:ext cx="2571750"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2" name="Object 5"/>
          <p:cNvGraphicFramePr>
            <a:graphicFrameLocks noChangeAspect="1"/>
          </p:cNvGraphicFramePr>
          <p:nvPr/>
        </p:nvGraphicFramePr>
        <p:xfrm>
          <a:off x="1966913" y="2514601"/>
          <a:ext cx="2654300" cy="498475"/>
        </p:xfrm>
        <a:graphic>
          <a:graphicData uri="http://schemas.openxmlformats.org/presentationml/2006/ole">
            <mc:AlternateContent xmlns:mc="http://schemas.openxmlformats.org/markup-compatibility/2006">
              <mc:Choice xmlns:v="urn:schemas-microsoft-com:vml" Requires="v">
                <p:oleObj name="Equation" r:id="rId8" imgW="1219200" imgH="228600" progId="Equation.DSMT4">
                  <p:embed/>
                </p:oleObj>
              </mc:Choice>
              <mc:Fallback>
                <p:oleObj name="Equation" r:id="rId8" imgW="1219200" imgH="228600" progId="Equation.DSMT4">
                  <p:embed/>
                  <p:pic>
                    <p:nvPicPr>
                      <p:cNvPr id="52232"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6913" y="2514601"/>
                        <a:ext cx="2654300"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3" name="Object 6"/>
          <p:cNvGraphicFramePr>
            <a:graphicFrameLocks noChangeAspect="1"/>
          </p:cNvGraphicFramePr>
          <p:nvPr/>
        </p:nvGraphicFramePr>
        <p:xfrm>
          <a:off x="2154239" y="3124201"/>
          <a:ext cx="2549525" cy="1298575"/>
        </p:xfrm>
        <a:graphic>
          <a:graphicData uri="http://schemas.openxmlformats.org/presentationml/2006/ole">
            <mc:AlternateContent xmlns:mc="http://schemas.openxmlformats.org/markup-compatibility/2006">
              <mc:Choice xmlns:v="urn:schemas-microsoft-com:vml" Requires="v">
                <p:oleObj name="Equation" r:id="rId10" imgW="1346200" imgH="685800" progId="Equation.DSMT4">
                  <p:embed/>
                </p:oleObj>
              </mc:Choice>
              <mc:Fallback>
                <p:oleObj name="Equation" r:id="rId10" imgW="1346200" imgH="685800" progId="Equation.DSMT4">
                  <p:embed/>
                  <p:pic>
                    <p:nvPicPr>
                      <p:cNvPr id="52233"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54239" y="3124201"/>
                        <a:ext cx="2549525" cy="1298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4" name="Object 7"/>
          <p:cNvGraphicFramePr>
            <a:graphicFrameLocks noChangeAspect="1"/>
          </p:cNvGraphicFramePr>
          <p:nvPr/>
        </p:nvGraphicFramePr>
        <p:xfrm>
          <a:off x="6173789" y="1981201"/>
          <a:ext cx="3151187" cy="498475"/>
        </p:xfrm>
        <a:graphic>
          <a:graphicData uri="http://schemas.openxmlformats.org/presentationml/2006/ole">
            <mc:AlternateContent xmlns:mc="http://schemas.openxmlformats.org/markup-compatibility/2006">
              <mc:Choice xmlns:v="urn:schemas-microsoft-com:vml" Requires="v">
                <p:oleObj name="Equation" r:id="rId12" imgW="1447800" imgH="228600" progId="Equation.DSMT4">
                  <p:embed/>
                </p:oleObj>
              </mc:Choice>
              <mc:Fallback>
                <p:oleObj name="Equation" r:id="rId12" imgW="1447800" imgH="228600" progId="Equation.DSMT4">
                  <p:embed/>
                  <p:pic>
                    <p:nvPicPr>
                      <p:cNvPr id="52234"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73789" y="1981201"/>
                        <a:ext cx="3151187"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5" name="Object 8"/>
          <p:cNvGraphicFramePr>
            <a:graphicFrameLocks noChangeAspect="1"/>
          </p:cNvGraphicFramePr>
          <p:nvPr/>
        </p:nvGraphicFramePr>
        <p:xfrm>
          <a:off x="6159501" y="2514601"/>
          <a:ext cx="3260725" cy="498475"/>
        </p:xfrm>
        <a:graphic>
          <a:graphicData uri="http://schemas.openxmlformats.org/presentationml/2006/ole">
            <mc:AlternateContent xmlns:mc="http://schemas.openxmlformats.org/markup-compatibility/2006">
              <mc:Choice xmlns:v="urn:schemas-microsoft-com:vml" Requires="v">
                <p:oleObj name="Equation" r:id="rId14" imgW="1498600" imgH="228600" progId="Equation.DSMT4">
                  <p:embed/>
                </p:oleObj>
              </mc:Choice>
              <mc:Fallback>
                <p:oleObj name="Equation" r:id="rId14" imgW="1498600" imgH="228600" progId="Equation.DSMT4">
                  <p:embed/>
                  <p:pic>
                    <p:nvPicPr>
                      <p:cNvPr id="52235"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59501" y="2514601"/>
                        <a:ext cx="3260725" cy="498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52236" name="Object 9"/>
          <p:cNvGraphicFramePr>
            <a:graphicFrameLocks noChangeAspect="1"/>
          </p:cNvGraphicFramePr>
          <p:nvPr/>
        </p:nvGraphicFramePr>
        <p:xfrm>
          <a:off x="6156326" y="3124201"/>
          <a:ext cx="3344863" cy="1298575"/>
        </p:xfrm>
        <a:graphic>
          <a:graphicData uri="http://schemas.openxmlformats.org/presentationml/2006/ole">
            <mc:AlternateContent xmlns:mc="http://schemas.openxmlformats.org/markup-compatibility/2006">
              <mc:Choice xmlns:v="urn:schemas-microsoft-com:vml" Requires="v">
                <p:oleObj name="Equation" r:id="rId16" imgW="1765300" imgH="685800" progId="Equation.3">
                  <p:embed/>
                </p:oleObj>
              </mc:Choice>
              <mc:Fallback>
                <p:oleObj name="Equation" r:id="rId16" imgW="1765300" imgH="685800" progId="Equation.3">
                  <p:embed/>
                  <p:pic>
                    <p:nvPicPr>
                      <p:cNvPr id="52236"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56326" y="3124201"/>
                        <a:ext cx="3344863" cy="1298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948914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41E4EF-9C61-3843-9453-FBF820AE03C5}"/>
              </a:ext>
            </a:extLst>
          </p:cNvPr>
          <p:cNvSpPr txBox="1"/>
          <p:nvPr/>
        </p:nvSpPr>
        <p:spPr>
          <a:xfrm>
            <a:off x="2024743" y="2890156"/>
            <a:ext cx="8850085" cy="1323439"/>
          </a:xfrm>
          <a:prstGeom prst="rect">
            <a:avLst/>
          </a:prstGeom>
          <a:noFill/>
        </p:spPr>
        <p:txBody>
          <a:bodyPr wrap="square" rtlCol="0">
            <a:spAutoFit/>
          </a:bodyPr>
          <a:lstStyle/>
          <a:p>
            <a:r>
              <a:rPr lang="en-US" sz="4000" b="1" dirty="0"/>
              <a:t>Sense in which Rasch Model provides an interval scale</a:t>
            </a:r>
          </a:p>
        </p:txBody>
      </p:sp>
    </p:spTree>
    <p:extLst>
      <p:ext uri="{BB962C8B-B14F-4D97-AF65-F5344CB8AC3E}">
        <p14:creationId xmlns:p14="http://schemas.microsoft.com/office/powerpoint/2010/main" val="805951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46713A-6027-174D-B51D-64AE33EFBC2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kern="1200" dirty="0">
                <a:solidFill>
                  <a:schemeClr val="tx1"/>
                </a:solidFill>
                <a:latin typeface="+mj-lt"/>
                <a:ea typeface="+mj-ea"/>
                <a:cs typeface="+mj-cs"/>
              </a:rPr>
              <a:t>Interval Scale as Item to Person Tradeoffs</a:t>
            </a:r>
          </a:p>
        </p:txBody>
      </p:sp>
      <p:pic>
        <p:nvPicPr>
          <p:cNvPr id="7" name="Picture 6">
            <a:extLst>
              <a:ext uri="{FF2B5EF4-FFF2-40B4-BE49-F238E27FC236}">
                <a16:creationId xmlns:a16="http://schemas.microsoft.com/office/drawing/2014/main" id="{B93E9155-5055-A74A-A7AC-BED43D645195}"/>
              </a:ext>
            </a:extLst>
          </p:cNvPr>
          <p:cNvPicPr>
            <a:picLocks noChangeAspect="1"/>
          </p:cNvPicPr>
          <p:nvPr/>
        </p:nvPicPr>
        <p:blipFill>
          <a:blip r:embed="rId3"/>
          <a:stretch>
            <a:fillRect/>
          </a:stretch>
        </p:blipFill>
        <p:spPr>
          <a:xfrm>
            <a:off x="428849" y="1744132"/>
            <a:ext cx="11136617" cy="4872270"/>
          </a:xfrm>
          <a:prstGeom prst="rect">
            <a:avLst/>
          </a:prstGeom>
        </p:spPr>
      </p:pic>
      <p:sp>
        <p:nvSpPr>
          <p:cNvPr id="8" name="TextBox 7">
            <a:extLst>
              <a:ext uri="{FF2B5EF4-FFF2-40B4-BE49-F238E27FC236}">
                <a16:creationId xmlns:a16="http://schemas.microsoft.com/office/drawing/2014/main" id="{E9F358F2-43AC-9B49-B2ED-4B564A3A88E9}"/>
              </a:ext>
            </a:extLst>
          </p:cNvPr>
          <p:cNvSpPr txBox="1"/>
          <p:nvPr/>
        </p:nvSpPr>
        <p:spPr>
          <a:xfrm>
            <a:off x="996116" y="1690688"/>
            <a:ext cx="10357684" cy="646331"/>
          </a:xfrm>
          <a:prstGeom prst="rect">
            <a:avLst/>
          </a:prstGeom>
          <a:noFill/>
        </p:spPr>
        <p:txBody>
          <a:bodyPr wrap="square" rtlCol="0">
            <a:spAutoFit/>
          </a:bodyPr>
          <a:lstStyle/>
          <a:p>
            <a:r>
              <a:rPr lang="en-US" dirty="0"/>
              <a:t>Each blue line represents a unique item, the highest curve is the easiest item, lowest curve is most difficult , each item differs in difficulty by .5 logits ranging from -4 to 4.  </a:t>
            </a:r>
          </a:p>
        </p:txBody>
      </p:sp>
    </p:spTree>
    <p:extLst>
      <p:ext uri="{BB962C8B-B14F-4D97-AF65-F5344CB8AC3E}">
        <p14:creationId xmlns:p14="http://schemas.microsoft.com/office/powerpoint/2010/main" val="1214347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2745F-84C2-EA48-AE39-58F5F7EDAE95}"/>
              </a:ext>
            </a:extLst>
          </p:cNvPr>
          <p:cNvSpPr>
            <a:spLocks noGrp="1"/>
          </p:cNvSpPr>
          <p:nvPr>
            <p:ph type="title"/>
          </p:nvPr>
        </p:nvSpPr>
        <p:spPr/>
        <p:txBody>
          <a:bodyPr>
            <a:normAutofit/>
          </a:bodyPr>
          <a:lstStyle/>
          <a:p>
            <a:r>
              <a:rPr lang="en-US" b="1" dirty="0"/>
              <a:t>Theoretical Basis for a Reference Unit</a:t>
            </a:r>
          </a:p>
        </p:txBody>
      </p:sp>
      <p:sp>
        <p:nvSpPr>
          <p:cNvPr id="3" name="Content Placeholder 2">
            <a:extLst>
              <a:ext uri="{FF2B5EF4-FFF2-40B4-BE49-F238E27FC236}">
                <a16:creationId xmlns:a16="http://schemas.microsoft.com/office/drawing/2014/main" id="{6939275C-CD30-8449-854E-7C107C6146F6}"/>
              </a:ext>
            </a:extLst>
          </p:cNvPr>
          <p:cNvSpPr>
            <a:spLocks noGrp="1"/>
          </p:cNvSpPr>
          <p:nvPr>
            <p:ph sz="half" idx="1"/>
          </p:nvPr>
        </p:nvSpPr>
        <p:spPr/>
        <p:txBody>
          <a:bodyPr>
            <a:normAutofit/>
          </a:bodyPr>
          <a:lstStyle/>
          <a:p>
            <a:pPr marL="0" indent="0">
              <a:buNone/>
            </a:pPr>
            <a:r>
              <a:rPr lang="en-US" sz="2400" dirty="0"/>
              <a:t>Build fractions from unit fractions</a:t>
            </a:r>
          </a:p>
          <a:p>
            <a:pPr marL="0" indent="0">
              <a:buNone/>
            </a:pPr>
            <a:r>
              <a:rPr lang="en-US" sz="2400" dirty="0"/>
              <a:t> [GRADE 4]</a:t>
            </a:r>
          </a:p>
          <a:p>
            <a:r>
              <a:rPr lang="en-US" sz="2200" cap="all" dirty="0">
                <a:hlinkClick r:id="rId2"/>
              </a:rPr>
              <a:t>CCSS.MATH.CONTENT.4.NF.B.3.C</a:t>
            </a:r>
            <a:br>
              <a:rPr lang="en-US" sz="2200" dirty="0"/>
            </a:br>
            <a:r>
              <a:rPr lang="en-US" sz="2200" dirty="0"/>
              <a:t>Add and subtract mixed numbers with like denominators</a:t>
            </a:r>
          </a:p>
        </p:txBody>
      </p:sp>
      <p:sp>
        <p:nvSpPr>
          <p:cNvPr id="4" name="Content Placeholder 3">
            <a:extLst>
              <a:ext uri="{FF2B5EF4-FFF2-40B4-BE49-F238E27FC236}">
                <a16:creationId xmlns:a16="http://schemas.microsoft.com/office/drawing/2014/main" id="{52DC0B05-423A-C14C-96F8-39A3842BED87}"/>
              </a:ext>
            </a:extLst>
          </p:cNvPr>
          <p:cNvSpPr>
            <a:spLocks noGrp="1"/>
          </p:cNvSpPr>
          <p:nvPr>
            <p:ph sz="half" idx="2"/>
          </p:nvPr>
        </p:nvSpPr>
        <p:spPr/>
        <p:txBody>
          <a:bodyPr>
            <a:normAutofit/>
          </a:bodyPr>
          <a:lstStyle/>
          <a:p>
            <a:pPr marL="0" indent="0">
              <a:buNone/>
            </a:pPr>
            <a:r>
              <a:rPr lang="en-US" sz="2400" dirty="0"/>
              <a:t>Use equivalent fractions as a strategy to add and subtract fractions. [GRADE 5]</a:t>
            </a:r>
          </a:p>
          <a:p>
            <a:r>
              <a:rPr lang="en-US" sz="2200" cap="all" dirty="0">
                <a:hlinkClick r:id="rId3"/>
              </a:rPr>
              <a:t>CCSS.MATH.CONTENT.5.NF.A.1</a:t>
            </a:r>
            <a:br>
              <a:rPr lang="en-US" sz="2200" dirty="0"/>
            </a:br>
            <a:r>
              <a:rPr lang="en-US" sz="2200" dirty="0"/>
              <a:t>Add and subtract fractions with unlike denominators (including mixed numbers)</a:t>
            </a:r>
            <a:endParaRPr lang="en-US" dirty="0"/>
          </a:p>
        </p:txBody>
      </p:sp>
      <p:sp>
        <p:nvSpPr>
          <p:cNvPr id="5" name="Slide Number Placeholder 4">
            <a:extLst>
              <a:ext uri="{FF2B5EF4-FFF2-40B4-BE49-F238E27FC236}">
                <a16:creationId xmlns:a16="http://schemas.microsoft.com/office/drawing/2014/main" id="{1761AFF1-217E-524D-86C6-678B434BACFE}"/>
              </a:ext>
            </a:extLst>
          </p:cNvPr>
          <p:cNvSpPr>
            <a:spLocks noGrp="1"/>
          </p:cNvSpPr>
          <p:nvPr>
            <p:ph type="sldNum" sz="quarter" idx="12"/>
          </p:nvPr>
        </p:nvSpPr>
        <p:spPr/>
        <p:txBody>
          <a:bodyPr/>
          <a:lstStyle/>
          <a:p>
            <a:fld id="{EFD2A749-B6C7-C240-8A90-1E79A2210C21}" type="slidenum">
              <a:rPr lang="en-US" smtClean="0"/>
              <a:t>35</a:t>
            </a:fld>
            <a:endParaRPr lang="en-US" dirty="0"/>
          </a:p>
        </p:txBody>
      </p:sp>
      <p:graphicFrame>
        <p:nvGraphicFramePr>
          <p:cNvPr id="6" name="Object 5">
            <a:extLst>
              <a:ext uri="{FF2B5EF4-FFF2-40B4-BE49-F238E27FC236}">
                <a16:creationId xmlns:a16="http://schemas.microsoft.com/office/drawing/2014/main" id="{6ED4C89E-785B-A04F-A313-F922C407F5E3}"/>
              </a:ext>
            </a:extLst>
          </p:cNvPr>
          <p:cNvGraphicFramePr>
            <a:graphicFrameLocks noChangeAspect="1"/>
          </p:cNvGraphicFramePr>
          <p:nvPr/>
        </p:nvGraphicFramePr>
        <p:xfrm>
          <a:off x="1214702" y="3920183"/>
          <a:ext cx="3684070" cy="967848"/>
        </p:xfrm>
        <a:graphic>
          <a:graphicData uri="http://schemas.openxmlformats.org/presentationml/2006/ole">
            <mc:AlternateContent xmlns:mc="http://schemas.openxmlformats.org/markup-compatibility/2006">
              <mc:Choice xmlns:v="urn:schemas-microsoft-com:vml" Requires="v">
                <p:oleObj name="Equation" r:id="rId4" imgW="1498600" imgH="393700" progId="Equation.DSMT4">
                  <p:embed/>
                </p:oleObj>
              </mc:Choice>
              <mc:Fallback>
                <p:oleObj name="Equation" r:id="rId4" imgW="1498600" imgH="393700" progId="Equation.DSMT4">
                  <p:embed/>
                  <p:pic>
                    <p:nvPicPr>
                      <p:cNvPr id="6" name="Object 5">
                        <a:extLst>
                          <a:ext uri="{FF2B5EF4-FFF2-40B4-BE49-F238E27FC236}">
                            <a16:creationId xmlns:a16="http://schemas.microsoft.com/office/drawing/2014/main" id="{6ED4C89E-785B-A04F-A313-F922C407F5E3}"/>
                          </a:ext>
                        </a:extLst>
                      </p:cNvPr>
                      <p:cNvPicPr/>
                      <p:nvPr/>
                    </p:nvPicPr>
                    <p:blipFill>
                      <a:blip r:embed="rId5"/>
                      <a:stretch>
                        <a:fillRect/>
                      </a:stretch>
                    </p:blipFill>
                    <p:spPr>
                      <a:xfrm>
                        <a:off x="1214702" y="3920183"/>
                        <a:ext cx="3684070" cy="967848"/>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85F59AC2-91AC-8940-97B3-CC7E0BCAC01D}"/>
              </a:ext>
            </a:extLst>
          </p:cNvPr>
          <p:cNvGraphicFramePr>
            <a:graphicFrameLocks noChangeAspect="1"/>
          </p:cNvGraphicFramePr>
          <p:nvPr/>
        </p:nvGraphicFramePr>
        <p:xfrm>
          <a:off x="6915934" y="3910100"/>
          <a:ext cx="2998555" cy="977931"/>
        </p:xfrm>
        <a:graphic>
          <a:graphicData uri="http://schemas.openxmlformats.org/presentationml/2006/ole">
            <mc:AlternateContent xmlns:mc="http://schemas.openxmlformats.org/markup-compatibility/2006">
              <mc:Choice xmlns:v="urn:schemas-microsoft-com:vml" Requires="v">
                <p:oleObj name="Equation" r:id="rId6" imgW="1206500" imgH="393700" progId="Equation.DSMT4">
                  <p:embed/>
                </p:oleObj>
              </mc:Choice>
              <mc:Fallback>
                <p:oleObj name="Equation" r:id="rId6" imgW="1206500" imgH="393700" progId="Equation.DSMT4">
                  <p:embed/>
                  <p:pic>
                    <p:nvPicPr>
                      <p:cNvPr id="7" name="Object 6">
                        <a:extLst>
                          <a:ext uri="{FF2B5EF4-FFF2-40B4-BE49-F238E27FC236}">
                            <a16:creationId xmlns:a16="http://schemas.microsoft.com/office/drawing/2014/main" id="{85F59AC2-91AC-8940-97B3-CC7E0BCAC01D}"/>
                          </a:ext>
                        </a:extLst>
                      </p:cNvPr>
                      <p:cNvPicPr/>
                      <p:nvPr/>
                    </p:nvPicPr>
                    <p:blipFill>
                      <a:blip r:embed="rId7"/>
                      <a:stretch>
                        <a:fillRect/>
                      </a:stretch>
                    </p:blipFill>
                    <p:spPr>
                      <a:xfrm>
                        <a:off x="6915934" y="3910100"/>
                        <a:ext cx="2998555" cy="977931"/>
                      </a:xfrm>
                      <a:prstGeom prst="rect">
                        <a:avLst/>
                      </a:prstGeom>
                    </p:spPr>
                  </p:pic>
                </p:oleObj>
              </mc:Fallback>
            </mc:AlternateContent>
          </a:graphicData>
        </a:graphic>
      </p:graphicFrame>
    </p:spTree>
    <p:extLst>
      <p:ext uri="{BB962C8B-B14F-4D97-AF65-F5344CB8AC3E}">
        <p14:creationId xmlns:p14="http://schemas.microsoft.com/office/powerpoint/2010/main" val="3689192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Hypothetical Example</a:t>
            </a:r>
          </a:p>
        </p:txBody>
      </p:sp>
      <p:cxnSp>
        <p:nvCxnSpPr>
          <p:cNvPr id="5" name="Straight Connector 4"/>
          <p:cNvCxnSpPr/>
          <p:nvPr/>
        </p:nvCxnSpPr>
        <p:spPr>
          <a:xfrm>
            <a:off x="6096001" y="1828801"/>
            <a:ext cx="16933" cy="4297363"/>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318936" y="4453467"/>
            <a:ext cx="1574800" cy="369332"/>
          </a:xfrm>
          <a:prstGeom prst="rect">
            <a:avLst/>
          </a:prstGeom>
          <a:noFill/>
        </p:spPr>
        <p:txBody>
          <a:bodyPr wrap="square" rtlCol="0">
            <a:spAutoFit/>
          </a:bodyPr>
          <a:lstStyle/>
          <a:p>
            <a:r>
              <a:rPr lang="en-US" dirty="0"/>
              <a:t>Scott Grade 4</a:t>
            </a:r>
          </a:p>
        </p:txBody>
      </p:sp>
      <p:sp>
        <p:nvSpPr>
          <p:cNvPr id="7" name="TextBox 6"/>
          <p:cNvSpPr txBox="1"/>
          <p:nvPr/>
        </p:nvSpPr>
        <p:spPr>
          <a:xfrm>
            <a:off x="3268137" y="3708397"/>
            <a:ext cx="1574800" cy="369332"/>
          </a:xfrm>
          <a:prstGeom prst="rect">
            <a:avLst/>
          </a:prstGeom>
          <a:noFill/>
        </p:spPr>
        <p:txBody>
          <a:bodyPr wrap="square" rtlCol="0">
            <a:spAutoFit/>
          </a:bodyPr>
          <a:lstStyle/>
          <a:p>
            <a:r>
              <a:rPr lang="en-US" dirty="0"/>
              <a:t>Scott Grade 5</a:t>
            </a:r>
          </a:p>
        </p:txBody>
      </p:sp>
      <p:sp>
        <p:nvSpPr>
          <p:cNvPr id="8" name="TextBox 7"/>
          <p:cNvSpPr txBox="1"/>
          <p:nvPr/>
        </p:nvSpPr>
        <p:spPr>
          <a:xfrm>
            <a:off x="5655733" y="3640670"/>
            <a:ext cx="321734" cy="369332"/>
          </a:xfrm>
          <a:prstGeom prst="rect">
            <a:avLst/>
          </a:prstGeom>
          <a:noFill/>
        </p:spPr>
        <p:txBody>
          <a:bodyPr wrap="square" rtlCol="0">
            <a:spAutoFit/>
          </a:bodyPr>
          <a:lstStyle/>
          <a:p>
            <a:r>
              <a:rPr lang="en-US" dirty="0"/>
              <a:t>0</a:t>
            </a:r>
          </a:p>
        </p:txBody>
      </p:sp>
      <p:sp>
        <p:nvSpPr>
          <p:cNvPr id="10" name="TextBox 9"/>
          <p:cNvSpPr txBox="1"/>
          <p:nvPr/>
        </p:nvSpPr>
        <p:spPr>
          <a:xfrm>
            <a:off x="5435598" y="4419591"/>
            <a:ext cx="745069" cy="369332"/>
          </a:xfrm>
          <a:prstGeom prst="rect">
            <a:avLst/>
          </a:prstGeom>
          <a:noFill/>
        </p:spPr>
        <p:txBody>
          <a:bodyPr wrap="square" rtlCol="0">
            <a:spAutoFit/>
          </a:bodyPr>
          <a:lstStyle/>
          <a:p>
            <a:r>
              <a:rPr lang="en-US" dirty="0"/>
              <a:t>-.25</a:t>
            </a:r>
          </a:p>
        </p:txBody>
      </p:sp>
      <p:sp>
        <p:nvSpPr>
          <p:cNvPr id="13" name="TextBox 12"/>
          <p:cNvSpPr txBox="1"/>
          <p:nvPr/>
        </p:nvSpPr>
        <p:spPr>
          <a:xfrm>
            <a:off x="5486399" y="2184435"/>
            <a:ext cx="541870" cy="369332"/>
          </a:xfrm>
          <a:prstGeom prst="rect">
            <a:avLst/>
          </a:prstGeom>
          <a:noFill/>
        </p:spPr>
        <p:txBody>
          <a:bodyPr wrap="square" rtlCol="0">
            <a:spAutoFit/>
          </a:bodyPr>
          <a:lstStyle/>
          <a:p>
            <a:r>
              <a:rPr lang="en-US" dirty="0"/>
              <a:t>.50</a:t>
            </a:r>
          </a:p>
        </p:txBody>
      </p:sp>
      <p:sp>
        <p:nvSpPr>
          <p:cNvPr id="14" name="TextBox 13"/>
          <p:cNvSpPr txBox="1"/>
          <p:nvPr/>
        </p:nvSpPr>
        <p:spPr>
          <a:xfrm>
            <a:off x="5401735" y="2963356"/>
            <a:ext cx="745069" cy="369332"/>
          </a:xfrm>
          <a:prstGeom prst="rect">
            <a:avLst/>
          </a:prstGeom>
          <a:noFill/>
        </p:spPr>
        <p:txBody>
          <a:bodyPr wrap="square" rtlCol="0">
            <a:spAutoFit/>
          </a:bodyPr>
          <a:lstStyle/>
          <a:p>
            <a:r>
              <a:rPr lang="en-US" dirty="0"/>
              <a:t>  .25</a:t>
            </a:r>
          </a:p>
        </p:txBody>
      </p:sp>
      <p:sp>
        <p:nvSpPr>
          <p:cNvPr id="15" name="TextBox 14"/>
          <p:cNvSpPr txBox="1"/>
          <p:nvPr/>
        </p:nvSpPr>
        <p:spPr>
          <a:xfrm>
            <a:off x="5486399" y="5283236"/>
            <a:ext cx="541870" cy="369332"/>
          </a:xfrm>
          <a:prstGeom prst="rect">
            <a:avLst/>
          </a:prstGeom>
          <a:noFill/>
        </p:spPr>
        <p:txBody>
          <a:bodyPr wrap="square" rtlCol="0">
            <a:spAutoFit/>
          </a:bodyPr>
          <a:lstStyle/>
          <a:p>
            <a:r>
              <a:rPr lang="en-US" dirty="0"/>
              <a:t>.50</a:t>
            </a:r>
          </a:p>
        </p:txBody>
      </p:sp>
      <p:sp>
        <p:nvSpPr>
          <p:cNvPr id="16" name="TextBox 15"/>
          <p:cNvSpPr txBox="1"/>
          <p:nvPr/>
        </p:nvSpPr>
        <p:spPr>
          <a:xfrm>
            <a:off x="3183458" y="1642533"/>
            <a:ext cx="1320810" cy="369332"/>
          </a:xfrm>
          <a:prstGeom prst="rect">
            <a:avLst/>
          </a:prstGeom>
          <a:noFill/>
        </p:spPr>
        <p:txBody>
          <a:bodyPr wrap="square" rtlCol="0">
            <a:spAutoFit/>
          </a:bodyPr>
          <a:lstStyle/>
          <a:p>
            <a:r>
              <a:rPr lang="en-US" dirty="0"/>
              <a:t>Students</a:t>
            </a:r>
          </a:p>
        </p:txBody>
      </p:sp>
      <p:sp>
        <p:nvSpPr>
          <p:cNvPr id="17" name="TextBox 16"/>
          <p:cNvSpPr txBox="1"/>
          <p:nvPr/>
        </p:nvSpPr>
        <p:spPr>
          <a:xfrm>
            <a:off x="6722458" y="1642536"/>
            <a:ext cx="1913467" cy="369332"/>
          </a:xfrm>
          <a:prstGeom prst="rect">
            <a:avLst/>
          </a:prstGeom>
          <a:noFill/>
        </p:spPr>
        <p:txBody>
          <a:bodyPr wrap="square" rtlCol="0">
            <a:spAutoFit/>
          </a:bodyPr>
          <a:lstStyle/>
          <a:p>
            <a:r>
              <a:rPr lang="en-US" dirty="0"/>
              <a:t>Reference Items</a:t>
            </a:r>
          </a:p>
        </p:txBody>
      </p:sp>
      <p:graphicFrame>
        <p:nvGraphicFramePr>
          <p:cNvPr id="3" name="Object 2"/>
          <p:cNvGraphicFramePr>
            <a:graphicFrameLocks noChangeAspect="1"/>
          </p:cNvGraphicFramePr>
          <p:nvPr/>
        </p:nvGraphicFramePr>
        <p:xfrm>
          <a:off x="6280150" y="2768600"/>
          <a:ext cx="2205038" cy="719138"/>
        </p:xfrm>
        <a:graphic>
          <a:graphicData uri="http://schemas.openxmlformats.org/presentationml/2006/ole">
            <mc:AlternateContent xmlns:mc="http://schemas.openxmlformats.org/markup-compatibility/2006">
              <mc:Choice xmlns:v="urn:schemas-microsoft-com:vml" Requires="v">
                <p:oleObj name="Equation" r:id="rId2" imgW="1206500" imgH="393700" progId="Equation.DSMT4">
                  <p:embed/>
                </p:oleObj>
              </mc:Choice>
              <mc:Fallback>
                <p:oleObj name="Equation" r:id="rId2" imgW="1206500" imgH="393700" progId="Equation.DSMT4">
                  <p:embed/>
                  <p:pic>
                    <p:nvPicPr>
                      <p:cNvPr id="3" name="Object 2"/>
                      <p:cNvPicPr/>
                      <p:nvPr/>
                    </p:nvPicPr>
                    <p:blipFill>
                      <a:blip r:embed="rId3"/>
                      <a:stretch>
                        <a:fillRect/>
                      </a:stretch>
                    </p:blipFill>
                    <p:spPr>
                      <a:xfrm>
                        <a:off x="6280150" y="2768600"/>
                        <a:ext cx="2205038" cy="719138"/>
                      </a:xfrm>
                      <a:prstGeom prst="rect">
                        <a:avLst/>
                      </a:prstGeom>
                    </p:spPr>
                  </p:pic>
                </p:oleObj>
              </mc:Fallback>
            </mc:AlternateContent>
          </a:graphicData>
        </a:graphic>
      </p:graphicFrame>
      <p:graphicFrame>
        <p:nvGraphicFramePr>
          <p:cNvPr id="4" name="Object 3"/>
          <p:cNvGraphicFramePr>
            <a:graphicFrameLocks noChangeAspect="1"/>
          </p:cNvGraphicFramePr>
          <p:nvPr/>
        </p:nvGraphicFramePr>
        <p:xfrm>
          <a:off x="6263216" y="4259759"/>
          <a:ext cx="2542118" cy="667844"/>
        </p:xfrm>
        <a:graphic>
          <a:graphicData uri="http://schemas.openxmlformats.org/presentationml/2006/ole">
            <mc:AlternateContent xmlns:mc="http://schemas.openxmlformats.org/markup-compatibility/2006">
              <mc:Choice xmlns:v="urn:schemas-microsoft-com:vml" Requires="v">
                <p:oleObj name="Equation" r:id="rId4" imgW="1498600" imgH="393700" progId="Equation.3">
                  <p:embed/>
                </p:oleObj>
              </mc:Choice>
              <mc:Fallback>
                <p:oleObj name="Equation" r:id="rId4" imgW="1498600" imgH="393700" progId="Equation.3">
                  <p:embed/>
                  <p:pic>
                    <p:nvPicPr>
                      <p:cNvPr id="4" name="Object 3"/>
                      <p:cNvPicPr/>
                      <p:nvPr/>
                    </p:nvPicPr>
                    <p:blipFill>
                      <a:blip r:embed="rId5"/>
                      <a:stretch>
                        <a:fillRect/>
                      </a:stretch>
                    </p:blipFill>
                    <p:spPr>
                      <a:xfrm>
                        <a:off x="6263216" y="4259759"/>
                        <a:ext cx="2542118" cy="667844"/>
                      </a:xfrm>
                      <a:prstGeom prst="rect">
                        <a:avLst/>
                      </a:prstGeom>
                    </p:spPr>
                  </p:pic>
                </p:oleObj>
              </mc:Fallback>
            </mc:AlternateContent>
          </a:graphicData>
        </a:graphic>
      </p:graphicFrame>
      <p:sp>
        <p:nvSpPr>
          <p:cNvPr id="18" name="TextBox 17"/>
          <p:cNvSpPr txBox="1"/>
          <p:nvPr/>
        </p:nvSpPr>
        <p:spPr>
          <a:xfrm>
            <a:off x="4995328" y="1642536"/>
            <a:ext cx="1320810" cy="369332"/>
          </a:xfrm>
          <a:prstGeom prst="rect">
            <a:avLst/>
          </a:prstGeom>
          <a:noFill/>
        </p:spPr>
        <p:txBody>
          <a:bodyPr wrap="square" rtlCol="0">
            <a:spAutoFit/>
          </a:bodyPr>
          <a:lstStyle/>
          <a:p>
            <a:r>
              <a:rPr lang="en-US" dirty="0"/>
              <a:t>Logits</a:t>
            </a:r>
          </a:p>
        </p:txBody>
      </p:sp>
      <p:sp>
        <p:nvSpPr>
          <p:cNvPr id="9" name="Left Brace 8"/>
          <p:cNvSpPr/>
          <p:nvPr/>
        </p:nvSpPr>
        <p:spPr>
          <a:xfrm>
            <a:off x="2878665" y="3826933"/>
            <a:ext cx="389458" cy="91119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9" name="TextBox 18"/>
          <p:cNvSpPr txBox="1"/>
          <p:nvPr/>
        </p:nvSpPr>
        <p:spPr>
          <a:xfrm>
            <a:off x="1947331" y="3894665"/>
            <a:ext cx="762000" cy="923330"/>
          </a:xfrm>
          <a:prstGeom prst="rect">
            <a:avLst/>
          </a:prstGeom>
          <a:noFill/>
        </p:spPr>
        <p:txBody>
          <a:bodyPr wrap="square" rtlCol="0">
            <a:spAutoFit/>
          </a:bodyPr>
          <a:lstStyle/>
          <a:p>
            <a:r>
              <a:rPr lang="en-US" dirty="0"/>
              <a:t>Gain = 0.25 logits</a:t>
            </a:r>
          </a:p>
        </p:txBody>
      </p:sp>
      <p:sp>
        <p:nvSpPr>
          <p:cNvPr id="11" name="Slide Number Placeholder 10"/>
          <p:cNvSpPr>
            <a:spLocks noGrp="1"/>
          </p:cNvSpPr>
          <p:nvPr>
            <p:ph type="sldNum" sz="quarter" idx="12"/>
          </p:nvPr>
        </p:nvSpPr>
        <p:spPr/>
        <p:txBody>
          <a:bodyPr/>
          <a:lstStyle/>
          <a:p>
            <a:fld id="{B45EA367-76FE-D949-98D2-428E246BFD0D}" type="slidenum">
              <a:rPr lang="uk-UA" smtClean="0"/>
              <a:t>36</a:t>
            </a:fld>
            <a:endParaRPr lang="uk-UA" dirty="0"/>
          </a:p>
        </p:txBody>
      </p:sp>
    </p:spTree>
    <p:extLst>
      <p:ext uri="{BB962C8B-B14F-4D97-AF65-F5344CB8AC3E}">
        <p14:creationId xmlns:p14="http://schemas.microsoft.com/office/powerpoint/2010/main" val="257768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Establishing a Standard Unit for Growth</a:t>
            </a:r>
          </a:p>
        </p:txBody>
      </p:sp>
      <p:cxnSp>
        <p:nvCxnSpPr>
          <p:cNvPr id="5" name="Straight Connector 4"/>
          <p:cNvCxnSpPr/>
          <p:nvPr/>
        </p:nvCxnSpPr>
        <p:spPr>
          <a:xfrm>
            <a:off x="6096001" y="1828801"/>
            <a:ext cx="16933" cy="4297363"/>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234257" y="3332688"/>
            <a:ext cx="1574800" cy="369332"/>
          </a:xfrm>
          <a:prstGeom prst="rect">
            <a:avLst/>
          </a:prstGeom>
          <a:noFill/>
        </p:spPr>
        <p:txBody>
          <a:bodyPr wrap="square" rtlCol="0">
            <a:spAutoFit/>
          </a:bodyPr>
          <a:lstStyle/>
          <a:p>
            <a:r>
              <a:rPr lang="en-US" dirty="0"/>
              <a:t>Enis Grade 4</a:t>
            </a:r>
          </a:p>
        </p:txBody>
      </p:sp>
      <p:sp>
        <p:nvSpPr>
          <p:cNvPr id="8" name="TextBox 7"/>
          <p:cNvSpPr txBox="1"/>
          <p:nvPr/>
        </p:nvSpPr>
        <p:spPr>
          <a:xfrm>
            <a:off x="5655733" y="3640670"/>
            <a:ext cx="321734" cy="369332"/>
          </a:xfrm>
          <a:prstGeom prst="rect">
            <a:avLst/>
          </a:prstGeom>
          <a:noFill/>
        </p:spPr>
        <p:txBody>
          <a:bodyPr wrap="square" rtlCol="0">
            <a:spAutoFit/>
          </a:bodyPr>
          <a:lstStyle/>
          <a:p>
            <a:r>
              <a:rPr lang="en-US" dirty="0"/>
              <a:t>0</a:t>
            </a:r>
          </a:p>
        </p:txBody>
      </p:sp>
      <p:sp>
        <p:nvSpPr>
          <p:cNvPr id="10" name="TextBox 9"/>
          <p:cNvSpPr txBox="1"/>
          <p:nvPr/>
        </p:nvSpPr>
        <p:spPr>
          <a:xfrm>
            <a:off x="5435598" y="4419591"/>
            <a:ext cx="745069" cy="369332"/>
          </a:xfrm>
          <a:prstGeom prst="rect">
            <a:avLst/>
          </a:prstGeom>
          <a:noFill/>
        </p:spPr>
        <p:txBody>
          <a:bodyPr wrap="square" rtlCol="0">
            <a:spAutoFit/>
          </a:bodyPr>
          <a:lstStyle/>
          <a:p>
            <a:r>
              <a:rPr lang="en-US" dirty="0"/>
              <a:t>-.25</a:t>
            </a:r>
          </a:p>
        </p:txBody>
      </p:sp>
      <p:sp>
        <p:nvSpPr>
          <p:cNvPr id="13" name="TextBox 12"/>
          <p:cNvSpPr txBox="1"/>
          <p:nvPr/>
        </p:nvSpPr>
        <p:spPr>
          <a:xfrm>
            <a:off x="5486399" y="2184435"/>
            <a:ext cx="541870" cy="369332"/>
          </a:xfrm>
          <a:prstGeom prst="rect">
            <a:avLst/>
          </a:prstGeom>
          <a:noFill/>
        </p:spPr>
        <p:txBody>
          <a:bodyPr wrap="square" rtlCol="0">
            <a:spAutoFit/>
          </a:bodyPr>
          <a:lstStyle/>
          <a:p>
            <a:r>
              <a:rPr lang="en-US" dirty="0"/>
              <a:t>.50</a:t>
            </a:r>
          </a:p>
        </p:txBody>
      </p:sp>
      <p:sp>
        <p:nvSpPr>
          <p:cNvPr id="14" name="TextBox 13"/>
          <p:cNvSpPr txBox="1"/>
          <p:nvPr/>
        </p:nvSpPr>
        <p:spPr>
          <a:xfrm>
            <a:off x="5401735" y="2963356"/>
            <a:ext cx="745069" cy="369332"/>
          </a:xfrm>
          <a:prstGeom prst="rect">
            <a:avLst/>
          </a:prstGeom>
          <a:noFill/>
        </p:spPr>
        <p:txBody>
          <a:bodyPr wrap="square" rtlCol="0">
            <a:spAutoFit/>
          </a:bodyPr>
          <a:lstStyle/>
          <a:p>
            <a:r>
              <a:rPr lang="en-US" dirty="0"/>
              <a:t>  .25</a:t>
            </a:r>
          </a:p>
        </p:txBody>
      </p:sp>
      <p:sp>
        <p:nvSpPr>
          <p:cNvPr id="15" name="TextBox 14"/>
          <p:cNvSpPr txBox="1"/>
          <p:nvPr/>
        </p:nvSpPr>
        <p:spPr>
          <a:xfrm>
            <a:off x="5486399" y="5283236"/>
            <a:ext cx="541870" cy="369332"/>
          </a:xfrm>
          <a:prstGeom prst="rect">
            <a:avLst/>
          </a:prstGeom>
          <a:noFill/>
        </p:spPr>
        <p:txBody>
          <a:bodyPr wrap="square" rtlCol="0">
            <a:spAutoFit/>
          </a:bodyPr>
          <a:lstStyle/>
          <a:p>
            <a:r>
              <a:rPr lang="en-US" dirty="0"/>
              <a:t>.50</a:t>
            </a:r>
          </a:p>
        </p:txBody>
      </p:sp>
      <p:sp>
        <p:nvSpPr>
          <p:cNvPr id="16" name="TextBox 15"/>
          <p:cNvSpPr txBox="1"/>
          <p:nvPr/>
        </p:nvSpPr>
        <p:spPr>
          <a:xfrm>
            <a:off x="3183458" y="1642533"/>
            <a:ext cx="1320810" cy="369332"/>
          </a:xfrm>
          <a:prstGeom prst="rect">
            <a:avLst/>
          </a:prstGeom>
          <a:noFill/>
        </p:spPr>
        <p:txBody>
          <a:bodyPr wrap="square" rtlCol="0">
            <a:spAutoFit/>
          </a:bodyPr>
          <a:lstStyle/>
          <a:p>
            <a:r>
              <a:rPr lang="en-US" dirty="0"/>
              <a:t>Students</a:t>
            </a:r>
          </a:p>
        </p:txBody>
      </p:sp>
      <p:sp>
        <p:nvSpPr>
          <p:cNvPr id="17" name="TextBox 16"/>
          <p:cNvSpPr txBox="1"/>
          <p:nvPr/>
        </p:nvSpPr>
        <p:spPr>
          <a:xfrm>
            <a:off x="6722458" y="1642536"/>
            <a:ext cx="1913467" cy="369332"/>
          </a:xfrm>
          <a:prstGeom prst="rect">
            <a:avLst/>
          </a:prstGeom>
          <a:noFill/>
        </p:spPr>
        <p:txBody>
          <a:bodyPr wrap="square" rtlCol="0">
            <a:spAutoFit/>
          </a:bodyPr>
          <a:lstStyle/>
          <a:p>
            <a:r>
              <a:rPr lang="en-US" dirty="0"/>
              <a:t>Reference Items</a:t>
            </a:r>
          </a:p>
        </p:txBody>
      </p:sp>
      <p:graphicFrame>
        <p:nvGraphicFramePr>
          <p:cNvPr id="3" name="Object 2"/>
          <p:cNvGraphicFramePr>
            <a:graphicFrameLocks noChangeAspect="1"/>
          </p:cNvGraphicFramePr>
          <p:nvPr/>
        </p:nvGraphicFramePr>
        <p:xfrm>
          <a:off x="6280150" y="2768600"/>
          <a:ext cx="2205038" cy="719138"/>
        </p:xfrm>
        <a:graphic>
          <a:graphicData uri="http://schemas.openxmlformats.org/presentationml/2006/ole">
            <mc:AlternateContent xmlns:mc="http://schemas.openxmlformats.org/markup-compatibility/2006">
              <mc:Choice xmlns:v="urn:schemas-microsoft-com:vml" Requires="v">
                <p:oleObj name="Equation" r:id="rId3" imgW="1206500" imgH="393700" progId="Equation.DSMT4">
                  <p:embed/>
                </p:oleObj>
              </mc:Choice>
              <mc:Fallback>
                <p:oleObj name="Equation" r:id="rId3" imgW="1206500" imgH="393700" progId="Equation.DSMT4">
                  <p:embed/>
                  <p:pic>
                    <p:nvPicPr>
                      <p:cNvPr id="3" name="Object 2"/>
                      <p:cNvPicPr/>
                      <p:nvPr/>
                    </p:nvPicPr>
                    <p:blipFill>
                      <a:blip r:embed="rId4"/>
                      <a:stretch>
                        <a:fillRect/>
                      </a:stretch>
                    </p:blipFill>
                    <p:spPr>
                      <a:xfrm>
                        <a:off x="6280150" y="2768600"/>
                        <a:ext cx="2205038" cy="719138"/>
                      </a:xfrm>
                      <a:prstGeom prst="rect">
                        <a:avLst/>
                      </a:prstGeom>
                    </p:spPr>
                  </p:pic>
                </p:oleObj>
              </mc:Fallback>
            </mc:AlternateContent>
          </a:graphicData>
        </a:graphic>
      </p:graphicFrame>
      <p:graphicFrame>
        <p:nvGraphicFramePr>
          <p:cNvPr id="4" name="Object 3"/>
          <p:cNvGraphicFramePr>
            <a:graphicFrameLocks noChangeAspect="1"/>
          </p:cNvGraphicFramePr>
          <p:nvPr/>
        </p:nvGraphicFramePr>
        <p:xfrm>
          <a:off x="6263216" y="4259759"/>
          <a:ext cx="2542118" cy="667844"/>
        </p:xfrm>
        <a:graphic>
          <a:graphicData uri="http://schemas.openxmlformats.org/presentationml/2006/ole">
            <mc:AlternateContent xmlns:mc="http://schemas.openxmlformats.org/markup-compatibility/2006">
              <mc:Choice xmlns:v="urn:schemas-microsoft-com:vml" Requires="v">
                <p:oleObj name="Equation" r:id="rId5" imgW="1498600" imgH="393700" progId="Equation.3">
                  <p:embed/>
                </p:oleObj>
              </mc:Choice>
              <mc:Fallback>
                <p:oleObj name="Equation" r:id="rId5" imgW="1498600" imgH="393700" progId="Equation.3">
                  <p:embed/>
                  <p:pic>
                    <p:nvPicPr>
                      <p:cNvPr id="4" name="Object 3"/>
                      <p:cNvPicPr/>
                      <p:nvPr/>
                    </p:nvPicPr>
                    <p:blipFill>
                      <a:blip r:embed="rId6"/>
                      <a:stretch>
                        <a:fillRect/>
                      </a:stretch>
                    </p:blipFill>
                    <p:spPr>
                      <a:xfrm>
                        <a:off x="6263216" y="4259759"/>
                        <a:ext cx="2542118" cy="667844"/>
                      </a:xfrm>
                      <a:prstGeom prst="rect">
                        <a:avLst/>
                      </a:prstGeom>
                    </p:spPr>
                  </p:pic>
                </p:oleObj>
              </mc:Fallback>
            </mc:AlternateContent>
          </a:graphicData>
        </a:graphic>
      </p:graphicFrame>
      <p:sp>
        <p:nvSpPr>
          <p:cNvPr id="18" name="TextBox 17"/>
          <p:cNvSpPr txBox="1"/>
          <p:nvPr/>
        </p:nvSpPr>
        <p:spPr>
          <a:xfrm>
            <a:off x="4995328" y="1642536"/>
            <a:ext cx="1320810" cy="369332"/>
          </a:xfrm>
          <a:prstGeom prst="rect">
            <a:avLst/>
          </a:prstGeom>
          <a:noFill/>
        </p:spPr>
        <p:txBody>
          <a:bodyPr wrap="square" rtlCol="0">
            <a:spAutoFit/>
          </a:bodyPr>
          <a:lstStyle/>
          <a:p>
            <a:r>
              <a:rPr lang="en-US" dirty="0"/>
              <a:t>Logits</a:t>
            </a:r>
          </a:p>
        </p:txBody>
      </p:sp>
      <p:sp>
        <p:nvSpPr>
          <p:cNvPr id="9" name="Right Brace 8"/>
          <p:cNvSpPr/>
          <p:nvPr/>
        </p:nvSpPr>
        <p:spPr>
          <a:xfrm>
            <a:off x="8805335" y="2980279"/>
            <a:ext cx="660399" cy="18086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9" name="TextBox 18"/>
          <p:cNvSpPr txBox="1"/>
          <p:nvPr/>
        </p:nvSpPr>
        <p:spPr>
          <a:xfrm>
            <a:off x="9584266" y="3366547"/>
            <a:ext cx="762000" cy="923330"/>
          </a:xfrm>
          <a:prstGeom prst="rect">
            <a:avLst/>
          </a:prstGeom>
          <a:noFill/>
        </p:spPr>
        <p:txBody>
          <a:bodyPr wrap="square" rtlCol="0">
            <a:spAutoFit/>
          </a:bodyPr>
          <a:lstStyle/>
          <a:p>
            <a:r>
              <a:rPr lang="en-US" dirty="0"/>
              <a:t>Gain = 0.5 logits</a:t>
            </a:r>
          </a:p>
        </p:txBody>
      </p:sp>
      <p:sp>
        <p:nvSpPr>
          <p:cNvPr id="20" name="TextBox 19"/>
          <p:cNvSpPr txBox="1"/>
          <p:nvPr/>
        </p:nvSpPr>
        <p:spPr>
          <a:xfrm>
            <a:off x="3268151" y="3688817"/>
            <a:ext cx="1574800" cy="369332"/>
          </a:xfrm>
          <a:prstGeom prst="rect">
            <a:avLst/>
          </a:prstGeom>
          <a:noFill/>
        </p:spPr>
        <p:txBody>
          <a:bodyPr wrap="square" rtlCol="0">
            <a:spAutoFit/>
          </a:bodyPr>
          <a:lstStyle/>
          <a:p>
            <a:r>
              <a:rPr lang="en-US" dirty="0"/>
              <a:t>Scott Grade 5</a:t>
            </a:r>
          </a:p>
        </p:txBody>
      </p:sp>
      <p:sp>
        <p:nvSpPr>
          <p:cNvPr id="21" name="Left Brace 20"/>
          <p:cNvSpPr/>
          <p:nvPr/>
        </p:nvSpPr>
        <p:spPr>
          <a:xfrm>
            <a:off x="2878679" y="3807353"/>
            <a:ext cx="389458" cy="91119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2" name="TextBox 21"/>
          <p:cNvSpPr txBox="1"/>
          <p:nvPr/>
        </p:nvSpPr>
        <p:spPr>
          <a:xfrm>
            <a:off x="1947345" y="3875085"/>
            <a:ext cx="762000" cy="923330"/>
          </a:xfrm>
          <a:prstGeom prst="rect">
            <a:avLst/>
          </a:prstGeom>
          <a:noFill/>
        </p:spPr>
        <p:txBody>
          <a:bodyPr wrap="square" rtlCol="0">
            <a:spAutoFit/>
          </a:bodyPr>
          <a:lstStyle/>
          <a:p>
            <a:r>
              <a:rPr lang="en-US" dirty="0"/>
              <a:t>Gain = 0.25 logits</a:t>
            </a:r>
          </a:p>
        </p:txBody>
      </p:sp>
      <p:sp>
        <p:nvSpPr>
          <p:cNvPr id="26" name="TextBox 25"/>
          <p:cNvSpPr txBox="1"/>
          <p:nvPr/>
        </p:nvSpPr>
        <p:spPr>
          <a:xfrm>
            <a:off x="3251207" y="4425341"/>
            <a:ext cx="1574800" cy="369332"/>
          </a:xfrm>
          <a:prstGeom prst="rect">
            <a:avLst/>
          </a:prstGeom>
          <a:noFill/>
        </p:spPr>
        <p:txBody>
          <a:bodyPr wrap="square" rtlCol="0">
            <a:spAutoFit/>
          </a:bodyPr>
          <a:lstStyle/>
          <a:p>
            <a:r>
              <a:rPr lang="en-US" dirty="0"/>
              <a:t>Scott Grade 4</a:t>
            </a:r>
          </a:p>
        </p:txBody>
      </p:sp>
      <p:sp>
        <p:nvSpPr>
          <p:cNvPr id="27" name="TextBox 26"/>
          <p:cNvSpPr txBox="1"/>
          <p:nvPr/>
        </p:nvSpPr>
        <p:spPr>
          <a:xfrm>
            <a:off x="3234260" y="2215113"/>
            <a:ext cx="1574800" cy="369332"/>
          </a:xfrm>
          <a:prstGeom prst="rect">
            <a:avLst/>
          </a:prstGeom>
          <a:noFill/>
        </p:spPr>
        <p:txBody>
          <a:bodyPr wrap="square" rtlCol="0">
            <a:spAutoFit/>
          </a:bodyPr>
          <a:lstStyle/>
          <a:p>
            <a:r>
              <a:rPr lang="en-US" dirty="0"/>
              <a:t>Enis Grade 5</a:t>
            </a:r>
          </a:p>
        </p:txBody>
      </p:sp>
      <p:sp>
        <p:nvSpPr>
          <p:cNvPr id="7" name="Slide Number Placeholder 6"/>
          <p:cNvSpPr>
            <a:spLocks noGrp="1"/>
          </p:cNvSpPr>
          <p:nvPr>
            <p:ph type="sldNum" sz="quarter" idx="12"/>
          </p:nvPr>
        </p:nvSpPr>
        <p:spPr/>
        <p:txBody>
          <a:bodyPr/>
          <a:lstStyle/>
          <a:p>
            <a:fld id="{B45EA367-76FE-D949-98D2-428E246BFD0D}" type="slidenum">
              <a:rPr lang="uk-UA" smtClean="0"/>
              <a:t>37</a:t>
            </a:fld>
            <a:endParaRPr lang="uk-UA" dirty="0"/>
          </a:p>
        </p:txBody>
      </p:sp>
    </p:spTree>
    <p:extLst>
      <p:ext uri="{BB962C8B-B14F-4D97-AF65-F5344CB8AC3E}">
        <p14:creationId xmlns:p14="http://schemas.microsoft.com/office/powerpoint/2010/main" val="328228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Value of Invariant Comparisons</a:t>
            </a:r>
          </a:p>
        </p:txBody>
      </p:sp>
      <p:sp>
        <p:nvSpPr>
          <p:cNvPr id="3" name="Content Placeholder 2"/>
          <p:cNvSpPr>
            <a:spLocks noGrp="1"/>
          </p:cNvSpPr>
          <p:nvPr>
            <p:ph idx="1"/>
          </p:nvPr>
        </p:nvSpPr>
        <p:spPr/>
        <p:txBody>
          <a:bodyPr/>
          <a:lstStyle/>
          <a:p>
            <a:pPr marL="0" indent="0">
              <a:buNone/>
            </a:pPr>
            <a:r>
              <a:rPr lang="en-US" dirty="0"/>
              <a:t>If data fits the Rasch Model, then</a:t>
            </a:r>
          </a:p>
          <a:p>
            <a:pPr lvl="1"/>
            <a:r>
              <a:rPr lang="en-US" dirty="0"/>
              <a:t>The magnitude of growth from grade 4 to 5 for each student has the same magnitude no matter what item (or item difference) is used as a frame of reference, because when logits are subtracted</a:t>
            </a:r>
          </a:p>
          <a:p>
            <a:pPr marL="457200" lvl="1" indent="0">
              <a:buNone/>
            </a:pPr>
            <a:endParaRPr lang="en-US" dirty="0"/>
          </a:p>
          <a:p>
            <a:pPr lvl="1"/>
            <a:endParaRPr lang="en-US" dirty="0"/>
          </a:p>
          <a:p>
            <a:pPr lvl="1"/>
            <a:r>
              <a:rPr lang="en-US" dirty="0"/>
              <a:t>Expected growth can be defined by differences in reference item locations, and this does not vary by initial ability of student.</a:t>
            </a:r>
          </a:p>
        </p:txBody>
      </p:sp>
      <p:graphicFrame>
        <p:nvGraphicFramePr>
          <p:cNvPr id="4" name="Object 3"/>
          <p:cNvGraphicFramePr>
            <a:graphicFrameLocks noChangeAspect="1"/>
          </p:cNvGraphicFramePr>
          <p:nvPr>
            <p:extLst>
              <p:ext uri="{D42A27DB-BD31-4B8C-83A1-F6EECF244321}">
                <p14:modId xmlns:p14="http://schemas.microsoft.com/office/powerpoint/2010/main" val="374484216"/>
              </p:ext>
            </p:extLst>
          </p:nvPr>
        </p:nvGraphicFramePr>
        <p:xfrm>
          <a:off x="2931024" y="3394869"/>
          <a:ext cx="4505325" cy="606425"/>
        </p:xfrm>
        <a:graphic>
          <a:graphicData uri="http://schemas.openxmlformats.org/presentationml/2006/ole">
            <mc:AlternateContent xmlns:mc="http://schemas.openxmlformats.org/markup-compatibility/2006">
              <mc:Choice xmlns:v="urn:schemas-microsoft-com:vml" Requires="v">
                <p:oleObj name="Equation" r:id="rId2" imgW="1701800" imgH="228600" progId="Equation.3">
                  <p:embed/>
                </p:oleObj>
              </mc:Choice>
              <mc:Fallback>
                <p:oleObj name="Equation" r:id="rId2" imgW="1701800" imgH="228600" progId="Equation.3">
                  <p:embed/>
                  <p:pic>
                    <p:nvPicPr>
                      <p:cNvPr id="4" name="Object 3"/>
                      <p:cNvPicPr/>
                      <p:nvPr/>
                    </p:nvPicPr>
                    <p:blipFill>
                      <a:blip r:embed="rId3"/>
                      <a:stretch>
                        <a:fillRect/>
                      </a:stretch>
                    </p:blipFill>
                    <p:spPr>
                      <a:xfrm>
                        <a:off x="2931024" y="3394869"/>
                        <a:ext cx="4505325" cy="606425"/>
                      </a:xfrm>
                      <a:prstGeom prst="rect">
                        <a:avLst/>
                      </a:prstGeom>
                    </p:spPr>
                  </p:pic>
                </p:oleObj>
              </mc:Fallback>
            </mc:AlternateContent>
          </a:graphicData>
        </a:graphic>
      </p:graphicFrame>
      <p:sp>
        <p:nvSpPr>
          <p:cNvPr id="5" name="Slide Number Placeholder 4"/>
          <p:cNvSpPr>
            <a:spLocks noGrp="1"/>
          </p:cNvSpPr>
          <p:nvPr>
            <p:ph type="sldNum" sz="quarter" idx="12"/>
          </p:nvPr>
        </p:nvSpPr>
        <p:spPr/>
        <p:txBody>
          <a:bodyPr/>
          <a:lstStyle/>
          <a:p>
            <a:fld id="{B45EA367-76FE-D949-98D2-428E246BFD0D}" type="slidenum">
              <a:rPr lang="uk-UA" smtClean="0"/>
              <a:t>38</a:t>
            </a:fld>
            <a:endParaRPr lang="uk-UA" dirty="0"/>
          </a:p>
        </p:txBody>
      </p:sp>
    </p:spTree>
    <p:extLst>
      <p:ext uri="{BB962C8B-B14F-4D97-AF65-F5344CB8AC3E}">
        <p14:creationId xmlns:p14="http://schemas.microsoft.com/office/powerpoint/2010/main" val="877987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Happens Under the 3PL?</a:t>
            </a:r>
          </a:p>
        </p:txBody>
      </p:sp>
      <p:sp>
        <p:nvSpPr>
          <p:cNvPr id="4" name="Text Placeholder 3"/>
          <p:cNvSpPr>
            <a:spLocks noGrp="1"/>
          </p:cNvSpPr>
          <p:nvPr>
            <p:ph idx="1"/>
          </p:nvPr>
        </p:nvSpPr>
        <p:spPr/>
        <p:txBody>
          <a:bodyPr>
            <a:normAutofit/>
          </a:bodyPr>
          <a:lstStyle/>
          <a:p>
            <a:pPr marL="0" indent="0">
              <a:buNone/>
            </a:pPr>
            <a:endParaRPr lang="en-US" dirty="0"/>
          </a:p>
          <a:p>
            <a:endParaRPr lang="en-US" dirty="0"/>
          </a:p>
          <a:p>
            <a:r>
              <a:rPr lang="en-US" dirty="0"/>
              <a:t>Difference across People are Item Specific</a:t>
            </a:r>
          </a:p>
          <a:p>
            <a:endParaRPr lang="en-US" dirty="0"/>
          </a:p>
          <a:p>
            <a:endParaRPr lang="en-US" dirty="0"/>
          </a:p>
          <a:p>
            <a:r>
              <a:rPr lang="en-US" dirty="0"/>
              <a:t>Differences in Item Locations are Person Specific</a:t>
            </a:r>
          </a:p>
          <a:p>
            <a:endParaRPr lang="en-US" dirty="0"/>
          </a:p>
          <a:p>
            <a:endParaRPr lang="en-US" dirty="0"/>
          </a:p>
        </p:txBody>
      </p:sp>
      <p:graphicFrame>
        <p:nvGraphicFramePr>
          <p:cNvPr id="8" name="Object 7"/>
          <p:cNvGraphicFramePr>
            <a:graphicFrameLocks noChangeAspect="1"/>
          </p:cNvGraphicFramePr>
          <p:nvPr/>
        </p:nvGraphicFramePr>
        <p:xfrm>
          <a:off x="2544241" y="1549402"/>
          <a:ext cx="3612790" cy="1120245"/>
        </p:xfrm>
        <a:graphic>
          <a:graphicData uri="http://schemas.openxmlformats.org/presentationml/2006/ole">
            <mc:AlternateContent xmlns:mc="http://schemas.openxmlformats.org/markup-compatibility/2006">
              <mc:Choice xmlns:v="urn:schemas-microsoft-com:vml" Requires="v">
                <p:oleObj name="Equation" r:id="rId2" imgW="1638300" imgH="508000" progId="Equation.DSMT4">
                  <p:embed/>
                </p:oleObj>
              </mc:Choice>
              <mc:Fallback>
                <p:oleObj name="Equation" r:id="rId2" imgW="1638300" imgH="508000" progId="Equation.DSMT4">
                  <p:embed/>
                  <p:pic>
                    <p:nvPicPr>
                      <p:cNvPr id="8" name="Object 7"/>
                      <p:cNvPicPr/>
                      <p:nvPr/>
                    </p:nvPicPr>
                    <p:blipFill>
                      <a:blip r:embed="rId3"/>
                      <a:stretch>
                        <a:fillRect/>
                      </a:stretch>
                    </p:blipFill>
                    <p:spPr>
                      <a:xfrm>
                        <a:off x="2544241" y="1549402"/>
                        <a:ext cx="3612790" cy="112024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2408772" y="3594097"/>
          <a:ext cx="5851871" cy="605366"/>
        </p:xfrm>
        <a:graphic>
          <a:graphicData uri="http://schemas.openxmlformats.org/presentationml/2006/ole">
            <mc:AlternateContent xmlns:mc="http://schemas.openxmlformats.org/markup-compatibility/2006">
              <mc:Choice xmlns:v="urn:schemas-microsoft-com:vml" Requires="v">
                <p:oleObj name="Equation" r:id="rId4" imgW="2209800" imgH="228600" progId="Equation.DSMT4">
                  <p:embed/>
                </p:oleObj>
              </mc:Choice>
              <mc:Fallback>
                <p:oleObj name="Equation" r:id="rId4" imgW="2209800" imgH="228600" progId="Equation.DSMT4">
                  <p:embed/>
                  <p:pic>
                    <p:nvPicPr>
                      <p:cNvPr id="9" name="Object 8"/>
                      <p:cNvPicPr/>
                      <p:nvPr/>
                    </p:nvPicPr>
                    <p:blipFill>
                      <a:blip r:embed="rId5"/>
                      <a:stretch>
                        <a:fillRect/>
                      </a:stretch>
                    </p:blipFill>
                    <p:spPr>
                      <a:xfrm>
                        <a:off x="2408772" y="3594097"/>
                        <a:ext cx="5851871" cy="605366"/>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2260600" y="5254625"/>
          <a:ext cx="8279607" cy="581025"/>
        </p:xfrm>
        <a:graphic>
          <a:graphicData uri="http://schemas.openxmlformats.org/presentationml/2006/ole">
            <mc:AlternateContent xmlns:mc="http://schemas.openxmlformats.org/markup-compatibility/2006">
              <mc:Choice xmlns:v="urn:schemas-microsoft-com:vml" Requires="v">
                <p:oleObj name="Equation" r:id="rId6" imgW="2895600" imgH="203200" progId="Equation.3">
                  <p:embed/>
                </p:oleObj>
              </mc:Choice>
              <mc:Fallback>
                <p:oleObj name="Equation" r:id="rId6" imgW="2895600" imgH="203200" progId="Equation.3">
                  <p:embed/>
                  <p:pic>
                    <p:nvPicPr>
                      <p:cNvPr id="10" name="Object 9"/>
                      <p:cNvPicPr/>
                      <p:nvPr/>
                    </p:nvPicPr>
                    <p:blipFill>
                      <a:blip r:embed="rId7"/>
                      <a:stretch>
                        <a:fillRect/>
                      </a:stretch>
                    </p:blipFill>
                    <p:spPr>
                      <a:xfrm>
                        <a:off x="2260600" y="5254625"/>
                        <a:ext cx="8279607" cy="581025"/>
                      </a:xfrm>
                      <a:prstGeom prst="rect">
                        <a:avLst/>
                      </a:prstGeom>
                    </p:spPr>
                  </p:pic>
                </p:oleObj>
              </mc:Fallback>
            </mc:AlternateContent>
          </a:graphicData>
        </a:graphic>
      </p:graphicFrame>
      <p:sp>
        <p:nvSpPr>
          <p:cNvPr id="3" name="Slide Number Placeholder 2"/>
          <p:cNvSpPr>
            <a:spLocks noGrp="1"/>
          </p:cNvSpPr>
          <p:nvPr>
            <p:ph type="sldNum" sz="quarter" idx="12"/>
          </p:nvPr>
        </p:nvSpPr>
        <p:spPr/>
        <p:txBody>
          <a:bodyPr/>
          <a:lstStyle/>
          <a:p>
            <a:fld id="{B45EA367-76FE-D949-98D2-428E246BFD0D}" type="slidenum">
              <a:rPr lang="uk-UA" smtClean="0"/>
              <a:t>39</a:t>
            </a:fld>
            <a:endParaRPr lang="uk-UA" dirty="0"/>
          </a:p>
        </p:txBody>
      </p:sp>
    </p:spTree>
    <p:extLst>
      <p:ext uri="{BB962C8B-B14F-4D97-AF65-F5344CB8AC3E}">
        <p14:creationId xmlns:p14="http://schemas.microsoft.com/office/powerpoint/2010/main" val="40214720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71582E-DCFE-3A4A-8F57-B14A0320D3DB}"/>
              </a:ext>
            </a:extLst>
          </p:cNvPr>
          <p:cNvSpPr txBox="1"/>
          <p:nvPr/>
        </p:nvSpPr>
        <p:spPr>
          <a:xfrm>
            <a:off x="764721" y="3075057"/>
            <a:ext cx="10662557" cy="707886"/>
          </a:xfrm>
          <a:prstGeom prst="rect">
            <a:avLst/>
          </a:prstGeom>
          <a:noFill/>
        </p:spPr>
        <p:txBody>
          <a:bodyPr wrap="square">
            <a:spAutoFit/>
          </a:bodyPr>
          <a:lstStyle/>
          <a:p>
            <a:r>
              <a:rPr lang="en-US" sz="4000" b="1" dirty="0"/>
              <a:t>Rasch Paradigm “vs.” Lord-Birnbaum Paradigm</a:t>
            </a:r>
          </a:p>
        </p:txBody>
      </p:sp>
    </p:spTree>
    <p:extLst>
      <p:ext uri="{BB962C8B-B14F-4D97-AF65-F5344CB8AC3E}">
        <p14:creationId xmlns:p14="http://schemas.microsoft.com/office/powerpoint/2010/main" val="2119885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48B59-9FDF-6049-8050-C3CC8AFABF1F}"/>
              </a:ext>
            </a:extLst>
          </p:cNvPr>
          <p:cNvSpPr>
            <a:spLocks noGrp="1"/>
          </p:cNvSpPr>
          <p:nvPr>
            <p:ph type="title"/>
          </p:nvPr>
        </p:nvSpPr>
        <p:spPr/>
        <p:txBody>
          <a:bodyPr/>
          <a:lstStyle/>
          <a:p>
            <a:r>
              <a:rPr lang="en-US" b="1" dirty="0"/>
              <a:t>Defining Features of Rasch Paradigm</a:t>
            </a:r>
          </a:p>
        </p:txBody>
      </p:sp>
      <p:sp>
        <p:nvSpPr>
          <p:cNvPr id="3" name="Content Placeholder 2">
            <a:extLst>
              <a:ext uri="{FF2B5EF4-FFF2-40B4-BE49-F238E27FC236}">
                <a16:creationId xmlns:a16="http://schemas.microsoft.com/office/drawing/2014/main" id="{436F7A0B-9F2B-174B-9794-8169AED48E14}"/>
              </a:ext>
            </a:extLst>
          </p:cNvPr>
          <p:cNvSpPr>
            <a:spLocks noGrp="1"/>
          </p:cNvSpPr>
          <p:nvPr>
            <p:ph idx="1"/>
          </p:nvPr>
        </p:nvSpPr>
        <p:spPr/>
        <p:txBody>
          <a:bodyPr/>
          <a:lstStyle/>
          <a:p>
            <a:r>
              <a:rPr lang="en-US" dirty="0"/>
              <a:t>Strong focus on scale properties, understanding distances along the scale with respect to item locations, unit of measurement</a:t>
            </a:r>
          </a:p>
          <a:p>
            <a:pPr lvl="1"/>
            <a:r>
              <a:rPr lang="en-US" dirty="0"/>
              <a:t>Ex: item mapping (e.g., Wright Maps) see Briggs (2019)</a:t>
            </a:r>
          </a:p>
          <a:p>
            <a:r>
              <a:rPr lang="en-US" dirty="0"/>
              <a:t>Specific Objectivity: invariance of person and item comparisons</a:t>
            </a:r>
          </a:p>
          <a:p>
            <a:r>
              <a:rPr lang="en-US" dirty="0"/>
              <a:t>Requires iteration between theory, instrumentation and mathematical modeling</a:t>
            </a:r>
          </a:p>
          <a:p>
            <a:pPr lvl="1"/>
            <a:r>
              <a:rPr lang="en-US" dirty="0"/>
              <a:t>If item doesn’t fit the model, we need to understand why.</a:t>
            </a:r>
          </a:p>
          <a:p>
            <a:pPr marL="0" indent="0">
              <a:buNone/>
            </a:pPr>
            <a:endParaRPr lang="en-US" dirty="0"/>
          </a:p>
          <a:p>
            <a:endParaRPr lang="en-US" dirty="0"/>
          </a:p>
        </p:txBody>
      </p:sp>
    </p:spTree>
    <p:extLst>
      <p:ext uri="{BB962C8B-B14F-4D97-AF65-F5344CB8AC3E}">
        <p14:creationId xmlns:p14="http://schemas.microsoft.com/office/powerpoint/2010/main" val="1423375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976219-252E-CD43-9391-56BC239A5147}"/>
              </a:ext>
            </a:extLst>
          </p:cNvPr>
          <p:cNvSpPr>
            <a:spLocks noGrp="1"/>
          </p:cNvSpPr>
          <p:nvPr>
            <p:ph type="title"/>
          </p:nvPr>
        </p:nvSpPr>
        <p:spPr/>
        <p:txBody>
          <a:bodyPr/>
          <a:lstStyle/>
          <a:p>
            <a:r>
              <a:rPr lang="en-US" b="1" dirty="0"/>
              <a:t>Comparing the Paradigms</a:t>
            </a:r>
          </a:p>
        </p:txBody>
      </p:sp>
      <p:sp>
        <p:nvSpPr>
          <p:cNvPr id="5" name="Text Placeholder 4">
            <a:extLst>
              <a:ext uri="{FF2B5EF4-FFF2-40B4-BE49-F238E27FC236}">
                <a16:creationId xmlns:a16="http://schemas.microsoft.com/office/drawing/2014/main" id="{F10FAF96-B711-BD4D-AE3B-FF3F870A4E7F}"/>
              </a:ext>
            </a:extLst>
          </p:cNvPr>
          <p:cNvSpPr>
            <a:spLocks noGrp="1"/>
          </p:cNvSpPr>
          <p:nvPr>
            <p:ph type="body" idx="1"/>
          </p:nvPr>
        </p:nvSpPr>
        <p:spPr/>
        <p:txBody>
          <a:bodyPr/>
          <a:lstStyle/>
          <a:p>
            <a:r>
              <a:rPr lang="en-US" dirty="0"/>
              <a:t>Lord-Birnbaum Paradigm</a:t>
            </a:r>
          </a:p>
        </p:txBody>
      </p:sp>
      <p:sp>
        <p:nvSpPr>
          <p:cNvPr id="6" name="Content Placeholder 5">
            <a:extLst>
              <a:ext uri="{FF2B5EF4-FFF2-40B4-BE49-F238E27FC236}">
                <a16:creationId xmlns:a16="http://schemas.microsoft.com/office/drawing/2014/main" id="{CF21F6EE-00DA-7C42-B41B-EAD9FCC8073D}"/>
              </a:ext>
            </a:extLst>
          </p:cNvPr>
          <p:cNvSpPr>
            <a:spLocks noGrp="1"/>
          </p:cNvSpPr>
          <p:nvPr>
            <p:ph sz="half" idx="2"/>
          </p:nvPr>
        </p:nvSpPr>
        <p:spPr/>
        <p:txBody>
          <a:bodyPr>
            <a:normAutofit lnSpcReduction="10000"/>
          </a:bodyPr>
          <a:lstStyle/>
          <a:p>
            <a:r>
              <a:rPr lang="en-US" sz="2400" dirty="0"/>
              <a:t>Key problem to be solved with tests: to rank and classify (e.g., admission to college, earning a scholarship, job certification)</a:t>
            </a:r>
          </a:p>
          <a:p>
            <a:r>
              <a:rPr lang="en-US" sz="2400" dirty="0"/>
              <a:t>Motto: Choose the model that best fits the data</a:t>
            </a:r>
          </a:p>
          <a:p>
            <a:r>
              <a:rPr lang="en-US" sz="2400" dirty="0"/>
              <a:t>Pattern scores</a:t>
            </a:r>
          </a:p>
          <a:p>
            <a:r>
              <a:rPr lang="en-US" sz="2400" dirty="0"/>
              <a:t>Highly practical—doesn’t require strong theories linking construct to item design.</a:t>
            </a:r>
          </a:p>
        </p:txBody>
      </p:sp>
      <p:sp>
        <p:nvSpPr>
          <p:cNvPr id="7" name="Text Placeholder 6">
            <a:extLst>
              <a:ext uri="{FF2B5EF4-FFF2-40B4-BE49-F238E27FC236}">
                <a16:creationId xmlns:a16="http://schemas.microsoft.com/office/drawing/2014/main" id="{90EC15F3-E911-404B-9703-A2350F95BBB3}"/>
              </a:ext>
            </a:extLst>
          </p:cNvPr>
          <p:cNvSpPr>
            <a:spLocks noGrp="1"/>
          </p:cNvSpPr>
          <p:nvPr>
            <p:ph type="body" sz="quarter" idx="3"/>
          </p:nvPr>
        </p:nvSpPr>
        <p:spPr/>
        <p:txBody>
          <a:bodyPr/>
          <a:lstStyle/>
          <a:p>
            <a:r>
              <a:rPr lang="en-US" dirty="0"/>
              <a:t>Rasch</a:t>
            </a:r>
          </a:p>
        </p:txBody>
      </p:sp>
      <p:sp>
        <p:nvSpPr>
          <p:cNvPr id="8" name="Content Placeholder 7">
            <a:extLst>
              <a:ext uri="{FF2B5EF4-FFF2-40B4-BE49-F238E27FC236}">
                <a16:creationId xmlns:a16="http://schemas.microsoft.com/office/drawing/2014/main" id="{4E8FD0B6-73B6-0443-8C21-8B516A9F2E07}"/>
              </a:ext>
            </a:extLst>
          </p:cNvPr>
          <p:cNvSpPr>
            <a:spLocks noGrp="1"/>
          </p:cNvSpPr>
          <p:nvPr>
            <p:ph sz="quarter" idx="4"/>
          </p:nvPr>
        </p:nvSpPr>
        <p:spPr/>
        <p:txBody>
          <a:bodyPr>
            <a:normAutofit lnSpcReduction="10000"/>
          </a:bodyPr>
          <a:lstStyle/>
          <a:p>
            <a:r>
              <a:rPr lang="en-US" sz="2400" dirty="0"/>
              <a:t>Key problem to be solved with tests: to express differences of magnitude (e.g., how much has a student grown? How much more has group A learned compared to group B?)</a:t>
            </a:r>
          </a:p>
          <a:p>
            <a:r>
              <a:rPr lang="en-US" sz="2400" dirty="0"/>
              <a:t>Motto: Design a test so/until it shows adequate fit to the model</a:t>
            </a:r>
          </a:p>
          <a:p>
            <a:r>
              <a:rPr lang="en-US" sz="2400" dirty="0"/>
              <a:t>Sum scores</a:t>
            </a:r>
          </a:p>
          <a:p>
            <a:r>
              <a:rPr lang="en-US" sz="2400" dirty="0"/>
              <a:t>Strive for parsimony</a:t>
            </a:r>
          </a:p>
        </p:txBody>
      </p:sp>
      <p:sp>
        <p:nvSpPr>
          <p:cNvPr id="9" name="TextBox 8">
            <a:extLst>
              <a:ext uri="{FF2B5EF4-FFF2-40B4-BE49-F238E27FC236}">
                <a16:creationId xmlns:a16="http://schemas.microsoft.com/office/drawing/2014/main" id="{F713EF62-5D58-DD44-B004-727307015C3D}"/>
              </a:ext>
            </a:extLst>
          </p:cNvPr>
          <p:cNvSpPr txBox="1"/>
          <p:nvPr/>
        </p:nvSpPr>
        <p:spPr>
          <a:xfrm>
            <a:off x="672987" y="6123543"/>
            <a:ext cx="10998426" cy="369332"/>
          </a:xfrm>
          <a:prstGeom prst="rect">
            <a:avLst/>
          </a:prstGeom>
          <a:noFill/>
          <a:ln>
            <a:solidFill>
              <a:schemeClr val="accent1"/>
            </a:solidFill>
          </a:ln>
        </p:spPr>
        <p:txBody>
          <a:bodyPr wrap="square" rtlCol="0">
            <a:spAutoFit/>
          </a:bodyPr>
          <a:lstStyle/>
          <a:p>
            <a:r>
              <a:rPr lang="en-US" dirty="0"/>
              <a:t>Invariance is key to both paradigms, it is simply a more stringent form in the Rasch Model. </a:t>
            </a:r>
          </a:p>
        </p:txBody>
      </p:sp>
    </p:spTree>
    <p:extLst>
      <p:ext uri="{BB962C8B-B14F-4D97-AF65-F5344CB8AC3E}">
        <p14:creationId xmlns:p14="http://schemas.microsoft.com/office/powerpoint/2010/main" val="4093886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F8CA-D162-0647-84EC-C61987D48806}"/>
              </a:ext>
            </a:extLst>
          </p:cNvPr>
          <p:cNvSpPr>
            <a:spLocks noGrp="1"/>
          </p:cNvSpPr>
          <p:nvPr>
            <p:ph type="title"/>
          </p:nvPr>
        </p:nvSpPr>
        <p:spPr/>
        <p:txBody>
          <a:bodyPr/>
          <a:lstStyle/>
          <a:p>
            <a:r>
              <a:rPr lang="en-US" b="1" dirty="0"/>
              <a:t>Some Last Thoughts on Rasch Paradigm</a:t>
            </a:r>
          </a:p>
        </p:txBody>
      </p:sp>
      <p:sp>
        <p:nvSpPr>
          <p:cNvPr id="3" name="Content Placeholder 2">
            <a:extLst>
              <a:ext uri="{FF2B5EF4-FFF2-40B4-BE49-F238E27FC236}">
                <a16:creationId xmlns:a16="http://schemas.microsoft.com/office/drawing/2014/main" id="{5D71A75A-8956-A340-985D-FB8FA8DD9DEA}"/>
              </a:ext>
            </a:extLst>
          </p:cNvPr>
          <p:cNvSpPr>
            <a:spLocks noGrp="1"/>
          </p:cNvSpPr>
          <p:nvPr>
            <p:ph idx="1"/>
          </p:nvPr>
        </p:nvSpPr>
        <p:spPr/>
        <p:txBody>
          <a:bodyPr>
            <a:normAutofit fontScale="85000" lnSpcReduction="10000"/>
          </a:bodyPr>
          <a:lstStyle/>
          <a:p>
            <a:r>
              <a:rPr lang="en-US" dirty="0"/>
              <a:t>Scale properties matter (even if this seems invisible to us as researchers)! See, for example ER, pp. 152-156.</a:t>
            </a:r>
          </a:p>
          <a:p>
            <a:r>
              <a:rPr lang="en-US" dirty="0"/>
              <a:t>If the goal is to measure growth with respect to magnitude (how MUCH), then it seems critical to have an interval scale, and its seems important to have test items that fit the RM. </a:t>
            </a:r>
          </a:p>
          <a:p>
            <a:r>
              <a:rPr lang="en-US" dirty="0"/>
              <a:t>But if the goal is to use a test to rank and classify, and if this is to be done under the time-sensitive constraint of a bank of items, then more complex IRT models make it easier to design tests that can maximize classification accuracy and consistency.</a:t>
            </a:r>
          </a:p>
          <a:p>
            <a:r>
              <a:rPr lang="en-US" dirty="0"/>
              <a:t>The RM is no panacea. (1) only requires constant discrimination, not high discrimination (2) to make the analogy to additive conjoint measurement should require theories that explain variability in both item difficulty and person ability in terms of manipulable design features. These are in short supply!</a:t>
            </a:r>
          </a:p>
        </p:txBody>
      </p:sp>
    </p:spTree>
    <p:extLst>
      <p:ext uri="{BB962C8B-B14F-4D97-AF65-F5344CB8AC3E}">
        <p14:creationId xmlns:p14="http://schemas.microsoft.com/office/powerpoint/2010/main" val="1248049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284D6E-16A5-6A45-93DE-7A5ED19F360C}"/>
              </a:ext>
            </a:extLst>
          </p:cNvPr>
          <p:cNvSpPr>
            <a:spLocks noGrp="1"/>
          </p:cNvSpPr>
          <p:nvPr>
            <p:ph/>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4400" dirty="0"/>
              <a:t>Extra</a:t>
            </a:r>
          </a:p>
        </p:txBody>
      </p:sp>
    </p:spTree>
    <p:extLst>
      <p:ext uri="{BB962C8B-B14F-4D97-AF65-F5344CB8AC3E}">
        <p14:creationId xmlns:p14="http://schemas.microsoft.com/office/powerpoint/2010/main" val="35631725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71252-7858-5646-ADE8-EAF571CCA5A5}"/>
              </a:ext>
            </a:extLst>
          </p:cNvPr>
          <p:cNvSpPr>
            <a:spLocks noGrp="1"/>
          </p:cNvSpPr>
          <p:nvPr>
            <p:ph type="title"/>
          </p:nvPr>
        </p:nvSpPr>
        <p:spPr/>
        <p:txBody>
          <a:bodyPr>
            <a:normAutofit/>
          </a:bodyPr>
          <a:lstStyle/>
          <a:p>
            <a:r>
              <a:rPr lang="en-US" sz="4000" b="1" dirty="0"/>
              <a:t>Discrimination and Variance of Theta are Two Sides of the Same Coin</a:t>
            </a:r>
          </a:p>
        </p:txBody>
      </p:sp>
      <p:graphicFrame>
        <p:nvGraphicFramePr>
          <p:cNvPr id="6" name="Object 2">
            <a:extLst>
              <a:ext uri="{FF2B5EF4-FFF2-40B4-BE49-F238E27FC236}">
                <a16:creationId xmlns:a16="http://schemas.microsoft.com/office/drawing/2014/main" id="{06368F52-46AE-364C-BFF8-0506C241C473}"/>
              </a:ext>
            </a:extLst>
          </p:cNvPr>
          <p:cNvGraphicFramePr>
            <a:graphicFrameLocks noGrp="1" noChangeAspect="1"/>
          </p:cNvGraphicFramePr>
          <p:nvPr>
            <p:ph sz="half" idx="1"/>
          </p:nvPr>
        </p:nvGraphicFramePr>
        <p:xfrm>
          <a:off x="1052343" y="2067380"/>
          <a:ext cx="3784341" cy="850917"/>
        </p:xfrm>
        <a:graphic>
          <a:graphicData uri="http://schemas.openxmlformats.org/presentationml/2006/ole">
            <mc:AlternateContent xmlns:mc="http://schemas.openxmlformats.org/markup-compatibility/2006">
              <mc:Choice xmlns:v="urn:schemas-microsoft-com:vml" Requires="v">
                <p:oleObj name="Equation" r:id="rId2" imgW="2146300" imgH="482600" progId="Equation.DSMT4">
                  <p:embed/>
                </p:oleObj>
              </mc:Choice>
              <mc:Fallback>
                <p:oleObj name="Equation" r:id="rId2" imgW="2146300" imgH="482600" progId="Equation.DSMT4">
                  <p:embed/>
                  <p:pic>
                    <p:nvPicPr>
                      <p:cNvPr id="6" name="Object 2">
                        <a:extLst>
                          <a:ext uri="{FF2B5EF4-FFF2-40B4-BE49-F238E27FC236}">
                            <a16:creationId xmlns:a16="http://schemas.microsoft.com/office/drawing/2014/main" id="{06368F52-46AE-364C-BFF8-0506C241C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343" y="2067380"/>
                        <a:ext cx="3784341" cy="85091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7" name="TextBox 6">
            <a:extLst>
              <a:ext uri="{FF2B5EF4-FFF2-40B4-BE49-F238E27FC236}">
                <a16:creationId xmlns:a16="http://schemas.microsoft.com/office/drawing/2014/main" id="{31DAD3DA-0E33-734C-BBDC-40E5A948B68F}"/>
              </a:ext>
            </a:extLst>
          </p:cNvPr>
          <p:cNvSpPr txBox="1"/>
          <p:nvPr/>
        </p:nvSpPr>
        <p:spPr>
          <a:xfrm>
            <a:off x="838200" y="3249038"/>
            <a:ext cx="4589834" cy="2862322"/>
          </a:xfrm>
          <a:prstGeom prst="rect">
            <a:avLst/>
          </a:prstGeom>
          <a:noFill/>
        </p:spPr>
        <p:txBody>
          <a:bodyPr wrap="square" rtlCol="0">
            <a:spAutoFit/>
          </a:bodyPr>
          <a:lstStyle/>
          <a:p>
            <a:r>
              <a:rPr lang="en-US" dirty="0"/>
              <a:t>Simulation: </a:t>
            </a:r>
          </a:p>
          <a:p>
            <a:endParaRPr lang="en-US" dirty="0"/>
          </a:p>
          <a:p>
            <a:r>
              <a:rPr lang="en-US" dirty="0"/>
              <a:t>Generate 500 by 25 item response matrices from (1) a std normal theta distribution, with (2) uniform item difficulty distribution from -3 to 3 in .25 increments.</a:t>
            </a:r>
          </a:p>
          <a:p>
            <a:endParaRPr lang="en-US" dirty="0"/>
          </a:p>
          <a:p>
            <a:r>
              <a:rPr lang="en-US" dirty="0"/>
              <a:t>For each matrix, let the value of the common discrimination parameter range from .5 to 1.5 in increments of .05</a:t>
            </a:r>
          </a:p>
        </p:txBody>
      </p:sp>
      <p:pic>
        <p:nvPicPr>
          <p:cNvPr id="13" name="Content Placeholder 12">
            <a:extLst>
              <a:ext uri="{FF2B5EF4-FFF2-40B4-BE49-F238E27FC236}">
                <a16:creationId xmlns:a16="http://schemas.microsoft.com/office/drawing/2014/main" id="{78F28436-8025-B346-A23F-255A19867914}"/>
              </a:ext>
            </a:extLst>
          </p:cNvPr>
          <p:cNvPicPr>
            <a:picLocks noGrp="1" noChangeAspect="1"/>
          </p:cNvPicPr>
          <p:nvPr>
            <p:ph sz="half" idx="2"/>
          </p:nvPr>
        </p:nvPicPr>
        <p:blipFill>
          <a:blip r:embed="rId4"/>
          <a:stretch>
            <a:fillRect/>
          </a:stretch>
        </p:blipFill>
        <p:spPr>
          <a:xfrm>
            <a:off x="5428034" y="2492838"/>
            <a:ext cx="6046631" cy="3210128"/>
          </a:xfr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AD25B6B-3DB7-7A4B-B0E9-39DF9FD0EE9A}"/>
                  </a:ext>
                </a:extLst>
              </p:cNvPr>
              <p:cNvSpPr txBox="1"/>
              <p:nvPr/>
            </p:nvSpPr>
            <p:spPr>
              <a:xfrm>
                <a:off x="3735421" y="6111360"/>
                <a:ext cx="7976681" cy="646331"/>
              </a:xfrm>
              <a:prstGeom prst="rect">
                <a:avLst/>
              </a:prstGeom>
              <a:noFill/>
              <a:ln>
                <a:solidFill>
                  <a:srgbClr val="0070C0"/>
                </a:solidFill>
              </a:ln>
            </p:spPr>
            <p:txBody>
              <a:bodyPr wrap="square" rtlCol="0">
                <a:spAutoFit/>
              </a:bodyPr>
              <a:lstStyle/>
              <a:p>
                <a:r>
                  <a:rPr lang="en-US" dirty="0"/>
                  <a:t>Upshot: If </a:t>
                </a:r>
                <a14:m>
                  <m:oMath xmlns:m="http://schemas.openxmlformats.org/officeDocument/2006/math">
                    <m:r>
                      <a:rPr lang="en-US" b="0" i="1" smtClean="0">
                        <a:latin typeface="Cambria Math" panose="02040503050406030204" pitchFamily="18" charset="0"/>
                      </a:rPr>
                      <m:t>𝛼</m:t>
                    </m:r>
                  </m:oMath>
                </a14:m>
                <a:r>
                  <a:rPr lang="en-US" dirty="0"/>
                  <a:t> is constrained to be 1, the ability of the instrument to discriminate between respondents will be evident in the variability of theta. </a:t>
                </a:r>
              </a:p>
            </p:txBody>
          </p:sp>
        </mc:Choice>
        <mc:Fallback xmlns="">
          <p:sp>
            <p:nvSpPr>
              <p:cNvPr id="14" name="TextBox 13">
                <a:extLst>
                  <a:ext uri="{FF2B5EF4-FFF2-40B4-BE49-F238E27FC236}">
                    <a16:creationId xmlns:a16="http://schemas.microsoft.com/office/drawing/2014/main" id="{1AD25B6B-3DB7-7A4B-B0E9-39DF9FD0EE9A}"/>
                  </a:ext>
                </a:extLst>
              </p:cNvPr>
              <p:cNvSpPr txBox="1">
                <a:spLocks noRot="1" noChangeAspect="1" noMove="1" noResize="1" noEditPoints="1" noAdjustHandles="1" noChangeArrowheads="1" noChangeShapeType="1" noTextEdit="1"/>
              </p:cNvSpPr>
              <p:nvPr/>
            </p:nvSpPr>
            <p:spPr>
              <a:xfrm>
                <a:off x="3735421" y="6111360"/>
                <a:ext cx="7976681" cy="646331"/>
              </a:xfrm>
              <a:prstGeom prst="rect">
                <a:avLst/>
              </a:prstGeom>
              <a:blipFill>
                <a:blip r:embed="rId6"/>
                <a:stretch>
                  <a:fillRect l="-635" t="-1887" b="-11321"/>
                </a:stretch>
              </a:blipFill>
              <a:ln>
                <a:solidFill>
                  <a:srgbClr val="0070C0"/>
                </a:solidFill>
              </a:ln>
            </p:spPr>
            <p:txBody>
              <a:bodyPr/>
              <a:lstStyle/>
              <a:p>
                <a:r>
                  <a:rPr lang="en-US">
                    <a:noFill/>
                  </a:rPr>
                  <a:t> </a:t>
                </a:r>
              </a:p>
            </p:txBody>
          </p:sp>
        </mc:Fallback>
      </mc:AlternateContent>
    </p:spTree>
    <p:extLst>
      <p:ext uri="{BB962C8B-B14F-4D97-AF65-F5344CB8AC3E}">
        <p14:creationId xmlns:p14="http://schemas.microsoft.com/office/powerpoint/2010/main" val="4956671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AFF6AD1-124A-5144-8116-A5C843624180}" type="slidenum">
              <a:rPr lang="en-US" sz="1400"/>
              <a:pPr eaLnBrk="1" hangingPunct="1"/>
              <a:t>46</a:t>
            </a:fld>
            <a:endParaRPr lang="en-US" sz="1400" dirty="0"/>
          </a:p>
        </p:txBody>
      </p:sp>
      <p:sp>
        <p:nvSpPr>
          <p:cNvPr id="27650" name="Rectangle 2"/>
          <p:cNvSpPr>
            <a:spLocks noGrp="1" noChangeArrowheads="1"/>
          </p:cNvSpPr>
          <p:nvPr>
            <p:ph type="title"/>
          </p:nvPr>
        </p:nvSpPr>
        <p:spPr>
          <a:xfrm>
            <a:off x="1643064" y="274638"/>
            <a:ext cx="8747125" cy="1143000"/>
          </a:xfrm>
        </p:spPr>
        <p:txBody>
          <a:bodyPr>
            <a:normAutofit/>
          </a:bodyPr>
          <a:lstStyle/>
          <a:p>
            <a:pPr eaLnBrk="1" hangingPunct="1"/>
            <a:r>
              <a:rPr lang="en-US" sz="3600" b="1" dirty="0">
                <a:latin typeface="Arial" charset="0"/>
                <a:ea typeface="ＭＳ Ｐゴシック" charset="0"/>
                <a:cs typeface="ＭＳ Ｐゴシック" charset="0"/>
              </a:rPr>
              <a:t>There are many ways to express the same model mathematically</a:t>
            </a:r>
          </a:p>
        </p:txBody>
      </p:sp>
      <p:sp>
        <p:nvSpPr>
          <p:cNvPr id="27651" name="Text Box 5"/>
          <p:cNvSpPr txBox="1">
            <a:spLocks noChangeArrowheads="1"/>
          </p:cNvSpPr>
          <p:nvPr/>
        </p:nvSpPr>
        <p:spPr bwMode="auto">
          <a:xfrm>
            <a:off x="2289176" y="2290763"/>
            <a:ext cx="7699375" cy="1739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3600" b="1" dirty="0"/>
              <a:t>How many distinct ways can you come up with to write out an expression for the Rasch Model?</a:t>
            </a:r>
          </a:p>
        </p:txBody>
      </p:sp>
      <p:sp>
        <p:nvSpPr>
          <p:cNvPr id="27652" name="Text Box 6"/>
          <p:cNvSpPr txBox="1">
            <a:spLocks noChangeArrowheads="1"/>
          </p:cNvSpPr>
          <p:nvPr/>
        </p:nvSpPr>
        <p:spPr bwMode="auto">
          <a:xfrm>
            <a:off x="2149476" y="5305426"/>
            <a:ext cx="77120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dirty="0"/>
              <a:t>Try this before going on the next slide…</a:t>
            </a:r>
          </a:p>
        </p:txBody>
      </p:sp>
    </p:spTree>
    <p:extLst>
      <p:ext uri="{BB962C8B-B14F-4D97-AF65-F5344CB8AC3E}">
        <p14:creationId xmlns:p14="http://schemas.microsoft.com/office/powerpoint/2010/main" val="1498272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6"/>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B3F75DF-59FF-2540-BA6D-912E7A1B06E4}" type="slidenum">
              <a:rPr lang="en-US" sz="1400"/>
              <a:pPr eaLnBrk="1" hangingPunct="1"/>
              <a:t>47</a:t>
            </a:fld>
            <a:endParaRPr lang="en-US" sz="1400" dirty="0"/>
          </a:p>
        </p:txBody>
      </p:sp>
      <p:graphicFrame>
        <p:nvGraphicFramePr>
          <p:cNvPr id="29698" name="Object 2"/>
          <p:cNvGraphicFramePr>
            <a:graphicFrameLocks noGrp="1" noChangeAspect="1"/>
          </p:cNvGraphicFramePr>
          <p:nvPr>
            <p:ph sz="half" idx="1"/>
          </p:nvPr>
        </p:nvGraphicFramePr>
        <p:xfrm>
          <a:off x="1954213" y="579438"/>
          <a:ext cx="3841750" cy="709612"/>
        </p:xfrm>
        <a:graphic>
          <a:graphicData uri="http://schemas.openxmlformats.org/presentationml/2006/ole">
            <mc:AlternateContent xmlns:mc="http://schemas.openxmlformats.org/markup-compatibility/2006">
              <mc:Choice xmlns:v="urn:schemas-microsoft-com:vml" Requires="v">
                <p:oleObj name="Equation" r:id="rId3" imgW="2336800" imgH="431800" progId="Equation.DSMT4">
                  <p:embed/>
                </p:oleObj>
              </mc:Choice>
              <mc:Fallback>
                <p:oleObj name="Equation" r:id="rId3" imgW="2336800" imgH="431800" progId="Equation.DSMT4">
                  <p:embed/>
                  <p:pic>
                    <p:nvPicPr>
                      <p:cNvPr id="296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213" y="579438"/>
                        <a:ext cx="3841750" cy="7096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graphicFrame>
        <p:nvGraphicFramePr>
          <p:cNvPr id="29699" name="Object 3"/>
          <p:cNvGraphicFramePr>
            <a:graphicFrameLocks noGrp="1" noChangeAspect="1"/>
          </p:cNvGraphicFramePr>
          <p:nvPr>
            <p:ph sz="half" idx="2"/>
          </p:nvPr>
        </p:nvGraphicFramePr>
        <p:xfrm>
          <a:off x="6127751" y="582614"/>
          <a:ext cx="3706813" cy="750887"/>
        </p:xfrm>
        <a:graphic>
          <a:graphicData uri="http://schemas.openxmlformats.org/presentationml/2006/ole">
            <mc:AlternateContent xmlns:mc="http://schemas.openxmlformats.org/markup-compatibility/2006">
              <mc:Choice xmlns:v="urn:schemas-microsoft-com:vml" Requires="v">
                <p:oleObj name="Equation" r:id="rId5" imgW="2133600" imgH="431800" progId="Equation.DSMT4">
                  <p:embed/>
                </p:oleObj>
              </mc:Choice>
              <mc:Fallback>
                <p:oleObj name="Equation" r:id="rId5" imgW="2133600" imgH="431800" progId="Equation.DSMT4">
                  <p:embed/>
                  <p:pic>
                    <p:nvPicPr>
                      <p:cNvPr id="2969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7751" y="582614"/>
                        <a:ext cx="3706813" cy="75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graphicFrame>
        <p:nvGraphicFramePr>
          <p:cNvPr id="29700" name="Object 4"/>
          <p:cNvGraphicFramePr>
            <a:graphicFrameLocks noChangeAspect="1"/>
          </p:cNvGraphicFramePr>
          <p:nvPr/>
        </p:nvGraphicFramePr>
        <p:xfrm>
          <a:off x="1906589" y="1808164"/>
          <a:ext cx="3944937" cy="788987"/>
        </p:xfrm>
        <a:graphic>
          <a:graphicData uri="http://schemas.openxmlformats.org/presentationml/2006/ole">
            <mc:AlternateContent xmlns:mc="http://schemas.openxmlformats.org/markup-compatibility/2006">
              <mc:Choice xmlns:v="urn:schemas-microsoft-com:vml" Requires="v">
                <p:oleObj name="Equation" r:id="rId7" imgW="2159000" imgH="431800" progId="Equation.DSMT4">
                  <p:embed/>
                </p:oleObj>
              </mc:Choice>
              <mc:Fallback>
                <p:oleObj name="Equation" r:id="rId7" imgW="2159000" imgH="431800" progId="Equation.DSMT4">
                  <p:embed/>
                  <p:pic>
                    <p:nvPicPr>
                      <p:cNvPr id="2970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6589" y="1808164"/>
                        <a:ext cx="3944937" cy="7889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1" name="Object 5"/>
          <p:cNvGraphicFramePr>
            <a:graphicFrameLocks noChangeAspect="1"/>
          </p:cNvGraphicFramePr>
          <p:nvPr/>
        </p:nvGraphicFramePr>
        <p:xfrm>
          <a:off x="1816101" y="4284664"/>
          <a:ext cx="4003675" cy="731837"/>
        </p:xfrm>
        <a:graphic>
          <a:graphicData uri="http://schemas.openxmlformats.org/presentationml/2006/ole">
            <mc:AlternateContent xmlns:mc="http://schemas.openxmlformats.org/markup-compatibility/2006">
              <mc:Choice xmlns:v="urn:schemas-microsoft-com:vml" Requires="v">
                <p:oleObj name="Equation" r:id="rId9" imgW="2362200" imgH="431800" progId="Equation.DSMT4">
                  <p:embed/>
                </p:oleObj>
              </mc:Choice>
              <mc:Fallback>
                <p:oleObj name="Equation" r:id="rId9" imgW="2362200" imgH="431800" progId="Equation.DSMT4">
                  <p:embed/>
                  <p:pic>
                    <p:nvPicPr>
                      <p:cNvPr id="2970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6101" y="4284664"/>
                        <a:ext cx="4003675" cy="73183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2" name="Object 6"/>
          <p:cNvGraphicFramePr>
            <a:graphicFrameLocks noChangeAspect="1"/>
          </p:cNvGraphicFramePr>
          <p:nvPr/>
        </p:nvGraphicFramePr>
        <p:xfrm>
          <a:off x="1920876" y="3063875"/>
          <a:ext cx="3838575" cy="712788"/>
        </p:xfrm>
        <a:graphic>
          <a:graphicData uri="http://schemas.openxmlformats.org/presentationml/2006/ole">
            <mc:AlternateContent xmlns:mc="http://schemas.openxmlformats.org/markup-compatibility/2006">
              <mc:Choice xmlns:v="urn:schemas-microsoft-com:vml" Requires="v">
                <p:oleObj name="Equation" r:id="rId11" imgW="2324100" imgH="431800" progId="Equation.DSMT4">
                  <p:embed/>
                </p:oleObj>
              </mc:Choice>
              <mc:Fallback>
                <p:oleObj name="Equation" r:id="rId11" imgW="2324100" imgH="431800" progId="Equation.DSMT4">
                  <p:embed/>
                  <p:pic>
                    <p:nvPicPr>
                      <p:cNvPr id="2970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20876" y="3063875"/>
                        <a:ext cx="3838575" cy="7127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3" name="Object 7"/>
          <p:cNvGraphicFramePr>
            <a:graphicFrameLocks noChangeAspect="1"/>
          </p:cNvGraphicFramePr>
          <p:nvPr/>
        </p:nvGraphicFramePr>
        <p:xfrm>
          <a:off x="4953000" y="2146300"/>
          <a:ext cx="914400" cy="198438"/>
        </p:xfrm>
        <a:graphic>
          <a:graphicData uri="http://schemas.openxmlformats.org/presentationml/2006/ole">
            <mc:AlternateContent xmlns:mc="http://schemas.openxmlformats.org/markup-compatibility/2006">
              <mc:Choice xmlns:v="urn:schemas-microsoft-com:vml" Requires="v">
                <p:oleObj name="Equation" r:id="rId13" imgW="435285" imgH="677109" progId="Equation.DSMT4">
                  <p:embed/>
                </p:oleObj>
              </mc:Choice>
              <mc:Fallback>
                <p:oleObj name="Equation" r:id="rId13" imgW="435285" imgH="677109" progId="Equation.DSMT4">
                  <p:embed/>
                  <p:pic>
                    <p:nvPicPr>
                      <p:cNvPr id="29703"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53000" y="2146300"/>
                        <a:ext cx="914400" cy="198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4" name="Object 8"/>
          <p:cNvGraphicFramePr>
            <a:graphicFrameLocks noChangeAspect="1"/>
          </p:cNvGraphicFramePr>
          <p:nvPr/>
        </p:nvGraphicFramePr>
        <p:xfrm>
          <a:off x="5940426" y="4175125"/>
          <a:ext cx="4156075" cy="755650"/>
        </p:xfrm>
        <a:graphic>
          <a:graphicData uri="http://schemas.openxmlformats.org/presentationml/2006/ole">
            <mc:AlternateContent xmlns:mc="http://schemas.openxmlformats.org/markup-compatibility/2006">
              <mc:Choice xmlns:v="urn:schemas-microsoft-com:vml" Requires="v">
                <p:oleObj name="Equation" r:id="rId15" imgW="2374900" imgH="431800" progId="Equation.DSMT4">
                  <p:embed/>
                </p:oleObj>
              </mc:Choice>
              <mc:Fallback>
                <p:oleObj name="Equation" r:id="rId15" imgW="2374900" imgH="431800" progId="Equation.DSMT4">
                  <p:embed/>
                  <p:pic>
                    <p:nvPicPr>
                      <p:cNvPr id="29704"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40426" y="4175125"/>
                        <a:ext cx="4156075" cy="7556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5" name="Object 9"/>
          <p:cNvGraphicFramePr>
            <a:graphicFrameLocks noChangeAspect="1"/>
          </p:cNvGraphicFramePr>
          <p:nvPr/>
        </p:nvGraphicFramePr>
        <p:xfrm>
          <a:off x="6350001" y="1789113"/>
          <a:ext cx="3370263" cy="842962"/>
        </p:xfrm>
        <a:graphic>
          <a:graphicData uri="http://schemas.openxmlformats.org/presentationml/2006/ole">
            <mc:AlternateContent xmlns:mc="http://schemas.openxmlformats.org/markup-compatibility/2006">
              <mc:Choice xmlns:v="urn:schemas-microsoft-com:vml" Requires="v">
                <p:oleObj name="Equation" r:id="rId17" imgW="1930400" imgH="482600" progId="Equation.DSMT4">
                  <p:embed/>
                </p:oleObj>
              </mc:Choice>
              <mc:Fallback>
                <p:oleObj name="Equation" r:id="rId17" imgW="1930400" imgH="482600" progId="Equation.DSMT4">
                  <p:embed/>
                  <p:pic>
                    <p:nvPicPr>
                      <p:cNvPr id="29705"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50001" y="1789113"/>
                        <a:ext cx="3370263" cy="84296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6" name="Object 10"/>
          <p:cNvGraphicFramePr>
            <a:graphicFrameLocks noChangeAspect="1"/>
          </p:cNvGraphicFramePr>
          <p:nvPr/>
        </p:nvGraphicFramePr>
        <p:xfrm>
          <a:off x="6462713" y="2935289"/>
          <a:ext cx="2874962" cy="866775"/>
        </p:xfrm>
        <a:graphic>
          <a:graphicData uri="http://schemas.openxmlformats.org/presentationml/2006/ole">
            <mc:AlternateContent xmlns:mc="http://schemas.openxmlformats.org/markup-compatibility/2006">
              <mc:Choice xmlns:v="urn:schemas-microsoft-com:vml" Requires="v">
                <p:oleObj name="Equation" r:id="rId19" imgW="1600200" imgH="482600" progId="Equation.DSMT4">
                  <p:embed/>
                </p:oleObj>
              </mc:Choice>
              <mc:Fallback>
                <p:oleObj name="Equation" r:id="rId19" imgW="1600200" imgH="482600" progId="Equation.DSMT4">
                  <p:embed/>
                  <p:pic>
                    <p:nvPicPr>
                      <p:cNvPr id="29706"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62713" y="2935289"/>
                        <a:ext cx="2874962" cy="866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7" name="Object 11"/>
          <p:cNvGraphicFramePr>
            <a:graphicFrameLocks noChangeAspect="1"/>
          </p:cNvGraphicFramePr>
          <p:nvPr/>
        </p:nvGraphicFramePr>
        <p:xfrm>
          <a:off x="2030414" y="5449889"/>
          <a:ext cx="3576637" cy="661987"/>
        </p:xfrm>
        <a:graphic>
          <a:graphicData uri="http://schemas.openxmlformats.org/presentationml/2006/ole">
            <mc:AlternateContent xmlns:mc="http://schemas.openxmlformats.org/markup-compatibility/2006">
              <mc:Choice xmlns:v="urn:schemas-microsoft-com:vml" Requires="v">
                <p:oleObj name="Equation" r:id="rId21" imgW="2540000" imgH="469900" progId="Equation.DSMT4">
                  <p:embed/>
                </p:oleObj>
              </mc:Choice>
              <mc:Fallback>
                <p:oleObj name="Equation" r:id="rId21" imgW="2540000" imgH="469900" progId="Equation.DSMT4">
                  <p:embed/>
                  <p:pic>
                    <p:nvPicPr>
                      <p:cNvPr id="29707"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30414" y="5449889"/>
                        <a:ext cx="3576637" cy="6619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9708" name="Object 12"/>
          <p:cNvGraphicFramePr>
            <a:graphicFrameLocks noChangeAspect="1"/>
          </p:cNvGraphicFramePr>
          <p:nvPr/>
        </p:nvGraphicFramePr>
        <p:xfrm>
          <a:off x="5888039" y="5454651"/>
          <a:ext cx="3883025" cy="485775"/>
        </p:xfrm>
        <a:graphic>
          <a:graphicData uri="http://schemas.openxmlformats.org/presentationml/2006/ole">
            <mc:AlternateContent xmlns:mc="http://schemas.openxmlformats.org/markup-compatibility/2006">
              <mc:Choice xmlns:v="urn:schemas-microsoft-com:vml" Requires="v">
                <p:oleObj name="Equation" r:id="rId23" imgW="1828800" imgH="228600" progId="Equation.DSMT4">
                  <p:embed/>
                </p:oleObj>
              </mc:Choice>
              <mc:Fallback>
                <p:oleObj name="Equation" r:id="rId23" imgW="1828800" imgH="228600" progId="Equation.DSMT4">
                  <p:embed/>
                  <p:pic>
                    <p:nvPicPr>
                      <p:cNvPr id="29708"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88039" y="5454651"/>
                        <a:ext cx="3883025" cy="485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4397594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6"/>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C5C8D45-AD66-7845-81CD-A8F995E41F4C}" type="slidenum">
              <a:rPr lang="en-US" sz="1400"/>
              <a:pPr eaLnBrk="1" hangingPunct="1"/>
              <a:t>48</a:t>
            </a:fld>
            <a:endParaRPr lang="en-US" sz="1400" dirty="0"/>
          </a:p>
        </p:txBody>
      </p:sp>
      <p:graphicFrame>
        <p:nvGraphicFramePr>
          <p:cNvPr id="31746" name="Object 2"/>
          <p:cNvGraphicFramePr>
            <a:graphicFrameLocks noGrp="1" noChangeAspect="1"/>
          </p:cNvGraphicFramePr>
          <p:nvPr>
            <p:ph sz="half" idx="1"/>
          </p:nvPr>
        </p:nvGraphicFramePr>
        <p:xfrm>
          <a:off x="3613150" y="1096963"/>
          <a:ext cx="3841750" cy="709612"/>
        </p:xfrm>
        <a:graphic>
          <a:graphicData uri="http://schemas.openxmlformats.org/presentationml/2006/ole">
            <mc:AlternateContent xmlns:mc="http://schemas.openxmlformats.org/markup-compatibility/2006">
              <mc:Choice xmlns:v="urn:schemas-microsoft-com:vml" Requires="v">
                <p:oleObj name="Equation" r:id="rId3" imgW="2336800" imgH="431800" progId="Equation.DSMT4">
                  <p:embed/>
                </p:oleObj>
              </mc:Choice>
              <mc:Fallback>
                <p:oleObj name="Equation" r:id="rId3" imgW="2336800" imgH="431800" progId="Equation.DSMT4">
                  <p:embed/>
                  <p:pic>
                    <p:nvPicPr>
                      <p:cNvPr id="317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3150" y="1096963"/>
                        <a:ext cx="3841750" cy="7096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graphicFrame>
        <p:nvGraphicFramePr>
          <p:cNvPr id="31747" name="Object 3"/>
          <p:cNvGraphicFramePr>
            <a:graphicFrameLocks noGrp="1" noChangeAspect="1"/>
          </p:cNvGraphicFramePr>
          <p:nvPr>
            <p:ph sz="half" idx="2"/>
          </p:nvPr>
        </p:nvGraphicFramePr>
        <p:xfrm>
          <a:off x="3670301" y="2271714"/>
          <a:ext cx="3706813" cy="750887"/>
        </p:xfrm>
        <a:graphic>
          <a:graphicData uri="http://schemas.openxmlformats.org/presentationml/2006/ole">
            <mc:AlternateContent xmlns:mc="http://schemas.openxmlformats.org/markup-compatibility/2006">
              <mc:Choice xmlns:v="urn:schemas-microsoft-com:vml" Requires="v">
                <p:oleObj name="Equation" r:id="rId5" imgW="2133600" imgH="431800" progId="Equation.DSMT4">
                  <p:embed/>
                </p:oleObj>
              </mc:Choice>
              <mc:Fallback>
                <p:oleObj name="Equation" r:id="rId5" imgW="2133600" imgH="431800" progId="Equation.DSMT4">
                  <p:embed/>
                  <p:pic>
                    <p:nvPicPr>
                      <p:cNvPr id="3174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0301" y="2271714"/>
                        <a:ext cx="3706813" cy="75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31748" name="Text Box 13"/>
          <p:cNvSpPr txBox="1">
            <a:spLocks noChangeArrowheads="1"/>
          </p:cNvSpPr>
          <p:nvPr/>
        </p:nvSpPr>
        <p:spPr bwMode="auto">
          <a:xfrm>
            <a:off x="2328864" y="3211513"/>
            <a:ext cx="7291387" cy="3416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dirty="0"/>
              <a:t>There are two differences between these equations:</a:t>
            </a:r>
          </a:p>
          <a:p>
            <a:pPr eaLnBrk="1" hangingPunct="1">
              <a:spcBef>
                <a:spcPct val="50000"/>
              </a:spcBef>
              <a:buFontTx/>
              <a:buAutoNum type="arabicParenR"/>
            </a:pPr>
            <a:r>
              <a:rPr lang="en-US" dirty="0"/>
              <a:t>In the second equation, we assume implicitly the discrimination parameter (</a:t>
            </a:r>
            <a:r>
              <a:rPr lang="ja-JP" altLang="en-US"/>
              <a:t>“</a:t>
            </a:r>
            <a:r>
              <a:rPr lang="en-US" altLang="ja-JP" dirty="0"/>
              <a:t>alpha</a:t>
            </a:r>
            <a:r>
              <a:rPr lang="ja-JP" altLang="en-US"/>
              <a:t>”</a:t>
            </a:r>
            <a:r>
              <a:rPr lang="en-US" altLang="ja-JP" dirty="0"/>
              <a:t>) equals 1, in the first eqn we just assume it is the same for all items.</a:t>
            </a:r>
          </a:p>
          <a:p>
            <a:pPr eaLnBrk="1" hangingPunct="1">
              <a:spcBef>
                <a:spcPct val="50000"/>
              </a:spcBef>
              <a:buFontTx/>
              <a:buAutoNum type="arabicParenR"/>
            </a:pPr>
            <a:r>
              <a:rPr lang="en-US" dirty="0"/>
              <a:t>In the second equation, the probability of a correct response is in terms of latent proficiency and item </a:t>
            </a:r>
            <a:r>
              <a:rPr lang="ja-JP" altLang="en-US"/>
              <a:t>“</a:t>
            </a:r>
            <a:r>
              <a:rPr lang="en-US" altLang="ja-JP" dirty="0"/>
              <a:t>easiness</a:t>
            </a:r>
            <a:r>
              <a:rPr lang="ja-JP" altLang="en-US"/>
              <a:t>”</a:t>
            </a:r>
            <a:endParaRPr lang="en-US" dirty="0"/>
          </a:p>
        </p:txBody>
      </p:sp>
    </p:spTree>
    <p:extLst>
      <p:ext uri="{BB962C8B-B14F-4D97-AF65-F5344CB8AC3E}">
        <p14:creationId xmlns:p14="http://schemas.microsoft.com/office/powerpoint/2010/main" val="1836104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Number Placeholder 4"/>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9F02BD0-C192-6F4D-94AE-DE54B8371292}" type="slidenum">
              <a:rPr lang="en-US" sz="1400"/>
              <a:pPr eaLnBrk="1" hangingPunct="1"/>
              <a:t>49</a:t>
            </a:fld>
            <a:endParaRPr lang="en-US" sz="1400" dirty="0"/>
          </a:p>
        </p:txBody>
      </p:sp>
      <p:graphicFrame>
        <p:nvGraphicFramePr>
          <p:cNvPr id="33794" name="Object 2"/>
          <p:cNvGraphicFramePr>
            <a:graphicFrameLocks noChangeAspect="1"/>
          </p:cNvGraphicFramePr>
          <p:nvPr/>
        </p:nvGraphicFramePr>
        <p:xfrm>
          <a:off x="3735389" y="1033464"/>
          <a:ext cx="3944937" cy="788987"/>
        </p:xfrm>
        <a:graphic>
          <a:graphicData uri="http://schemas.openxmlformats.org/presentationml/2006/ole">
            <mc:AlternateContent xmlns:mc="http://schemas.openxmlformats.org/markup-compatibility/2006">
              <mc:Choice xmlns:v="urn:schemas-microsoft-com:vml" Requires="v">
                <p:oleObj name="Equation" r:id="rId3" imgW="2159000" imgH="431800" progId="Equation.DSMT4">
                  <p:embed/>
                </p:oleObj>
              </mc:Choice>
              <mc:Fallback>
                <p:oleObj name="Equation" r:id="rId3" imgW="2159000" imgH="431800" progId="Equation.DSMT4">
                  <p:embed/>
                  <p:pic>
                    <p:nvPicPr>
                      <p:cNvPr id="337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5389" y="1033464"/>
                        <a:ext cx="3944937" cy="7889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3795" name="Text Box 13"/>
          <p:cNvSpPr txBox="1">
            <a:spLocks noChangeArrowheads="1"/>
          </p:cNvSpPr>
          <p:nvPr/>
        </p:nvSpPr>
        <p:spPr bwMode="auto">
          <a:xfrm>
            <a:off x="3138489" y="2201864"/>
            <a:ext cx="5691187" cy="1311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dirty="0"/>
              <a:t>This is a more general way to write an expression that represents the ICC for either response scenario: x=1 when response is correct, x=0 when incorrect. Note that exp(0)=1.</a:t>
            </a:r>
          </a:p>
        </p:txBody>
      </p:sp>
      <p:sp>
        <p:nvSpPr>
          <p:cNvPr id="33796" name="Text Box 20"/>
          <p:cNvSpPr txBox="1">
            <a:spLocks noChangeArrowheads="1"/>
          </p:cNvSpPr>
          <p:nvPr/>
        </p:nvSpPr>
        <p:spPr bwMode="auto">
          <a:xfrm>
            <a:off x="3024189" y="5170489"/>
            <a:ext cx="5691187" cy="119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Here we’</a:t>
            </a:r>
            <a:r>
              <a:rPr lang="en-US" altLang="ja-JP" sz="1800" dirty="0"/>
              <a:t>ve changed our dependent variable (left side of the eqn) from probability to log odds (i.e., logits). As you can see, logits are a linear function of </a:t>
            </a:r>
            <a:r>
              <a:rPr lang="ja-JP" altLang="en-US" sz="1800"/>
              <a:t>“</a:t>
            </a:r>
            <a:r>
              <a:rPr lang="en-US" altLang="ja-JP" sz="1800" dirty="0"/>
              <a:t>theta</a:t>
            </a:r>
            <a:r>
              <a:rPr lang="ja-JP" altLang="en-US" sz="1800"/>
              <a:t>”</a:t>
            </a:r>
            <a:r>
              <a:rPr lang="en-US" altLang="ja-JP" sz="1800" dirty="0"/>
              <a:t> and </a:t>
            </a:r>
            <a:r>
              <a:rPr lang="ja-JP" altLang="en-US" sz="1800"/>
              <a:t>“</a:t>
            </a:r>
            <a:r>
              <a:rPr lang="en-US" altLang="ja-JP" sz="1800" dirty="0"/>
              <a:t>beta</a:t>
            </a:r>
            <a:r>
              <a:rPr lang="ja-JP" altLang="en-US" sz="1800"/>
              <a:t>”</a:t>
            </a:r>
            <a:r>
              <a:rPr lang="en-US" altLang="ja-JP" sz="1800" dirty="0"/>
              <a:t>.</a:t>
            </a:r>
            <a:endParaRPr lang="en-US" sz="1800" dirty="0"/>
          </a:p>
        </p:txBody>
      </p:sp>
      <p:graphicFrame>
        <p:nvGraphicFramePr>
          <p:cNvPr id="33797" name="Object 3"/>
          <p:cNvGraphicFramePr>
            <a:graphicFrameLocks noGrp="1" noChangeAspect="1"/>
          </p:cNvGraphicFramePr>
          <p:nvPr>
            <p:ph/>
          </p:nvPr>
        </p:nvGraphicFramePr>
        <p:xfrm>
          <a:off x="3917950" y="3852864"/>
          <a:ext cx="3917950" cy="979487"/>
        </p:xfrm>
        <a:graphic>
          <a:graphicData uri="http://schemas.openxmlformats.org/presentationml/2006/ole">
            <mc:AlternateContent xmlns:mc="http://schemas.openxmlformats.org/markup-compatibility/2006">
              <mc:Choice xmlns:v="urn:schemas-microsoft-com:vml" Requires="v">
                <p:oleObj name="Equation" r:id="rId5" imgW="1930400" imgH="482600" progId="Equation.DSMT4">
                  <p:embed/>
                </p:oleObj>
              </mc:Choice>
              <mc:Fallback>
                <p:oleObj name="Equation" r:id="rId5" imgW="1930400" imgH="482600" progId="Equation.DSMT4">
                  <p:embed/>
                  <p:pic>
                    <p:nvPicPr>
                      <p:cNvPr id="3379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7950" y="3852864"/>
                        <a:ext cx="3917950" cy="9794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965301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4"/>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6747143-499D-074B-9EE7-442434F6C39F}" type="slidenum">
              <a:rPr lang="en-US" sz="1400"/>
              <a:pPr eaLnBrk="1" hangingPunct="1"/>
              <a:t>50</a:t>
            </a:fld>
            <a:endParaRPr lang="en-US" sz="1400" dirty="0"/>
          </a:p>
        </p:txBody>
      </p:sp>
      <p:graphicFrame>
        <p:nvGraphicFramePr>
          <p:cNvPr id="35842" name="Object 2"/>
          <p:cNvGraphicFramePr>
            <a:graphicFrameLocks noChangeAspect="1"/>
          </p:cNvGraphicFramePr>
          <p:nvPr/>
        </p:nvGraphicFramePr>
        <p:xfrm>
          <a:off x="3871914" y="1154114"/>
          <a:ext cx="3838575" cy="712787"/>
        </p:xfrm>
        <a:graphic>
          <a:graphicData uri="http://schemas.openxmlformats.org/presentationml/2006/ole">
            <mc:AlternateContent xmlns:mc="http://schemas.openxmlformats.org/markup-compatibility/2006">
              <mc:Choice xmlns:v="urn:schemas-microsoft-com:vml" Requires="v">
                <p:oleObj name="Equation" r:id="rId3" imgW="2324100" imgH="431800" progId="Equation.DSMT4">
                  <p:embed/>
                </p:oleObj>
              </mc:Choice>
              <mc:Fallback>
                <p:oleObj name="Equation" r:id="rId3" imgW="2324100" imgH="431800" progId="Equation.DSMT4">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1914" y="1154114"/>
                        <a:ext cx="3838575" cy="7127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5843" name="Object 3"/>
          <p:cNvGraphicFramePr>
            <a:graphicFrameLocks noChangeAspect="1"/>
          </p:cNvGraphicFramePr>
          <p:nvPr/>
        </p:nvGraphicFramePr>
        <p:xfrm>
          <a:off x="4953000" y="2146300"/>
          <a:ext cx="914400" cy="198438"/>
        </p:xfrm>
        <a:graphic>
          <a:graphicData uri="http://schemas.openxmlformats.org/presentationml/2006/ole">
            <mc:AlternateContent xmlns:mc="http://schemas.openxmlformats.org/markup-compatibility/2006">
              <mc:Choice xmlns:v="urn:schemas-microsoft-com:vml" Requires="v">
                <p:oleObj name="Equation" r:id="rId5" imgW="435285" imgH="677109" progId="Equation.DSMT4">
                  <p:embed/>
                </p:oleObj>
              </mc:Choice>
              <mc:Fallback>
                <p:oleObj name="Equation" r:id="rId5" imgW="435285" imgH="677109" progId="Equation.DSMT4">
                  <p:embed/>
                  <p:pic>
                    <p:nvPicPr>
                      <p:cNvPr id="358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2146300"/>
                        <a:ext cx="914400" cy="198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5844" name="Text Box 13"/>
          <p:cNvSpPr txBox="1">
            <a:spLocks noChangeArrowheads="1"/>
          </p:cNvSpPr>
          <p:nvPr/>
        </p:nvSpPr>
        <p:spPr bwMode="auto">
          <a:xfrm>
            <a:off x="3208339" y="2262189"/>
            <a:ext cx="5691187" cy="119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This expression is mathematically equivalent to the one with exp(..) in the numerator and denominator. It’s</a:t>
            </a:r>
            <a:r>
              <a:rPr lang="en-US" altLang="ja-JP" sz="1800" dirty="0"/>
              <a:t> a little more elegant to write this way, but it threw me for a loop the first time I saw it.</a:t>
            </a:r>
            <a:endParaRPr lang="en-US" sz="1800" dirty="0"/>
          </a:p>
        </p:txBody>
      </p:sp>
      <p:graphicFrame>
        <p:nvGraphicFramePr>
          <p:cNvPr id="35845" name="Object 4"/>
          <p:cNvGraphicFramePr>
            <a:graphicFrameLocks noGrp="1" noChangeAspect="1"/>
          </p:cNvGraphicFramePr>
          <p:nvPr>
            <p:ph/>
          </p:nvPr>
        </p:nvGraphicFramePr>
        <p:xfrm>
          <a:off x="4659314" y="3675063"/>
          <a:ext cx="2884487" cy="869950"/>
        </p:xfrm>
        <a:graphic>
          <a:graphicData uri="http://schemas.openxmlformats.org/presentationml/2006/ole">
            <mc:AlternateContent xmlns:mc="http://schemas.openxmlformats.org/markup-compatibility/2006">
              <mc:Choice xmlns:v="urn:schemas-microsoft-com:vml" Requires="v">
                <p:oleObj name="Equation" r:id="rId7" imgW="1600200" imgH="482600" progId="Equation.DSMT4">
                  <p:embed/>
                </p:oleObj>
              </mc:Choice>
              <mc:Fallback>
                <p:oleObj name="Equation" r:id="rId7" imgW="1600200" imgH="482600" progId="Equation.DSMT4">
                  <p:embed/>
                  <p:pic>
                    <p:nvPicPr>
                      <p:cNvPr id="35845"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9314" y="3675063"/>
                        <a:ext cx="2884487" cy="8699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35846" name="Text Box 21"/>
          <p:cNvSpPr txBox="1">
            <a:spLocks noChangeArrowheads="1"/>
          </p:cNvSpPr>
          <p:nvPr/>
        </p:nvSpPr>
        <p:spPr bwMode="auto">
          <a:xfrm>
            <a:off x="3046414" y="4810126"/>
            <a:ext cx="5691187" cy="119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Here we’</a:t>
            </a:r>
            <a:r>
              <a:rPr lang="en-US" altLang="ja-JP" sz="1800" dirty="0"/>
              <a:t>ve changed our dependent variable from probability to odds without taking the log of both sides. As you can see, the odds an be expressed as the ratio of theta and beta.</a:t>
            </a:r>
            <a:endParaRPr lang="en-US" sz="1800" dirty="0"/>
          </a:p>
        </p:txBody>
      </p:sp>
    </p:spTree>
    <p:extLst>
      <p:ext uri="{BB962C8B-B14F-4D97-AF65-F5344CB8AC3E}">
        <p14:creationId xmlns:p14="http://schemas.microsoft.com/office/powerpoint/2010/main" val="41297508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4"/>
          <p:cNvSpPr>
            <a:spLocks noGrp="1"/>
          </p:cNvSpPr>
          <p:nvPr>
            <p:ph type="sldNum" sz="quarter" idx="12"/>
          </p:nvPr>
        </p:nvSpPr>
        <p:spPr>
          <a:xfrm>
            <a:off x="8597347" y="6276596"/>
            <a:ext cx="2743200" cy="365125"/>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47A82B5-712D-6149-BB7B-8976EE62B017}" type="slidenum">
              <a:rPr lang="en-US" sz="1400"/>
              <a:pPr eaLnBrk="1" hangingPunct="1"/>
              <a:t>51</a:t>
            </a:fld>
            <a:endParaRPr lang="en-US" sz="1400" dirty="0"/>
          </a:p>
        </p:txBody>
      </p:sp>
      <p:graphicFrame>
        <p:nvGraphicFramePr>
          <p:cNvPr id="37890" name="Object 2"/>
          <p:cNvGraphicFramePr>
            <a:graphicFrameLocks noChangeAspect="1"/>
          </p:cNvGraphicFramePr>
          <p:nvPr/>
        </p:nvGraphicFramePr>
        <p:xfrm>
          <a:off x="4953000" y="2146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3789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146300"/>
                        <a:ext cx="914400" cy="198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7891" name="Object 3"/>
          <p:cNvGraphicFramePr>
            <a:graphicFrameLocks noChangeAspect="1"/>
          </p:cNvGraphicFramePr>
          <p:nvPr/>
        </p:nvGraphicFramePr>
        <p:xfrm>
          <a:off x="3473451" y="1139825"/>
          <a:ext cx="4003675" cy="731838"/>
        </p:xfrm>
        <a:graphic>
          <a:graphicData uri="http://schemas.openxmlformats.org/presentationml/2006/ole">
            <mc:AlternateContent xmlns:mc="http://schemas.openxmlformats.org/markup-compatibility/2006">
              <mc:Choice xmlns:v="urn:schemas-microsoft-com:vml" Requires="v">
                <p:oleObj name="Equation" r:id="rId5" imgW="2362200" imgH="431800" progId="Equation.DSMT4">
                  <p:embed/>
                </p:oleObj>
              </mc:Choice>
              <mc:Fallback>
                <p:oleObj name="Equation" r:id="rId5" imgW="2362200" imgH="431800" progId="Equation.DSMT4">
                  <p:embed/>
                  <p:pic>
                    <p:nvPicPr>
                      <p:cNvPr id="3789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3451" y="1139825"/>
                        <a:ext cx="4003675" cy="7318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7892" name="Text Box 19"/>
          <p:cNvSpPr txBox="1">
            <a:spLocks noChangeArrowheads="1"/>
          </p:cNvSpPr>
          <p:nvPr/>
        </p:nvSpPr>
        <p:spPr bwMode="auto">
          <a:xfrm>
            <a:off x="2960689" y="2236788"/>
            <a:ext cx="5811837"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dirty="0"/>
              <a:t>The only unique thing here is including the constant D (=1.7), which places the logistic ICC on the same scale as the normal ogive ICC.  </a:t>
            </a:r>
          </a:p>
        </p:txBody>
      </p:sp>
      <p:graphicFrame>
        <p:nvGraphicFramePr>
          <p:cNvPr id="37893" name="Object 4"/>
          <p:cNvGraphicFramePr>
            <a:graphicFrameLocks noChangeAspect="1"/>
          </p:cNvGraphicFramePr>
          <p:nvPr/>
        </p:nvGraphicFramePr>
        <p:xfrm>
          <a:off x="3497264" y="3775075"/>
          <a:ext cx="4429125" cy="846138"/>
        </p:xfrm>
        <a:graphic>
          <a:graphicData uri="http://schemas.openxmlformats.org/presentationml/2006/ole">
            <mc:AlternateContent xmlns:mc="http://schemas.openxmlformats.org/markup-compatibility/2006">
              <mc:Choice xmlns:v="urn:schemas-microsoft-com:vml" Requires="v">
                <p:oleObj name="Equation" r:id="rId7" imgW="2260600" imgH="431800" progId="Equation.DSMT4">
                  <p:embed/>
                </p:oleObj>
              </mc:Choice>
              <mc:Fallback>
                <p:oleObj name="Equation" r:id="rId7" imgW="2260600" imgH="431800" progId="Equation.DSMT4">
                  <p:embed/>
                  <p:pic>
                    <p:nvPicPr>
                      <p:cNvPr id="37893"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7264" y="3775075"/>
                        <a:ext cx="4429125" cy="846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7894" name="Text Box 21"/>
              <p:cNvSpPr txBox="1">
                <a:spLocks noChangeArrowheads="1"/>
              </p:cNvSpPr>
              <p:nvPr/>
            </p:nvSpPr>
            <p:spPr bwMode="auto">
              <a:xfrm>
                <a:off x="2911476" y="5013326"/>
                <a:ext cx="6111875" cy="1200329"/>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A lot of times people use a,b,c to represent the item parameters instead of the Greek symbols. In addition, people will often use the Greek symbol for lowercase delta </a:t>
                </a:r>
                <a14:m>
                  <m:oMath xmlns:m="http://schemas.openxmlformats.org/officeDocument/2006/math">
                    <m:r>
                      <a:rPr lang="en-US" sz="1800" b="0" i="0">
                        <a:latin typeface="Cambria Math" panose="02040503050406030204" pitchFamily="18" charset="0"/>
                      </a:rPr>
                      <m:t>(</m:t>
                    </m:r>
                    <m:r>
                      <a:rPr lang="en-US" sz="1800" b="0" i="1">
                        <a:latin typeface="Cambria Math" panose="02040503050406030204" pitchFamily="18" charset="0"/>
                      </a:rPr>
                      <m:t>𝛿</m:t>
                    </m:r>
                    <m:r>
                      <a:rPr lang="en-US" sz="1800" b="0" i="1">
                        <a:latin typeface="Cambria Math" panose="02040503050406030204" pitchFamily="18" charset="0"/>
                      </a:rPr>
                      <m:t>)</m:t>
                    </m:r>
                  </m:oMath>
                </a14:m>
                <a:r>
                  <a:rPr lang="en-US" sz="1800" dirty="0"/>
                  <a:t> to represent item difficulty in the Rasch Model.</a:t>
                </a:r>
              </a:p>
            </p:txBody>
          </p:sp>
        </mc:Choice>
        <mc:Fallback xmlns="">
          <p:sp>
            <p:nvSpPr>
              <p:cNvPr id="37894" name="Text Box 21"/>
              <p:cNvSpPr txBox="1">
                <a:spLocks noRot="1" noChangeAspect="1" noMove="1" noResize="1" noEditPoints="1" noAdjustHandles="1" noChangeArrowheads="1" noChangeShapeType="1" noTextEdit="1"/>
              </p:cNvSpPr>
              <p:nvPr/>
            </p:nvSpPr>
            <p:spPr bwMode="auto">
              <a:xfrm>
                <a:off x="2911476" y="5013326"/>
                <a:ext cx="6111875" cy="1200329"/>
              </a:xfrm>
              <a:prstGeom prst="rect">
                <a:avLst/>
              </a:prstGeom>
              <a:blipFill>
                <a:blip r:embed="rId10"/>
                <a:stretch>
                  <a:fillRect l="-830" t="-2083" r="-1452" b="-6250"/>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9196298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6"/>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8148D12-8EB5-5D44-A573-AE8198BBB2F7}" type="slidenum">
              <a:rPr lang="en-US" sz="1400"/>
              <a:pPr eaLnBrk="1" hangingPunct="1"/>
              <a:t>52</a:t>
            </a:fld>
            <a:endParaRPr lang="en-US" sz="1400" dirty="0"/>
          </a:p>
        </p:txBody>
      </p:sp>
      <p:graphicFrame>
        <p:nvGraphicFramePr>
          <p:cNvPr id="39938" name="Object 2"/>
          <p:cNvGraphicFramePr>
            <a:graphicFrameLocks noChangeAspect="1"/>
          </p:cNvGraphicFramePr>
          <p:nvPr/>
        </p:nvGraphicFramePr>
        <p:xfrm>
          <a:off x="3289300" y="1541463"/>
          <a:ext cx="4973638" cy="920750"/>
        </p:xfrm>
        <a:graphic>
          <a:graphicData uri="http://schemas.openxmlformats.org/presentationml/2006/ole">
            <mc:AlternateContent xmlns:mc="http://schemas.openxmlformats.org/markup-compatibility/2006">
              <mc:Choice xmlns:v="urn:schemas-microsoft-com:vml" Requires="v">
                <p:oleObj name="Equation" r:id="rId3" imgW="2540000" imgH="469900" progId="Equation.DSMT4">
                  <p:embed/>
                </p:oleObj>
              </mc:Choice>
              <mc:Fallback>
                <p:oleObj name="Equation" r:id="rId3" imgW="2540000" imgH="469900" progId="Equation.DSMT4">
                  <p:embed/>
                  <p:pic>
                    <p:nvPicPr>
                      <p:cNvPr id="3993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9300" y="1541463"/>
                        <a:ext cx="4973638" cy="9207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39939" name="Object 3"/>
          <p:cNvGraphicFramePr>
            <a:graphicFrameLocks noChangeAspect="1"/>
          </p:cNvGraphicFramePr>
          <p:nvPr/>
        </p:nvGraphicFramePr>
        <p:xfrm>
          <a:off x="3546476" y="3765551"/>
          <a:ext cx="3883025" cy="485775"/>
        </p:xfrm>
        <a:graphic>
          <a:graphicData uri="http://schemas.openxmlformats.org/presentationml/2006/ole">
            <mc:AlternateContent xmlns:mc="http://schemas.openxmlformats.org/markup-compatibility/2006">
              <mc:Choice xmlns:v="urn:schemas-microsoft-com:vml" Requires="v">
                <p:oleObj name="Equation" r:id="rId5" imgW="1828800" imgH="228600" progId="Equation.DSMT4">
                  <p:embed/>
                </p:oleObj>
              </mc:Choice>
              <mc:Fallback>
                <p:oleObj name="Equation" r:id="rId5" imgW="1828800" imgH="228600" progId="Equation.DSMT4">
                  <p:embed/>
                  <p:pic>
                    <p:nvPicPr>
                      <p:cNvPr id="3993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6476" y="3765551"/>
                        <a:ext cx="3883025" cy="485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39940" name="Text Box 13"/>
          <p:cNvSpPr txBox="1">
            <a:spLocks noChangeArrowheads="1"/>
          </p:cNvSpPr>
          <p:nvPr/>
        </p:nvSpPr>
        <p:spPr bwMode="auto">
          <a:xfrm>
            <a:off x="3176589" y="2697164"/>
            <a:ext cx="5691187" cy="915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Going from logistic function to the normal ogive, also known as the standard normal cumulative distribution function (cdf).</a:t>
            </a:r>
          </a:p>
        </p:txBody>
      </p:sp>
      <p:sp>
        <p:nvSpPr>
          <p:cNvPr id="39941" name="Text Box 17"/>
          <p:cNvSpPr txBox="1">
            <a:spLocks noChangeArrowheads="1"/>
          </p:cNvSpPr>
          <p:nvPr/>
        </p:nvSpPr>
        <p:spPr bwMode="auto">
          <a:xfrm>
            <a:off x="3155950" y="4641850"/>
            <a:ext cx="5691188"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t>The symbol </a:t>
            </a:r>
            <a:r>
              <a:rPr lang="ja-JP" altLang="en-US" sz="1800"/>
              <a:t>“</a:t>
            </a:r>
            <a:r>
              <a:rPr lang="en-US" altLang="ja-JP" sz="1800" dirty="0"/>
              <a:t>Phi</a:t>
            </a:r>
            <a:r>
              <a:rPr lang="ja-JP" altLang="en-US" sz="1800"/>
              <a:t>”</a:t>
            </a:r>
            <a:r>
              <a:rPr lang="en-US" altLang="ja-JP" sz="1800" dirty="0"/>
              <a:t> is a shorthand way to represent the normal cdf formulation above. </a:t>
            </a:r>
            <a:endParaRPr lang="en-US" sz="1800" dirty="0"/>
          </a:p>
        </p:txBody>
      </p:sp>
      <p:sp>
        <p:nvSpPr>
          <p:cNvPr id="39942" name="Text Box 19"/>
          <p:cNvSpPr txBox="1">
            <a:spLocks noChangeArrowheads="1"/>
          </p:cNvSpPr>
          <p:nvPr/>
        </p:nvSpPr>
        <p:spPr bwMode="auto">
          <a:xfrm>
            <a:off x="3403600" y="387351"/>
            <a:ext cx="6053138"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4000" b="1" dirty="0">
                <a:latin typeface="Calibri"/>
                <a:cs typeface="Calibri"/>
              </a:rPr>
              <a:t>Recall: The Normal Ogive</a:t>
            </a:r>
          </a:p>
        </p:txBody>
      </p:sp>
    </p:spTree>
    <p:extLst>
      <p:ext uri="{BB962C8B-B14F-4D97-AF65-F5344CB8AC3E}">
        <p14:creationId xmlns:p14="http://schemas.microsoft.com/office/powerpoint/2010/main" val="23003233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15731</TotalTime>
  <Words>3560</Words>
  <Application>Microsoft Macintosh PowerPoint</Application>
  <PresentationFormat>Widescreen</PresentationFormat>
  <Paragraphs>496</Paragraphs>
  <Slides>52</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0" baseType="lpstr">
      <vt:lpstr>ＭＳ Ｐゴシック</vt:lpstr>
      <vt:lpstr>Arial</vt:lpstr>
      <vt:lpstr>Calibri</vt:lpstr>
      <vt:lpstr>Calibri Light</vt:lpstr>
      <vt:lpstr>Cambria Math</vt:lpstr>
      <vt:lpstr>Wingdings</vt:lpstr>
      <vt:lpstr>Office Theme</vt:lpstr>
      <vt:lpstr>Equation</vt:lpstr>
      <vt:lpstr>The Rasch Model Paradigm</vt:lpstr>
      <vt:lpstr>Overview</vt:lpstr>
      <vt:lpstr>PowerPoint Presentation</vt:lpstr>
      <vt:lpstr>An analogy to measurement in the physical sciences</vt:lpstr>
      <vt:lpstr>Georg Rasch</vt:lpstr>
      <vt:lpstr>Rasch’s Motivating Context</vt:lpstr>
      <vt:lpstr>The Design</vt:lpstr>
      <vt:lpstr>Poisson Distribution</vt:lpstr>
      <vt:lpstr>Example of a Poisson PDF</vt:lpstr>
      <vt:lpstr>Plots of Poisson PDF &amp; CDF</vt:lpstr>
      <vt:lpstr>Rasch’s Use of the Poisson</vt:lpstr>
      <vt:lpstr>What Rasch Noticed</vt:lpstr>
      <vt:lpstr>Applying this to dichotomously scored intelligence test items…</vt:lpstr>
      <vt:lpstr>The Modern Formulation</vt:lpstr>
      <vt:lpstr>PowerPoint Presentation</vt:lpstr>
      <vt:lpstr>Rasch Model Assumptions</vt:lpstr>
      <vt:lpstr>Rasch Model Properties</vt:lpstr>
      <vt:lpstr>PowerPoint Presentation</vt:lpstr>
      <vt:lpstr>Indeterminacy of the Logit Scale</vt:lpstr>
      <vt:lpstr>“Anchoring” the Scale</vt:lpstr>
      <vt:lpstr>PowerPoint Presentation</vt:lpstr>
      <vt:lpstr>Specific Objectivity</vt:lpstr>
      <vt:lpstr>Activity</vt:lpstr>
      <vt:lpstr>IRFs for 2PL vs. Rasch Model for Two Items</vt:lpstr>
      <vt:lpstr>IRFs with Outcome Switched from Probability to Logit (log odds) of Correct Item Response</vt:lpstr>
      <vt:lpstr>Compare Two Pairs of students relative to predicted performance on each item based on the 2PL</vt:lpstr>
      <vt:lpstr>Compare Two Pairs of students relative to predicted performance on each item based on the 2PL</vt:lpstr>
      <vt:lpstr>Now do the same thing relative to performance on each item as predicted based on the Rasch Model</vt:lpstr>
      <vt:lpstr>Now do the same thing relative to performance on each item as predicted based on the Rasch Model</vt:lpstr>
      <vt:lpstr>Questions</vt:lpstr>
      <vt:lpstr>Invariant Person Comparisons</vt:lpstr>
      <vt:lpstr>Invariant Item Comparisons</vt:lpstr>
      <vt:lpstr>PowerPoint Presentation</vt:lpstr>
      <vt:lpstr>Interval Scale as Item to Person Tradeoffs</vt:lpstr>
      <vt:lpstr>Theoretical Basis for a Reference Unit</vt:lpstr>
      <vt:lpstr>Hypothetical Example</vt:lpstr>
      <vt:lpstr>Establishing a Standard Unit for Growth</vt:lpstr>
      <vt:lpstr>The Value of Invariant Comparisons</vt:lpstr>
      <vt:lpstr>What Happens Under the 3PL?</vt:lpstr>
      <vt:lpstr>PowerPoint Presentation</vt:lpstr>
      <vt:lpstr>Defining Features of Rasch Paradigm</vt:lpstr>
      <vt:lpstr>Comparing the Paradigms</vt:lpstr>
      <vt:lpstr>Some Last Thoughts on Rasch Paradigm</vt:lpstr>
      <vt:lpstr>PowerPoint Presentation</vt:lpstr>
      <vt:lpstr>Discrimination and Variance of Theta are Two Sides of the Same Coin</vt:lpstr>
      <vt:lpstr>There are many ways to express the same model mathematically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Rasch Tradition</dc:title>
  <dc:creator>Derek Briggs</dc:creator>
  <cp:lastModifiedBy>Derek Briggs</cp:lastModifiedBy>
  <cp:revision>16</cp:revision>
  <dcterms:created xsi:type="dcterms:W3CDTF">2020-02-17T05:09:39Z</dcterms:created>
  <dcterms:modified xsi:type="dcterms:W3CDTF">2024-07-31T14:58:40Z</dcterms:modified>
</cp:coreProperties>
</file>