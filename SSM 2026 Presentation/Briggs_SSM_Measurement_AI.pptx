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9"/>
  </p:notesMasterIdLst>
  <p:sldIdLst>
    <p:sldId id="285" r:id="rId2"/>
    <p:sldId id="299" r:id="rId3"/>
    <p:sldId id="300" r:id="rId4"/>
    <p:sldId id="301" r:id="rId5"/>
    <p:sldId id="303" r:id="rId6"/>
    <p:sldId id="304" r:id="rId7"/>
    <p:sldId id="302" r:id="rId8"/>
    <p:sldId id="305" r:id="rId9"/>
    <p:sldId id="306" r:id="rId10"/>
    <p:sldId id="308" r:id="rId11"/>
    <p:sldId id="307" r:id="rId12"/>
    <p:sldId id="309" r:id="rId13"/>
    <p:sldId id="310" r:id="rId14"/>
    <p:sldId id="311" r:id="rId15"/>
    <p:sldId id="312" r:id="rId16"/>
    <p:sldId id="313" r:id="rId17"/>
    <p:sldId id="29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8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30"/>
    <p:restoredTop sz="86507"/>
  </p:normalViewPr>
  <p:slideViewPr>
    <p:cSldViewPr snapToGrid="0" snapToObjects="1">
      <p:cViewPr varScale="1">
        <p:scale>
          <a:sx n="90" d="100"/>
          <a:sy n="90" d="100"/>
        </p:scale>
        <p:origin x="224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6759A-F17A-D54D-8D7A-CB146702B30D}" type="datetimeFigureOut">
              <a:rPr lang="en-US" smtClean="0"/>
              <a:t>6/19/26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E7691-A93E-264A-93A6-CD1131F735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5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evolution of AI use in teaching and research. Incredible potential, but still a jagged frontier</a:t>
            </a:r>
          </a:p>
          <a:p>
            <a:r>
              <a:rPr lang="en-US" dirty="0"/>
              <a:t>Requires careful exploration &amp; experimentation</a:t>
            </a:r>
          </a:p>
          <a:p>
            <a:r>
              <a:rPr lang="en-US" dirty="0"/>
              <a:t>Best place to do this? Where you have sufficient domain expertise to use critically</a:t>
            </a:r>
          </a:p>
          <a:p>
            <a:r>
              <a:rPr lang="en-US" dirty="0"/>
              <a:t>Courses you have taught multiple times pre AI are an ideal sandbox!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E7691-A93E-264A-93A6-CD1131F7356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73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E7691-A93E-264A-93A6-CD1131F7356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950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 that the ridge (dashed white line) represents the value of s that maximizes information for a given value of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E7691-A93E-264A-93A6-CD1131F7356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131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6/19/26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0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6/19/26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198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6/19/26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96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6/19/26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20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6/19/26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727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6/19/26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961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6/19/26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6B9D0-BF93-3546-8DCC-225918E616FE}"/>
              </a:ext>
            </a:extLst>
          </p:cNvPr>
          <p:cNvSpPr txBox="1"/>
          <p:nvPr userDrawn="1"/>
        </p:nvSpPr>
        <p:spPr>
          <a:xfrm>
            <a:off x="838200" y="6352143"/>
            <a:ext cx="4207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chemeClr val="bg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www.colorado.edu/education</a:t>
            </a:r>
          </a:p>
        </p:txBody>
      </p:sp>
    </p:spTree>
    <p:extLst>
      <p:ext uri="{BB962C8B-B14F-4D97-AF65-F5344CB8AC3E}">
        <p14:creationId xmlns:p14="http://schemas.microsoft.com/office/powerpoint/2010/main" val="1687841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6/19/26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92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6/19/26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776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6/19/26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700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/>
              <a:t>6/19/26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71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/>
              <a:t>6/19/26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59A305-C943-7347-A2F6-85B5ABD8B194}"/>
              </a:ext>
            </a:extLst>
          </p:cNvPr>
          <p:cNvSpPr/>
          <p:nvPr userDrawn="1"/>
        </p:nvSpPr>
        <p:spPr>
          <a:xfrm>
            <a:off x="0" y="6019800"/>
            <a:ext cx="12192000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DD4AF6-5BF5-1B45-8ED8-2B5B21A6A1C2}"/>
              </a:ext>
            </a:extLst>
          </p:cNvPr>
          <p:cNvSpPr txBox="1"/>
          <p:nvPr userDrawn="1"/>
        </p:nvSpPr>
        <p:spPr>
          <a:xfrm>
            <a:off x="781920" y="6231522"/>
            <a:ext cx="3753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colorado.edu/education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699BC8-35ED-BA4C-9F81-B25E6515D04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809922" y="6153142"/>
            <a:ext cx="2534119" cy="51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4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CFB8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erekcbriggs.github.io/blog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F669B-D382-0123-9F40-62E82C78B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406400"/>
            <a:ext cx="9144000" cy="2387600"/>
          </a:xfrm>
        </p:spPr>
        <p:txBody>
          <a:bodyPr>
            <a:noAutofit/>
          </a:bodyPr>
          <a:lstStyle/>
          <a:p>
            <a:r>
              <a:rPr lang="en-US" sz="4000" dirty="0"/>
              <a:t>Measuring the User, Not the Model: Critical AI Literacy and the Verification Frontier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15ED5-0368-FEA6-F39B-19D241FE2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18338"/>
            <a:ext cx="9144000" cy="21394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Derek Briggs</a:t>
            </a:r>
          </a:p>
          <a:p>
            <a:r>
              <a:rPr lang="en-US" dirty="0"/>
              <a:t>University of Colorado Boulder</a:t>
            </a:r>
          </a:p>
          <a:p>
            <a:r>
              <a:rPr lang="en-US" dirty="0"/>
              <a:t>Society for the Study of Measurement Meeting</a:t>
            </a:r>
          </a:p>
          <a:p>
            <a:r>
              <a:rPr lang="en-US" dirty="0"/>
              <a:t>Edinburgh, Scotland</a:t>
            </a:r>
          </a:p>
          <a:p>
            <a:r>
              <a:rPr lang="en-US" dirty="0"/>
              <a:t>June 24, 2026</a:t>
            </a:r>
          </a:p>
        </p:txBody>
      </p:sp>
    </p:spTree>
    <p:extLst>
      <p:ext uri="{BB962C8B-B14F-4D97-AF65-F5344CB8AC3E}">
        <p14:creationId xmlns:p14="http://schemas.microsoft.com/office/powerpoint/2010/main" val="289376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2B09E-9C98-E946-345B-E8324A8A0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53" y="340718"/>
            <a:ext cx="11353801" cy="1325563"/>
          </a:xfrm>
        </p:spPr>
        <p:txBody>
          <a:bodyPr/>
          <a:lstStyle/>
          <a:p>
            <a:r>
              <a:rPr lang="en-US" dirty="0"/>
              <a:t>I Have Chosen the Red Pill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F1C266-46E5-8F5A-BA5F-EC8699379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062" y="1544051"/>
            <a:ext cx="6445469" cy="431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93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791AED3-B6B6-164E-DB6B-C0207B7C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Meta Example: How I Work with AI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C2902E-9354-8B85-0CE9-21CE190A9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21535" y="1482725"/>
            <a:ext cx="7977453" cy="4351338"/>
          </a:xfrm>
        </p:spPr>
      </p:pic>
    </p:spTree>
    <p:extLst>
      <p:ext uri="{BB962C8B-B14F-4D97-AF65-F5344CB8AC3E}">
        <p14:creationId xmlns:p14="http://schemas.microsoft.com/office/powerpoint/2010/main" val="11949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E53A-26AE-5688-3134-57B85EF71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Jagged Frontier of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6DA19-4D9E-4C8E-A682-37B3831EC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My prompt to Claude: Write a super funny joke about pelicans.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Claude (Opus 4.6): </a:t>
            </a:r>
            <a:r>
              <a:rPr lang="en-US" i="1" dirty="0"/>
              <a:t>A pelican walks into a bar. The bartender says, “Why the big bill?”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jagged frontier: LLMs can solve problems that would stump a genius, but they struggle to deliver a funny joke.</a:t>
            </a:r>
          </a:p>
        </p:txBody>
      </p:sp>
    </p:spTree>
    <p:extLst>
      <p:ext uri="{BB962C8B-B14F-4D97-AF65-F5344CB8AC3E}">
        <p14:creationId xmlns:p14="http://schemas.microsoft.com/office/powerpoint/2010/main" val="4196219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93AF-066A-5ADC-7A1F-E185B80AE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Measuring</a:t>
            </a:r>
            <a:r>
              <a:rPr lang="en-US" dirty="0"/>
              <a:t> an LLM’s “Intelligence?”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1392C0-D7C5-B16E-F2FB-5E3C2A0CC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TISM Framework for Measurement (Briggs, Maul &amp; McGrane, 2025)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C62819-242D-BE80-3A97-BC8523D459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676209"/>
            <a:ext cx="5157787" cy="334232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F02692-AB63-0E68-9335-2C55F552D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81163"/>
            <a:ext cx="5183188" cy="45085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Not entirely impossible with respect to I, S, and M</a:t>
            </a:r>
          </a:p>
          <a:p>
            <a:r>
              <a:rPr lang="en-US" dirty="0"/>
              <a:t>But there is a deeper problem…</a:t>
            </a:r>
          </a:p>
          <a:p>
            <a:r>
              <a:rPr lang="en-US" dirty="0"/>
              <a:t>No substantive theory: measurement is premised on variability—LLMs are being engineered to eliminate this!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150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98F9F74-2ECE-8F00-4583-A6D9E7338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Pivot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DB426B0-F704-BBC2-27C7-0491CFF77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Unwise to treat LLMs as objects of measurement.</a:t>
            </a:r>
          </a:p>
          <a:p>
            <a:r>
              <a:rPr lang="en-US" dirty="0"/>
              <a:t>The variability amenable to measurement come in the variability of how humans interact with them.</a:t>
            </a:r>
          </a:p>
          <a:p>
            <a:r>
              <a:rPr lang="en-US" u="sng" dirty="0"/>
              <a:t>Measure</a:t>
            </a:r>
            <a:r>
              <a:rPr lang="en-US" dirty="0"/>
              <a:t> human attributes, </a:t>
            </a:r>
            <a:r>
              <a:rPr lang="en-US" u="sng" dirty="0"/>
              <a:t>evaluate</a:t>
            </a:r>
            <a:r>
              <a:rPr lang="en-US" dirty="0"/>
              <a:t> model capabilities</a:t>
            </a:r>
          </a:p>
          <a:p>
            <a:r>
              <a:rPr lang="en-US" dirty="0"/>
              <a:t>Constructs of interest: dimensions of AI Literacy—domain general habits of mind.</a:t>
            </a:r>
          </a:p>
          <a:p>
            <a:r>
              <a:rPr lang="en-US" dirty="0"/>
              <a:t>Critical literacy: the ability to detect and repair a plausible-but-wrong AI output that is not easily verified.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719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AB233-18F2-2227-9AFF-F4DD6A2BE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Critical AI Literacy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25A3A-DD3E-1779-DC2D-62986B00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545" y="151031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Setup</a:t>
            </a:r>
          </a:p>
          <a:p>
            <a:r>
              <a:rPr lang="en-US" dirty="0"/>
              <a:t>Stimulus: a response from an LLM to a prompt provided to it by a human. The response looks “correct,” but it is not. </a:t>
            </a:r>
          </a:p>
          <a:p>
            <a:r>
              <a:rPr lang="en-US" dirty="0"/>
              <a:t>X = the decision/judgment reached by a person after interacting with AI</a:t>
            </a:r>
          </a:p>
          <a:p>
            <a:r>
              <a:rPr lang="en-US" dirty="0"/>
              <a:t>X = 1 if “correct” or “successful”</a:t>
            </a:r>
          </a:p>
          <a:p>
            <a:r>
              <a:rPr lang="en-US" dirty="0"/>
              <a:t>X = 0 otherwise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857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7CE73-6BAE-9194-22C3-27DEEF96D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Types of LLM “Item”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82737-F813-00C0-891B-A83907C0F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Domain 1: Cheaply verifiable (v = 1)</a:t>
            </a:r>
          </a:p>
          <a:p>
            <a:pPr marL="457200" lvl="1" indent="0">
              <a:buNone/>
            </a:pPr>
            <a:r>
              <a:rPr lang="en-US" sz="2800" dirty="0"/>
              <a:t>A statistics or coding task, a factual question.</a:t>
            </a:r>
          </a:p>
          <a:p>
            <a:pPr marL="457200" lvl="1" indent="0">
              <a:buNone/>
            </a:pPr>
            <a:r>
              <a:rPr lang="en-US" sz="2800" dirty="0"/>
              <a:t>Ground truth exists.</a:t>
            </a:r>
          </a:p>
          <a:p>
            <a:r>
              <a:rPr lang="en-US" dirty="0"/>
              <a:t>Domain 2: Unverifiable or Expensively verifiable (v = 0)</a:t>
            </a:r>
          </a:p>
          <a:p>
            <a:pPr marL="457200" lvl="1" indent="0">
              <a:buNone/>
            </a:pPr>
            <a:r>
              <a:rPr lang="en-US" sz="2800" dirty="0"/>
              <a:t>A funny story for a dinner party.  A successful presentation.</a:t>
            </a:r>
          </a:p>
          <a:p>
            <a:pPr marL="457200" lvl="1" indent="0">
              <a:buNone/>
            </a:pPr>
            <a:r>
              <a:rPr lang="en-US" sz="2800" dirty="0"/>
              <a:t>No ground truth a prior, can only be judged post hoc</a:t>
            </a:r>
          </a:p>
        </p:txBody>
      </p:sp>
    </p:spTree>
    <p:extLst>
      <p:ext uri="{BB962C8B-B14F-4D97-AF65-F5344CB8AC3E}">
        <p14:creationId xmlns:p14="http://schemas.microsoft.com/office/powerpoint/2010/main" val="3116229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A131-DB73-82AF-AC46-D23EA49D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Hypothetical Measurement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15979-15D6-1BE6-8543-995AA94609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/>
                        <m:t>X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 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),  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lang="en-US"/>
                        <m:t>logistic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ar-AE" i="1"/>
              </a:p>
              <a:p>
                <a:pPr lvl="0"/>
                <a:endParaRPr lang="en-US" dirty="0">
                  <a:latin typeface="Cambria Math" panose="020405030504060302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ar-AE"/>
                  <a:t> = </a:t>
                </a:r>
                <a:r>
                  <a:rPr lang="en-US" dirty="0"/>
                  <a:t>critical literacy (attribute of a </a:t>
                </a:r>
                <a:r>
                  <a:rPr lang="en-US" b="1" dirty="0"/>
                  <a:t>person</a:t>
                </a:r>
                <a:r>
                  <a:rPr lang="en-US" dirty="0"/>
                  <a:t>)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= LLM </a:t>
                </a:r>
                <a:r>
                  <a:rPr lang="en-US" b="1" dirty="0"/>
                  <a:t>capability</a:t>
                </a:r>
                <a:r>
                  <a:rPr lang="en-US" dirty="0"/>
                  <a:t> (lower asymptote, [0,1])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= seductiveness of LLM response, ([0,1])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how hard the error is to </a:t>
                </a:r>
                <a:r>
                  <a:rPr lang="en-US" b="1" dirty="0"/>
                  <a:t>catch</a:t>
                </a:r>
                <a:r>
                  <a:rPr lang="en-US" dirty="0"/>
                  <a:t> (on same scale as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= discrimination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15979-15D6-1BE6-8543-995AA94609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37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C8188-7DF7-4E71-9279-D8AA93C35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6297" cy="1325563"/>
          </a:xfrm>
        </p:spPr>
        <p:txBody>
          <a:bodyPr/>
          <a:lstStyle/>
          <a:p>
            <a:r>
              <a:rPr lang="en-US" dirty="0"/>
              <a:t>Item Characteristic Curves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341D31-7E8C-DB12-CE1A-F6EC6CAFC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789" y="1690688"/>
            <a:ext cx="8526080" cy="435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096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642B2-55C6-E800-612B-BAC830611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43E43-DA7A-53C3-C6E0-0EB098419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LLM in both domains: c = .50, s = .45</a:t>
            </a:r>
          </a:p>
          <a:p>
            <a:r>
              <a:rPr lang="en-US" dirty="0"/>
              <a:t>After multiple generations of LLM improvement…</a:t>
            </a:r>
          </a:p>
          <a:p>
            <a:r>
              <a:rPr lang="en-US" dirty="0"/>
              <a:t>s goes up by same amount in each domain to .62</a:t>
            </a:r>
          </a:p>
          <a:p>
            <a:r>
              <a:rPr lang="en-US" dirty="0"/>
              <a:t>for domain v = 1, c converges to a ceiling near 1 (.96)</a:t>
            </a:r>
          </a:p>
          <a:p>
            <a:r>
              <a:rPr lang="en-US" dirty="0"/>
              <a:t>for domain v = 0, c shows very small increase (.50 to .55)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does the psychometric information we get from a single item in each of these domains change?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134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DC25C0-C265-8690-FCD6-4E2381B96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9927" y="283779"/>
            <a:ext cx="9116128" cy="564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55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CFAF-9AB0-1499-723C-571A2F719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to Verify Domains are Better for Measuring Critical Literacy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6B6049-061D-C197-4DC4-FAA826386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026" y="2033752"/>
            <a:ext cx="5796028" cy="32212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69C83C-586F-FF9D-10AF-158123E94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833" y="2069080"/>
            <a:ext cx="5456783" cy="318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68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D0D2B-5E56-F8DE-2982-15EDEC73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AI Literacy is most measurable where AI on its own can help the least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ABA0F9-D321-A714-9930-552BF8954B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920239"/>
              </p:ext>
            </p:extLst>
          </p:nvPr>
        </p:nvGraphicFramePr>
        <p:xfrm>
          <a:off x="420413" y="2484120"/>
          <a:ext cx="11351173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7831">
                  <a:extLst>
                    <a:ext uri="{9D8B030D-6E8A-4147-A177-3AD203B41FA5}">
                      <a16:colId xmlns:a16="http://schemas.microsoft.com/office/drawing/2014/main" val="4266353844"/>
                    </a:ext>
                  </a:extLst>
                </a:gridCol>
                <a:gridCol w="1122638">
                  <a:extLst>
                    <a:ext uri="{9D8B030D-6E8A-4147-A177-3AD203B41FA5}">
                      <a16:colId xmlns:a16="http://schemas.microsoft.com/office/drawing/2014/main" val="4088373113"/>
                    </a:ext>
                  </a:extLst>
                </a:gridCol>
                <a:gridCol w="1140790">
                  <a:extLst>
                    <a:ext uri="{9D8B030D-6E8A-4147-A177-3AD203B41FA5}">
                      <a16:colId xmlns:a16="http://schemas.microsoft.com/office/drawing/2014/main" val="3567741950"/>
                    </a:ext>
                  </a:extLst>
                </a:gridCol>
                <a:gridCol w="2407803">
                  <a:extLst>
                    <a:ext uri="{9D8B030D-6E8A-4147-A177-3AD203B41FA5}">
                      <a16:colId xmlns:a16="http://schemas.microsoft.com/office/drawing/2014/main" val="2631088239"/>
                    </a:ext>
                  </a:extLst>
                </a:gridCol>
                <a:gridCol w="3262111">
                  <a:extLst>
                    <a:ext uri="{9D8B030D-6E8A-4147-A177-3AD203B41FA5}">
                      <a16:colId xmlns:a16="http://schemas.microsoft.com/office/drawing/2014/main" val="2310113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Avg Info per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Number of items needed for reliability = 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396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Shared Early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.1323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411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Frontier LLM in verifiable domain (code)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.0056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284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Frontier LLM in unverifiable domain (jokle)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.0801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535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500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85AAA-74E4-139D-4300-102214513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Instrument Fights the Measurer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A7BAD4-555B-C82B-A31B-ED7EE1026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You measure the human </a:t>
            </a:r>
            <a:r>
              <a:rPr lang="en-US" b="1" dirty="0"/>
              <a:t>through</a:t>
            </a:r>
            <a:r>
              <a:rPr lang="en-US" dirty="0"/>
              <a:t> a non-stationary instrument (an LLM) engineered to </a:t>
            </a:r>
            <a:r>
              <a:rPr lang="en-US" b="1" dirty="0"/>
              <a:t>compress</a:t>
            </a:r>
            <a:r>
              <a:rPr lang="en-US" dirty="0"/>
              <a:t> the construct’s variance.</a:t>
            </a:r>
          </a:p>
          <a:p>
            <a:pPr lvl="0"/>
            <a:r>
              <a:rPr lang="en-US" i="1" dirty="0"/>
              <a:t>Penmanship</a:t>
            </a:r>
            <a:r>
              <a:rPr lang="en-US" dirty="0"/>
              <a:t> in the age of the word processor; </a:t>
            </a:r>
            <a:r>
              <a:rPr lang="en-US" i="1" dirty="0"/>
              <a:t>navigation</a:t>
            </a:r>
            <a:r>
              <a:rPr lang="en-US" dirty="0"/>
              <a:t> in the age of GPS.</a:t>
            </a:r>
          </a:p>
          <a:p>
            <a:pPr lvl="0"/>
            <a:r>
              <a:rPr lang="en-US" dirty="0"/>
              <a:t>A lower asymptote forfeits Rasch’s </a:t>
            </a:r>
            <a:r>
              <a:rPr lang="en-US" b="1" dirty="0"/>
              <a:t>specific objectivity</a:t>
            </a:r>
            <a:r>
              <a:rPr lang="en-US" dirty="0"/>
              <a:t> — AI literacy comparisons are </a:t>
            </a:r>
            <a:r>
              <a:rPr lang="en-US" b="1" dirty="0"/>
              <a:t>non-invariant</a:t>
            </a:r>
            <a:r>
              <a:rPr lang="en-US" dirty="0"/>
              <a:t> to the model/task used.</a:t>
            </a:r>
          </a:p>
          <a:p>
            <a:pPr lvl="0"/>
            <a:r>
              <a:rPr lang="en-US" b="1" dirty="0"/>
              <a:t>Open question:</a:t>
            </a:r>
            <a:r>
              <a:rPr lang="en-US" dirty="0"/>
              <a:t> does unverifiable-domain literacy persist or erode as s increases with c hitting a plateau.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65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071F-D098-9570-939D-2F650417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E1E75-4344-BE4C-1808-CD4B242A5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Measuring LLM </a:t>
            </a:r>
            <a:r>
              <a:rPr lang="en-US" b="1" dirty="0"/>
              <a:t>capability</a:t>
            </a:r>
            <a:r>
              <a:rPr lang="en-US" dirty="0"/>
              <a:t> as a latent trait: largely a category error in absence of substantive theory</a:t>
            </a:r>
            <a:endParaRPr lang="en-US" i="1" dirty="0"/>
          </a:p>
          <a:p>
            <a:pPr lvl="0"/>
            <a:r>
              <a:rPr lang="en-US" dirty="0"/>
              <a:t>Measurement still matters— it is </a:t>
            </a:r>
            <a:r>
              <a:rPr lang="en-US" b="1" dirty="0"/>
              <a:t>relocated</a:t>
            </a:r>
            <a:r>
              <a:rPr lang="en-US" dirty="0"/>
              <a:t>: from the LLM to the human, and made harder to accomplish </a:t>
            </a:r>
            <a:r>
              <a:rPr lang="en-US" i="1" dirty="0"/>
              <a:t>by</a:t>
            </a:r>
            <a:r>
              <a:rPr lang="en-US" dirty="0"/>
              <a:t> the LLM.</a:t>
            </a:r>
          </a:p>
          <a:p>
            <a:pPr lvl="0"/>
            <a:r>
              <a:rPr lang="en-US" dirty="0"/>
              <a:t>AI literacy constructs are socially constructed and in flux — we are at the </a:t>
            </a:r>
            <a:r>
              <a:rPr lang="en-US" b="1" dirty="0"/>
              <a:t>thermoscope</a:t>
            </a:r>
            <a:r>
              <a:rPr lang="en-US" dirty="0"/>
              <a:t> stage.</a:t>
            </a:r>
          </a:p>
          <a:p>
            <a:pPr lvl="0"/>
            <a:r>
              <a:rPr lang="en-US" dirty="0"/>
              <a:t>The jump-off: a design that tests </a:t>
            </a:r>
            <a:r>
              <a:rPr lang="en-US" b="1" dirty="0"/>
              <a:t>compression vs. amplification</a:t>
            </a:r>
            <a:r>
              <a:rPr lang="en-US" dirty="0"/>
              <a:t> of human variance as models improve.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907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F093-FF1D-371D-5842-C7662A7E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FAF05-5375-D68F-FF07-592F66CC5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For details on simulation, transcript of my interactions with Claude Code, slides see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For blog posts on AI Literacy and Informed Skepticism see </a:t>
            </a:r>
            <a:r>
              <a:rPr lang="en-US" dirty="0">
                <a:hlinkClick r:id="rId2"/>
              </a:rPr>
              <a:t>https://derekcbriggs.github.io/blog.html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Or just email me at derek.briggs@colorado.edu</a:t>
            </a:r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33A72BC-B1C7-7EC1-9A94-6D9D900C7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855" y="2190749"/>
            <a:ext cx="1909764" cy="190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0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6403</TotalTime>
  <Words>900</Words>
  <Application>Microsoft Macintosh PowerPoint</Application>
  <PresentationFormat>Widescreen</PresentationFormat>
  <Paragraphs>105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Helvetica Neue Condensed</vt:lpstr>
      <vt:lpstr>Office Theme</vt:lpstr>
      <vt:lpstr>Measuring the User, Not the Model: Critical AI Literacy and the Verification Frontier</vt:lpstr>
      <vt:lpstr>I Have Chosen the Red Pill</vt:lpstr>
      <vt:lpstr>A Meta Example: How I Work with AI</vt:lpstr>
      <vt:lpstr>The Jagged Frontier of LLMs</vt:lpstr>
      <vt:lpstr>Measuring an LLM’s “Intelligence?”</vt:lpstr>
      <vt:lpstr>A Pivot</vt:lpstr>
      <vt:lpstr>Measuring Critical AI Literacy</vt:lpstr>
      <vt:lpstr>Two Types of LLM “Item” Domains</vt:lpstr>
      <vt:lpstr>A Hypothetical Measurement Model</vt:lpstr>
      <vt:lpstr>Item Characteristic Curves</vt:lpstr>
      <vt:lpstr>Simulation</vt:lpstr>
      <vt:lpstr>PowerPoint Presentation</vt:lpstr>
      <vt:lpstr>Hard to Verify Domains are Better for Measuring Critical Literacy</vt:lpstr>
      <vt:lpstr>Critical AI Literacy is most measurable where AI on its own can help the least</vt:lpstr>
      <vt:lpstr>The Instrument Fights the Measurer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Derek Briggs</cp:lastModifiedBy>
  <cp:revision>37</cp:revision>
  <dcterms:created xsi:type="dcterms:W3CDTF">2016-01-26T18:12:20Z</dcterms:created>
  <dcterms:modified xsi:type="dcterms:W3CDTF">2026-06-23T12:21:38Z</dcterms:modified>
</cp:coreProperties>
</file>