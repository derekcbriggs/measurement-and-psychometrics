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handoutMasterIdLst>
    <p:handoutMasterId r:id="rId69"/>
  </p:handoutMasterIdLst>
  <p:sldIdLst>
    <p:sldId id="256" r:id="rId2"/>
    <p:sldId id="257" r:id="rId3"/>
    <p:sldId id="293" r:id="rId4"/>
    <p:sldId id="305" r:id="rId5"/>
    <p:sldId id="264" r:id="rId6"/>
    <p:sldId id="306" r:id="rId7"/>
    <p:sldId id="350" r:id="rId8"/>
    <p:sldId id="258" r:id="rId9"/>
    <p:sldId id="351" r:id="rId10"/>
    <p:sldId id="307" r:id="rId11"/>
    <p:sldId id="259" r:id="rId12"/>
    <p:sldId id="263" r:id="rId13"/>
    <p:sldId id="313" r:id="rId14"/>
    <p:sldId id="294" r:id="rId15"/>
    <p:sldId id="266" r:id="rId16"/>
    <p:sldId id="352" r:id="rId17"/>
    <p:sldId id="370" r:id="rId18"/>
    <p:sldId id="262" r:id="rId19"/>
    <p:sldId id="267" r:id="rId20"/>
    <p:sldId id="268" r:id="rId21"/>
    <p:sldId id="269" r:id="rId22"/>
    <p:sldId id="270" r:id="rId23"/>
    <p:sldId id="310" r:id="rId24"/>
    <p:sldId id="309" r:id="rId25"/>
    <p:sldId id="295" r:id="rId26"/>
    <p:sldId id="280" r:id="rId27"/>
    <p:sldId id="354" r:id="rId28"/>
    <p:sldId id="355" r:id="rId29"/>
    <p:sldId id="356" r:id="rId30"/>
    <p:sldId id="357" r:id="rId31"/>
    <p:sldId id="358" r:id="rId32"/>
    <p:sldId id="359" r:id="rId33"/>
    <p:sldId id="360" r:id="rId34"/>
    <p:sldId id="327" r:id="rId35"/>
    <p:sldId id="362" r:id="rId36"/>
    <p:sldId id="361" r:id="rId37"/>
    <p:sldId id="349" r:id="rId38"/>
    <p:sldId id="317" r:id="rId39"/>
    <p:sldId id="318" r:id="rId40"/>
    <p:sldId id="319" r:id="rId41"/>
    <p:sldId id="320" r:id="rId42"/>
    <p:sldId id="321" r:id="rId43"/>
    <p:sldId id="322" r:id="rId44"/>
    <p:sldId id="323" r:id="rId45"/>
    <p:sldId id="324" r:id="rId46"/>
    <p:sldId id="325" r:id="rId47"/>
    <p:sldId id="328" r:id="rId48"/>
    <p:sldId id="329" r:id="rId49"/>
    <p:sldId id="330" r:id="rId50"/>
    <p:sldId id="331" r:id="rId51"/>
    <p:sldId id="333" r:id="rId52"/>
    <p:sldId id="334" r:id="rId53"/>
    <p:sldId id="364" r:id="rId54"/>
    <p:sldId id="336" r:id="rId55"/>
    <p:sldId id="335" r:id="rId56"/>
    <p:sldId id="337" r:id="rId57"/>
    <p:sldId id="338" r:id="rId58"/>
    <p:sldId id="339" r:id="rId59"/>
    <p:sldId id="365" r:id="rId60"/>
    <p:sldId id="340" r:id="rId61"/>
    <p:sldId id="341" r:id="rId62"/>
    <p:sldId id="342" r:id="rId63"/>
    <p:sldId id="343" r:id="rId64"/>
    <p:sldId id="366" r:id="rId65"/>
    <p:sldId id="367" r:id="rId66"/>
    <p:sldId id="369" r:id="rId6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49"/>
    <p:restoredTop sz="92740"/>
  </p:normalViewPr>
  <p:slideViewPr>
    <p:cSldViewPr>
      <p:cViewPr varScale="1">
        <p:scale>
          <a:sx n="117" d="100"/>
          <a:sy n="117" d="100"/>
        </p:scale>
        <p:origin x="640" y="184"/>
      </p:cViewPr>
      <p:guideLst>
        <p:guide orient="horz" pos="2160"/>
        <p:guide pos="3840"/>
      </p:guideLst>
    </p:cSldViewPr>
  </p:slideViewPr>
  <p:notesTextViewPr>
    <p:cViewPr>
      <p:scale>
        <a:sx n="100" d="100"/>
        <a:sy n="100" d="100"/>
      </p:scale>
      <p:origin x="0" y="0"/>
    </p:cViewPr>
  </p:notesTextViewPr>
  <p:notesViewPr>
    <p:cSldViewPr>
      <p:cViewPr varScale="1">
        <p:scale>
          <a:sx n="69" d="100"/>
          <a:sy n="69" d="100"/>
        </p:scale>
        <p:origin x="1864" y="2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27CCE47B-A26E-5547-BDF1-6D7DF1C6166D}" type="datetime1">
              <a:rPr lang="en-US"/>
              <a:pPr>
                <a:defRPr/>
              </a:pPr>
              <a:t>3/29/26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EA3872C4-25D2-9844-9DFD-DF42A5CFC625}" type="slidenum">
              <a:rPr lang="en-US"/>
              <a:pPr>
                <a:defRPr/>
              </a:pPr>
              <a:t>‹#›</a:t>
            </a:fld>
            <a:endParaRPr lang="en-US"/>
          </a:p>
        </p:txBody>
      </p:sp>
    </p:spTree>
    <p:extLst>
      <p:ext uri="{BB962C8B-B14F-4D97-AF65-F5344CB8AC3E}">
        <p14:creationId xmlns:p14="http://schemas.microsoft.com/office/powerpoint/2010/main" val="37659163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843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843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43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843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B26B33D-CB29-5247-ABCE-798B73D55961}" type="slidenum">
              <a:rPr lang="en-US"/>
              <a:pPr>
                <a:defRPr/>
              </a:pPr>
              <a:t>‹#›</a:t>
            </a:fld>
            <a:endParaRPr lang="en-US"/>
          </a:p>
        </p:txBody>
      </p:sp>
    </p:spTree>
    <p:extLst>
      <p:ext uri="{BB962C8B-B14F-4D97-AF65-F5344CB8AC3E}">
        <p14:creationId xmlns:p14="http://schemas.microsoft.com/office/powerpoint/2010/main" val="412182585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7BC5275-A779-474E-8196-C060CF40EE72}" type="slidenum">
              <a:rPr lang="en-US" sz="1200"/>
              <a:pPr eaLnBrk="1" hangingPunct="1"/>
              <a:t>1</a:t>
            </a:fld>
            <a:endParaRPr lang="en-US" sz="1200"/>
          </a:p>
        </p:txBody>
      </p:sp>
      <p:sp>
        <p:nvSpPr>
          <p:cNvPr id="17410" name="Rectangle 2"/>
          <p:cNvSpPr>
            <a:spLocks noGrp="1" noRot="1" noChangeAspect="1" noChangeArrowheads="1" noTextEdit="1"/>
          </p:cNvSpPr>
          <p:nvPr>
            <p:ph type="sldImg"/>
          </p:nvPr>
        </p:nvSpPr>
        <p:spPr>
          <a:xfrm>
            <a:off x="381000" y="685800"/>
            <a:ext cx="6096000" cy="3429000"/>
          </a:xfrm>
          <a:ln/>
        </p:spPr>
      </p:sp>
      <p:sp>
        <p:nvSpPr>
          <p:cNvPr id="1741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70448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EB88605-305F-A64D-8E4F-7D12F1DDD66C}" type="slidenum">
              <a:rPr lang="en-US" sz="1200"/>
              <a:pPr eaLnBrk="1" hangingPunct="1"/>
              <a:t>2</a:t>
            </a:fld>
            <a:endParaRPr lang="en-US" sz="1200"/>
          </a:p>
        </p:txBody>
      </p:sp>
      <p:sp>
        <p:nvSpPr>
          <p:cNvPr id="19458" name="Rectangle 2"/>
          <p:cNvSpPr>
            <a:spLocks noGrp="1" noRot="1" noChangeAspect="1" noChangeArrowheads="1" noTextEdit="1"/>
          </p:cNvSpPr>
          <p:nvPr>
            <p:ph type="sldImg"/>
          </p:nvPr>
        </p:nvSpPr>
        <p:spPr>
          <a:xfrm>
            <a:off x="381000" y="685800"/>
            <a:ext cx="6096000" cy="3429000"/>
          </a:xfrm>
          <a:ln/>
        </p:spPr>
      </p:sp>
      <p:sp>
        <p:nvSpPr>
          <p:cNvPr id="1945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24574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819C62-8848-3848-9461-9783E54D3951}" type="slidenum">
              <a:rPr lang="en-US" sz="1200"/>
              <a:pPr eaLnBrk="1" hangingPunct="1"/>
              <a:t>5</a:t>
            </a:fld>
            <a:endParaRPr lang="en-US" sz="1200"/>
          </a:p>
        </p:txBody>
      </p:sp>
      <p:sp>
        <p:nvSpPr>
          <p:cNvPr id="32770" name="Rectangle 2"/>
          <p:cNvSpPr>
            <a:spLocks noGrp="1" noRot="1" noChangeAspect="1" noChangeArrowheads="1" noTextEdit="1"/>
          </p:cNvSpPr>
          <p:nvPr>
            <p:ph type="sldImg"/>
          </p:nvPr>
        </p:nvSpPr>
        <p:spPr>
          <a:xfrm>
            <a:off x="381000" y="685800"/>
            <a:ext cx="6096000" cy="3429000"/>
          </a:xfrm>
          <a:ln/>
        </p:spPr>
      </p:sp>
      <p:sp>
        <p:nvSpPr>
          <p:cNvPr id="3277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945368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6663B11-1C93-BC42-8E93-181B434C5605}" type="slidenum">
              <a:rPr lang="en-US" sz="1200"/>
              <a:pPr eaLnBrk="1" hangingPunct="1"/>
              <a:t>6</a:t>
            </a:fld>
            <a:endParaRPr lang="en-US" sz="1200"/>
          </a:p>
        </p:txBody>
      </p:sp>
      <p:sp>
        <p:nvSpPr>
          <p:cNvPr id="24578" name="Rectangle 2"/>
          <p:cNvSpPr>
            <a:spLocks noGrp="1" noRot="1" noChangeAspect="1" noChangeArrowheads="1" noTextEdit="1"/>
          </p:cNvSpPr>
          <p:nvPr>
            <p:ph type="sldImg"/>
          </p:nvPr>
        </p:nvSpPr>
        <p:spPr>
          <a:xfrm>
            <a:off x="381000" y="685800"/>
            <a:ext cx="6096000" cy="3429000"/>
          </a:xfrm>
          <a:ln/>
        </p:spPr>
      </p:sp>
      <p:sp>
        <p:nvSpPr>
          <p:cNvPr id="2457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505577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6663B11-1C93-BC42-8E93-181B434C5605}" type="slidenum">
              <a:rPr lang="en-US" sz="1200"/>
              <a:pPr eaLnBrk="1" hangingPunct="1"/>
              <a:t>7</a:t>
            </a:fld>
            <a:endParaRPr lang="en-US" sz="1200"/>
          </a:p>
        </p:txBody>
      </p:sp>
      <p:sp>
        <p:nvSpPr>
          <p:cNvPr id="24578" name="Rectangle 2"/>
          <p:cNvSpPr>
            <a:spLocks noGrp="1" noRot="1" noChangeAspect="1" noChangeArrowheads="1" noTextEdit="1"/>
          </p:cNvSpPr>
          <p:nvPr>
            <p:ph type="sldImg"/>
          </p:nvPr>
        </p:nvSpPr>
        <p:spPr>
          <a:xfrm>
            <a:off x="381000" y="685800"/>
            <a:ext cx="6096000" cy="3429000"/>
          </a:xfrm>
          <a:ln/>
        </p:spPr>
      </p:sp>
      <p:sp>
        <p:nvSpPr>
          <p:cNvPr id="2457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268794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9025C3C-CCAB-214C-A351-CA1A71077AE8}" type="slidenum">
              <a:rPr lang="en-US" sz="1200"/>
              <a:pPr eaLnBrk="1" hangingPunct="1"/>
              <a:t>8</a:t>
            </a:fld>
            <a:endParaRPr lang="en-US" sz="1200"/>
          </a:p>
        </p:txBody>
      </p:sp>
      <p:sp>
        <p:nvSpPr>
          <p:cNvPr id="22530" name="Rectangle 2"/>
          <p:cNvSpPr>
            <a:spLocks noGrp="1" noRot="1" noChangeAspect="1" noChangeArrowheads="1" noTextEdit="1"/>
          </p:cNvSpPr>
          <p:nvPr>
            <p:ph type="sldImg"/>
          </p:nvPr>
        </p:nvSpPr>
        <p:spPr>
          <a:xfrm>
            <a:off x="381000" y="685800"/>
            <a:ext cx="6096000" cy="3429000"/>
          </a:xfrm>
          <a:ln/>
        </p:spPr>
      </p:sp>
      <p:sp>
        <p:nvSpPr>
          <p:cNvPr id="2253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38372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9697016-5399-9547-857F-F177DD5EDEC4}" type="slidenum">
              <a:rPr lang="en-US" sz="1200"/>
              <a:pPr eaLnBrk="1" hangingPunct="1"/>
              <a:t>11</a:t>
            </a:fld>
            <a:endParaRPr lang="en-US" sz="1200"/>
          </a:p>
        </p:txBody>
      </p:sp>
      <p:sp>
        <p:nvSpPr>
          <p:cNvPr id="28674" name="Rectangle 2"/>
          <p:cNvSpPr>
            <a:spLocks noGrp="1" noRot="1" noChangeAspect="1" noChangeArrowheads="1" noTextEdit="1"/>
          </p:cNvSpPr>
          <p:nvPr>
            <p:ph type="sldImg"/>
          </p:nvPr>
        </p:nvSpPr>
        <p:spPr>
          <a:xfrm>
            <a:off x="381000" y="685800"/>
            <a:ext cx="6096000" cy="3429000"/>
          </a:xfrm>
          <a:ln/>
        </p:spPr>
      </p:sp>
      <p:sp>
        <p:nvSpPr>
          <p:cNvPr id="28675"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125684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42CBB2A-09D2-7246-864A-7D06E1B9CF25}" type="slidenum">
              <a:rPr lang="en-US" sz="1200"/>
              <a:pPr eaLnBrk="1" hangingPunct="1"/>
              <a:t>12</a:t>
            </a:fld>
            <a:endParaRPr lang="en-US" sz="1200"/>
          </a:p>
        </p:txBody>
      </p:sp>
      <p:sp>
        <p:nvSpPr>
          <p:cNvPr id="30722" name="Rectangle 2"/>
          <p:cNvSpPr>
            <a:spLocks noGrp="1" noRot="1" noChangeAspect="1" noChangeArrowheads="1" noTextEdit="1"/>
          </p:cNvSpPr>
          <p:nvPr>
            <p:ph type="sldImg"/>
          </p:nvPr>
        </p:nvSpPr>
        <p:spPr>
          <a:xfrm>
            <a:off x="381000" y="685800"/>
            <a:ext cx="6096000" cy="3429000"/>
          </a:xfrm>
          <a:ln/>
        </p:spPr>
      </p:sp>
      <p:sp>
        <p:nvSpPr>
          <p:cNvPr id="3072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54663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29ABE69-8E57-2744-9ED7-6C56F3937C52}" type="slidenum">
              <a:rPr lang="en-US" sz="1200"/>
              <a:pPr eaLnBrk="1" hangingPunct="1"/>
              <a:t>15</a:t>
            </a:fld>
            <a:endParaRPr lang="en-US" sz="1200"/>
          </a:p>
        </p:txBody>
      </p:sp>
      <p:sp>
        <p:nvSpPr>
          <p:cNvPr id="35842" name="Rectangle 2"/>
          <p:cNvSpPr>
            <a:spLocks noGrp="1" noRot="1" noChangeAspect="1" noChangeArrowheads="1" noTextEdit="1"/>
          </p:cNvSpPr>
          <p:nvPr>
            <p:ph type="sldImg"/>
          </p:nvPr>
        </p:nvSpPr>
        <p:spPr>
          <a:xfrm>
            <a:off x="381000" y="685800"/>
            <a:ext cx="6096000" cy="3429000"/>
          </a:xfrm>
          <a:ln/>
        </p:spPr>
      </p:sp>
      <p:sp>
        <p:nvSpPr>
          <p:cNvPr id="3584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80931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819C62-8848-3848-9461-9783E54D3951}" type="slidenum">
              <a:rPr lang="en-US" sz="1200"/>
              <a:pPr eaLnBrk="1" hangingPunct="1"/>
              <a:t>17</a:t>
            </a:fld>
            <a:endParaRPr lang="en-US" sz="1200"/>
          </a:p>
        </p:txBody>
      </p:sp>
      <p:sp>
        <p:nvSpPr>
          <p:cNvPr id="32770" name="Rectangle 2"/>
          <p:cNvSpPr>
            <a:spLocks noGrp="1" noRot="1" noChangeAspect="1" noChangeArrowheads="1" noTextEdit="1"/>
          </p:cNvSpPr>
          <p:nvPr>
            <p:ph type="sldImg"/>
          </p:nvPr>
        </p:nvSpPr>
        <p:spPr>
          <a:xfrm>
            <a:off x="381000" y="685800"/>
            <a:ext cx="6096000" cy="3429000"/>
          </a:xfrm>
          <a:ln/>
        </p:spPr>
      </p:sp>
      <p:sp>
        <p:nvSpPr>
          <p:cNvPr id="3277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868579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B5EE769-0237-6348-9B4B-7220B7C3E3D2}" type="slidenum">
              <a:rPr lang="en-US" sz="1200"/>
              <a:pPr eaLnBrk="1" hangingPunct="1"/>
              <a:t>18</a:t>
            </a:fld>
            <a:endParaRPr lang="en-US" sz="1200"/>
          </a:p>
        </p:txBody>
      </p:sp>
      <p:sp>
        <p:nvSpPr>
          <p:cNvPr id="37890" name="Rectangle 2"/>
          <p:cNvSpPr>
            <a:spLocks noGrp="1" noRot="1" noChangeAspect="1" noChangeArrowheads="1" noTextEdit="1"/>
          </p:cNvSpPr>
          <p:nvPr>
            <p:ph type="sldImg"/>
          </p:nvPr>
        </p:nvSpPr>
        <p:spPr>
          <a:xfrm>
            <a:off x="381000" y="685800"/>
            <a:ext cx="6096000" cy="3429000"/>
          </a:xfrm>
          <a:ln/>
        </p:spPr>
      </p:sp>
      <p:sp>
        <p:nvSpPr>
          <p:cNvPr id="3789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441134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C52F57E-7E63-FE44-A7A1-680846B69FCD}" type="slidenum">
              <a:rPr lang="en-US" sz="1200"/>
              <a:pPr eaLnBrk="1" hangingPunct="1"/>
              <a:t>19</a:t>
            </a:fld>
            <a:endParaRPr lang="en-US" sz="1200"/>
          </a:p>
        </p:txBody>
      </p:sp>
      <p:sp>
        <p:nvSpPr>
          <p:cNvPr id="39938" name="Rectangle 2"/>
          <p:cNvSpPr>
            <a:spLocks noGrp="1" noRot="1" noChangeAspect="1" noChangeArrowheads="1" noTextEdit="1"/>
          </p:cNvSpPr>
          <p:nvPr>
            <p:ph type="sldImg"/>
          </p:nvPr>
        </p:nvSpPr>
        <p:spPr>
          <a:xfrm>
            <a:off x="381000" y="685800"/>
            <a:ext cx="6096000" cy="3429000"/>
          </a:xfrm>
          <a:ln/>
        </p:spPr>
      </p:sp>
      <p:sp>
        <p:nvSpPr>
          <p:cNvPr id="3993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833542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F893215-7EF5-DC4A-8B0C-F40F21FE8761}" type="slidenum">
              <a:rPr lang="en-US" sz="1200"/>
              <a:pPr eaLnBrk="1" hangingPunct="1"/>
              <a:t>20</a:t>
            </a:fld>
            <a:endParaRPr lang="en-US" sz="1200"/>
          </a:p>
        </p:txBody>
      </p:sp>
      <p:sp>
        <p:nvSpPr>
          <p:cNvPr id="41986" name="Rectangle 2"/>
          <p:cNvSpPr>
            <a:spLocks noGrp="1" noRot="1" noChangeAspect="1" noChangeArrowheads="1" noTextEdit="1"/>
          </p:cNvSpPr>
          <p:nvPr>
            <p:ph type="sldImg"/>
          </p:nvPr>
        </p:nvSpPr>
        <p:spPr>
          <a:xfrm>
            <a:off x="381000" y="685800"/>
            <a:ext cx="6096000" cy="3429000"/>
          </a:xfrm>
          <a:ln/>
        </p:spPr>
      </p:sp>
      <p:sp>
        <p:nvSpPr>
          <p:cNvPr id="4198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23617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219662B-1BA8-8342-B505-A9B6C754276F}" type="slidenum">
              <a:rPr lang="en-US" sz="1200"/>
              <a:pPr eaLnBrk="1" hangingPunct="1"/>
              <a:t>21</a:t>
            </a:fld>
            <a:endParaRPr lang="en-US" sz="1200"/>
          </a:p>
        </p:txBody>
      </p:sp>
      <p:sp>
        <p:nvSpPr>
          <p:cNvPr id="44034" name="Rectangle 2"/>
          <p:cNvSpPr>
            <a:spLocks noGrp="1" noRot="1" noChangeAspect="1" noChangeArrowheads="1" noTextEdit="1"/>
          </p:cNvSpPr>
          <p:nvPr>
            <p:ph type="sldImg"/>
          </p:nvPr>
        </p:nvSpPr>
        <p:spPr>
          <a:xfrm>
            <a:off x="381000" y="685800"/>
            <a:ext cx="6096000" cy="3429000"/>
          </a:xfrm>
          <a:ln/>
        </p:spPr>
      </p:sp>
      <p:sp>
        <p:nvSpPr>
          <p:cNvPr id="44035"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62811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25E3B15-2CC1-5342-B22E-E7F1A8C51274}" type="slidenum">
              <a:rPr lang="en-US" sz="1200"/>
              <a:pPr eaLnBrk="1" hangingPunct="1"/>
              <a:t>22</a:t>
            </a:fld>
            <a:endParaRPr lang="en-US" sz="1200"/>
          </a:p>
        </p:txBody>
      </p:sp>
      <p:sp>
        <p:nvSpPr>
          <p:cNvPr id="46082" name="Rectangle 2"/>
          <p:cNvSpPr>
            <a:spLocks noGrp="1" noRot="1" noChangeAspect="1" noChangeArrowheads="1" noTextEdit="1"/>
          </p:cNvSpPr>
          <p:nvPr>
            <p:ph type="sldImg"/>
          </p:nvPr>
        </p:nvSpPr>
        <p:spPr>
          <a:xfrm>
            <a:off x="381000" y="685800"/>
            <a:ext cx="6096000" cy="3429000"/>
          </a:xfrm>
          <a:ln/>
        </p:spPr>
      </p:sp>
      <p:sp>
        <p:nvSpPr>
          <p:cNvPr id="4608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847695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BEDAFA8-6C38-714C-86B4-375395850710}" type="slidenum">
              <a:rPr lang="en-US" sz="1200"/>
              <a:pPr eaLnBrk="1" hangingPunct="1"/>
              <a:t>26</a:t>
            </a:fld>
            <a:endParaRPr lang="en-US" sz="1200"/>
          </a:p>
        </p:txBody>
      </p:sp>
      <p:sp>
        <p:nvSpPr>
          <p:cNvPr id="61442" name="Rectangle 2"/>
          <p:cNvSpPr>
            <a:spLocks noGrp="1" noRot="1" noChangeAspect="1" noChangeArrowheads="1" noTextEdit="1"/>
          </p:cNvSpPr>
          <p:nvPr>
            <p:ph type="sldImg"/>
          </p:nvPr>
        </p:nvSpPr>
        <p:spPr>
          <a:xfrm>
            <a:off x="381000" y="685800"/>
            <a:ext cx="6096000" cy="3429000"/>
          </a:xfrm>
          <a:ln/>
        </p:spPr>
      </p:sp>
      <p:sp>
        <p:nvSpPr>
          <p:cNvPr id="6144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272542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BEDAFA8-6C38-714C-86B4-375395850710}" type="slidenum">
              <a:rPr lang="en-US" sz="1200"/>
              <a:pPr eaLnBrk="1" hangingPunct="1"/>
              <a:t>35</a:t>
            </a:fld>
            <a:endParaRPr lang="en-US" sz="1200"/>
          </a:p>
        </p:txBody>
      </p:sp>
      <p:sp>
        <p:nvSpPr>
          <p:cNvPr id="61442" name="Rectangle 2"/>
          <p:cNvSpPr>
            <a:spLocks noGrp="1" noRot="1" noChangeAspect="1" noChangeArrowheads="1" noTextEdit="1"/>
          </p:cNvSpPr>
          <p:nvPr>
            <p:ph type="sldImg"/>
          </p:nvPr>
        </p:nvSpPr>
        <p:spPr>
          <a:xfrm>
            <a:off x="381000" y="685800"/>
            <a:ext cx="6096000" cy="3429000"/>
          </a:xfrm>
          <a:ln/>
        </p:spPr>
      </p:sp>
      <p:sp>
        <p:nvSpPr>
          <p:cNvPr id="6144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962923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Note this item actually shows evidence of DIF in favor</a:t>
            </a:r>
            <a:r>
              <a:rPr lang="en-US" baseline="0"/>
              <a:t> of females</a:t>
            </a:r>
            <a:endParaRPr lang="en-US"/>
          </a:p>
        </p:txBody>
      </p:sp>
      <p:sp>
        <p:nvSpPr>
          <p:cNvPr id="4" name="Slide Number Placeholder 3"/>
          <p:cNvSpPr>
            <a:spLocks noGrp="1"/>
          </p:cNvSpPr>
          <p:nvPr>
            <p:ph type="sldNum" sz="quarter" idx="10"/>
          </p:nvPr>
        </p:nvSpPr>
        <p:spPr/>
        <p:txBody>
          <a:bodyPr/>
          <a:lstStyle/>
          <a:p>
            <a:pPr>
              <a:defRPr/>
            </a:pPr>
            <a:fld id="{BB26B33D-CB29-5247-ABCE-798B73D55961}" type="slidenum">
              <a:rPr lang="en-US"/>
              <a:pPr>
                <a:defRPr/>
              </a:pPr>
              <a:t>54</a:t>
            </a:fld>
            <a:endParaRPr lang="en-US"/>
          </a:p>
        </p:txBody>
      </p:sp>
    </p:spTree>
    <p:extLst>
      <p:ext uri="{BB962C8B-B14F-4D97-AF65-F5344CB8AC3E}">
        <p14:creationId xmlns:p14="http://schemas.microsoft.com/office/powerpoint/2010/main" val="614477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First example of strong non-uniform DIF</a:t>
            </a:r>
          </a:p>
        </p:txBody>
      </p:sp>
      <p:sp>
        <p:nvSpPr>
          <p:cNvPr id="4" name="Slide Number Placeholder 3"/>
          <p:cNvSpPr>
            <a:spLocks noGrp="1"/>
          </p:cNvSpPr>
          <p:nvPr>
            <p:ph type="sldNum" sz="quarter" idx="10"/>
          </p:nvPr>
        </p:nvSpPr>
        <p:spPr/>
        <p:txBody>
          <a:bodyPr/>
          <a:lstStyle/>
          <a:p>
            <a:pPr>
              <a:defRPr/>
            </a:pPr>
            <a:fld id="{BB26B33D-CB29-5247-ABCE-798B73D55961}" type="slidenum">
              <a:rPr lang="en-US"/>
              <a:pPr>
                <a:defRPr/>
              </a:pPr>
              <a:t>57</a:t>
            </a:fld>
            <a:endParaRPr lang="en-US"/>
          </a:p>
        </p:txBody>
      </p:sp>
    </p:spTree>
    <p:extLst>
      <p:ext uri="{BB962C8B-B14F-4D97-AF65-F5344CB8AC3E}">
        <p14:creationId xmlns:p14="http://schemas.microsoft.com/office/powerpoint/2010/main" val="1440447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BB26B33D-CB29-5247-ABCE-798B73D55961}" type="slidenum">
              <a:rPr lang="en-US"/>
              <a:pPr>
                <a:defRPr/>
              </a:pPr>
              <a:t>63</a:t>
            </a:fld>
            <a:endParaRPr lang="en-US"/>
          </a:p>
        </p:txBody>
      </p:sp>
    </p:spTree>
    <p:extLst>
      <p:ext uri="{BB962C8B-B14F-4D97-AF65-F5344CB8AC3E}">
        <p14:creationId xmlns:p14="http://schemas.microsoft.com/office/powerpoint/2010/main" val="1193799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14F3AC0-9308-2448-9DF1-85ADE8EBD5DA}" type="slidenum">
              <a:rPr lang="en-US"/>
              <a:pPr>
                <a:defRPr/>
              </a:pPr>
              <a:t>‹#›</a:t>
            </a:fld>
            <a:endParaRPr lang="en-US"/>
          </a:p>
        </p:txBody>
      </p:sp>
    </p:spTree>
    <p:extLst>
      <p:ext uri="{BB962C8B-B14F-4D97-AF65-F5344CB8AC3E}">
        <p14:creationId xmlns:p14="http://schemas.microsoft.com/office/powerpoint/2010/main" val="1360458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atin typeface="Calibri" charset="0"/>
                <a:ea typeface="Calibri" charset="0"/>
                <a:cs typeface="Calibri" charset="0"/>
              </a:defRPr>
            </a:lvl1pPr>
          </a:lstStyle>
          <a:p>
            <a:r>
              <a:rPr lang="en-US"/>
              <a:t>Click to edit Master title style</a:t>
            </a:r>
          </a:p>
        </p:txBody>
      </p:sp>
      <p:sp>
        <p:nvSpPr>
          <p:cNvPr id="3" name="Content Placeholder 2"/>
          <p:cNvSpPr>
            <a:spLocks noGrp="1"/>
          </p:cNvSpPr>
          <p:nvPr>
            <p:ph idx="1"/>
          </p:nvPr>
        </p:nvSpPr>
        <p:spPr/>
        <p:txBody>
          <a:bodyPr/>
          <a:lstStyle>
            <a:lvl1pPr>
              <a:defRPr sz="2800">
                <a:latin typeface="Calibri" charset="0"/>
                <a:ea typeface="Calibri" charset="0"/>
                <a:cs typeface="Calibri" charset="0"/>
              </a:defRPr>
            </a:lvl1pPr>
            <a:lvl2pPr>
              <a:defRPr>
                <a:latin typeface="Calibri" charset="0"/>
                <a:ea typeface="Calibri" charset="0"/>
                <a:cs typeface="Calibri" charset="0"/>
              </a:defRPr>
            </a:lvl2pPr>
            <a:lvl3pPr>
              <a:defRPr>
                <a:latin typeface="Calibri" charset="0"/>
                <a:ea typeface="Calibri" charset="0"/>
                <a:cs typeface="Calibri" charset="0"/>
              </a:defRPr>
            </a:lvl3pPr>
            <a:lvl4pPr>
              <a:defRPr>
                <a:latin typeface="Calibri" charset="0"/>
                <a:ea typeface="Calibri" charset="0"/>
                <a:cs typeface="Calibri" charset="0"/>
              </a:defRPr>
            </a:lvl4pPr>
            <a:lvl5pPr>
              <a:defRPr>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D98E987-055C-A941-82AA-E638330DCBBF}" type="slidenum">
              <a:rPr lang="en-US"/>
              <a:pPr>
                <a:defRPr/>
              </a:pPr>
              <a:t>‹#›</a:t>
            </a:fld>
            <a:endParaRPr lang="en-US"/>
          </a:p>
        </p:txBody>
      </p:sp>
    </p:spTree>
    <p:extLst>
      <p:ext uri="{BB962C8B-B14F-4D97-AF65-F5344CB8AC3E}">
        <p14:creationId xmlns:p14="http://schemas.microsoft.com/office/powerpoint/2010/main" val="3766922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DE00AD4-FF06-074E-9132-BA0772A687F5}" type="slidenum">
              <a:rPr lang="en-US"/>
              <a:pPr>
                <a:defRPr/>
              </a:pPr>
              <a:t>‹#›</a:t>
            </a:fld>
            <a:endParaRPr lang="en-US"/>
          </a:p>
        </p:txBody>
      </p:sp>
    </p:spTree>
    <p:extLst>
      <p:ext uri="{BB962C8B-B14F-4D97-AF65-F5344CB8AC3E}">
        <p14:creationId xmlns:p14="http://schemas.microsoft.com/office/powerpoint/2010/main" val="1856175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E9550E6-1534-DB42-98C7-E49F9982025C}" type="slidenum">
              <a:rPr lang="en-US"/>
              <a:pPr>
                <a:defRPr/>
              </a:pPr>
              <a:t>‹#›</a:t>
            </a:fld>
            <a:endParaRPr lang="en-US"/>
          </a:p>
        </p:txBody>
      </p:sp>
    </p:spTree>
    <p:extLst>
      <p:ext uri="{BB962C8B-B14F-4D97-AF65-F5344CB8AC3E}">
        <p14:creationId xmlns:p14="http://schemas.microsoft.com/office/powerpoint/2010/main" val="1922640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713CAD4-FAFE-4D44-87E7-909887E167EB}" type="slidenum">
              <a:rPr lang="en-US"/>
              <a:pPr>
                <a:defRPr/>
              </a:pPr>
              <a:t>‹#›</a:t>
            </a:fld>
            <a:endParaRPr lang="en-US"/>
          </a:p>
        </p:txBody>
      </p:sp>
    </p:spTree>
    <p:extLst>
      <p:ext uri="{BB962C8B-B14F-4D97-AF65-F5344CB8AC3E}">
        <p14:creationId xmlns:p14="http://schemas.microsoft.com/office/powerpoint/2010/main" val="1640368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DE0553F-59EC-EE44-9023-41260CCCA7EC}" type="slidenum">
              <a:rPr lang="en-US"/>
              <a:pPr>
                <a:defRPr/>
              </a:pPr>
              <a:t>‹#›</a:t>
            </a:fld>
            <a:endParaRPr lang="en-US"/>
          </a:p>
        </p:txBody>
      </p:sp>
    </p:spTree>
    <p:extLst>
      <p:ext uri="{BB962C8B-B14F-4D97-AF65-F5344CB8AC3E}">
        <p14:creationId xmlns:p14="http://schemas.microsoft.com/office/powerpoint/2010/main" val="3174442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2792DE7-658D-A340-982F-16F3F548D202}" type="slidenum">
              <a:rPr lang="en-US"/>
              <a:pPr>
                <a:defRPr/>
              </a:pPr>
              <a:t>‹#›</a:t>
            </a:fld>
            <a:endParaRPr lang="en-US"/>
          </a:p>
        </p:txBody>
      </p:sp>
    </p:spTree>
    <p:extLst>
      <p:ext uri="{BB962C8B-B14F-4D97-AF65-F5344CB8AC3E}">
        <p14:creationId xmlns:p14="http://schemas.microsoft.com/office/powerpoint/2010/main" val="2111859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9C81B32-5B14-454E-8EA9-6FA39FB0BB2F}" type="slidenum">
              <a:rPr lang="en-US"/>
              <a:pPr>
                <a:defRPr/>
              </a:pPr>
              <a:t>‹#›</a:t>
            </a:fld>
            <a:endParaRPr lang="en-US"/>
          </a:p>
        </p:txBody>
      </p:sp>
    </p:spTree>
    <p:extLst>
      <p:ext uri="{BB962C8B-B14F-4D97-AF65-F5344CB8AC3E}">
        <p14:creationId xmlns:p14="http://schemas.microsoft.com/office/powerpoint/2010/main" val="3053617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FF509FE-F3CF-3E45-8E1F-D9C085BFE9B0}" type="slidenum">
              <a:rPr lang="en-US"/>
              <a:pPr>
                <a:defRPr/>
              </a:pPr>
              <a:t>‹#›</a:t>
            </a:fld>
            <a:endParaRPr lang="en-US"/>
          </a:p>
        </p:txBody>
      </p:sp>
    </p:spTree>
    <p:extLst>
      <p:ext uri="{BB962C8B-B14F-4D97-AF65-F5344CB8AC3E}">
        <p14:creationId xmlns:p14="http://schemas.microsoft.com/office/powerpoint/2010/main" val="3951915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6ED065D-871D-3841-86BE-BB11381BCC50}" type="slidenum">
              <a:rPr lang="en-US"/>
              <a:pPr>
                <a:defRPr/>
              </a:pPr>
              <a:t>‹#›</a:t>
            </a:fld>
            <a:endParaRPr lang="en-US"/>
          </a:p>
        </p:txBody>
      </p:sp>
    </p:spTree>
    <p:extLst>
      <p:ext uri="{BB962C8B-B14F-4D97-AF65-F5344CB8AC3E}">
        <p14:creationId xmlns:p14="http://schemas.microsoft.com/office/powerpoint/2010/main" val="3720285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D51CE7F-FED8-D94C-9F5A-11579DCCD5E5}" type="slidenum">
              <a:rPr lang="en-US"/>
              <a:pPr>
                <a:defRPr/>
              </a:pPr>
              <a:t>‹#›</a:t>
            </a:fld>
            <a:endParaRPr lang="en-US"/>
          </a:p>
        </p:txBody>
      </p:sp>
    </p:spTree>
    <p:extLst>
      <p:ext uri="{BB962C8B-B14F-4D97-AF65-F5344CB8AC3E}">
        <p14:creationId xmlns:p14="http://schemas.microsoft.com/office/powerpoint/2010/main" val="3984298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able Placeholder 2"/>
          <p:cNvSpPr>
            <a:spLocks noGrp="1"/>
          </p:cNvSpPr>
          <p:nvPr>
            <p:ph type="tbl" idx="1"/>
          </p:nvPr>
        </p:nvSpPr>
        <p:spPr>
          <a:xfrm>
            <a:off x="609600" y="1600201"/>
            <a:ext cx="10972800" cy="4525963"/>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10F10D7-2531-F344-B8B4-A878ED1702E9}" type="slidenum">
              <a:rPr lang="en-US"/>
              <a:pPr>
                <a:defRPr/>
              </a:pPr>
              <a:t>‹#›</a:t>
            </a:fld>
            <a:endParaRPr lang="en-US"/>
          </a:p>
        </p:txBody>
      </p:sp>
    </p:spTree>
    <p:extLst>
      <p:ext uri="{BB962C8B-B14F-4D97-AF65-F5344CB8AC3E}">
        <p14:creationId xmlns:p14="http://schemas.microsoft.com/office/powerpoint/2010/main" val="223156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mn-ea"/>
                <a:cs typeface="+mn-cs"/>
              </a:defRPr>
            </a:lvl1pPr>
          </a:lstStyle>
          <a:p>
            <a:pPr>
              <a:defRPr/>
            </a:pPr>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mn-ea"/>
                <a:cs typeface="+mn-cs"/>
              </a:defRPr>
            </a:lvl1pPr>
          </a:lstStyle>
          <a:p>
            <a:pPr>
              <a:defRPr/>
            </a:pPr>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62C3A5CE-33E2-7243-949C-8F413699AB3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Calibri" charset="0"/>
          <a:ea typeface="Calibri" charset="0"/>
          <a:cs typeface="Calibri"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Calibri" charset="0"/>
          <a:ea typeface="Calibri" charset="0"/>
          <a:cs typeface="Calibri" charset="0"/>
        </a:defRPr>
      </a:lvl1pPr>
      <a:lvl2pPr marL="742950" indent="-285750" algn="l" rtl="0" eaLnBrk="0" fontAlgn="base" hangingPunct="0">
        <a:spcBef>
          <a:spcPct val="20000"/>
        </a:spcBef>
        <a:spcAft>
          <a:spcPct val="0"/>
        </a:spcAft>
        <a:buChar char="–"/>
        <a:defRPr sz="2800">
          <a:solidFill>
            <a:schemeClr val="tx1"/>
          </a:solidFill>
          <a:latin typeface="Calibri" charset="0"/>
          <a:ea typeface="Calibri" charset="0"/>
          <a:cs typeface="Calibri" charset="0"/>
        </a:defRPr>
      </a:lvl2pPr>
      <a:lvl3pPr marL="1143000" indent="-228600" algn="l" rtl="0" eaLnBrk="0" fontAlgn="base" hangingPunct="0">
        <a:spcBef>
          <a:spcPct val="20000"/>
        </a:spcBef>
        <a:spcAft>
          <a:spcPct val="0"/>
        </a:spcAft>
        <a:buChar char="•"/>
        <a:defRPr sz="2400">
          <a:solidFill>
            <a:schemeClr val="tx1"/>
          </a:solidFill>
          <a:latin typeface="Calibri" charset="0"/>
          <a:ea typeface="Calibri" charset="0"/>
          <a:cs typeface="Calibri" charset="0"/>
        </a:defRPr>
      </a:lvl3pPr>
      <a:lvl4pPr marL="16002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4pPr>
      <a:lvl5pPr marL="20574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www.huffingtonpost.com/ronnie-reese/test-bias-minorities_b_2734149.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8.wmf"/><Relationship Id="rId2" Type="http://schemas.openxmlformats.org/officeDocument/2006/relationships/notesSlide" Target="../notesSlides/notesSlide13.xml"/><Relationship Id="rId16" Type="http://schemas.openxmlformats.org/officeDocument/2006/relationships/image" Target="../media/image10.wmf"/><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8.bin"/><Relationship Id="rId14" Type="http://schemas.openxmlformats.org/officeDocument/2006/relationships/image" Target="../media/image9.wmf"/></Relationships>
</file>

<file path=ppt/slides/_rels/slide2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1.png"/><Relationship Id="rId7" Type="http://schemas.openxmlformats.org/officeDocument/2006/relationships/oleObject" Target="../embeddings/oleObject12.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14.bin"/><Relationship Id="rId4" Type="http://schemas.openxmlformats.org/officeDocument/2006/relationships/image" Target="../media/image16.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0.tiff"/><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ctrTitle"/>
          </p:nvPr>
        </p:nvSpPr>
        <p:spPr/>
        <p:txBody>
          <a:bodyPr/>
          <a:lstStyle/>
          <a:p>
            <a:pPr eaLnBrk="1" hangingPunct="1"/>
            <a:r>
              <a:rPr lang="en-US" b="1">
                <a:latin typeface="Calibri"/>
                <a:cs typeface="Calibri"/>
              </a:rPr>
              <a:t>Differential Item Functioning</a:t>
            </a:r>
            <a:br>
              <a:rPr lang="en-US" b="1">
                <a:latin typeface="Arial" charset="0"/>
              </a:rPr>
            </a:br>
            <a:endParaRPr lang="en-US" b="1">
              <a:latin typeface="Arial" charset="0"/>
            </a:endParaRPr>
          </a:p>
        </p:txBody>
      </p:sp>
      <p:sp>
        <p:nvSpPr>
          <p:cNvPr id="16386" name="Rectangle 3"/>
          <p:cNvSpPr>
            <a:spLocks noGrp="1" noChangeArrowheads="1"/>
          </p:cNvSpPr>
          <p:nvPr>
            <p:ph type="subTitle" idx="1"/>
          </p:nvPr>
        </p:nvSpPr>
        <p:spPr>
          <a:xfrm>
            <a:off x="2895600" y="3886200"/>
            <a:ext cx="6781800" cy="1752600"/>
          </a:xfrm>
        </p:spPr>
        <p:txBody>
          <a:bodyPr/>
          <a:lstStyle/>
          <a:p>
            <a:pPr eaLnBrk="1" hangingPunct="1"/>
            <a:r>
              <a:rPr lang="en-US" sz="3600">
                <a:latin typeface="Calibri"/>
                <a:cs typeface="Calibri"/>
              </a:rPr>
              <a:t>Derek Briggs</a:t>
            </a:r>
          </a:p>
          <a:p>
            <a:pPr eaLnBrk="1" hangingPunct="1"/>
            <a:r>
              <a:rPr lang="en-US" sz="3600">
                <a:latin typeface="Calibri"/>
                <a:cs typeface="Calibri"/>
              </a:rPr>
              <a:t>Psychometric Modeling</a:t>
            </a:r>
          </a:p>
        </p:txBody>
      </p:sp>
      <p:sp>
        <p:nvSpPr>
          <p:cNvPr id="2" name="Slide Number Placeholder 1"/>
          <p:cNvSpPr>
            <a:spLocks noGrp="1"/>
          </p:cNvSpPr>
          <p:nvPr>
            <p:ph type="sldNum" sz="quarter" idx="12"/>
          </p:nvPr>
        </p:nvSpPr>
        <p:spPr/>
        <p:txBody>
          <a:bodyPr/>
          <a:lstStyle/>
          <a:p>
            <a:pPr>
              <a:defRPr/>
            </a:pPr>
            <a:fld id="{E14F3AC0-9308-2448-9DF1-85ADE8EBD5DA}" type="slidenum">
              <a:rPr lang="en-US"/>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pPr eaLnBrk="1" hangingPunct="1"/>
            <a:r>
              <a:rPr lang="en-US" b="1">
                <a:latin typeface="Calibri"/>
                <a:cs typeface="Calibri"/>
              </a:rPr>
              <a:t>Outline</a:t>
            </a:r>
          </a:p>
        </p:txBody>
      </p:sp>
      <p:sp>
        <p:nvSpPr>
          <p:cNvPr id="18434" name="Rectangle 3"/>
          <p:cNvSpPr>
            <a:spLocks noGrp="1" noChangeArrowheads="1"/>
          </p:cNvSpPr>
          <p:nvPr>
            <p:ph type="body" idx="1"/>
          </p:nvPr>
        </p:nvSpPr>
        <p:spPr/>
        <p:txBody>
          <a:bodyPr/>
          <a:lstStyle/>
          <a:p>
            <a:pPr marL="609600" indent="-609600" eaLnBrk="1" hangingPunct="1">
              <a:buFontTx/>
              <a:buAutoNum type="arabicPeriod"/>
            </a:pPr>
            <a:r>
              <a:rPr lang="en-US">
                <a:latin typeface="Calibri"/>
                <a:cs typeface="Calibri"/>
              </a:rPr>
              <a:t>Test Fairness and DIF</a:t>
            </a:r>
          </a:p>
          <a:p>
            <a:pPr marL="609600" indent="-609600" eaLnBrk="1" hangingPunct="1">
              <a:buFontTx/>
              <a:buAutoNum type="arabicPeriod"/>
            </a:pPr>
            <a:r>
              <a:rPr lang="en-US">
                <a:latin typeface="Calibri"/>
                <a:cs typeface="Calibri"/>
              </a:rPr>
              <a:t>Non-IRT DIF Approach: Mantel-Haenszel </a:t>
            </a:r>
          </a:p>
          <a:p>
            <a:pPr marL="609600" indent="-609600" eaLnBrk="1" hangingPunct="1">
              <a:buFontTx/>
              <a:buAutoNum type="arabicPeriod"/>
            </a:pPr>
            <a:r>
              <a:rPr lang="en-US">
                <a:latin typeface="Calibri"/>
                <a:cs typeface="Calibri"/>
              </a:rPr>
              <a:t>IRT-Based Approach</a:t>
            </a:r>
          </a:p>
          <a:p>
            <a:pPr marL="609600" indent="-609600" eaLnBrk="1" hangingPunct="1">
              <a:buFontTx/>
              <a:buAutoNum type="arabicPeriod"/>
            </a:pPr>
            <a:r>
              <a:rPr lang="en-US">
                <a:latin typeface="Calibri"/>
                <a:cs typeface="Calibri"/>
              </a:rPr>
              <a:t>Homework Activity</a:t>
            </a:r>
          </a:p>
          <a:p>
            <a:pPr marL="400050" lvl="1" indent="0" eaLnBrk="1" hangingPunct="1">
              <a:buNone/>
            </a:pPr>
            <a:endParaRPr lang="en-US">
              <a:latin typeface="Calibri"/>
              <a:cs typeface="Calibri"/>
            </a:endParaRPr>
          </a:p>
          <a:p>
            <a:pPr marL="457200" lvl="1" indent="0" eaLnBrk="1" hangingPunct="1">
              <a:buNone/>
            </a:pPr>
            <a:endParaRPr lang="en-US">
              <a:latin typeface="Arial" charset="0"/>
              <a:ea typeface="ＭＳ Ｐゴシック" charset="0"/>
            </a:endParaRP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Box 4"/>
          <p:cNvSpPr txBox="1">
            <a:spLocks noChangeArrowheads="1"/>
          </p:cNvSpPr>
          <p:nvPr/>
        </p:nvSpPr>
        <p:spPr bwMode="auto">
          <a:xfrm>
            <a:off x="3124200" y="2819401"/>
            <a:ext cx="60198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4000" b="1">
                <a:latin typeface="Calibri"/>
                <a:cs typeface="Calibri"/>
              </a:rPr>
              <a:t>Test Fairness and DIF</a:t>
            </a:r>
          </a:p>
        </p:txBody>
      </p:sp>
      <p:sp>
        <p:nvSpPr>
          <p:cNvPr id="2" name="Slide Number Placeholder 1"/>
          <p:cNvSpPr>
            <a:spLocks noGrp="1"/>
          </p:cNvSpPr>
          <p:nvPr>
            <p:ph type="sldNum" sz="quarter" idx="12"/>
          </p:nvPr>
        </p:nvSpPr>
        <p:spPr/>
        <p:txBody>
          <a:bodyPr/>
          <a:lstStyle/>
          <a:p>
            <a:pPr>
              <a:defRPr/>
            </a:pPr>
            <a:fld id="{82792DE7-658D-A340-982F-16F3F548D202}" type="slidenum">
              <a:rPr lang="en-US"/>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Calibri"/>
                <a:cs typeface="Calibri"/>
              </a:rPr>
              <a:t>Are Standardized Tests Biased?</a:t>
            </a:r>
          </a:p>
        </p:txBody>
      </p:sp>
      <p:sp>
        <p:nvSpPr>
          <p:cNvPr id="3" name="Content Placeholder 2"/>
          <p:cNvSpPr>
            <a:spLocks noGrp="1"/>
          </p:cNvSpPr>
          <p:nvPr>
            <p:ph idx="1"/>
          </p:nvPr>
        </p:nvSpPr>
        <p:spPr>
          <a:xfrm>
            <a:off x="609600" y="1600201"/>
            <a:ext cx="10972800" cy="4267199"/>
          </a:xfrm>
        </p:spPr>
        <p:txBody>
          <a:bodyPr/>
          <a:lstStyle/>
          <a:p>
            <a:pPr marL="0" indent="0">
              <a:buNone/>
            </a:pPr>
            <a:r>
              <a:rPr lang="en-US" sz="2400"/>
              <a:t>Fair education reform advocates have long cited a litany of concerns about standardized testing, many of which address racial bias and discrimination, as author and researcher Harold Berlak explains in the journal Rethinking Education:</a:t>
            </a:r>
          </a:p>
          <a:p>
            <a:pPr marL="0" indent="0">
              <a:buNone/>
            </a:pPr>
            <a:r>
              <a:rPr lang="en-US" sz="2400"/>
              <a:t>“Standardized testing perpetuates institutionalized racism and contributes to the achievement gap between whites and minorities. For instance, the deeply embedded stereotype that African Americans perform poorly on standardized tests hinders many African Americans' testing ability. </a:t>
            </a:r>
            <a:r>
              <a:rPr lang="en-US" sz="2400" i="1"/>
              <a:t>Also, research has shown that minorities statistically have lower standardized test scores than whites because of existing, hidden biases in the development and administration of standardized tests </a:t>
            </a:r>
            <a:r>
              <a:rPr lang="en-US" sz="2400"/>
              <a:t>and interpretation of their scores. Therefore, the achievement gap will not begin to close until current standards and assessment tests are significantly reformed.”</a:t>
            </a:r>
          </a:p>
          <a:p>
            <a:pPr marL="0" indent="0">
              <a:buNone/>
            </a:pPr>
            <a:r>
              <a:rPr lang="en-US" sz="2400"/>
              <a:t>From </a:t>
            </a:r>
            <a:r>
              <a:rPr lang="en-US" sz="2400">
                <a:hlinkClick r:id="rId2"/>
              </a:rPr>
              <a:t>http://www.huffingtonpost.com/ronnie-reese/test-bias-minorities_b_2734149.html</a:t>
            </a:r>
            <a:r>
              <a:rPr lang="en-US" sz="2400"/>
              <a:t>, February 21, 2013</a:t>
            </a:r>
          </a:p>
          <a:p>
            <a:pPr marL="0" indent="0">
              <a:buNone/>
            </a:pPr>
            <a:endParaRPr lang="en-US" sz="1800"/>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4</a:t>
            </a:fld>
            <a:endParaRPr lang="en-US"/>
          </a:p>
        </p:txBody>
      </p:sp>
    </p:spTree>
    <p:extLst>
      <p:ext uri="{BB962C8B-B14F-4D97-AF65-F5344CB8AC3E}">
        <p14:creationId xmlns:p14="http://schemas.microsoft.com/office/powerpoint/2010/main" val="1376187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pPr eaLnBrk="1" hangingPunct="1"/>
            <a:r>
              <a:rPr lang="en-US" b="1">
                <a:latin typeface="Calibri"/>
                <a:cs typeface="Calibri"/>
              </a:rPr>
              <a:t>Illustrative Context</a:t>
            </a:r>
          </a:p>
        </p:txBody>
      </p:sp>
      <p:sp>
        <p:nvSpPr>
          <p:cNvPr id="31746" name="Rectangle 3"/>
          <p:cNvSpPr>
            <a:spLocks noGrp="1" noChangeArrowheads="1"/>
          </p:cNvSpPr>
          <p:nvPr>
            <p:ph type="body" idx="1"/>
          </p:nvPr>
        </p:nvSpPr>
        <p:spPr/>
        <p:txBody>
          <a:bodyPr/>
          <a:lstStyle/>
          <a:p>
            <a:pPr eaLnBrk="1" hangingPunct="1"/>
            <a:r>
              <a:rPr lang="en-US" sz="2400">
                <a:latin typeface="Calibri"/>
                <a:cs typeface="Calibri"/>
              </a:rPr>
              <a:t>6,750 students took 6 TIMMS items.</a:t>
            </a:r>
          </a:p>
          <a:p>
            <a:pPr eaLnBrk="1" hangingPunct="1"/>
            <a:r>
              <a:rPr lang="en-US" sz="2400">
                <a:latin typeface="Calibri"/>
                <a:cs typeface="Calibri"/>
              </a:rPr>
              <a:t>Consider MC Item 4 (BSMMA04)</a:t>
            </a:r>
          </a:p>
          <a:p>
            <a:pPr eaLnBrk="1" hangingPunct="1"/>
            <a:r>
              <a:rPr lang="en-US" sz="2400">
                <a:latin typeface="Calibri"/>
                <a:cs typeface="Calibri"/>
              </a:rPr>
              <a:t>On this item 1 = correct response, 0 = incorrect</a:t>
            </a:r>
          </a:p>
          <a:p>
            <a:pPr eaLnBrk="1" hangingPunct="1"/>
            <a:r>
              <a:rPr lang="en-US" sz="2400">
                <a:latin typeface="Calibri"/>
                <a:cs typeface="Calibri"/>
              </a:rPr>
              <a:t>62% of males get it correct vs. 48% of females</a:t>
            </a:r>
          </a:p>
          <a:p>
            <a:pPr eaLnBrk="1" hangingPunct="1"/>
            <a:r>
              <a:rPr lang="en-US" sz="2400">
                <a:latin typeface="Calibri"/>
                <a:cs typeface="Calibri"/>
              </a:rPr>
              <a:t>Is the item biased against females?</a:t>
            </a:r>
          </a:p>
          <a:p>
            <a:pPr eaLnBrk="1" hangingPunct="1">
              <a:buFontTx/>
              <a:buNone/>
            </a:pPr>
            <a:endParaRPr lang="en-US">
              <a:latin typeface="Arial" charset="0"/>
            </a:endParaRPr>
          </a:p>
        </p:txBody>
      </p:sp>
      <p:pic>
        <p:nvPicPr>
          <p:cNvPr id="3174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848486"/>
            <a:ext cx="6781800" cy="2840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5</a:t>
            </a:fld>
            <a:endParaRPr lang="en-US"/>
          </a:p>
        </p:txBody>
      </p:sp>
    </p:spTree>
    <p:extLst>
      <p:ext uri="{BB962C8B-B14F-4D97-AF65-F5344CB8AC3E}">
        <p14:creationId xmlns:p14="http://schemas.microsoft.com/office/powerpoint/2010/main" val="3823212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pPr eaLnBrk="1" hangingPunct="1"/>
            <a:r>
              <a:rPr lang="en-US" b="1">
                <a:latin typeface="Calibri"/>
                <a:cs typeface="Calibri"/>
              </a:rPr>
              <a:t>Impact vs DIF</a:t>
            </a:r>
          </a:p>
        </p:txBody>
      </p:sp>
      <p:sp>
        <p:nvSpPr>
          <p:cNvPr id="23554" name="Rectangle 3"/>
          <p:cNvSpPr>
            <a:spLocks noGrp="1" noChangeArrowheads="1"/>
          </p:cNvSpPr>
          <p:nvPr>
            <p:ph type="body" idx="1"/>
          </p:nvPr>
        </p:nvSpPr>
        <p:spPr/>
        <p:txBody>
          <a:bodyPr/>
          <a:lstStyle/>
          <a:p>
            <a:pPr eaLnBrk="1" hangingPunct="1">
              <a:lnSpc>
                <a:spcPct val="90000"/>
              </a:lnSpc>
              <a:buFontTx/>
              <a:buNone/>
            </a:pPr>
            <a:r>
              <a:rPr lang="en-US" u="sng">
                <a:latin typeface="Calibri" charset="0"/>
                <a:ea typeface="Calibri" charset="0"/>
                <a:cs typeface="Calibri" charset="0"/>
              </a:rPr>
              <a:t>Impact </a:t>
            </a:r>
          </a:p>
          <a:p>
            <a:pPr eaLnBrk="1" hangingPunct="1">
              <a:lnSpc>
                <a:spcPct val="90000"/>
              </a:lnSpc>
              <a:buFontTx/>
              <a:buNone/>
            </a:pPr>
            <a:r>
              <a:rPr lang="en-US">
                <a:latin typeface="Calibri" charset="0"/>
                <a:ea typeface="Calibri" charset="0"/>
                <a:cs typeface="Calibri" charset="0"/>
              </a:rPr>
              <a:t>	Students in group 1 tend to do better on an item than students in group 2.</a:t>
            </a:r>
          </a:p>
          <a:p>
            <a:pPr eaLnBrk="1" hangingPunct="1">
              <a:lnSpc>
                <a:spcPct val="90000"/>
              </a:lnSpc>
              <a:buFontTx/>
              <a:buNone/>
            </a:pPr>
            <a:endParaRPr lang="en-US">
              <a:latin typeface="Arial" charset="0"/>
            </a:endParaRPr>
          </a:p>
          <a:p>
            <a:pPr eaLnBrk="1" hangingPunct="1">
              <a:lnSpc>
                <a:spcPct val="90000"/>
              </a:lnSpc>
              <a:buFontTx/>
              <a:buNone/>
            </a:pPr>
            <a:r>
              <a:rPr lang="en-US" u="sng">
                <a:latin typeface="Calibri" charset="0"/>
                <a:ea typeface="Calibri" charset="0"/>
                <a:cs typeface="Calibri" charset="0"/>
              </a:rPr>
              <a:t>DIF</a:t>
            </a:r>
          </a:p>
          <a:p>
            <a:pPr eaLnBrk="1" hangingPunct="1">
              <a:lnSpc>
                <a:spcPct val="90000"/>
              </a:lnSpc>
              <a:buFontTx/>
              <a:buNone/>
            </a:pPr>
            <a:r>
              <a:rPr lang="en-US">
                <a:latin typeface="Calibri" charset="0"/>
                <a:ea typeface="Calibri" charset="0"/>
                <a:cs typeface="Calibri" charset="0"/>
              </a:rPr>
              <a:t>	After controlling for the ability believed to be necessary to solve an item, students in group 1 </a:t>
            </a:r>
            <a:r>
              <a:rPr lang="en-US" u="sng">
                <a:latin typeface="Calibri" charset="0"/>
                <a:ea typeface="Calibri" charset="0"/>
                <a:cs typeface="Calibri" charset="0"/>
              </a:rPr>
              <a:t>still</a:t>
            </a:r>
            <a:r>
              <a:rPr lang="en-US">
                <a:latin typeface="Calibri" charset="0"/>
                <a:ea typeface="Calibri" charset="0"/>
                <a:cs typeface="Calibri" charset="0"/>
              </a:rPr>
              <a:t> tend to do better than students in group 2.</a:t>
            </a: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6</a:t>
            </a:fld>
            <a:endParaRPr lang="en-US"/>
          </a:p>
        </p:txBody>
      </p:sp>
    </p:spTree>
    <p:extLst>
      <p:ext uri="{BB962C8B-B14F-4D97-AF65-F5344CB8AC3E}">
        <p14:creationId xmlns:p14="http://schemas.microsoft.com/office/powerpoint/2010/main" val="668388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pPr eaLnBrk="1" hangingPunct="1"/>
            <a:r>
              <a:rPr lang="en-US" b="1">
                <a:latin typeface="Calibri"/>
                <a:cs typeface="Calibri"/>
              </a:rPr>
              <a:t>Bias vs Impact</a:t>
            </a:r>
          </a:p>
        </p:txBody>
      </p:sp>
      <p:sp>
        <p:nvSpPr>
          <p:cNvPr id="23554" name="Rectangle 3"/>
          <p:cNvSpPr>
            <a:spLocks noGrp="1" noChangeArrowheads="1"/>
          </p:cNvSpPr>
          <p:nvPr>
            <p:ph type="body" idx="1"/>
          </p:nvPr>
        </p:nvSpPr>
        <p:spPr/>
        <p:txBody>
          <a:bodyPr/>
          <a:lstStyle/>
          <a:p>
            <a:pPr eaLnBrk="1" hangingPunct="1">
              <a:lnSpc>
                <a:spcPct val="90000"/>
              </a:lnSpc>
            </a:pPr>
            <a:r>
              <a:rPr lang="en-US">
                <a:latin typeface="Calibri" charset="0"/>
                <a:ea typeface="Calibri" charset="0"/>
                <a:cs typeface="Calibri" charset="0"/>
              </a:rPr>
              <a:t>Bias: a systematic difference between two quantities that should be equal (Camilli, 2006)</a:t>
            </a:r>
          </a:p>
          <a:p>
            <a:pPr eaLnBrk="1" hangingPunct="1">
              <a:lnSpc>
                <a:spcPct val="90000"/>
              </a:lnSpc>
            </a:pPr>
            <a:r>
              <a:rPr lang="en-US">
                <a:latin typeface="Calibri" charset="0"/>
                <a:ea typeface="Calibri" charset="0"/>
                <a:cs typeface="Calibri" charset="0"/>
              </a:rPr>
              <a:t>Impact: an observed difference in average performance between two groups.</a:t>
            </a:r>
          </a:p>
          <a:p>
            <a:pPr marL="0" indent="0" eaLnBrk="1" hangingPunct="1">
              <a:lnSpc>
                <a:spcPct val="90000"/>
              </a:lnSpc>
              <a:buNone/>
            </a:pPr>
            <a:r>
              <a:rPr lang="en-US">
                <a:latin typeface="Calibri" charset="0"/>
                <a:ea typeface="Calibri" charset="0"/>
                <a:cs typeface="Calibri" charset="0"/>
              </a:rPr>
              <a:t>Possible explanations for impact</a:t>
            </a:r>
          </a:p>
          <a:p>
            <a:pPr marL="514350" indent="-514350" eaLnBrk="1" hangingPunct="1">
              <a:lnSpc>
                <a:spcPct val="90000"/>
              </a:lnSpc>
              <a:buFont typeface="+mj-lt"/>
              <a:buAutoNum type="arabicPeriod"/>
            </a:pPr>
            <a:r>
              <a:rPr lang="en-US"/>
              <a:t>True differences in the ability being measured</a:t>
            </a:r>
          </a:p>
          <a:p>
            <a:pPr marL="514350" indent="-514350" eaLnBrk="1" hangingPunct="1">
              <a:lnSpc>
                <a:spcPct val="90000"/>
              </a:lnSpc>
              <a:buFont typeface="+mj-lt"/>
              <a:buAutoNum type="arabicPeriod"/>
            </a:pPr>
            <a:r>
              <a:rPr lang="en-US">
                <a:latin typeface="Calibri" charset="0"/>
                <a:ea typeface="Calibri" charset="0"/>
                <a:cs typeface="Calibri" charset="0"/>
              </a:rPr>
              <a:t>Inclusion of test items that measure an unintended dimension that favors one group over the other</a:t>
            </a:r>
          </a:p>
          <a:p>
            <a:pPr marL="514350" indent="-514350" eaLnBrk="1" hangingPunct="1">
              <a:lnSpc>
                <a:spcPct val="90000"/>
              </a:lnSpc>
              <a:buFont typeface="+mj-lt"/>
              <a:buAutoNum type="arabicPeriod"/>
            </a:pPr>
            <a:r>
              <a:rPr lang="en-US"/>
              <a:t>Construct-irrelevant source such as differnces in test administration conditions that favors one group over the other</a:t>
            </a:r>
          </a:p>
          <a:p>
            <a:pPr eaLnBrk="1" hangingPunct="1">
              <a:lnSpc>
                <a:spcPct val="90000"/>
              </a:lnSpc>
            </a:pPr>
            <a:r>
              <a:rPr lang="en-US">
                <a:latin typeface="Calibri" charset="0"/>
                <a:ea typeface="Calibri" charset="0"/>
                <a:cs typeface="Calibri" charset="0"/>
              </a:rPr>
              <a:t>Only 2 and 3 would be considered “biases” that could be solved by changing the design of the test.</a:t>
            </a:r>
          </a:p>
          <a:p>
            <a:pPr eaLnBrk="1" hangingPunct="1">
              <a:lnSpc>
                <a:spcPct val="90000"/>
              </a:lnSpc>
              <a:buFontTx/>
              <a:buNone/>
            </a:pPr>
            <a:endParaRPr lang="en-US">
              <a:latin typeface="Calibri" charset="0"/>
              <a:ea typeface="Calibri" charset="0"/>
              <a:cs typeface="Calibri" charset="0"/>
            </a:endParaRP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7</a:t>
            </a:fld>
            <a:endParaRPr lang="en-US"/>
          </a:p>
        </p:txBody>
      </p:sp>
    </p:spTree>
    <p:extLst>
      <p:ext uri="{BB962C8B-B14F-4D97-AF65-F5344CB8AC3E}">
        <p14:creationId xmlns:p14="http://schemas.microsoft.com/office/powerpoint/2010/main" val="1417573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eaLnBrk="1" hangingPunct="1"/>
            <a:r>
              <a:rPr lang="en-US" b="1">
                <a:latin typeface="Calibri"/>
                <a:cs typeface="Calibri"/>
              </a:rPr>
              <a:t>Test Bias</a:t>
            </a:r>
          </a:p>
        </p:txBody>
      </p:sp>
      <p:sp>
        <p:nvSpPr>
          <p:cNvPr id="21506" name="Rectangle 3"/>
          <p:cNvSpPr>
            <a:spLocks noGrp="1" noChangeArrowheads="1"/>
          </p:cNvSpPr>
          <p:nvPr>
            <p:ph type="body" idx="1"/>
          </p:nvPr>
        </p:nvSpPr>
        <p:spPr/>
        <p:txBody>
          <a:bodyPr/>
          <a:lstStyle/>
          <a:p>
            <a:pPr eaLnBrk="1" hangingPunct="1">
              <a:buFontTx/>
              <a:buNone/>
            </a:pPr>
            <a:r>
              <a:rPr lang="en-US">
                <a:latin typeface="Calibri"/>
                <a:cs typeface="Calibri"/>
              </a:rPr>
              <a:t>What we want to know is this:</a:t>
            </a:r>
          </a:p>
          <a:p>
            <a:pPr eaLnBrk="1" hangingPunct="1"/>
            <a:r>
              <a:rPr lang="en-US">
                <a:latin typeface="Calibri"/>
                <a:cs typeface="Calibri"/>
              </a:rPr>
              <a:t>Is the test fair?  Or is it biased against certain student groups?</a:t>
            </a:r>
          </a:p>
          <a:p>
            <a:pPr eaLnBrk="1" hangingPunct="1">
              <a:buFontTx/>
              <a:buNone/>
            </a:pPr>
            <a:endParaRPr lang="en-US">
              <a:latin typeface="Calibri"/>
              <a:cs typeface="Calibri"/>
            </a:endParaRPr>
          </a:p>
          <a:p>
            <a:pPr eaLnBrk="1" hangingPunct="1">
              <a:buFontTx/>
              <a:buNone/>
            </a:pPr>
            <a:r>
              <a:rPr lang="en-US">
                <a:latin typeface="Calibri"/>
                <a:cs typeface="Calibri"/>
              </a:rPr>
              <a:t>	Evidence of differential item functioning is a necessary </a:t>
            </a:r>
            <a:r>
              <a:rPr lang="en-US" u="sng">
                <a:latin typeface="Calibri"/>
                <a:cs typeface="Calibri"/>
              </a:rPr>
              <a:t>but not sufficient</a:t>
            </a:r>
            <a:r>
              <a:rPr lang="en-US">
                <a:latin typeface="Calibri"/>
                <a:cs typeface="Calibri"/>
              </a:rPr>
              <a:t> condition to conclude that a test is biased.</a:t>
            </a:r>
          </a:p>
          <a:p>
            <a:pPr marL="0" indent="0" eaLnBrk="1" hangingPunct="1">
              <a:buNone/>
            </a:pPr>
            <a:endParaRPr lang="en-US">
              <a:latin typeface="Calibri"/>
              <a:cs typeface="Calibri"/>
            </a:endParaRPr>
          </a:p>
          <a:p>
            <a:pPr eaLnBrk="1" hangingPunct="1"/>
            <a:r>
              <a:rPr lang="en-US">
                <a:latin typeface="Calibri"/>
                <a:cs typeface="Calibri"/>
              </a:rPr>
              <a:t>It is also possible for a test to be considered </a:t>
            </a:r>
            <a:r>
              <a:rPr lang="en-US" i="1">
                <a:latin typeface="Calibri"/>
                <a:cs typeface="Calibri"/>
              </a:rPr>
              <a:t>unfair</a:t>
            </a:r>
            <a:r>
              <a:rPr lang="en-US">
                <a:latin typeface="Calibri"/>
                <a:cs typeface="Calibri"/>
              </a:rPr>
              <a:t> even if it is unbiased. For example, there may be true differences between groups, but this may be attributable to differences in opportunity to learn.</a:t>
            </a: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E2593-28B7-094B-9C0B-FCABB8587CB3}"/>
              </a:ext>
            </a:extLst>
          </p:cNvPr>
          <p:cNvSpPr>
            <a:spLocks noGrp="1"/>
          </p:cNvSpPr>
          <p:nvPr>
            <p:ph type="title"/>
          </p:nvPr>
        </p:nvSpPr>
        <p:spPr/>
        <p:txBody>
          <a:bodyPr/>
          <a:lstStyle/>
          <a:p>
            <a:r>
              <a:rPr lang="en-US" b="1"/>
              <a:t>Graphical Visualizations of DIF</a:t>
            </a:r>
          </a:p>
        </p:txBody>
      </p:sp>
      <p:sp>
        <p:nvSpPr>
          <p:cNvPr id="4" name="Slide Number Placeholder 3">
            <a:extLst>
              <a:ext uri="{FF2B5EF4-FFF2-40B4-BE49-F238E27FC236}">
                <a16:creationId xmlns:a16="http://schemas.microsoft.com/office/drawing/2014/main" id="{3F74A4E4-82B6-F44A-9594-9814D3ABBEB7}"/>
              </a:ext>
            </a:extLst>
          </p:cNvPr>
          <p:cNvSpPr>
            <a:spLocks noGrp="1"/>
          </p:cNvSpPr>
          <p:nvPr>
            <p:ph type="sldNum" sz="quarter" idx="12"/>
          </p:nvPr>
        </p:nvSpPr>
        <p:spPr/>
        <p:txBody>
          <a:bodyPr/>
          <a:lstStyle/>
          <a:p>
            <a:pPr>
              <a:defRPr/>
            </a:pPr>
            <a:fld id="{CD98E987-055C-A941-82AA-E638330DCBBF}" type="slidenum">
              <a:rPr lang="en-US"/>
              <a:pPr>
                <a:defRPr/>
              </a:pPr>
              <a:t>9</a:t>
            </a:fld>
            <a:endParaRPr lang="en-US"/>
          </a:p>
        </p:txBody>
      </p:sp>
      <p:pic>
        <p:nvPicPr>
          <p:cNvPr id="9" name="Content Placeholder 8">
            <a:extLst>
              <a:ext uri="{FF2B5EF4-FFF2-40B4-BE49-F238E27FC236}">
                <a16:creationId xmlns:a16="http://schemas.microsoft.com/office/drawing/2014/main" id="{FA034191-00C9-0A40-AE3B-15CD207285C7}"/>
              </a:ext>
            </a:extLst>
          </p:cNvPr>
          <p:cNvPicPr>
            <a:picLocks noGrp="1" noChangeAspect="1"/>
          </p:cNvPicPr>
          <p:nvPr>
            <p:ph idx="1"/>
          </p:nvPr>
        </p:nvPicPr>
        <p:blipFill>
          <a:blip r:embed="rId2"/>
          <a:stretch>
            <a:fillRect/>
          </a:stretch>
        </p:blipFill>
        <p:spPr>
          <a:xfrm>
            <a:off x="990600" y="1417638"/>
            <a:ext cx="9955371" cy="4760152"/>
          </a:xfrm>
          <a:prstGeom prst="rect">
            <a:avLst/>
          </a:prstGeom>
        </p:spPr>
      </p:pic>
      <p:sp>
        <p:nvSpPr>
          <p:cNvPr id="10" name="TextBox 9">
            <a:extLst>
              <a:ext uri="{FF2B5EF4-FFF2-40B4-BE49-F238E27FC236}">
                <a16:creationId xmlns:a16="http://schemas.microsoft.com/office/drawing/2014/main" id="{B1634645-121B-E94A-9E33-9CE0B7A73D8B}"/>
              </a:ext>
            </a:extLst>
          </p:cNvPr>
          <p:cNvSpPr txBox="1"/>
          <p:nvPr/>
        </p:nvSpPr>
        <p:spPr>
          <a:xfrm>
            <a:off x="215900" y="6014646"/>
            <a:ext cx="8331200" cy="830997"/>
          </a:xfrm>
          <a:prstGeom prst="rect">
            <a:avLst/>
          </a:prstGeom>
          <a:noFill/>
        </p:spPr>
        <p:txBody>
          <a:bodyPr wrap="square" rtlCol="0">
            <a:spAutoFit/>
          </a:bodyPr>
          <a:lstStyle/>
          <a:p>
            <a:pPr marL="285750" indent="-285750">
              <a:buFont typeface="Arial" panose="020B0604020202020204" pitchFamily="34" charset="0"/>
              <a:buChar char="•"/>
            </a:pPr>
            <a:r>
              <a:rPr lang="en-US" sz="1600">
                <a:latin typeface="Calibri" panose="020F0502020204030204" pitchFamily="34" charset="0"/>
                <a:cs typeface="Calibri" panose="020F0502020204030204" pitchFamily="34" charset="0"/>
              </a:rPr>
              <a:t>Where each red and black ICC represents a different group</a:t>
            </a:r>
          </a:p>
          <a:p>
            <a:pPr marL="285750" indent="-285750">
              <a:buFont typeface="Arial" panose="020B0604020202020204" pitchFamily="34" charset="0"/>
              <a:buChar char="•"/>
            </a:pPr>
            <a:r>
              <a:rPr lang="en-US" sz="1600">
                <a:latin typeface="Calibri" panose="020F0502020204030204" pitchFamily="34" charset="0"/>
                <a:cs typeface="Calibri" panose="020F0502020204030204" pitchFamily="34" charset="0"/>
              </a:rPr>
              <a:t>Non-uniform DIF is much harder to interpret because direction of group advantage changes at different locations on the scale.</a:t>
            </a:r>
          </a:p>
        </p:txBody>
      </p:sp>
    </p:spTree>
    <p:extLst>
      <p:ext uri="{BB962C8B-B14F-4D97-AF65-F5344CB8AC3E}">
        <p14:creationId xmlns:p14="http://schemas.microsoft.com/office/powerpoint/2010/main" val="251408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Calibri"/>
                <a:cs typeface="Calibri"/>
              </a:rPr>
              <a:t>What Groups?</a:t>
            </a:r>
          </a:p>
        </p:txBody>
      </p:sp>
      <p:sp>
        <p:nvSpPr>
          <p:cNvPr id="3" name="Content Placeholder 2"/>
          <p:cNvSpPr>
            <a:spLocks noGrp="1"/>
          </p:cNvSpPr>
          <p:nvPr>
            <p:ph idx="1"/>
          </p:nvPr>
        </p:nvSpPr>
        <p:spPr/>
        <p:txBody>
          <a:bodyPr/>
          <a:lstStyle/>
          <a:p>
            <a:r>
              <a:rPr lang="en-US">
                <a:latin typeface="Calibri"/>
                <a:cs typeface="Calibri"/>
              </a:rPr>
              <a:t>Since the mid to late 1980s, virtually every high-stake standardized test looks for evidence of test bias by gender and race/ethnicity. More recently English Language Learners (ELLs) have become a greater focus.</a:t>
            </a:r>
          </a:p>
          <a:p>
            <a:r>
              <a:rPr lang="en-US">
                <a:latin typeface="Calibri"/>
                <a:cs typeface="Calibri"/>
              </a:rPr>
              <a:t>But other groups comparisons could be relevant:</a:t>
            </a:r>
          </a:p>
          <a:p>
            <a:pPr lvl="1"/>
            <a:r>
              <a:rPr lang="en-US" sz="2400">
                <a:latin typeface="Calibri"/>
                <a:cs typeface="Calibri"/>
              </a:rPr>
              <a:t>Differences in curricular exposure within and across school districts</a:t>
            </a:r>
          </a:p>
          <a:p>
            <a:pPr lvl="1"/>
            <a:r>
              <a:rPr lang="en-US" sz="2400">
                <a:latin typeface="Calibri"/>
                <a:cs typeface="Calibri"/>
              </a:rPr>
              <a:t>Differences in mode of taking the test (Paper &amp; Pencil vs Digital)?</a:t>
            </a:r>
          </a:p>
          <a:p>
            <a:pPr lvl="1"/>
            <a:r>
              <a:rPr lang="en-US" sz="2400">
                <a:latin typeface="Calibri"/>
                <a:cs typeface="Calibri"/>
              </a:rPr>
              <a:t>Intersectional groups (gender by race)</a:t>
            </a:r>
          </a:p>
          <a:p>
            <a:endParaRPr lang="en-US"/>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10</a:t>
            </a:fld>
            <a:endParaRPr lang="en-US"/>
          </a:p>
        </p:txBody>
      </p:sp>
    </p:spTree>
    <p:extLst>
      <p:ext uri="{BB962C8B-B14F-4D97-AF65-F5344CB8AC3E}">
        <p14:creationId xmlns:p14="http://schemas.microsoft.com/office/powerpoint/2010/main" val="2711724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pPr eaLnBrk="1" hangingPunct="1"/>
            <a:r>
              <a:rPr lang="en-US" b="1">
                <a:latin typeface="Calibri"/>
                <a:cs typeface="Calibri"/>
              </a:rPr>
              <a:t>Evaluating Bias</a:t>
            </a:r>
          </a:p>
        </p:txBody>
      </p:sp>
      <p:sp>
        <p:nvSpPr>
          <p:cNvPr id="27650" name="Rectangle 3"/>
          <p:cNvSpPr>
            <a:spLocks noGrp="1" noChangeArrowheads="1"/>
          </p:cNvSpPr>
          <p:nvPr>
            <p:ph type="body" idx="1"/>
          </p:nvPr>
        </p:nvSpPr>
        <p:spPr/>
        <p:txBody>
          <a:bodyPr/>
          <a:lstStyle/>
          <a:p>
            <a:pPr marL="609600" indent="-609600" eaLnBrk="1" hangingPunct="1">
              <a:buNone/>
            </a:pPr>
            <a:r>
              <a:rPr lang="en-US" u="sng">
                <a:latin typeface="Calibri"/>
                <a:cs typeface="Calibri"/>
              </a:rPr>
              <a:t>Stage 1 </a:t>
            </a:r>
          </a:p>
          <a:p>
            <a:pPr marL="609600" indent="-609600" eaLnBrk="1" hangingPunct="1">
              <a:buNone/>
            </a:pPr>
            <a:r>
              <a:rPr lang="en-US">
                <a:latin typeface="Calibri"/>
                <a:cs typeface="Calibri"/>
              </a:rPr>
              <a:t>Is there DIF? If yes, is the DIF you observe</a:t>
            </a:r>
          </a:p>
          <a:p>
            <a:pPr marL="609600" indent="-609600" eaLnBrk="1" hangingPunct="1"/>
            <a:r>
              <a:rPr lang="en-US">
                <a:latin typeface="Calibri"/>
                <a:cs typeface="Calibri"/>
              </a:rPr>
              <a:t>Statistically significant?</a:t>
            </a:r>
          </a:p>
          <a:p>
            <a:pPr marL="609600" indent="-609600" eaLnBrk="1" hangingPunct="1"/>
            <a:r>
              <a:rPr lang="en-US">
                <a:latin typeface="Calibri"/>
                <a:cs typeface="Calibri"/>
              </a:rPr>
              <a:t>Practically significant?</a:t>
            </a:r>
          </a:p>
          <a:p>
            <a:pPr marL="609600" indent="-609600" eaLnBrk="1" hangingPunct="1">
              <a:buNone/>
            </a:pPr>
            <a:r>
              <a:rPr lang="en-US" u="sng">
                <a:latin typeface="Calibri"/>
                <a:cs typeface="Calibri"/>
              </a:rPr>
              <a:t>Stage 2 </a:t>
            </a:r>
          </a:p>
          <a:p>
            <a:pPr marL="609600" indent="-609600" eaLnBrk="1" hangingPunct="1">
              <a:buNone/>
            </a:pPr>
            <a:r>
              <a:rPr lang="en-US">
                <a:latin typeface="Calibri"/>
                <a:cs typeface="Calibri"/>
              </a:rPr>
              <a:t>What explains the DIF you found?</a:t>
            </a: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pPr eaLnBrk="1" hangingPunct="1"/>
            <a:r>
              <a:rPr lang="en-US" b="1">
                <a:latin typeface="Calibri"/>
                <a:cs typeface="Calibri"/>
              </a:rPr>
              <a:t>Obstacles to Establishing DIF</a:t>
            </a:r>
          </a:p>
        </p:txBody>
      </p:sp>
      <p:sp>
        <p:nvSpPr>
          <p:cNvPr id="29698" name="Rectangle 3"/>
          <p:cNvSpPr>
            <a:spLocks noGrp="1" noChangeArrowheads="1"/>
          </p:cNvSpPr>
          <p:nvPr>
            <p:ph type="body" idx="1"/>
          </p:nvPr>
        </p:nvSpPr>
        <p:spPr/>
        <p:txBody>
          <a:bodyPr/>
          <a:lstStyle/>
          <a:p>
            <a:pPr eaLnBrk="1" hangingPunct="1">
              <a:lnSpc>
                <a:spcPct val="90000"/>
              </a:lnSpc>
            </a:pPr>
            <a:r>
              <a:rPr lang="en-US">
                <a:latin typeface="Calibri"/>
                <a:cs typeface="Calibri"/>
              </a:rPr>
              <a:t>Small sample sizes</a:t>
            </a:r>
          </a:p>
          <a:p>
            <a:pPr lvl="1" eaLnBrk="1" hangingPunct="1">
              <a:lnSpc>
                <a:spcPct val="90000"/>
              </a:lnSpc>
            </a:pPr>
            <a:r>
              <a:rPr lang="en-US">
                <a:latin typeface="Calibri"/>
                <a:ea typeface="ＭＳ Ｐゴシック" charset="0"/>
                <a:cs typeface="Calibri"/>
              </a:rPr>
              <a:t>Limits the statistical power to detect differences</a:t>
            </a:r>
          </a:p>
          <a:p>
            <a:pPr eaLnBrk="1" hangingPunct="1">
              <a:lnSpc>
                <a:spcPct val="90000"/>
              </a:lnSpc>
            </a:pPr>
            <a:r>
              <a:rPr lang="en-US">
                <a:latin typeface="Calibri"/>
                <a:cs typeface="Calibri"/>
              </a:rPr>
              <a:t>Choice of matching criterion</a:t>
            </a:r>
          </a:p>
          <a:p>
            <a:pPr lvl="1" eaLnBrk="1" hangingPunct="1">
              <a:lnSpc>
                <a:spcPct val="90000"/>
              </a:lnSpc>
            </a:pPr>
            <a:r>
              <a:rPr lang="en-US">
                <a:latin typeface="Calibri"/>
                <a:ea typeface="ＭＳ Ｐゴシック" charset="0"/>
                <a:cs typeface="Calibri"/>
              </a:rPr>
              <a:t>Internal or external?</a:t>
            </a:r>
          </a:p>
          <a:p>
            <a:pPr lvl="1" eaLnBrk="1" hangingPunct="1">
              <a:lnSpc>
                <a:spcPct val="90000"/>
              </a:lnSpc>
            </a:pPr>
            <a:r>
              <a:rPr lang="en-US">
                <a:latin typeface="Calibri"/>
                <a:ea typeface="ＭＳ Ｐゴシック" charset="0"/>
                <a:cs typeface="Calibri"/>
              </a:rPr>
              <a:t>How do we know the matching criterion is unbiased?</a:t>
            </a:r>
          </a:p>
          <a:p>
            <a:pPr eaLnBrk="1" hangingPunct="1">
              <a:lnSpc>
                <a:spcPct val="90000"/>
              </a:lnSpc>
            </a:pPr>
            <a:r>
              <a:rPr lang="en-US">
                <a:latin typeface="Calibri"/>
                <a:cs typeface="Calibri"/>
              </a:rPr>
              <a:t>Polytomous items</a:t>
            </a:r>
          </a:p>
          <a:p>
            <a:pPr lvl="1" eaLnBrk="1" hangingPunct="1">
              <a:lnSpc>
                <a:spcPct val="90000"/>
              </a:lnSpc>
            </a:pPr>
            <a:r>
              <a:rPr lang="en-US">
                <a:latin typeface="Calibri"/>
                <a:ea typeface="ＭＳ Ｐゴシック" charset="0"/>
                <a:cs typeface="Calibri"/>
              </a:rPr>
              <a:t>Does DIF cancel or amplify?</a:t>
            </a:r>
          </a:p>
          <a:p>
            <a:pPr eaLnBrk="1" hangingPunct="1">
              <a:lnSpc>
                <a:spcPct val="90000"/>
              </a:lnSpc>
            </a:pPr>
            <a:r>
              <a:rPr lang="en-US">
                <a:latin typeface="Calibri"/>
                <a:cs typeface="Calibri"/>
              </a:rPr>
              <a:t>Lack of substantive understanding</a:t>
            </a:r>
          </a:p>
          <a:p>
            <a:pPr lvl="1" eaLnBrk="1" hangingPunct="1">
              <a:lnSpc>
                <a:spcPct val="90000"/>
              </a:lnSpc>
            </a:pPr>
            <a:r>
              <a:rPr lang="en-US">
                <a:latin typeface="Calibri"/>
                <a:ea typeface="ＭＳ Ｐゴシック" charset="0"/>
                <a:cs typeface="Calibri"/>
              </a:rPr>
              <a:t>What causes DIF?</a:t>
            </a: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Calibri" charset="0"/>
                <a:ea typeface="Calibri" charset="0"/>
                <a:cs typeface="Calibri" charset="0"/>
              </a:rPr>
              <a:t>A Fundamental Problem</a:t>
            </a:r>
          </a:p>
        </p:txBody>
      </p:sp>
      <p:sp>
        <p:nvSpPr>
          <p:cNvPr id="3" name="Content Placeholder 2"/>
          <p:cNvSpPr>
            <a:spLocks noGrp="1"/>
          </p:cNvSpPr>
          <p:nvPr>
            <p:ph idx="1"/>
          </p:nvPr>
        </p:nvSpPr>
        <p:spPr/>
        <p:txBody>
          <a:bodyPr/>
          <a:lstStyle/>
          <a:p>
            <a:r>
              <a:rPr lang="en-US"/>
              <a:t>If ALL the items on a particular test are biased against a focal group, there is no way to discern bias from impact with an internal matching criterion.</a:t>
            </a:r>
          </a:p>
          <a:p>
            <a:r>
              <a:rPr lang="en-US"/>
              <a:t>And if ALL tests are biased against a focal group, no external criterion will do any better!</a:t>
            </a:r>
          </a:p>
          <a:p>
            <a:r>
              <a:rPr lang="en-US"/>
              <a:t>So utility of a DIF analysis is premised on assumption that at least </a:t>
            </a:r>
            <a:r>
              <a:rPr lang="en-US" i="1"/>
              <a:t>some</a:t>
            </a:r>
            <a:r>
              <a:rPr lang="en-US"/>
              <a:t> (hopefully many) items on a test are not biased, or that there are other existing tests that are considered unbiased. </a:t>
            </a:r>
          </a:p>
          <a:p>
            <a:endParaRPr lang="en-US"/>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13</a:t>
            </a:fld>
            <a:endParaRPr lang="en-US"/>
          </a:p>
        </p:txBody>
      </p:sp>
    </p:spTree>
    <p:extLst>
      <p:ext uri="{BB962C8B-B14F-4D97-AF65-F5344CB8AC3E}">
        <p14:creationId xmlns:p14="http://schemas.microsoft.com/office/powerpoint/2010/main" val="740815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Box 4"/>
          <p:cNvSpPr txBox="1">
            <a:spLocks noChangeArrowheads="1"/>
          </p:cNvSpPr>
          <p:nvPr/>
        </p:nvSpPr>
        <p:spPr bwMode="auto">
          <a:xfrm>
            <a:off x="2819400" y="2819401"/>
            <a:ext cx="69342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4000" b="1">
                <a:latin typeface="Calibri"/>
                <a:cs typeface="Calibri"/>
              </a:rPr>
              <a:t>Non-IRT Based Approach</a:t>
            </a:r>
          </a:p>
        </p:txBody>
      </p:sp>
      <p:sp>
        <p:nvSpPr>
          <p:cNvPr id="2" name="Slide Number Placeholder 1"/>
          <p:cNvSpPr>
            <a:spLocks noGrp="1"/>
          </p:cNvSpPr>
          <p:nvPr>
            <p:ph type="sldNum" sz="quarter" idx="12"/>
          </p:nvPr>
        </p:nvSpPr>
        <p:spPr/>
        <p:txBody>
          <a:bodyPr/>
          <a:lstStyle/>
          <a:p>
            <a:pPr>
              <a:defRPr/>
            </a:pPr>
            <a:fld id="{82792DE7-658D-A340-982F-16F3F548D202}" type="slidenum">
              <a:rPr lang="en-US"/>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p:txBody>
          <a:bodyPr/>
          <a:lstStyle/>
          <a:p>
            <a:pPr eaLnBrk="1" hangingPunct="1"/>
            <a:r>
              <a:rPr lang="en-US" b="1">
                <a:latin typeface="Calibri"/>
                <a:cs typeface="Calibri"/>
              </a:rPr>
              <a:t>Mantel-Haenszel (MH)</a:t>
            </a:r>
          </a:p>
        </p:txBody>
      </p:sp>
      <p:sp>
        <p:nvSpPr>
          <p:cNvPr id="34818" name="Rectangle 3"/>
          <p:cNvSpPr>
            <a:spLocks noGrp="1" noChangeArrowheads="1"/>
          </p:cNvSpPr>
          <p:nvPr>
            <p:ph type="body" idx="1"/>
          </p:nvPr>
        </p:nvSpPr>
        <p:spPr/>
        <p:txBody>
          <a:bodyPr/>
          <a:lstStyle/>
          <a:p>
            <a:pPr marL="609600" indent="-609600" eaLnBrk="1" hangingPunct="1">
              <a:lnSpc>
                <a:spcPct val="90000"/>
              </a:lnSpc>
              <a:buNone/>
            </a:pPr>
            <a:r>
              <a:rPr lang="en-US">
                <a:latin typeface="Calibri"/>
                <a:cs typeface="Calibri"/>
              </a:rPr>
              <a:t>The Basic Strategy</a:t>
            </a:r>
          </a:p>
          <a:p>
            <a:pPr marL="609600" indent="-609600" eaLnBrk="1" hangingPunct="1">
              <a:lnSpc>
                <a:spcPct val="90000"/>
              </a:lnSpc>
              <a:buFontTx/>
              <a:buAutoNum type="arabicPeriod"/>
            </a:pPr>
            <a:r>
              <a:rPr lang="en-US">
                <a:latin typeface="Calibri"/>
                <a:cs typeface="Calibri"/>
              </a:rPr>
              <a:t>Examine crosstabs of groups (e.g., male, female) on item score (e.g., right, wrong)</a:t>
            </a:r>
          </a:p>
          <a:p>
            <a:pPr marL="609600" indent="-609600" eaLnBrk="1" hangingPunct="1">
              <a:lnSpc>
                <a:spcPct val="90000"/>
              </a:lnSpc>
              <a:buFontTx/>
              <a:buAutoNum type="arabicPeriod"/>
            </a:pPr>
            <a:r>
              <a:rPr lang="en-US">
                <a:latin typeface="Calibri"/>
                <a:cs typeface="Calibri"/>
              </a:rPr>
              <a:t>Condition on criterion with fixed number of levels (j = 1, …, J)</a:t>
            </a:r>
          </a:p>
          <a:p>
            <a:pPr marL="609600" indent="-609600" eaLnBrk="1" hangingPunct="1">
              <a:lnSpc>
                <a:spcPct val="90000"/>
              </a:lnSpc>
              <a:buFontTx/>
              <a:buAutoNum type="arabicPeriod"/>
            </a:pPr>
            <a:r>
              <a:rPr lang="en-US">
                <a:latin typeface="Calibri"/>
                <a:cs typeface="Calibri"/>
              </a:rPr>
              <a:t>What is the factor by which the odds of getting the item right increases or decreases if you are in the “focal” group instead of the “reference” group?</a:t>
            </a: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E743-987E-144F-A61B-8ED1D6C22273}"/>
              </a:ext>
            </a:extLst>
          </p:cNvPr>
          <p:cNvSpPr>
            <a:spLocks noGrp="1"/>
          </p:cNvSpPr>
          <p:nvPr>
            <p:ph type="title"/>
          </p:nvPr>
        </p:nvSpPr>
        <p:spPr/>
        <p:txBody>
          <a:bodyPr/>
          <a:lstStyle/>
          <a:p>
            <a:r>
              <a:rPr lang="en-US" b="1"/>
              <a:t>Terminology</a:t>
            </a:r>
          </a:p>
        </p:txBody>
      </p:sp>
      <p:sp>
        <p:nvSpPr>
          <p:cNvPr id="3" name="Content Placeholder 2">
            <a:extLst>
              <a:ext uri="{FF2B5EF4-FFF2-40B4-BE49-F238E27FC236}">
                <a16:creationId xmlns:a16="http://schemas.microsoft.com/office/drawing/2014/main" id="{1B143100-F520-EE45-8086-5112BC77E41F}"/>
              </a:ext>
            </a:extLst>
          </p:cNvPr>
          <p:cNvSpPr>
            <a:spLocks noGrp="1"/>
          </p:cNvSpPr>
          <p:nvPr>
            <p:ph idx="1"/>
          </p:nvPr>
        </p:nvSpPr>
        <p:spPr/>
        <p:txBody>
          <a:bodyPr/>
          <a:lstStyle/>
          <a:p>
            <a:r>
              <a:rPr lang="en-US" sz="3200" b="1"/>
              <a:t>Focal Group</a:t>
            </a:r>
            <a:r>
              <a:rPr lang="en-US" sz="3200"/>
              <a:t>: This is the group we are concerned about experiencing some form of bias. </a:t>
            </a:r>
          </a:p>
          <a:p>
            <a:r>
              <a:rPr lang="en-US" sz="3200" b="1"/>
              <a:t>Reference Group</a:t>
            </a:r>
            <a:r>
              <a:rPr lang="en-US" sz="3200"/>
              <a:t>: This is the group we might suspect to be, if anything, advantaged by the way some items have been written. </a:t>
            </a:r>
          </a:p>
        </p:txBody>
      </p:sp>
      <p:sp>
        <p:nvSpPr>
          <p:cNvPr id="4" name="Slide Number Placeholder 3">
            <a:extLst>
              <a:ext uri="{FF2B5EF4-FFF2-40B4-BE49-F238E27FC236}">
                <a16:creationId xmlns:a16="http://schemas.microsoft.com/office/drawing/2014/main" id="{439A146A-46CD-DD48-A572-E6B9243CED8A}"/>
              </a:ext>
            </a:extLst>
          </p:cNvPr>
          <p:cNvSpPr>
            <a:spLocks noGrp="1"/>
          </p:cNvSpPr>
          <p:nvPr>
            <p:ph type="sldNum" sz="quarter" idx="12"/>
          </p:nvPr>
        </p:nvSpPr>
        <p:spPr/>
        <p:txBody>
          <a:bodyPr/>
          <a:lstStyle/>
          <a:p>
            <a:pPr>
              <a:defRPr/>
            </a:pPr>
            <a:fld id="{CD98E987-055C-A941-82AA-E638330DCBBF}" type="slidenum">
              <a:rPr lang="en-US"/>
              <a:pPr>
                <a:defRPr/>
              </a:pPr>
              <a:t>16</a:t>
            </a:fld>
            <a:endParaRPr lang="en-US"/>
          </a:p>
        </p:txBody>
      </p:sp>
    </p:spTree>
    <p:extLst>
      <p:ext uri="{BB962C8B-B14F-4D97-AF65-F5344CB8AC3E}">
        <p14:creationId xmlns:p14="http://schemas.microsoft.com/office/powerpoint/2010/main" val="2189464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pPr eaLnBrk="1" hangingPunct="1"/>
            <a:r>
              <a:rPr lang="en-US" b="1">
                <a:latin typeface="Calibri"/>
                <a:cs typeface="Calibri"/>
              </a:rPr>
              <a:t>Recall Illustrative Context</a:t>
            </a:r>
          </a:p>
        </p:txBody>
      </p:sp>
      <p:sp>
        <p:nvSpPr>
          <p:cNvPr id="31746" name="Rectangle 3"/>
          <p:cNvSpPr>
            <a:spLocks noGrp="1" noChangeArrowheads="1"/>
          </p:cNvSpPr>
          <p:nvPr>
            <p:ph type="body" idx="1"/>
          </p:nvPr>
        </p:nvSpPr>
        <p:spPr/>
        <p:txBody>
          <a:bodyPr/>
          <a:lstStyle/>
          <a:p>
            <a:pPr eaLnBrk="1" hangingPunct="1"/>
            <a:r>
              <a:rPr lang="en-US" sz="2400">
                <a:latin typeface="Calibri"/>
                <a:cs typeface="Calibri"/>
              </a:rPr>
              <a:t>6,750 students took 6 TIMMS items.</a:t>
            </a:r>
          </a:p>
          <a:p>
            <a:pPr eaLnBrk="1" hangingPunct="1"/>
            <a:r>
              <a:rPr lang="en-US" sz="2400">
                <a:latin typeface="Calibri"/>
                <a:cs typeface="Calibri"/>
              </a:rPr>
              <a:t>Consider MC Item 4 (BSMMA04)</a:t>
            </a:r>
          </a:p>
          <a:p>
            <a:pPr eaLnBrk="1" hangingPunct="1"/>
            <a:r>
              <a:rPr lang="en-US" sz="2400">
                <a:latin typeface="Calibri"/>
                <a:cs typeface="Calibri"/>
              </a:rPr>
              <a:t>On this item 1 = correct response, 0 = incorrect</a:t>
            </a:r>
          </a:p>
          <a:p>
            <a:pPr eaLnBrk="1" hangingPunct="1"/>
            <a:r>
              <a:rPr lang="en-US" sz="2400">
                <a:latin typeface="Calibri"/>
                <a:cs typeface="Calibri"/>
              </a:rPr>
              <a:t>62% of males get it correct vs. 48% of females</a:t>
            </a:r>
          </a:p>
          <a:p>
            <a:pPr eaLnBrk="1" hangingPunct="1"/>
            <a:r>
              <a:rPr lang="en-US" sz="2400">
                <a:latin typeface="Calibri"/>
                <a:cs typeface="Calibri"/>
              </a:rPr>
              <a:t>Is the item biased against females?</a:t>
            </a:r>
          </a:p>
          <a:p>
            <a:pPr eaLnBrk="1" hangingPunct="1">
              <a:buFontTx/>
              <a:buNone/>
            </a:pPr>
            <a:endParaRPr lang="en-US">
              <a:latin typeface="Arial" charset="0"/>
            </a:endParaRPr>
          </a:p>
        </p:txBody>
      </p:sp>
      <p:pic>
        <p:nvPicPr>
          <p:cNvPr id="3174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848486"/>
            <a:ext cx="6781800" cy="2840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17</a:t>
            </a:fld>
            <a:endParaRPr lang="en-US"/>
          </a:p>
        </p:txBody>
      </p:sp>
    </p:spTree>
    <p:extLst>
      <p:ext uri="{BB962C8B-B14F-4D97-AF65-F5344CB8AC3E}">
        <p14:creationId xmlns:p14="http://schemas.microsoft.com/office/powerpoint/2010/main" val="230336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p:txBody>
          <a:bodyPr/>
          <a:lstStyle/>
          <a:p>
            <a:pPr marL="838200" indent="-838200" eaLnBrk="1" hangingPunct="1"/>
            <a:r>
              <a:rPr lang="en-US" sz="4000" b="1">
                <a:latin typeface="Calibri"/>
                <a:cs typeface="Calibri"/>
              </a:rPr>
              <a:t>Picking a Criterion for Matching</a:t>
            </a:r>
          </a:p>
        </p:txBody>
      </p:sp>
      <p:sp>
        <p:nvSpPr>
          <p:cNvPr id="36866" name="Rectangle 3"/>
          <p:cNvSpPr>
            <a:spLocks noGrp="1" noChangeArrowheads="1"/>
          </p:cNvSpPr>
          <p:nvPr>
            <p:ph type="body" idx="1"/>
          </p:nvPr>
        </p:nvSpPr>
        <p:spPr>
          <a:xfrm>
            <a:off x="381000" y="1524001"/>
            <a:ext cx="9829800" cy="4525963"/>
          </a:xfrm>
        </p:spPr>
        <p:txBody>
          <a:bodyPr/>
          <a:lstStyle/>
          <a:p>
            <a:pPr eaLnBrk="1" hangingPunct="1"/>
            <a:r>
              <a:rPr lang="en-US" sz="3000">
                <a:latin typeface="Calibri"/>
                <a:cs typeface="Calibri"/>
              </a:rPr>
              <a:t>Let’s look at these crosstabs for those people with same total score across the six items (example of an </a:t>
            </a:r>
            <a:r>
              <a:rPr lang="en-US" sz="3000" u="sng">
                <a:latin typeface="Calibri"/>
                <a:cs typeface="Calibri"/>
              </a:rPr>
              <a:t>internal criterion</a:t>
            </a:r>
            <a:r>
              <a:rPr lang="en-US" sz="3000">
                <a:latin typeface="Calibri"/>
                <a:cs typeface="Calibri"/>
              </a:rPr>
              <a:t>).</a:t>
            </a:r>
          </a:p>
        </p:txBody>
      </p:sp>
      <p:pic>
        <p:nvPicPr>
          <p:cNvPr id="3686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124200"/>
            <a:ext cx="4495800" cy="3354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868" name="Rectangle 5"/>
          <p:cNvSpPr>
            <a:spLocks noChangeArrowheads="1"/>
          </p:cNvSpPr>
          <p:nvPr/>
        </p:nvSpPr>
        <p:spPr bwMode="auto">
          <a:xfrm>
            <a:off x="3352800" y="4267200"/>
            <a:ext cx="2590800" cy="609600"/>
          </a:xfrm>
          <a:prstGeom prst="rect">
            <a:avLst/>
          </a:prstGeom>
          <a:noFill/>
          <a:ln w="952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6869" name="Line 7"/>
          <p:cNvSpPr>
            <a:spLocks noChangeShapeType="1"/>
          </p:cNvSpPr>
          <p:nvPr/>
        </p:nvSpPr>
        <p:spPr bwMode="auto">
          <a:xfrm flipH="1">
            <a:off x="5943600" y="3733800"/>
            <a:ext cx="2133600" cy="7620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6870" name="Text Box 8"/>
          <p:cNvSpPr txBox="1">
            <a:spLocks noChangeArrowheads="1"/>
          </p:cNvSpPr>
          <p:nvPr/>
        </p:nvSpPr>
        <p:spPr bwMode="auto">
          <a:xfrm>
            <a:off x="8077200" y="3429001"/>
            <a:ext cx="2286000" cy="2031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latin typeface="Calibri"/>
                <a:cs typeface="Calibri"/>
              </a:rPr>
              <a:t>Small sample sizes, might choose to collapse these rows. In this example I only consider the reponses with totscore = 1, 2, 3 and 4.</a:t>
            </a:r>
          </a:p>
        </p:txBody>
      </p:sp>
      <p:sp>
        <p:nvSpPr>
          <p:cNvPr id="36871" name="TextBox 10"/>
          <p:cNvSpPr txBox="1">
            <a:spLocks noChangeArrowheads="1"/>
          </p:cNvSpPr>
          <p:nvPr/>
        </p:nvSpPr>
        <p:spPr bwMode="auto">
          <a:xfrm>
            <a:off x="7035800" y="5775743"/>
            <a:ext cx="4191000" cy="92333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a:cs typeface="Calibri"/>
              </a:rPr>
              <a:t>In this example the focal group is males (really should have chosen females, but doesn’t change the conclusions)</a:t>
            </a: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pPr eaLnBrk="1" hangingPunct="1"/>
            <a:r>
              <a:rPr lang="en-US" b="1">
                <a:latin typeface="Calibri"/>
                <a:cs typeface="Calibri"/>
              </a:rPr>
              <a:t>MH Notation</a:t>
            </a:r>
          </a:p>
        </p:txBody>
      </p:sp>
      <p:graphicFrame>
        <p:nvGraphicFramePr>
          <p:cNvPr id="13448" name="Group 136"/>
          <p:cNvGraphicFramePr>
            <a:graphicFrameLocks noGrp="1"/>
          </p:cNvGraphicFramePr>
          <p:nvPr>
            <p:ph idx="1"/>
          </p:nvPr>
        </p:nvGraphicFramePr>
        <p:xfrm>
          <a:off x="1981200" y="1600200"/>
          <a:ext cx="8229600" cy="2514600"/>
        </p:xfrm>
        <a:graphic>
          <a:graphicData uri="http://schemas.openxmlformats.org/drawingml/2006/table">
            <a:tbl>
              <a:tblPr/>
              <a:tblGrid>
                <a:gridCol w="1447800">
                  <a:extLst>
                    <a:ext uri="{9D8B030D-6E8A-4147-A177-3AD203B41FA5}">
                      <a16:colId xmlns:a16="http://schemas.microsoft.com/office/drawing/2014/main" val="20000"/>
                    </a:ext>
                  </a:extLst>
                </a:gridCol>
                <a:gridCol w="1844675">
                  <a:extLst>
                    <a:ext uri="{9D8B030D-6E8A-4147-A177-3AD203B41FA5}">
                      <a16:colId xmlns:a16="http://schemas.microsoft.com/office/drawing/2014/main" val="20001"/>
                    </a:ext>
                  </a:extLst>
                </a:gridCol>
                <a:gridCol w="1644650">
                  <a:extLst>
                    <a:ext uri="{9D8B030D-6E8A-4147-A177-3AD203B41FA5}">
                      <a16:colId xmlns:a16="http://schemas.microsoft.com/office/drawing/2014/main" val="20002"/>
                    </a:ext>
                  </a:extLst>
                </a:gridCol>
                <a:gridCol w="1646238">
                  <a:extLst>
                    <a:ext uri="{9D8B030D-6E8A-4147-A177-3AD203B41FA5}">
                      <a16:colId xmlns:a16="http://schemas.microsoft.com/office/drawing/2014/main" val="20003"/>
                    </a:ext>
                  </a:extLst>
                </a:gridCol>
                <a:gridCol w="1646237">
                  <a:extLst>
                    <a:ext uri="{9D8B030D-6E8A-4147-A177-3AD203B41FA5}">
                      <a16:colId xmlns:a16="http://schemas.microsoft.com/office/drawing/2014/main" val="20004"/>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a typeface="ＭＳ Ｐゴシック" charset="0"/>
                        <a:cs typeface="ＭＳ Ｐゴシック"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a typeface="ＭＳ Ｐゴシック" charset="0"/>
                        <a:cs typeface="ＭＳ Ｐゴシック"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Score on Studied Item</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a typeface="ＭＳ Ｐゴシック" charset="0"/>
                        <a:cs typeface="ＭＳ Ｐゴシック" charset="0"/>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a typeface="ＭＳ Ｐゴシック" charset="0"/>
                        <a:cs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Total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Group</a:t>
                      </a: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Reference (R)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A</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B</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n</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Rj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Focal (F)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C</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D</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n</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Fj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a typeface="ＭＳ Ｐゴシック" charset="0"/>
                        <a:cs typeface="ＭＳ Ｐゴシック"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Total</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m</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1j</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m</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0j</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0"/>
                          <a:cs typeface="ＭＳ Ｐゴシック" charset="0"/>
                        </a:rPr>
                        <a:t>T</a:t>
                      </a:r>
                      <a:r>
                        <a:rPr kumimoji="0" lang="en-US" sz="2000" b="0" i="0" u="none" strike="noStrike" cap="none" normalizeH="0" baseline="-25000">
                          <a:ln>
                            <a:noFill/>
                          </a:ln>
                          <a:solidFill>
                            <a:schemeClr val="tx1"/>
                          </a:solidFill>
                          <a:effectLst/>
                          <a:latin typeface="Arial" charset="0"/>
                          <a:ea typeface="ＭＳ Ｐゴシック" charset="0"/>
                          <a:cs typeface="ＭＳ Ｐゴシック" charset="0"/>
                        </a:rPr>
                        <a:t>j</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8948" name="Text Box 137"/>
          <p:cNvSpPr txBox="1">
            <a:spLocks noChangeArrowheads="1"/>
          </p:cNvSpPr>
          <p:nvPr/>
        </p:nvSpPr>
        <p:spPr bwMode="auto">
          <a:xfrm>
            <a:off x="1752600" y="4953001"/>
            <a:ext cx="6553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Estimated Probability member of R group gets item correct:</a:t>
            </a:r>
          </a:p>
        </p:txBody>
      </p:sp>
      <p:graphicFrame>
        <p:nvGraphicFramePr>
          <p:cNvPr id="38949" name="Object 2"/>
          <p:cNvGraphicFramePr>
            <a:graphicFrameLocks noChangeAspect="1"/>
          </p:cNvGraphicFramePr>
          <p:nvPr/>
        </p:nvGraphicFramePr>
        <p:xfrm>
          <a:off x="8153400" y="4876800"/>
          <a:ext cx="1447800" cy="438150"/>
        </p:xfrm>
        <a:graphic>
          <a:graphicData uri="http://schemas.openxmlformats.org/presentationml/2006/ole">
            <mc:AlternateContent xmlns:mc="http://schemas.openxmlformats.org/markup-compatibility/2006">
              <mc:Choice xmlns:v="urn:schemas-microsoft-com:vml" Requires="v">
                <p:oleObj name="Equation" r:id="rId3" imgW="799753" imgH="241195" progId="Equation.DSMT4">
                  <p:embed/>
                </p:oleObj>
              </mc:Choice>
              <mc:Fallback>
                <p:oleObj name="Equation" r:id="rId3" imgW="799753" imgH="241195"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0" y="4876800"/>
                        <a:ext cx="1447800" cy="4381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8950" name="Text Box 139"/>
          <p:cNvSpPr txBox="1">
            <a:spLocks noChangeArrowheads="1"/>
          </p:cNvSpPr>
          <p:nvPr/>
        </p:nvSpPr>
        <p:spPr bwMode="auto">
          <a:xfrm>
            <a:off x="1295400" y="4419601"/>
            <a:ext cx="84582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Where A, B, C, D represent #s of students in each cell, </a:t>
            </a:r>
            <a:r>
              <a:rPr lang="en-US" sz="1800" b="1"/>
              <a:t>j = level of criterion</a:t>
            </a:r>
          </a:p>
        </p:txBody>
      </p:sp>
      <p:sp>
        <p:nvSpPr>
          <p:cNvPr id="38951" name="Text Box 140"/>
          <p:cNvSpPr txBox="1">
            <a:spLocks noChangeArrowheads="1"/>
          </p:cNvSpPr>
          <p:nvPr/>
        </p:nvSpPr>
        <p:spPr bwMode="auto">
          <a:xfrm>
            <a:off x="1752600" y="5410201"/>
            <a:ext cx="6553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Estimated Probability member of R group gets item incorrect:</a:t>
            </a:r>
          </a:p>
        </p:txBody>
      </p:sp>
      <p:graphicFrame>
        <p:nvGraphicFramePr>
          <p:cNvPr id="38952" name="Object 3"/>
          <p:cNvGraphicFramePr>
            <a:graphicFrameLocks noChangeAspect="1"/>
          </p:cNvGraphicFramePr>
          <p:nvPr/>
        </p:nvGraphicFramePr>
        <p:xfrm>
          <a:off x="8153400" y="5334001"/>
          <a:ext cx="1524000" cy="466725"/>
        </p:xfrm>
        <a:graphic>
          <a:graphicData uri="http://schemas.openxmlformats.org/presentationml/2006/ole">
            <mc:AlternateContent xmlns:mc="http://schemas.openxmlformats.org/markup-compatibility/2006">
              <mc:Choice xmlns:v="urn:schemas-microsoft-com:vml" Requires="v">
                <p:oleObj name="Equation" r:id="rId5" imgW="787400" imgH="241300" progId="Equation.DSMT4">
                  <p:embed/>
                </p:oleObj>
              </mc:Choice>
              <mc:Fallback>
                <p:oleObj name="Equation" r:id="rId5" imgW="787400" imgH="2413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53400" y="5334001"/>
                        <a:ext cx="1524000" cy="4667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8953" name="Text Box 145"/>
          <p:cNvSpPr txBox="1">
            <a:spLocks noChangeArrowheads="1"/>
          </p:cNvSpPr>
          <p:nvPr/>
        </p:nvSpPr>
        <p:spPr bwMode="auto">
          <a:xfrm>
            <a:off x="1752600" y="5867401"/>
            <a:ext cx="6553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Estimated Probability member of F group gets item correct:</a:t>
            </a:r>
          </a:p>
        </p:txBody>
      </p:sp>
      <p:sp>
        <p:nvSpPr>
          <p:cNvPr id="38954" name="Text Box 146"/>
          <p:cNvSpPr txBox="1">
            <a:spLocks noChangeArrowheads="1"/>
          </p:cNvSpPr>
          <p:nvPr/>
        </p:nvSpPr>
        <p:spPr bwMode="auto">
          <a:xfrm>
            <a:off x="1752600" y="6248401"/>
            <a:ext cx="6553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Estimated Probability member of F group gets item incorrect:</a:t>
            </a:r>
          </a:p>
        </p:txBody>
      </p:sp>
      <p:graphicFrame>
        <p:nvGraphicFramePr>
          <p:cNvPr id="38955" name="Object 4"/>
          <p:cNvGraphicFramePr>
            <a:graphicFrameLocks noChangeAspect="1"/>
          </p:cNvGraphicFramePr>
          <p:nvPr/>
        </p:nvGraphicFramePr>
        <p:xfrm>
          <a:off x="8142288" y="5791201"/>
          <a:ext cx="1471612" cy="436563"/>
        </p:xfrm>
        <a:graphic>
          <a:graphicData uri="http://schemas.openxmlformats.org/presentationml/2006/ole">
            <mc:AlternateContent xmlns:mc="http://schemas.openxmlformats.org/markup-compatibility/2006">
              <mc:Choice xmlns:v="urn:schemas-microsoft-com:vml" Requires="v">
                <p:oleObj name="Equation" r:id="rId7" imgW="812447" imgH="241195" progId="Equation.DSMT4">
                  <p:embed/>
                </p:oleObj>
              </mc:Choice>
              <mc:Fallback>
                <p:oleObj name="Equation" r:id="rId7" imgW="812447" imgH="241195"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42288" y="5791201"/>
                        <a:ext cx="1471612" cy="4365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8956" name="Object 5"/>
          <p:cNvGraphicFramePr>
            <a:graphicFrameLocks noChangeAspect="1"/>
          </p:cNvGraphicFramePr>
          <p:nvPr/>
        </p:nvGraphicFramePr>
        <p:xfrm>
          <a:off x="8153400" y="6248401"/>
          <a:ext cx="1524000" cy="460375"/>
        </p:xfrm>
        <a:graphic>
          <a:graphicData uri="http://schemas.openxmlformats.org/presentationml/2006/ole">
            <mc:AlternateContent xmlns:mc="http://schemas.openxmlformats.org/markup-compatibility/2006">
              <mc:Choice xmlns:v="urn:schemas-microsoft-com:vml" Requires="v">
                <p:oleObj name="Equation" r:id="rId9" imgW="799753" imgH="241195" progId="Equation.DSMT4">
                  <p:embed/>
                </p:oleObj>
              </mc:Choice>
              <mc:Fallback>
                <p:oleObj name="Equation" r:id="rId9" imgW="799753" imgH="241195"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53400" y="6248401"/>
                        <a:ext cx="1524000" cy="4603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610F10D7-2531-F344-B8B4-A878ED1702E9}" type="slidenum">
              <a:rPr lang="en-US"/>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p:txBody>
          <a:bodyPr/>
          <a:lstStyle/>
          <a:p>
            <a:pPr eaLnBrk="1" hangingPunct="1"/>
            <a:r>
              <a:rPr lang="en-US" b="1">
                <a:latin typeface="Calibri"/>
                <a:cs typeface="Calibri"/>
              </a:rPr>
              <a:t>The MH Statistic</a:t>
            </a:r>
          </a:p>
        </p:txBody>
      </p:sp>
      <p:sp>
        <p:nvSpPr>
          <p:cNvPr id="40962" name="Text Box 4"/>
          <p:cNvSpPr txBox="1">
            <a:spLocks noChangeArrowheads="1"/>
          </p:cNvSpPr>
          <p:nvPr/>
        </p:nvSpPr>
        <p:spPr bwMode="auto">
          <a:xfrm>
            <a:off x="1828800" y="1981201"/>
            <a:ext cx="64770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Estimated Probability member of R group gets item correct:</a:t>
            </a:r>
          </a:p>
        </p:txBody>
      </p:sp>
      <p:graphicFrame>
        <p:nvGraphicFramePr>
          <p:cNvPr id="40963" name="Object 2"/>
          <p:cNvGraphicFramePr>
            <a:graphicFrameLocks noChangeAspect="1"/>
          </p:cNvGraphicFramePr>
          <p:nvPr/>
        </p:nvGraphicFramePr>
        <p:xfrm>
          <a:off x="8153400" y="1905000"/>
          <a:ext cx="1447800" cy="438150"/>
        </p:xfrm>
        <a:graphic>
          <a:graphicData uri="http://schemas.openxmlformats.org/presentationml/2006/ole">
            <mc:AlternateContent xmlns:mc="http://schemas.openxmlformats.org/markup-compatibility/2006">
              <mc:Choice xmlns:v="urn:schemas-microsoft-com:vml" Requires="v">
                <p:oleObj name="Equation" r:id="rId3" imgW="799753" imgH="241195" progId="Equation.DSMT4">
                  <p:embed/>
                </p:oleObj>
              </mc:Choice>
              <mc:Fallback>
                <p:oleObj name="Equation" r:id="rId3" imgW="799753" imgH="241195"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0" y="1905000"/>
                        <a:ext cx="1447800" cy="4381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0964" name="Text Box 6"/>
          <p:cNvSpPr txBox="1">
            <a:spLocks noChangeArrowheads="1"/>
          </p:cNvSpPr>
          <p:nvPr/>
        </p:nvSpPr>
        <p:spPr bwMode="auto">
          <a:xfrm>
            <a:off x="1828800" y="2438401"/>
            <a:ext cx="64770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Estimated Probability member of R group gets item incorrect:</a:t>
            </a:r>
          </a:p>
        </p:txBody>
      </p:sp>
      <p:graphicFrame>
        <p:nvGraphicFramePr>
          <p:cNvPr id="40965" name="Object 3"/>
          <p:cNvGraphicFramePr>
            <a:graphicFrameLocks noChangeAspect="1"/>
          </p:cNvGraphicFramePr>
          <p:nvPr/>
        </p:nvGraphicFramePr>
        <p:xfrm>
          <a:off x="8153400" y="2362201"/>
          <a:ext cx="1524000" cy="466725"/>
        </p:xfrm>
        <a:graphic>
          <a:graphicData uri="http://schemas.openxmlformats.org/presentationml/2006/ole">
            <mc:AlternateContent xmlns:mc="http://schemas.openxmlformats.org/markup-compatibility/2006">
              <mc:Choice xmlns:v="urn:schemas-microsoft-com:vml" Requires="v">
                <p:oleObj name="Equation" r:id="rId5" imgW="787400" imgH="241300" progId="Equation.DSMT4">
                  <p:embed/>
                </p:oleObj>
              </mc:Choice>
              <mc:Fallback>
                <p:oleObj name="Equation" r:id="rId5" imgW="787400" imgH="2413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53400" y="2362201"/>
                        <a:ext cx="1524000" cy="4667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0966" name="Text Box 8"/>
          <p:cNvSpPr txBox="1">
            <a:spLocks noChangeArrowheads="1"/>
          </p:cNvSpPr>
          <p:nvPr/>
        </p:nvSpPr>
        <p:spPr bwMode="auto">
          <a:xfrm>
            <a:off x="1828800" y="2895601"/>
            <a:ext cx="64770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Estimated Probability member of F group gets item correct:</a:t>
            </a:r>
          </a:p>
        </p:txBody>
      </p:sp>
      <p:sp>
        <p:nvSpPr>
          <p:cNvPr id="40967" name="Text Box 9"/>
          <p:cNvSpPr txBox="1">
            <a:spLocks noChangeArrowheads="1"/>
          </p:cNvSpPr>
          <p:nvPr/>
        </p:nvSpPr>
        <p:spPr bwMode="auto">
          <a:xfrm>
            <a:off x="1828800" y="3276601"/>
            <a:ext cx="64770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Estimated Probability member of F group gets item incorrect:</a:t>
            </a:r>
          </a:p>
        </p:txBody>
      </p:sp>
      <p:graphicFrame>
        <p:nvGraphicFramePr>
          <p:cNvPr id="40968" name="Object 4"/>
          <p:cNvGraphicFramePr>
            <a:graphicFrameLocks noChangeAspect="1"/>
          </p:cNvGraphicFramePr>
          <p:nvPr/>
        </p:nvGraphicFramePr>
        <p:xfrm>
          <a:off x="8142288" y="2819401"/>
          <a:ext cx="1471612" cy="436563"/>
        </p:xfrm>
        <a:graphic>
          <a:graphicData uri="http://schemas.openxmlformats.org/presentationml/2006/ole">
            <mc:AlternateContent xmlns:mc="http://schemas.openxmlformats.org/markup-compatibility/2006">
              <mc:Choice xmlns:v="urn:schemas-microsoft-com:vml" Requires="v">
                <p:oleObj name="Equation" r:id="rId7" imgW="812447" imgH="241195" progId="Equation.DSMT4">
                  <p:embed/>
                </p:oleObj>
              </mc:Choice>
              <mc:Fallback>
                <p:oleObj name="Equation" r:id="rId7" imgW="812447" imgH="241195"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42288" y="2819401"/>
                        <a:ext cx="1471612" cy="4365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0969" name="Object 5"/>
          <p:cNvGraphicFramePr>
            <a:graphicFrameLocks noChangeAspect="1"/>
          </p:cNvGraphicFramePr>
          <p:nvPr/>
        </p:nvGraphicFramePr>
        <p:xfrm>
          <a:off x="8153400" y="3276601"/>
          <a:ext cx="1524000" cy="460375"/>
        </p:xfrm>
        <a:graphic>
          <a:graphicData uri="http://schemas.openxmlformats.org/presentationml/2006/ole">
            <mc:AlternateContent xmlns:mc="http://schemas.openxmlformats.org/markup-compatibility/2006">
              <mc:Choice xmlns:v="urn:schemas-microsoft-com:vml" Requires="v">
                <p:oleObj name="Equation" r:id="rId9" imgW="799753" imgH="241195" progId="Equation.DSMT4">
                  <p:embed/>
                </p:oleObj>
              </mc:Choice>
              <mc:Fallback>
                <p:oleObj name="Equation" r:id="rId9" imgW="799753" imgH="241195"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53400" y="3276601"/>
                        <a:ext cx="1524000" cy="4603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0970" name="Object 6"/>
          <p:cNvGraphicFramePr>
            <a:graphicFrameLocks noChangeAspect="1"/>
          </p:cNvGraphicFramePr>
          <p:nvPr>
            <p:extLst>
              <p:ext uri="{D42A27DB-BD31-4B8C-83A1-F6EECF244321}">
                <p14:modId xmlns:p14="http://schemas.microsoft.com/office/powerpoint/2010/main" val="4087313159"/>
              </p:ext>
            </p:extLst>
          </p:nvPr>
        </p:nvGraphicFramePr>
        <p:xfrm>
          <a:off x="1527175" y="4087812"/>
          <a:ext cx="1978025" cy="1855788"/>
        </p:xfrm>
        <a:graphic>
          <a:graphicData uri="http://schemas.openxmlformats.org/presentationml/2006/ole">
            <mc:AlternateContent xmlns:mc="http://schemas.openxmlformats.org/markup-compatibility/2006">
              <mc:Choice xmlns:v="urn:schemas-microsoft-com:vml" Requires="v">
                <p:oleObj name="Equation" r:id="rId11" imgW="1028700" imgH="965200" progId="Equation.DSMT4">
                  <p:embed/>
                </p:oleObj>
              </mc:Choice>
              <mc:Fallback>
                <p:oleObj name="Equation" r:id="rId11" imgW="1028700" imgH="965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7175" y="4087812"/>
                        <a:ext cx="1978025" cy="18557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0971" name="Object 7"/>
          <p:cNvGraphicFramePr>
            <a:graphicFrameLocks noChangeAspect="1"/>
          </p:cNvGraphicFramePr>
          <p:nvPr/>
        </p:nvGraphicFramePr>
        <p:xfrm>
          <a:off x="4648200" y="3962401"/>
          <a:ext cx="4114800" cy="1108075"/>
        </p:xfrm>
        <a:graphic>
          <a:graphicData uri="http://schemas.openxmlformats.org/presentationml/2006/ole">
            <mc:AlternateContent xmlns:mc="http://schemas.openxmlformats.org/markup-compatibility/2006">
              <mc:Choice xmlns:v="urn:schemas-microsoft-com:vml" Requires="v">
                <p:oleObj name="Equation" r:id="rId13" imgW="1981200" imgH="533400" progId="Equation.DSMT4">
                  <p:embed/>
                </p:oleObj>
              </mc:Choice>
              <mc:Fallback>
                <p:oleObj name="Equation" r:id="rId13" imgW="1981200" imgH="53340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8200" y="3962401"/>
                        <a:ext cx="4114800" cy="11080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0972" name="Text Box 14"/>
          <p:cNvSpPr txBox="1">
            <a:spLocks noChangeArrowheads="1"/>
          </p:cNvSpPr>
          <p:nvPr/>
        </p:nvSpPr>
        <p:spPr bwMode="auto">
          <a:xfrm>
            <a:off x="4572000" y="5334001"/>
            <a:ext cx="5257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This is equivalent to Clauser &amp; Mazor, p. 35</a:t>
            </a:r>
          </a:p>
        </p:txBody>
      </p:sp>
      <p:graphicFrame>
        <p:nvGraphicFramePr>
          <p:cNvPr id="40973" name="Object 8"/>
          <p:cNvGraphicFramePr>
            <a:graphicFrameLocks noChangeAspect="1"/>
          </p:cNvGraphicFramePr>
          <p:nvPr/>
        </p:nvGraphicFramePr>
        <p:xfrm>
          <a:off x="6858000" y="5715000"/>
          <a:ext cx="2133600" cy="914400"/>
        </p:xfrm>
        <a:graphic>
          <a:graphicData uri="http://schemas.openxmlformats.org/presentationml/2006/ole">
            <mc:AlternateContent xmlns:mc="http://schemas.openxmlformats.org/markup-compatibility/2006">
              <mc:Choice xmlns:v="urn:schemas-microsoft-com:vml" Requires="v">
                <p:oleObj name="Equation" r:id="rId15" imgW="1244600" imgH="533400" progId="Equation.DSMT4">
                  <p:embed/>
                </p:oleObj>
              </mc:Choice>
              <mc:Fallback>
                <p:oleObj name="Equation" r:id="rId15" imgW="1244600" imgH="533400" progId="Equation.DSMT4">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58000" y="5715000"/>
                        <a:ext cx="2133600" cy="914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0974" name="Rectangle 16"/>
          <p:cNvSpPr>
            <a:spLocks noChangeArrowheads="1"/>
          </p:cNvSpPr>
          <p:nvPr/>
        </p:nvSpPr>
        <p:spPr bwMode="auto">
          <a:xfrm>
            <a:off x="4572000" y="5181600"/>
            <a:ext cx="4800600" cy="15240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pPr eaLnBrk="1" hangingPunct="1"/>
            <a:r>
              <a:rPr lang="en-US" b="1">
                <a:latin typeface="Calibri"/>
                <a:cs typeface="Calibri"/>
              </a:rPr>
              <a:t>MH for TIMMS Item 4</a:t>
            </a:r>
          </a:p>
        </p:txBody>
      </p:sp>
      <p:pic>
        <p:nvPicPr>
          <p:cNvPr id="4301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1524000"/>
            <a:ext cx="3076575" cy="156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30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1" y="1524000"/>
            <a:ext cx="3076575" cy="156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3012"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1" y="3276600"/>
            <a:ext cx="3076575" cy="156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3013"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2201" y="3276600"/>
            <a:ext cx="3076575" cy="156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43014" name="Object 2"/>
          <p:cNvGraphicFramePr>
            <a:graphicFrameLocks noChangeAspect="1"/>
          </p:cNvGraphicFramePr>
          <p:nvPr/>
        </p:nvGraphicFramePr>
        <p:xfrm>
          <a:off x="1981200" y="5105401"/>
          <a:ext cx="7721600" cy="620713"/>
        </p:xfrm>
        <a:graphic>
          <a:graphicData uri="http://schemas.openxmlformats.org/presentationml/2006/ole">
            <mc:AlternateContent xmlns:mc="http://schemas.openxmlformats.org/markup-compatibility/2006">
              <mc:Choice xmlns:v="urn:schemas-microsoft-com:vml" Requires="v">
                <p:oleObj name="Equation" r:id="rId7" imgW="5194300" imgH="419100" progId="Equation.DSMT4">
                  <p:embed/>
                </p:oleObj>
              </mc:Choice>
              <mc:Fallback>
                <p:oleObj name="Equation" r:id="rId7" imgW="5194300" imgH="41910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5105401"/>
                        <a:ext cx="7721600" cy="620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3015" name="Text Box 13"/>
          <p:cNvSpPr txBox="1">
            <a:spLocks noChangeArrowheads="1"/>
          </p:cNvSpPr>
          <p:nvPr/>
        </p:nvSpPr>
        <p:spPr bwMode="auto">
          <a:xfrm>
            <a:off x="1828800" y="5867400"/>
            <a:ext cx="5334000" cy="788988"/>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Values &gt; 1 indicate item was harder for focal group </a:t>
            </a:r>
          </a:p>
          <a:p>
            <a:pPr eaLnBrk="1" hangingPunct="1">
              <a:spcBef>
                <a:spcPct val="50000"/>
              </a:spcBef>
            </a:pPr>
            <a:r>
              <a:rPr lang="en-US" sz="1800"/>
              <a:t>Values &lt; 1 indicate item was easier for focal group</a:t>
            </a:r>
          </a:p>
        </p:txBody>
      </p:sp>
      <p:sp>
        <p:nvSpPr>
          <p:cNvPr id="43016" name="TextBox 11"/>
          <p:cNvSpPr txBox="1">
            <a:spLocks noChangeArrowheads="1"/>
          </p:cNvSpPr>
          <p:nvPr/>
        </p:nvSpPr>
        <p:spPr bwMode="auto">
          <a:xfrm>
            <a:off x="7518400" y="5867400"/>
            <a:ext cx="2844800"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So in this case item 4 is much easier for males</a:t>
            </a:r>
          </a:p>
        </p:txBody>
      </p:sp>
      <p:sp>
        <p:nvSpPr>
          <p:cNvPr id="2" name="Rectangle 1"/>
          <p:cNvSpPr/>
          <p:nvPr/>
        </p:nvSpPr>
        <p:spPr>
          <a:xfrm>
            <a:off x="2286000" y="2819400"/>
            <a:ext cx="1143000" cy="228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2286000" y="4572000"/>
            <a:ext cx="1143000" cy="228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6172200" y="2819400"/>
            <a:ext cx="1143000" cy="228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6324600" y="4572000"/>
            <a:ext cx="1143000" cy="228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pPr>
              <a:defRPr/>
            </a:pPr>
            <a:fld id="{CD98E987-055C-A941-82AA-E638330DCBBF}" type="slidenum">
              <a:rPr lang="en-US"/>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pPr eaLnBrk="1" hangingPunct="1"/>
            <a:r>
              <a:rPr lang="en-US" b="1">
                <a:latin typeface="Calibri"/>
                <a:cs typeface="Calibri"/>
              </a:rPr>
              <a:t>MH Odds and Ends</a:t>
            </a:r>
          </a:p>
        </p:txBody>
      </p:sp>
      <p:sp>
        <p:nvSpPr>
          <p:cNvPr id="45058" name="Rectangle 3"/>
          <p:cNvSpPr>
            <a:spLocks noGrp="1" noChangeArrowheads="1"/>
          </p:cNvSpPr>
          <p:nvPr>
            <p:ph type="body" idx="1"/>
          </p:nvPr>
        </p:nvSpPr>
        <p:spPr>
          <a:xfrm>
            <a:off x="609600" y="1600200"/>
            <a:ext cx="9829800" cy="4876800"/>
          </a:xfrm>
        </p:spPr>
        <p:txBody>
          <a:bodyPr/>
          <a:lstStyle/>
          <a:p>
            <a:pPr eaLnBrk="1" hangingPunct="1"/>
            <a:r>
              <a:rPr lang="en-US" sz="2400">
                <a:latin typeface="Calibri"/>
                <a:cs typeface="Calibri"/>
              </a:rPr>
              <a:t>ETS Transformation to “delta” statistic:</a:t>
            </a:r>
          </a:p>
          <a:p>
            <a:pPr eaLnBrk="1" hangingPunct="1"/>
            <a:r>
              <a:rPr lang="en-US" sz="2600">
                <a:latin typeface="Calibri"/>
                <a:cs typeface="Calibri"/>
              </a:rPr>
              <a:t>Interpreted as the average amount more difficult that a member of the reference group (females) found the studied item relative to comparable members of focal group (males).</a:t>
            </a:r>
            <a:r>
              <a:rPr lang="en-US" sz="2400">
                <a:latin typeface="Calibri"/>
                <a:cs typeface="Calibri"/>
              </a:rPr>
              <a:t> </a:t>
            </a:r>
          </a:p>
          <a:p>
            <a:pPr eaLnBrk="1" hangingPunct="1"/>
            <a:r>
              <a:rPr lang="en-US" sz="2400">
                <a:latin typeface="Calibri"/>
                <a:cs typeface="Calibri"/>
              </a:rPr>
              <a:t>Negative numbers mean reference group found this item easy relative to focal group, positive numbers mean focal group found item easy relative to reference group</a:t>
            </a:r>
          </a:p>
          <a:p>
            <a:pPr eaLnBrk="1" hangingPunct="1"/>
            <a:r>
              <a:rPr lang="en-US" sz="2400">
                <a:latin typeface="Calibri"/>
                <a:cs typeface="Calibri"/>
              </a:rPr>
              <a:t>In the example</a:t>
            </a:r>
          </a:p>
          <a:p>
            <a:pPr eaLnBrk="1" hangingPunct="1"/>
            <a:r>
              <a:rPr lang="en-US" sz="2400">
                <a:latin typeface="Calibri"/>
                <a:cs typeface="Calibri"/>
              </a:rPr>
              <a:t>So even after the attempt to condition on ability, males found this item easier than females (females found it harder than males)</a:t>
            </a:r>
          </a:p>
          <a:p>
            <a:pPr eaLnBrk="1" hangingPunct="1"/>
            <a:r>
              <a:rPr lang="en-US" sz="2400">
                <a:latin typeface="Calibri"/>
                <a:cs typeface="Calibri"/>
              </a:rPr>
              <a:t>If DIF is found for one item, </a:t>
            </a:r>
            <a:r>
              <a:rPr lang="ja-JP" altLang="en-US" sz="2400">
                <a:latin typeface="Calibri"/>
                <a:cs typeface="Calibri"/>
              </a:rPr>
              <a:t>“</a:t>
            </a:r>
            <a:r>
              <a:rPr lang="en-US" altLang="ja-JP" sz="2400">
                <a:latin typeface="Calibri"/>
                <a:cs typeface="Calibri"/>
              </a:rPr>
              <a:t>purify</a:t>
            </a:r>
            <a:r>
              <a:rPr lang="ja-JP" altLang="en-US" sz="2400">
                <a:latin typeface="Calibri"/>
                <a:cs typeface="Calibri"/>
              </a:rPr>
              <a:t>”</a:t>
            </a:r>
            <a:r>
              <a:rPr lang="en-US" altLang="ja-JP" sz="2400">
                <a:latin typeface="Calibri"/>
                <a:cs typeface="Calibri"/>
              </a:rPr>
              <a:t> the total score criterion variable for remaining items.</a:t>
            </a:r>
          </a:p>
          <a:p>
            <a:pPr marL="0" indent="0" eaLnBrk="1" hangingPunct="1">
              <a:buNone/>
            </a:pPr>
            <a:endParaRPr lang="en-US" sz="2400">
              <a:latin typeface="Calibri"/>
              <a:cs typeface="Calibri"/>
            </a:endParaRPr>
          </a:p>
        </p:txBody>
      </p:sp>
      <p:graphicFrame>
        <p:nvGraphicFramePr>
          <p:cNvPr id="45059" name="Object 2"/>
          <p:cNvGraphicFramePr>
            <a:graphicFrameLocks noChangeAspect="1"/>
          </p:cNvGraphicFramePr>
          <p:nvPr>
            <p:extLst>
              <p:ext uri="{D42A27DB-BD31-4B8C-83A1-F6EECF244321}">
                <p14:modId xmlns:p14="http://schemas.microsoft.com/office/powerpoint/2010/main" val="206225062"/>
              </p:ext>
            </p:extLst>
          </p:nvPr>
        </p:nvGraphicFramePr>
        <p:xfrm>
          <a:off x="6069227" y="1580356"/>
          <a:ext cx="2895600" cy="500063"/>
        </p:xfrm>
        <a:graphic>
          <a:graphicData uri="http://schemas.openxmlformats.org/presentationml/2006/ole">
            <mc:AlternateContent xmlns:mc="http://schemas.openxmlformats.org/markup-compatibility/2006">
              <mc:Choice xmlns:v="urn:schemas-microsoft-com:vml" Requires="v">
                <p:oleObj name="Equation" r:id="rId3" imgW="1320800" imgH="228600" progId="Equation.DSMT4">
                  <p:embed/>
                </p:oleObj>
              </mc:Choice>
              <mc:Fallback>
                <p:oleObj name="Equation" r:id="rId3" imgW="1320800" imgH="2286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9227" y="1580356"/>
                        <a:ext cx="2895600" cy="5000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5060" name="Object 3"/>
          <p:cNvGraphicFramePr>
            <a:graphicFrameLocks noChangeAspect="1"/>
          </p:cNvGraphicFramePr>
          <p:nvPr/>
        </p:nvGraphicFramePr>
        <p:xfrm>
          <a:off x="4953000" y="1981200"/>
          <a:ext cx="914400" cy="198438"/>
        </p:xfrm>
        <a:graphic>
          <a:graphicData uri="http://schemas.openxmlformats.org/presentationml/2006/ole">
            <mc:AlternateContent xmlns:mc="http://schemas.openxmlformats.org/markup-compatibility/2006">
              <mc:Choice xmlns:v="urn:schemas-microsoft-com:vml" Requires="v">
                <p:oleObj name="Equation" r:id="rId5" imgW="435285" imgH="677109" progId="Equation.DSMT4">
                  <p:embed/>
                </p:oleObj>
              </mc:Choice>
              <mc:Fallback>
                <p:oleObj name="Equation" r:id="rId5" imgW="435285" imgH="67710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1981200"/>
                        <a:ext cx="914400" cy="198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5061" name="Object 4"/>
          <p:cNvGraphicFramePr>
            <a:graphicFrameLocks noChangeAspect="1"/>
          </p:cNvGraphicFramePr>
          <p:nvPr>
            <p:extLst>
              <p:ext uri="{D42A27DB-BD31-4B8C-83A1-F6EECF244321}">
                <p14:modId xmlns:p14="http://schemas.microsoft.com/office/powerpoint/2010/main" val="1788709977"/>
              </p:ext>
            </p:extLst>
          </p:nvPr>
        </p:nvGraphicFramePr>
        <p:xfrm>
          <a:off x="2933700" y="4441825"/>
          <a:ext cx="1447800" cy="511175"/>
        </p:xfrm>
        <a:graphic>
          <a:graphicData uri="http://schemas.openxmlformats.org/presentationml/2006/ole">
            <mc:AlternateContent xmlns:mc="http://schemas.openxmlformats.org/markup-compatibility/2006">
              <mc:Choice xmlns:v="urn:schemas-microsoft-com:vml" Requires="v">
                <p:oleObj name="Equation" r:id="rId7" imgW="647700" imgH="228600" progId="Equation.DSMT4">
                  <p:embed/>
                </p:oleObj>
              </mc:Choice>
              <mc:Fallback>
                <p:oleObj name="Equation" r:id="rId7" imgW="647700" imgH="2286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3700" y="4441825"/>
                        <a:ext cx="1447800" cy="5111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latin typeface="Calibri"/>
                <a:cs typeface="Calibri"/>
              </a:rPr>
              <a:t>ETS Rules of Thumb for </a:t>
            </a:r>
            <a:br>
              <a:rPr lang="en-US" sz="4000" b="1">
                <a:latin typeface="Calibri"/>
                <a:cs typeface="Calibri"/>
              </a:rPr>
            </a:br>
            <a:r>
              <a:rPr lang="en-US" sz="4000" b="1">
                <a:latin typeface="Calibri"/>
                <a:cs typeface="Calibri"/>
              </a:rPr>
              <a:t>Interpreting DIF</a:t>
            </a:r>
          </a:p>
        </p:txBody>
      </p:sp>
      <p:sp>
        <p:nvSpPr>
          <p:cNvPr id="3" name="Content Placeholder 2"/>
          <p:cNvSpPr>
            <a:spLocks noGrp="1"/>
          </p:cNvSpPr>
          <p:nvPr>
            <p:ph idx="1"/>
          </p:nvPr>
        </p:nvSpPr>
        <p:spPr/>
        <p:txBody>
          <a:bodyPr/>
          <a:lstStyle/>
          <a:p>
            <a:pPr marL="0" indent="0">
              <a:buNone/>
            </a:pPr>
            <a:endParaRPr lang="en-US">
              <a:latin typeface="Calibri"/>
              <a:cs typeface="Calibri"/>
            </a:endParaRPr>
          </a:p>
          <a:p>
            <a:r>
              <a:rPr lang="en-US">
                <a:latin typeface="Calibri"/>
                <a:cs typeface="Calibri"/>
              </a:rPr>
              <a:t>Level A: Statistically insignificant and delta &lt; 1 in </a:t>
            </a:r>
            <a:r>
              <a:rPr lang="en-US" u="sng">
                <a:latin typeface="Calibri"/>
                <a:cs typeface="Calibri"/>
              </a:rPr>
              <a:t>absolute value</a:t>
            </a:r>
          </a:p>
          <a:p>
            <a:r>
              <a:rPr lang="en-US">
                <a:latin typeface="Calibri"/>
                <a:cs typeface="Calibri"/>
              </a:rPr>
              <a:t>Level B: Statistically significant OR between 1 and 1.5 in </a:t>
            </a:r>
            <a:r>
              <a:rPr lang="en-US" u="sng">
                <a:latin typeface="Calibri"/>
                <a:cs typeface="Calibri"/>
              </a:rPr>
              <a:t>absolute value</a:t>
            </a:r>
          </a:p>
          <a:p>
            <a:r>
              <a:rPr lang="en-US">
                <a:latin typeface="Calibri"/>
                <a:cs typeface="Calibri"/>
              </a:rPr>
              <a:t>Level C: Statistically significant  &amp; &gt; 1.5 in </a:t>
            </a:r>
            <a:r>
              <a:rPr lang="en-US" u="sng">
                <a:latin typeface="Calibri"/>
                <a:cs typeface="Calibri"/>
              </a:rPr>
              <a:t>absolute value</a:t>
            </a:r>
          </a:p>
          <a:p>
            <a:pPr marL="0" indent="0">
              <a:buNone/>
            </a:pPr>
            <a:endParaRPr lang="en-US">
              <a:latin typeface="Calibri"/>
              <a:cs typeface="Calibri"/>
            </a:endParaRPr>
          </a:p>
          <a:p>
            <a:pPr marL="0" indent="0">
              <a:buNone/>
            </a:pPr>
            <a:r>
              <a:rPr lang="en-US">
                <a:latin typeface="Calibri"/>
                <a:cs typeface="Calibri"/>
              </a:rPr>
              <a:t>Level C items are almost never used in operational testing.</a:t>
            </a:r>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23</a:t>
            </a:fld>
            <a:endParaRPr lang="en-US"/>
          </a:p>
        </p:txBody>
      </p:sp>
      <p:sp>
        <p:nvSpPr>
          <p:cNvPr id="5" name="TextBox 4">
            <a:extLst>
              <a:ext uri="{FF2B5EF4-FFF2-40B4-BE49-F238E27FC236}">
                <a16:creationId xmlns:a16="http://schemas.microsoft.com/office/drawing/2014/main" id="{E5B8B4DF-E08D-1A44-867C-5643D7CDE825}"/>
              </a:ext>
            </a:extLst>
          </p:cNvPr>
          <p:cNvSpPr txBox="1"/>
          <p:nvPr/>
        </p:nvSpPr>
        <p:spPr>
          <a:xfrm>
            <a:off x="762000" y="5715000"/>
            <a:ext cx="8382000" cy="923330"/>
          </a:xfrm>
          <a:prstGeom prst="rect">
            <a:avLst/>
          </a:prstGeom>
          <a:noFill/>
          <a:ln>
            <a:solidFill>
              <a:schemeClr val="accent1"/>
            </a:solidFill>
          </a:ln>
        </p:spPr>
        <p:txBody>
          <a:bodyPr wrap="square" rtlCol="0">
            <a:spAutoFit/>
          </a:bodyPr>
          <a:lstStyle/>
          <a:p>
            <a:r>
              <a:rPr lang="en-US">
                <a:latin typeface="Calibri" panose="020F0502020204030204" pitchFamily="34" charset="0"/>
                <a:cs typeface="Calibri" panose="020F0502020204030204" pitchFamily="34" charset="0"/>
              </a:rPr>
              <a:t>The example we just did would be an item with level C DIF. So here the observed impact (males do better than females) and evidence of DIF tell the same story. We should be concerned that this item is biased against females.</a:t>
            </a:r>
          </a:p>
        </p:txBody>
      </p:sp>
    </p:spTree>
    <p:extLst>
      <p:ext uri="{BB962C8B-B14F-4D97-AF65-F5344CB8AC3E}">
        <p14:creationId xmlns:p14="http://schemas.microsoft.com/office/powerpoint/2010/main" val="2568184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Calibri"/>
                <a:cs typeface="Calibri"/>
              </a:rPr>
              <a:t>Example in R</a:t>
            </a:r>
          </a:p>
        </p:txBody>
      </p:sp>
      <p:sp>
        <p:nvSpPr>
          <p:cNvPr id="3" name="Content Placeholder 2"/>
          <p:cNvSpPr>
            <a:spLocks noGrp="1"/>
          </p:cNvSpPr>
          <p:nvPr>
            <p:ph idx="1"/>
          </p:nvPr>
        </p:nvSpPr>
        <p:spPr/>
        <p:txBody>
          <a:bodyPr/>
          <a:lstStyle/>
          <a:p>
            <a:r>
              <a:rPr lang="en-US">
                <a:latin typeface="Calibri"/>
                <a:cs typeface="Calibri"/>
              </a:rPr>
              <a:t>The task is to compute MH statistics for the 31 items on the CDE math test to see if there is evidence of DIF by gender</a:t>
            </a:r>
          </a:p>
          <a:p>
            <a:r>
              <a:rPr lang="en-US">
                <a:latin typeface="Calibri"/>
                <a:cs typeface="Calibri"/>
              </a:rPr>
              <a:t>Take out a piece of paper and jot down the steps you would need to take if you had to do this from scratch.</a:t>
            </a:r>
          </a:p>
          <a:p>
            <a:r>
              <a:rPr lang="en-US">
                <a:latin typeface="Calibri"/>
                <a:cs typeface="Calibri"/>
              </a:rPr>
              <a:t>See the R Markdown file “Differential_Item_Functioning.html” for this worked example.</a:t>
            </a:r>
          </a:p>
          <a:p>
            <a:endParaRPr lang="en-US">
              <a:latin typeface="Calibri"/>
              <a:cs typeface="Calibri"/>
            </a:endParaRPr>
          </a:p>
          <a:p>
            <a:endParaRPr lang="en-US">
              <a:latin typeface="Calibri"/>
              <a:cs typeface="Calibri"/>
            </a:endParaRPr>
          </a:p>
          <a:p>
            <a:endParaRPr lang="en-US"/>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24</a:t>
            </a:fld>
            <a:endParaRPr lang="en-US"/>
          </a:p>
        </p:txBody>
      </p:sp>
    </p:spTree>
    <p:extLst>
      <p:ext uri="{BB962C8B-B14F-4D97-AF65-F5344CB8AC3E}">
        <p14:creationId xmlns:p14="http://schemas.microsoft.com/office/powerpoint/2010/main" val="2044054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extBox 4"/>
          <p:cNvSpPr txBox="1">
            <a:spLocks noChangeArrowheads="1"/>
          </p:cNvSpPr>
          <p:nvPr/>
        </p:nvSpPr>
        <p:spPr bwMode="auto">
          <a:xfrm>
            <a:off x="2667000" y="2590801"/>
            <a:ext cx="69342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4000" b="1">
                <a:latin typeface="Calibri"/>
                <a:cs typeface="Calibri"/>
              </a:rPr>
              <a:t>IRT Based Approaches to DIF</a:t>
            </a:r>
          </a:p>
        </p:txBody>
      </p:sp>
      <p:sp>
        <p:nvSpPr>
          <p:cNvPr id="2" name="Slide Number Placeholder 1"/>
          <p:cNvSpPr>
            <a:spLocks noGrp="1"/>
          </p:cNvSpPr>
          <p:nvPr>
            <p:ph type="sldNum" sz="quarter" idx="12"/>
          </p:nvPr>
        </p:nvSpPr>
        <p:spPr/>
        <p:txBody>
          <a:bodyPr/>
          <a:lstStyle/>
          <a:p>
            <a:pPr>
              <a:defRPr/>
            </a:pPr>
            <a:fld id="{82792DE7-658D-A340-982F-16F3F548D202}" type="slidenum">
              <a:rPr lang="en-US"/>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pPr eaLnBrk="1" hangingPunct="1"/>
            <a:r>
              <a:rPr lang="en-US" b="1">
                <a:latin typeface="Calibri"/>
                <a:cs typeface="Calibri"/>
              </a:rPr>
              <a:t>Hypothetical Scenario</a:t>
            </a:r>
          </a:p>
        </p:txBody>
      </p:sp>
      <mc:AlternateContent xmlns:mc="http://schemas.openxmlformats.org/markup-compatibility/2006" xmlns:a14="http://schemas.microsoft.com/office/drawing/2010/main">
        <mc:Choice Requires="a14">
          <p:sp>
            <p:nvSpPr>
              <p:cNvPr id="60418" name="Rectangle 3"/>
              <p:cNvSpPr>
                <a:spLocks noGrp="1" noChangeArrowheads="1"/>
              </p:cNvSpPr>
              <p:nvPr>
                <p:ph type="body" idx="1"/>
              </p:nvPr>
            </p:nvSpPr>
            <p:spPr/>
            <p:txBody>
              <a:bodyPr/>
              <a:lstStyle/>
              <a:p>
                <a:pPr eaLnBrk="1" hangingPunct="1"/>
                <a:r>
                  <a:rPr lang="en-US" sz="2600">
                    <a:latin typeface="Calibri"/>
                    <a:cs typeface="Calibri"/>
                  </a:rPr>
                  <a:t>A test has been developed to measure X</a:t>
                </a:r>
              </a:p>
              <a:p>
                <a:pPr eaLnBrk="1" hangingPunct="1"/>
                <a:r>
                  <a:rPr lang="en-US" sz="2600">
                    <a:latin typeface="Calibri"/>
                    <a:cs typeface="Calibri"/>
                  </a:rPr>
                  <a:t>We are concerned about possible DIF between groups 1 and 2.</a:t>
                </a:r>
              </a:p>
              <a:p>
                <a:pPr eaLnBrk="1" hangingPunct="1"/>
                <a:r>
                  <a:rPr lang="en-US" sz="2600">
                    <a:latin typeface="Calibri"/>
                    <a:cs typeface="Calibri"/>
                  </a:rPr>
                  <a:t>We estimate item parameters separately for each group using IRT. In each run </a:t>
                </a:r>
                <a14:m>
                  <m:oMath xmlns:m="http://schemas.openxmlformats.org/officeDocument/2006/math">
                    <m:sSub>
                      <m:sSubPr>
                        <m:ctrlPr>
                          <a:rPr lang="en-US" sz="2600" b="0" i="1">
                            <a:latin typeface="Cambria Math" panose="02040503050406030204" pitchFamily="18" charset="0"/>
                            <a:cs typeface="Calibri"/>
                          </a:rPr>
                        </m:ctrlPr>
                      </m:sSubPr>
                      <m:e>
                        <m:r>
                          <a:rPr lang="en-US" sz="2600" b="0" i="1">
                            <a:latin typeface="Cambria Math" panose="02040503050406030204" pitchFamily="18" charset="0"/>
                            <a:cs typeface="Calibri"/>
                          </a:rPr>
                          <m:t>𝜃</m:t>
                        </m:r>
                      </m:e>
                      <m:sub>
                        <m:r>
                          <a:rPr lang="en-US" sz="2600" b="0" i="1">
                            <a:latin typeface="Cambria Math" panose="02040503050406030204" pitchFamily="18" charset="0"/>
                            <a:cs typeface="Calibri"/>
                          </a:rPr>
                          <m:t>𝑔</m:t>
                        </m:r>
                      </m:sub>
                    </m:sSub>
                    <m:r>
                      <a:rPr lang="en-US" sz="2600" b="0" i="1">
                        <a:latin typeface="Cambria Math" panose="02040503050406030204" pitchFamily="18" charset="0"/>
                        <a:cs typeface="Calibri"/>
                      </a:rPr>
                      <m:t>~</m:t>
                    </m:r>
                    <m:r>
                      <a:rPr lang="en-US" sz="2600" b="0" i="1">
                        <a:latin typeface="Cambria Math" panose="02040503050406030204" pitchFamily="18" charset="0"/>
                        <a:cs typeface="Calibri"/>
                      </a:rPr>
                      <m:t>𝑁</m:t>
                    </m:r>
                    <m:r>
                      <a:rPr lang="en-US" sz="2600" b="0" i="1">
                        <a:latin typeface="Cambria Math" panose="02040503050406030204" pitchFamily="18" charset="0"/>
                        <a:cs typeface="Calibri"/>
                      </a:rPr>
                      <m:t>(0,1)</m:t>
                    </m:r>
                  </m:oMath>
                </a14:m>
                <a:endParaRPr lang="en-US" sz="2600">
                  <a:latin typeface="Calibri"/>
                  <a:cs typeface="Calibri"/>
                </a:endParaRPr>
              </a:p>
              <a:p>
                <a:pPr eaLnBrk="1" hangingPunct="1"/>
                <a:r>
                  <a:rPr lang="en-US" sz="2600">
                    <a:latin typeface="Calibri"/>
                    <a:cs typeface="Calibri"/>
                  </a:rPr>
                  <a:t>Here’s</a:t>
                </a:r>
                <a:r>
                  <a:rPr lang="en-US" altLang="ja-JP" sz="2600">
                    <a:latin typeface="Calibri"/>
                    <a:cs typeface="Calibri"/>
                  </a:rPr>
                  <a:t> what we see on many of the items</a:t>
                </a:r>
                <a:endParaRPr lang="en-US" sz="2600">
                  <a:latin typeface="Calibri"/>
                  <a:cs typeface="Calibri"/>
                </a:endParaRPr>
              </a:p>
            </p:txBody>
          </p:sp>
        </mc:Choice>
        <mc:Fallback xmlns="">
          <p:sp>
            <p:nvSpPr>
              <p:cNvPr id="60418" name="Rectangle 3"/>
              <p:cNvSpPr>
                <a:spLocks noGrp="1" noRot="1" noChangeAspect="1" noMove="1" noResize="1" noEditPoints="1" noAdjustHandles="1" noChangeArrowheads="1" noChangeShapeType="1" noTextEdit="1"/>
              </p:cNvSpPr>
              <p:nvPr>
                <p:ph type="body" idx="1"/>
              </p:nvPr>
            </p:nvSpPr>
            <p:spPr>
              <a:blipFill>
                <a:blip r:embed="rId3"/>
                <a:stretch>
                  <a:fillRect l="-1157" t="-1401"/>
                </a:stretch>
              </a:blipFill>
            </p:spPr>
            <p:txBody>
              <a:bodyPr/>
              <a:lstStyle/>
              <a:p>
                <a:r>
                  <a:rPr lang="en-US">
                    <a:noFill/>
                  </a:rPr>
                  <a:t> </a:t>
                </a:r>
              </a:p>
            </p:txBody>
          </p:sp>
        </mc:Fallback>
      </mc:AlternateContent>
      <p:pic>
        <p:nvPicPr>
          <p:cNvPr id="6041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4343401"/>
            <a:ext cx="3200400" cy="2316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420" name="Text Box 5"/>
          <p:cNvSpPr txBox="1">
            <a:spLocks noChangeArrowheads="1"/>
          </p:cNvSpPr>
          <p:nvPr/>
        </p:nvSpPr>
        <p:spPr bwMode="auto">
          <a:xfrm>
            <a:off x="5562600" y="4876800"/>
            <a:ext cx="4343400" cy="18928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a:latin typeface="Calibri"/>
                <a:cs typeface="Calibri"/>
              </a:rPr>
              <a:t>Differences between the ICCs by group that are both statistically and practically significant. </a:t>
            </a:r>
          </a:p>
          <a:p>
            <a:pPr eaLnBrk="1" hangingPunct="1">
              <a:spcBef>
                <a:spcPct val="50000"/>
              </a:spcBef>
            </a:pPr>
            <a:r>
              <a:rPr lang="en-US" sz="2000">
                <a:latin typeface="Calibri"/>
                <a:cs typeface="Calibri"/>
              </a:rPr>
              <a:t>Is this evidence of DIF?</a:t>
            </a:r>
          </a:p>
          <a:p>
            <a:pPr eaLnBrk="1" hangingPunct="1">
              <a:spcBef>
                <a:spcPct val="50000"/>
              </a:spcBef>
            </a:pPr>
            <a:endParaRPr lang="en-US" sz="1800"/>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92028-ECCB-AE43-89DE-99D354F8C584}"/>
              </a:ext>
            </a:extLst>
          </p:cNvPr>
          <p:cNvSpPr>
            <a:spLocks noGrp="1"/>
          </p:cNvSpPr>
          <p:nvPr>
            <p:ph type="title"/>
          </p:nvPr>
        </p:nvSpPr>
        <p:spPr/>
        <p:txBody>
          <a:bodyPr/>
          <a:lstStyle/>
          <a:p>
            <a:r>
              <a:rPr lang="en-US" b="1"/>
              <a:t>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ABC276-2FF9-A74B-B876-BB54CD6ADC87}"/>
                  </a:ext>
                </a:extLst>
              </p:cNvPr>
              <p:cNvSpPr>
                <a:spLocks noGrp="1"/>
              </p:cNvSpPr>
              <p:nvPr>
                <p:ph idx="1"/>
              </p:nvPr>
            </p:nvSpPr>
            <p:spPr/>
            <p:txBody>
              <a:bodyPr/>
              <a:lstStyle/>
              <a:p>
                <a:r>
                  <a:rPr lang="en-US"/>
                  <a:t>These results are not distinguishing DIF from impact.</a:t>
                </a:r>
              </a:p>
              <a:p>
                <a:r>
                  <a:rPr lang="en-US"/>
                  <a:t>In each run, we identified the IRT scale by assuming that the ability distribution was </a:t>
                </a:r>
                <a14:m>
                  <m:oMath xmlns:m="http://schemas.openxmlformats.org/officeDocument/2006/math">
                    <m:r>
                      <a:rPr lang="en-US" i="1">
                        <a:latin typeface="Cambria Math" panose="02040503050406030204" pitchFamily="18" charset="0"/>
                        <a:cs typeface="Calibri"/>
                      </a:rPr>
                      <m:t>𝑁</m:t>
                    </m:r>
                    <m:r>
                      <a:rPr lang="en-US" i="1">
                        <a:latin typeface="Cambria Math" panose="02040503050406030204" pitchFamily="18" charset="0"/>
                        <a:cs typeface="Calibri"/>
                      </a:rPr>
                      <m:t>(0,1)</m:t>
                    </m:r>
                  </m:oMath>
                </a14:m>
                <a:endParaRPr lang="en-US">
                  <a:latin typeface="Calibri"/>
                  <a:cs typeface="Calibri"/>
                </a:endParaRPr>
              </a:p>
              <a:p>
                <a:r>
                  <a:rPr lang="en-US">
                    <a:latin typeface="Calibri"/>
                    <a:cs typeface="Calibri"/>
                  </a:rPr>
                  <a:t>If, in fact, there are real differences between the two groups, they will manifest themselves in item parameter estimates.</a:t>
                </a:r>
              </a:p>
              <a:p>
                <a:r>
                  <a:rPr lang="en-US">
                    <a:latin typeface="Calibri"/>
                    <a:cs typeface="Calibri"/>
                  </a:rPr>
                  <a:t>For example, if mean theta for group 1 is actually .5 logits higher than group 2, then items in group 1 calibration will look easier than items in group 2 calibration.</a:t>
                </a:r>
              </a:p>
              <a:p>
                <a:endParaRPr lang="en-US"/>
              </a:p>
            </p:txBody>
          </p:sp>
        </mc:Choice>
        <mc:Fallback xmlns="">
          <p:sp>
            <p:nvSpPr>
              <p:cNvPr id="3" name="Content Placeholder 2">
                <a:extLst>
                  <a:ext uri="{FF2B5EF4-FFF2-40B4-BE49-F238E27FC236}">
                    <a16:creationId xmlns:a16="http://schemas.microsoft.com/office/drawing/2014/main" id="{18ABC276-2FF9-A74B-B876-BB54CD6ADC87}"/>
                  </a:ext>
                </a:extLst>
              </p:cNvPr>
              <p:cNvSpPr>
                <a:spLocks noGrp="1" noRot="1" noChangeAspect="1" noMove="1" noResize="1" noEditPoints="1" noAdjustHandles="1" noChangeArrowheads="1" noChangeShapeType="1" noTextEdit="1"/>
              </p:cNvSpPr>
              <p:nvPr>
                <p:ph idx="1"/>
              </p:nvPr>
            </p:nvSpPr>
            <p:spPr>
              <a:blipFill>
                <a:blip r:embed="rId2"/>
                <a:stretch>
                  <a:fillRect l="-1272" t="-16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19197E2-1FF5-1243-A8D8-99610539ECA8}"/>
              </a:ext>
            </a:extLst>
          </p:cNvPr>
          <p:cNvSpPr>
            <a:spLocks noGrp="1"/>
          </p:cNvSpPr>
          <p:nvPr>
            <p:ph type="sldNum" sz="quarter" idx="12"/>
          </p:nvPr>
        </p:nvSpPr>
        <p:spPr/>
        <p:txBody>
          <a:bodyPr/>
          <a:lstStyle/>
          <a:p>
            <a:pPr>
              <a:defRPr/>
            </a:pPr>
            <a:fld id="{CD98E987-055C-A941-82AA-E638330DCBBF}" type="slidenum">
              <a:rPr lang="en-US"/>
              <a:pPr>
                <a:defRPr/>
              </a:pPr>
              <a:t>27</a:t>
            </a:fld>
            <a:endParaRPr lang="en-US"/>
          </a:p>
        </p:txBody>
      </p:sp>
    </p:spTree>
    <p:extLst>
      <p:ext uri="{BB962C8B-B14F-4D97-AF65-F5344CB8AC3E}">
        <p14:creationId xmlns:p14="http://schemas.microsoft.com/office/powerpoint/2010/main" val="3129269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5781F-15A9-C447-BF13-7CA73E5056E2}"/>
              </a:ext>
            </a:extLst>
          </p:cNvPr>
          <p:cNvSpPr>
            <a:spLocks noGrp="1"/>
          </p:cNvSpPr>
          <p:nvPr>
            <p:ph type="title"/>
          </p:nvPr>
        </p:nvSpPr>
        <p:spPr/>
        <p:txBody>
          <a:bodyPr/>
          <a:lstStyle/>
          <a:p>
            <a:r>
              <a:rPr lang="en-US" b="1"/>
              <a:t>Illustration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1A9D53-164E-784A-9CCD-E88C58BCA1F1}"/>
                  </a:ext>
                </a:extLst>
              </p:cNvPr>
              <p:cNvSpPr>
                <a:spLocks noGrp="1"/>
              </p:cNvSpPr>
              <p:nvPr>
                <p:ph idx="1"/>
              </p:nvPr>
            </p:nvSpPr>
            <p:spPr/>
            <p:txBody>
              <a:bodyPr/>
              <a:lstStyle/>
              <a:p>
                <a:r>
                  <a:rPr lang="en-US"/>
                  <a:t>Embretson &amp; Reise (2000) simulate 3 data sets with item responses for 5000 subjects to 10 dichotomous items using the Rasch Model.</a:t>
                </a:r>
              </a:p>
              <a:p>
                <a:r>
                  <a:rPr lang="en-US"/>
                  <a:t>In all three data sets, we hold the item difficulty parameters fixed: they range from -2 to 2 logits in increments of .5.</a:t>
                </a:r>
              </a:p>
              <a:p>
                <a:r>
                  <a:rPr lang="en-US"/>
                  <a:t>What varies for each data set: mean or sd of theta distribution</a:t>
                </a:r>
              </a:p>
              <a:p>
                <a:pPr marL="0" indent="0">
                  <a:buNone/>
                </a:pPr>
                <a:r>
                  <a:rPr lang="en-US"/>
                  <a:t>Data Set 1: </a:t>
                </a:r>
                <a14:m>
                  <m:oMath xmlns:m="http://schemas.openxmlformats.org/officeDocument/2006/math">
                    <m:r>
                      <a:rPr lang="en-US" b="0" i="1">
                        <a:latin typeface="Cambria Math" panose="02040503050406030204" pitchFamily="18" charset="0"/>
                      </a:rPr>
                      <m:t>𝑁</m:t>
                    </m:r>
                    <m:d>
                      <m:dPr>
                        <m:ctrlPr>
                          <a:rPr lang="en-US" b="0" i="1">
                            <a:latin typeface="Cambria Math" panose="02040503050406030204" pitchFamily="18" charset="0"/>
                          </a:rPr>
                        </m:ctrlPr>
                      </m:dPr>
                      <m:e>
                        <m:r>
                          <a:rPr lang="en-US" b="0" i="1">
                            <a:latin typeface="Cambria Math" panose="02040503050406030204" pitchFamily="18" charset="0"/>
                          </a:rPr>
                          <m:t>0,1</m:t>
                        </m:r>
                      </m:e>
                    </m:d>
                  </m:oMath>
                </a14:m>
                <a:endParaRPr lang="en-US" b="0"/>
              </a:p>
              <a:p>
                <a:pPr marL="0" indent="0">
                  <a:buNone/>
                </a:pPr>
                <a:r>
                  <a:rPr lang="en-US"/>
                  <a:t>Data Set 2: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r>
                          <a:rPr lang="en-US" b="0" i="1">
                            <a:latin typeface="Cambria Math" panose="02040503050406030204" pitchFamily="18" charset="0"/>
                          </a:rPr>
                          <m:t>.2</m:t>
                        </m:r>
                        <m:r>
                          <a:rPr lang="en-US" i="1">
                            <a:latin typeface="Cambria Math" panose="02040503050406030204" pitchFamily="18" charset="0"/>
                          </a:rPr>
                          <m:t>,1</m:t>
                        </m:r>
                      </m:e>
                    </m:d>
                  </m:oMath>
                </a14:m>
                <a:endParaRPr lang="en-US"/>
              </a:p>
              <a:p>
                <a:pPr marL="0" indent="0">
                  <a:buNone/>
                </a:pPr>
                <a:r>
                  <a:rPr lang="en-US"/>
                  <a:t>Data Set 3: </a:t>
                </a:r>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r>
                          <a:rPr lang="en-US" b="0" i="1">
                            <a:latin typeface="Cambria Math" panose="02040503050406030204" pitchFamily="18" charset="0"/>
                          </a:rPr>
                          <m:t>0</m:t>
                        </m:r>
                        <m:r>
                          <a:rPr lang="en-US" i="1">
                            <a:latin typeface="Cambria Math" panose="02040503050406030204" pitchFamily="18" charset="0"/>
                          </a:rPr>
                          <m:t>,1</m:t>
                        </m:r>
                        <m:r>
                          <a:rPr lang="en-US" b="0" i="1">
                            <a:latin typeface="Cambria Math" panose="02040503050406030204" pitchFamily="18" charset="0"/>
                          </a:rPr>
                          <m:t>.5</m:t>
                        </m:r>
                      </m:e>
                    </m:d>
                  </m:oMath>
                </a14:m>
                <a:endParaRPr lang="en-US"/>
              </a:p>
            </p:txBody>
          </p:sp>
        </mc:Choice>
        <mc:Fallback xmlns="">
          <p:sp>
            <p:nvSpPr>
              <p:cNvPr id="3" name="Content Placeholder 2">
                <a:extLst>
                  <a:ext uri="{FF2B5EF4-FFF2-40B4-BE49-F238E27FC236}">
                    <a16:creationId xmlns:a16="http://schemas.microsoft.com/office/drawing/2014/main" id="{A01A9D53-164E-784A-9CCD-E88C58BCA1F1}"/>
                  </a:ext>
                </a:extLst>
              </p:cNvPr>
              <p:cNvSpPr>
                <a:spLocks noGrp="1" noRot="1" noChangeAspect="1" noMove="1" noResize="1" noEditPoints="1" noAdjustHandles="1" noChangeArrowheads="1" noChangeShapeType="1" noTextEdit="1"/>
              </p:cNvSpPr>
              <p:nvPr>
                <p:ph idx="1"/>
              </p:nvPr>
            </p:nvSpPr>
            <p:spPr>
              <a:blipFill>
                <a:blip r:embed="rId2"/>
                <a:stretch>
                  <a:fillRect l="-1272" t="-1681" r="-23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AC46269-04F0-C449-B557-B96523956723}"/>
              </a:ext>
            </a:extLst>
          </p:cNvPr>
          <p:cNvSpPr>
            <a:spLocks noGrp="1"/>
          </p:cNvSpPr>
          <p:nvPr>
            <p:ph type="sldNum" sz="quarter" idx="12"/>
          </p:nvPr>
        </p:nvSpPr>
        <p:spPr/>
        <p:txBody>
          <a:bodyPr/>
          <a:lstStyle/>
          <a:p>
            <a:pPr>
              <a:defRPr/>
            </a:pPr>
            <a:fld id="{CD98E987-055C-A941-82AA-E638330DCBBF}" type="slidenum">
              <a:rPr lang="en-US"/>
              <a:pPr>
                <a:defRPr/>
              </a:pPr>
              <a:t>28</a:t>
            </a:fld>
            <a:endParaRPr lang="en-US"/>
          </a:p>
        </p:txBody>
      </p:sp>
    </p:spTree>
    <p:extLst>
      <p:ext uri="{BB962C8B-B14F-4D97-AF65-F5344CB8AC3E}">
        <p14:creationId xmlns:p14="http://schemas.microsoft.com/office/powerpoint/2010/main" val="726294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E975E-F89E-FA45-BA8A-78B40883E2CD}"/>
              </a:ext>
            </a:extLst>
          </p:cNvPr>
          <p:cNvSpPr>
            <a:spLocks noGrp="1"/>
          </p:cNvSpPr>
          <p:nvPr>
            <p:ph type="title"/>
          </p:nvPr>
        </p:nvSpPr>
        <p:spPr/>
        <p:txBody>
          <a:bodyPr/>
          <a:lstStyle/>
          <a:p>
            <a:r>
              <a:rPr lang="en-US" b="1"/>
              <a:t>Results from Calibrating all Three Data Sets with 2PL</a:t>
            </a:r>
          </a:p>
        </p:txBody>
      </p:sp>
      <p:pic>
        <p:nvPicPr>
          <p:cNvPr id="6" name="Content Placeholder 5">
            <a:extLst>
              <a:ext uri="{FF2B5EF4-FFF2-40B4-BE49-F238E27FC236}">
                <a16:creationId xmlns:a16="http://schemas.microsoft.com/office/drawing/2014/main" id="{F807C9E3-E610-4F4B-93BE-4878DB54973A}"/>
              </a:ext>
            </a:extLst>
          </p:cNvPr>
          <p:cNvPicPr>
            <a:picLocks noGrp="1" noChangeAspect="1"/>
          </p:cNvPicPr>
          <p:nvPr>
            <p:ph idx="1"/>
          </p:nvPr>
        </p:nvPicPr>
        <p:blipFill>
          <a:blip r:embed="rId2"/>
          <a:stretch>
            <a:fillRect/>
          </a:stretch>
        </p:blipFill>
        <p:spPr>
          <a:xfrm rot="16200000">
            <a:off x="3630373" y="-506171"/>
            <a:ext cx="4550256" cy="8153399"/>
          </a:xfrm>
        </p:spPr>
      </p:pic>
      <p:sp>
        <p:nvSpPr>
          <p:cNvPr id="4" name="Slide Number Placeholder 3">
            <a:extLst>
              <a:ext uri="{FF2B5EF4-FFF2-40B4-BE49-F238E27FC236}">
                <a16:creationId xmlns:a16="http://schemas.microsoft.com/office/drawing/2014/main" id="{79A6F318-E6FC-F74F-A430-4772F343615D}"/>
              </a:ext>
            </a:extLst>
          </p:cNvPr>
          <p:cNvSpPr>
            <a:spLocks noGrp="1"/>
          </p:cNvSpPr>
          <p:nvPr>
            <p:ph type="sldNum" sz="quarter" idx="12"/>
          </p:nvPr>
        </p:nvSpPr>
        <p:spPr/>
        <p:txBody>
          <a:bodyPr/>
          <a:lstStyle/>
          <a:p>
            <a:pPr>
              <a:defRPr/>
            </a:pPr>
            <a:fld id="{CD98E987-055C-A941-82AA-E638330DCBBF}" type="slidenum">
              <a:rPr lang="en-US"/>
              <a:pPr>
                <a:defRPr/>
              </a:pPr>
              <a:t>29</a:t>
            </a:fld>
            <a:endParaRPr lang="en-US"/>
          </a:p>
        </p:txBody>
      </p:sp>
      <p:sp>
        <p:nvSpPr>
          <p:cNvPr id="7" name="TextBox 6">
            <a:extLst>
              <a:ext uri="{FF2B5EF4-FFF2-40B4-BE49-F238E27FC236}">
                <a16:creationId xmlns:a16="http://schemas.microsoft.com/office/drawing/2014/main" id="{6FF1E58D-4D20-B745-9E9C-94C3EBD982C6}"/>
              </a:ext>
            </a:extLst>
          </p:cNvPr>
          <p:cNvSpPr txBox="1"/>
          <p:nvPr/>
        </p:nvSpPr>
        <p:spPr>
          <a:xfrm>
            <a:off x="457200" y="6054480"/>
            <a:ext cx="9982200" cy="646331"/>
          </a:xfrm>
          <a:prstGeom prst="rect">
            <a:avLst/>
          </a:prstGeom>
          <a:noFill/>
        </p:spPr>
        <p:txBody>
          <a:bodyPr wrap="square" rtlCol="0">
            <a:spAutoFit/>
          </a:bodyPr>
          <a:lstStyle/>
          <a:p>
            <a:r>
              <a:rPr lang="en-US"/>
              <a:t>“A researcher would almost certainly conclude that the items contained DIF. However, the researcher would be absolutely wrong.” (E &amp; R, 2000, 255)</a:t>
            </a:r>
          </a:p>
        </p:txBody>
      </p:sp>
    </p:spTree>
    <p:extLst>
      <p:ext uri="{BB962C8B-B14F-4D97-AF65-F5344CB8AC3E}">
        <p14:creationId xmlns:p14="http://schemas.microsoft.com/office/powerpoint/2010/main" val="306892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72BDD-C3C9-E249-B8C6-A15FEFA33F4E}"/>
              </a:ext>
            </a:extLst>
          </p:cNvPr>
          <p:cNvSpPr>
            <a:spLocks noGrp="1"/>
          </p:cNvSpPr>
          <p:nvPr>
            <p:ph type="title"/>
          </p:nvPr>
        </p:nvSpPr>
        <p:spPr/>
        <p:txBody>
          <a:bodyPr/>
          <a:lstStyle/>
          <a:p>
            <a:r>
              <a:rPr lang="en-US" b="1"/>
              <a:t>Linking Scales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373385B-DDA1-7643-B5D7-428232500669}"/>
                  </a:ext>
                </a:extLst>
              </p:cNvPr>
              <p:cNvSpPr>
                <a:spLocks noGrp="1"/>
              </p:cNvSpPr>
              <p:nvPr>
                <p:ph idx="1"/>
              </p:nvPr>
            </p:nvSpPr>
            <p:spPr>
              <a:xfrm>
                <a:off x="609600" y="1600201"/>
                <a:ext cx="10972800" cy="4876799"/>
              </a:xfrm>
            </p:spPr>
            <p:txBody>
              <a:bodyPr/>
              <a:lstStyle/>
              <a:p>
                <a:r>
                  <a:rPr lang="en-US" sz="2400"/>
                  <a:t>Say we have item and person parameters: </a:t>
                </a:r>
                <a14:m>
                  <m:oMath xmlns:m="http://schemas.openxmlformats.org/officeDocument/2006/math">
                    <m:d>
                      <m:dPr>
                        <m:begChr m:val="{"/>
                        <m:endChr m:val="}"/>
                        <m:ctrlPr>
                          <a:rPr lang="en-US" sz="2400" b="0" i="1">
                            <a:latin typeface="Cambria Math" panose="02040503050406030204" pitchFamily="18" charset="0"/>
                          </a:rPr>
                        </m:ctrlPr>
                      </m:dPr>
                      <m:e>
                        <m:r>
                          <a:rPr lang="en-US" sz="2400" b="0" i="1">
                            <a:latin typeface="Cambria Math" panose="02040503050406030204" pitchFamily="18" charset="0"/>
                          </a:rPr>
                          <m:t>𝑎</m:t>
                        </m:r>
                        <m:r>
                          <a:rPr lang="en-US" sz="2400" b="0" i="1">
                            <a:latin typeface="Cambria Math" panose="02040503050406030204" pitchFamily="18" charset="0"/>
                          </a:rPr>
                          <m:t>,</m:t>
                        </m:r>
                        <m:r>
                          <a:rPr lang="en-US" sz="2400" b="0" i="1">
                            <a:latin typeface="Cambria Math" panose="02040503050406030204" pitchFamily="18" charset="0"/>
                          </a:rPr>
                          <m:t>𝑏</m:t>
                        </m:r>
                        <m:r>
                          <a:rPr lang="en-US" sz="2400" b="0" i="1">
                            <a:latin typeface="Cambria Math" panose="02040503050406030204" pitchFamily="18" charset="0"/>
                          </a:rPr>
                          <m:t>,</m:t>
                        </m:r>
                        <m:r>
                          <a:rPr lang="en-US" sz="2400" b="0" i="1">
                            <a:latin typeface="Cambria Math" panose="02040503050406030204" pitchFamily="18" charset="0"/>
                          </a:rPr>
                          <m:t>𝑐</m:t>
                        </m:r>
                      </m:e>
                    </m:d>
                  </m:oMath>
                </a14:m>
                <a:r>
                  <a:rPr lang="en-US" sz="2400"/>
                  <a:t> and </a:t>
                </a:r>
                <a14:m>
                  <m:oMath xmlns:m="http://schemas.openxmlformats.org/officeDocument/2006/math">
                    <m:r>
                      <a:rPr lang="en-US" sz="2400" b="0" i="1">
                        <a:latin typeface="Cambria Math" panose="02040503050406030204" pitchFamily="18" charset="0"/>
                      </a:rPr>
                      <m:t>{</m:t>
                    </m:r>
                    <m:r>
                      <a:rPr lang="en-US" sz="2400" b="0" i="1">
                        <a:latin typeface="Cambria Math" panose="02040503050406030204" pitchFamily="18" charset="0"/>
                      </a:rPr>
                      <m:t>𝜃</m:t>
                    </m:r>
                    <m:r>
                      <a:rPr lang="en-US" sz="2400" b="0" i="1">
                        <a:latin typeface="Cambria Math" panose="02040503050406030204" pitchFamily="18" charset="0"/>
                      </a:rPr>
                      <m:t>}</m:t>
                    </m:r>
                  </m:oMath>
                </a14:m>
                <a:endParaRPr lang="en-US" sz="2400"/>
              </a:p>
              <a:p>
                <a:r>
                  <a:rPr lang="en-US" sz="2400"/>
                  <a:t>We transform all of them linearly as follows</a:t>
                </a:r>
              </a:p>
              <a:p>
                <a:pPr marL="0" indent="0">
                  <a:buNone/>
                </a:pPr>
                <a14:m>
                  <m:oMathPara xmlns:m="http://schemas.openxmlformats.org/officeDocument/2006/math">
                    <m:oMathParaPr>
                      <m:jc m:val="centerGroup"/>
                    </m:oMathParaPr>
                    <m:oMath xmlns:m="http://schemas.openxmlformats.org/officeDocument/2006/math">
                      <m:sSup>
                        <m:sSupPr>
                          <m:ctrlPr>
                            <a:rPr lang="en-US" sz="2400" b="0" i="1">
                              <a:latin typeface="Cambria Math" panose="02040503050406030204" pitchFamily="18" charset="0"/>
                            </a:rPr>
                          </m:ctrlPr>
                        </m:sSupPr>
                        <m:e>
                          <m:r>
                            <a:rPr lang="en-US" sz="2400" b="0" i="1">
                              <a:latin typeface="Cambria Math" panose="02040503050406030204" pitchFamily="18" charset="0"/>
                            </a:rPr>
                            <m:t>𝜃</m:t>
                          </m:r>
                        </m:e>
                        <m:sup>
                          <m:r>
                            <a:rPr lang="en-US" sz="2400" b="0" i="1">
                              <a:latin typeface="Cambria Math" panose="02040503050406030204" pitchFamily="18" charset="0"/>
                            </a:rPr>
                            <m:t>∗</m:t>
                          </m:r>
                        </m:sup>
                      </m:sSup>
                      <m:r>
                        <a:rPr lang="en-US" sz="2400" b="0" i="1">
                          <a:latin typeface="Cambria Math" panose="02040503050406030204" pitchFamily="18" charset="0"/>
                        </a:rPr>
                        <m:t>=</m:t>
                      </m:r>
                      <m:r>
                        <a:rPr lang="en-US" sz="2400" b="0" i="1">
                          <a:latin typeface="Cambria Math" panose="02040503050406030204" pitchFamily="18" charset="0"/>
                        </a:rPr>
                        <m:t>𝐴</m:t>
                      </m:r>
                      <m:r>
                        <a:rPr lang="en-US" sz="2400" b="0" i="1">
                          <a:latin typeface="Cambria Math" panose="02040503050406030204" pitchFamily="18" charset="0"/>
                        </a:rPr>
                        <m:t>𝜃</m:t>
                      </m:r>
                      <m:r>
                        <a:rPr lang="en-US" sz="2400" b="0" i="1">
                          <a:latin typeface="Cambria Math" panose="02040503050406030204" pitchFamily="18" charset="0"/>
                        </a:rPr>
                        <m:t>+</m:t>
                      </m:r>
                      <m:r>
                        <a:rPr lang="en-US" sz="2400" b="0" i="1">
                          <a:latin typeface="Cambria Math" panose="02040503050406030204" pitchFamily="18" charset="0"/>
                        </a:rPr>
                        <m:t>𝐵</m:t>
                      </m:r>
                    </m:oMath>
                  </m:oMathPara>
                </a14:m>
                <a:endParaRPr lang="en-US" sz="2400" b="0"/>
              </a:p>
              <a:p>
                <a:pPr marL="0" indent="0">
                  <a:buNone/>
                </a:pPr>
                <a14:m>
                  <m:oMathPara xmlns:m="http://schemas.openxmlformats.org/officeDocument/2006/math">
                    <m:oMathParaPr>
                      <m:jc m:val="centerGroup"/>
                    </m:oMathParaPr>
                    <m:oMath xmlns:m="http://schemas.openxmlformats.org/officeDocument/2006/math">
                      <m:r>
                        <m:rPr>
                          <m:lit/>
                        </m:rPr>
                        <a:rPr lang="en-US" sz="2400" b="0" i="1">
                          <a:latin typeface="Cambria Math" panose="02040503050406030204" pitchFamily="18" charset="0"/>
                        </a:rPr>
                        <m:t> </m:t>
                      </m:r>
                      <m:sSup>
                        <m:sSupPr>
                          <m:ctrlPr>
                            <a:rPr lang="en-US" sz="2400" b="0" i="1">
                              <a:latin typeface="Cambria Math" panose="02040503050406030204" pitchFamily="18" charset="0"/>
                            </a:rPr>
                          </m:ctrlPr>
                        </m:sSupPr>
                        <m:e>
                          <m:r>
                            <a:rPr lang="en-US" sz="2400" b="0" i="1">
                              <a:latin typeface="Cambria Math" panose="02040503050406030204" pitchFamily="18" charset="0"/>
                            </a:rPr>
                            <m:t>𝑏</m:t>
                          </m:r>
                        </m:e>
                        <m:sup>
                          <m:r>
                            <a:rPr lang="en-US" sz="2400" b="0" i="1">
                              <a:latin typeface="Cambria Math" panose="02040503050406030204" pitchFamily="18" charset="0"/>
                            </a:rPr>
                            <m:t>∗</m:t>
                          </m:r>
                        </m:sup>
                      </m:sSup>
                      <m:r>
                        <a:rPr lang="en-US" sz="2400" b="0" i="1">
                          <a:latin typeface="Cambria Math" panose="02040503050406030204" pitchFamily="18" charset="0"/>
                        </a:rPr>
                        <m:t>=</m:t>
                      </m:r>
                      <m:r>
                        <a:rPr lang="en-US" sz="2400" b="0" i="1">
                          <a:latin typeface="Cambria Math" panose="02040503050406030204" pitchFamily="18" charset="0"/>
                        </a:rPr>
                        <m:t>𝐴𝑏</m:t>
                      </m:r>
                      <m:r>
                        <a:rPr lang="en-US" sz="2400" b="0" i="1">
                          <a:latin typeface="Cambria Math" panose="02040503050406030204" pitchFamily="18" charset="0"/>
                        </a:rPr>
                        <m:t>+</m:t>
                      </m:r>
                      <m:r>
                        <a:rPr lang="en-US" sz="2400" b="0" i="1">
                          <a:latin typeface="Cambria Math" panose="02040503050406030204" pitchFamily="18" charset="0"/>
                        </a:rPr>
                        <m:t>𝐵</m:t>
                      </m:r>
                    </m:oMath>
                  </m:oMathPara>
                </a14:m>
                <a:endParaRPr lang="en-US" sz="2400" b="0"/>
              </a:p>
              <a:p>
                <a:pPr marL="0" indent="0">
                  <a:buNone/>
                </a:pPr>
                <a14:m>
                  <m:oMathPara xmlns:m="http://schemas.openxmlformats.org/officeDocument/2006/math">
                    <m:oMathParaPr>
                      <m:jc m:val="centerGroup"/>
                    </m:oMathParaPr>
                    <m:oMath xmlns:m="http://schemas.openxmlformats.org/officeDocument/2006/math">
                      <m:sSup>
                        <m:sSupPr>
                          <m:ctrlPr>
                            <a:rPr lang="en-US" sz="2400" b="0" i="1">
                              <a:latin typeface="Cambria Math" panose="02040503050406030204" pitchFamily="18" charset="0"/>
                            </a:rPr>
                          </m:ctrlPr>
                        </m:sSupPr>
                        <m:e>
                          <m:r>
                            <a:rPr lang="en-US" sz="2400" b="0" i="1">
                              <a:latin typeface="Cambria Math" panose="02040503050406030204" pitchFamily="18" charset="0"/>
                            </a:rPr>
                            <m:t>𝑎</m:t>
                          </m:r>
                        </m:e>
                        <m:sup>
                          <m:r>
                            <a:rPr lang="en-US" sz="2400" b="0" i="1">
                              <a:latin typeface="Cambria Math" panose="02040503050406030204" pitchFamily="18" charset="0"/>
                            </a:rPr>
                            <m:t>∗</m:t>
                          </m:r>
                        </m:sup>
                      </m:sSup>
                      <m:r>
                        <a:rPr lang="en-US" sz="2400" b="0" i="1">
                          <a:latin typeface="Cambria Math" panose="02040503050406030204" pitchFamily="18" charset="0"/>
                        </a:rPr>
                        <m:t>=</m:t>
                      </m:r>
                      <m:r>
                        <a:rPr lang="en-US" sz="2400" b="0" i="1">
                          <a:latin typeface="Cambria Math" panose="02040503050406030204" pitchFamily="18" charset="0"/>
                        </a:rPr>
                        <m:t>𝑎</m:t>
                      </m:r>
                      <m:r>
                        <a:rPr lang="en-US" sz="2400" b="0" i="1">
                          <a:latin typeface="Cambria Math" panose="02040503050406030204" pitchFamily="18" charset="0"/>
                        </a:rPr>
                        <m:t>/</m:t>
                      </m:r>
                      <m:r>
                        <a:rPr lang="en-US" sz="2400" b="0" i="1">
                          <a:latin typeface="Cambria Math" panose="02040503050406030204" pitchFamily="18" charset="0"/>
                        </a:rPr>
                        <m:t>𝐴</m:t>
                      </m:r>
                    </m:oMath>
                  </m:oMathPara>
                </a14:m>
                <a:endParaRPr lang="en-US" sz="2400"/>
              </a:p>
              <a:p>
                <a:pPr marL="0" indent="0">
                  <a:buNone/>
                </a:pPr>
                <a14:m>
                  <m:oMathPara xmlns:m="http://schemas.openxmlformats.org/officeDocument/2006/math">
                    <m:oMathParaPr>
                      <m:jc m:val="centerGroup"/>
                    </m:oMathParaPr>
                    <m:oMath xmlns:m="http://schemas.openxmlformats.org/officeDocument/2006/math">
                      <m:sSup>
                        <m:sSupPr>
                          <m:ctrlPr>
                            <a:rPr lang="en-US" sz="2400" b="0" i="1">
                              <a:latin typeface="Cambria Math" panose="02040503050406030204" pitchFamily="18" charset="0"/>
                            </a:rPr>
                          </m:ctrlPr>
                        </m:sSupPr>
                        <m:e>
                          <m:r>
                            <a:rPr lang="en-US" sz="2400" b="0" i="1">
                              <a:latin typeface="Cambria Math" panose="02040503050406030204" pitchFamily="18" charset="0"/>
                            </a:rPr>
                            <m:t>𝑐</m:t>
                          </m:r>
                        </m:e>
                        <m:sup>
                          <m:r>
                            <a:rPr lang="en-US" sz="2400" b="0" i="1">
                              <a:latin typeface="Cambria Math" panose="02040503050406030204" pitchFamily="18" charset="0"/>
                            </a:rPr>
                            <m:t>∗</m:t>
                          </m:r>
                        </m:sup>
                      </m:sSup>
                      <m:r>
                        <a:rPr lang="en-US" sz="2400" b="0" i="1">
                          <a:latin typeface="Cambria Math" panose="02040503050406030204" pitchFamily="18" charset="0"/>
                        </a:rPr>
                        <m:t>=</m:t>
                      </m:r>
                      <m:r>
                        <a:rPr lang="en-US" sz="2400" b="0" i="1">
                          <a:latin typeface="Cambria Math" panose="02040503050406030204" pitchFamily="18" charset="0"/>
                        </a:rPr>
                        <m:t>𝑐</m:t>
                      </m:r>
                    </m:oMath>
                  </m:oMathPara>
                </a14:m>
                <a:endParaRPr lang="en-US" sz="2400" b="0"/>
              </a:p>
              <a:p>
                <a:r>
                  <a:rPr lang="en-US" sz="2400"/>
                  <a:t>These transformation will leave the ICCs unaffected. That is </a:t>
                </a:r>
                <a14:m>
                  <m:oMath xmlns:m="http://schemas.openxmlformats.org/officeDocument/2006/math">
                    <m:sSup>
                      <m:sSupPr>
                        <m:ctrlPr>
                          <a:rPr lang="en-US" sz="2400" b="0" i="1">
                            <a:latin typeface="Cambria Math" panose="02040503050406030204" pitchFamily="18" charset="0"/>
                          </a:rPr>
                        </m:ctrlPr>
                      </m:sSupPr>
                      <m:e>
                        <m:r>
                          <a:rPr lang="en-US" sz="2400" b="0" i="1">
                            <a:latin typeface="Cambria Math" panose="02040503050406030204" pitchFamily="18" charset="0"/>
                          </a:rPr>
                          <m:t>𝑃</m:t>
                        </m:r>
                      </m:e>
                      <m:sup>
                        <m:r>
                          <a:rPr lang="en-US" sz="2400" b="0" i="1">
                            <a:latin typeface="Cambria Math" panose="02040503050406030204" pitchFamily="18" charset="0"/>
                          </a:rPr>
                          <m:t>∗</m:t>
                        </m:r>
                      </m:sup>
                    </m:sSup>
                    <m:d>
                      <m:dPr>
                        <m:begChr m:val="|"/>
                        <m:endChr m:val="|"/>
                        <m:ctrlPr>
                          <a:rPr lang="en-US" sz="2400" b="0" i="1">
                            <a:latin typeface="Cambria Math" panose="02040503050406030204" pitchFamily="18" charset="0"/>
                          </a:rPr>
                        </m:ctrlPr>
                      </m:dPr>
                      <m:e>
                        <m:sSup>
                          <m:sSupPr>
                            <m:ctrlPr>
                              <a:rPr lang="en-US" sz="2400" b="0" i="1">
                                <a:latin typeface="Cambria Math" panose="02040503050406030204" pitchFamily="18" charset="0"/>
                              </a:rPr>
                            </m:ctrlPr>
                          </m:sSupPr>
                          <m:e>
                            <m:r>
                              <a:rPr lang="en-US" sz="2400" b="0" i="1">
                                <a:latin typeface="Cambria Math" panose="02040503050406030204" pitchFamily="18" charset="0"/>
                              </a:rPr>
                              <m:t>𝜃</m:t>
                            </m:r>
                          </m:e>
                          <m:sup>
                            <m:r>
                              <a:rPr lang="en-US" sz="2400" b="0" i="1">
                                <a:latin typeface="Cambria Math" panose="02040503050406030204" pitchFamily="18" charset="0"/>
                              </a:rPr>
                              <m:t>∗</m:t>
                            </m:r>
                          </m:sup>
                        </m:sSup>
                        <m:r>
                          <a:rPr lang="en-US" sz="2400" b="0" i="1">
                            <a:latin typeface="Cambria Math" panose="02040503050406030204" pitchFamily="18" charset="0"/>
                          </a:rPr>
                          <m:t>,</m:t>
                        </m:r>
                        <m:sSup>
                          <m:sSupPr>
                            <m:ctrlPr>
                              <a:rPr lang="en-US" sz="2400" b="0" i="1">
                                <a:latin typeface="Cambria Math" panose="02040503050406030204" pitchFamily="18" charset="0"/>
                              </a:rPr>
                            </m:ctrlPr>
                          </m:sSupPr>
                          <m:e>
                            <m:r>
                              <a:rPr lang="en-US" sz="2400" b="0" i="1">
                                <a:latin typeface="Cambria Math" panose="02040503050406030204" pitchFamily="18" charset="0"/>
                              </a:rPr>
                              <m:t>𝑎</m:t>
                            </m:r>
                          </m:e>
                          <m:sup>
                            <m:r>
                              <a:rPr lang="en-US" sz="2400" b="0" i="1">
                                <a:latin typeface="Cambria Math" panose="02040503050406030204" pitchFamily="18" charset="0"/>
                              </a:rPr>
                              <m:t>∗</m:t>
                            </m:r>
                          </m:sup>
                        </m:sSup>
                        <m:r>
                          <a:rPr lang="en-US" sz="2400" b="0" i="1">
                            <a:latin typeface="Cambria Math" panose="02040503050406030204" pitchFamily="18" charset="0"/>
                          </a:rPr>
                          <m:t>,</m:t>
                        </m:r>
                        <m:sSup>
                          <m:sSupPr>
                            <m:ctrlPr>
                              <a:rPr lang="en-US" sz="2400" b="0" i="1">
                                <a:latin typeface="Cambria Math" panose="02040503050406030204" pitchFamily="18" charset="0"/>
                              </a:rPr>
                            </m:ctrlPr>
                          </m:sSupPr>
                          <m:e>
                            <m:r>
                              <a:rPr lang="en-US" sz="2400" b="0" i="1">
                                <a:latin typeface="Cambria Math" panose="02040503050406030204" pitchFamily="18" charset="0"/>
                              </a:rPr>
                              <m:t>𝑏</m:t>
                            </m:r>
                          </m:e>
                          <m:sup>
                            <m:r>
                              <a:rPr lang="en-US" sz="2400" b="0" i="1">
                                <a:latin typeface="Cambria Math" panose="02040503050406030204" pitchFamily="18" charset="0"/>
                              </a:rPr>
                              <m:t>∗</m:t>
                            </m:r>
                          </m:sup>
                        </m:sSup>
                        <m:r>
                          <a:rPr lang="en-US" sz="2400" b="0" i="1">
                            <a:latin typeface="Cambria Math" panose="02040503050406030204" pitchFamily="18" charset="0"/>
                          </a:rPr>
                          <m:t>, </m:t>
                        </m:r>
                        <m:sSup>
                          <m:sSupPr>
                            <m:ctrlPr>
                              <a:rPr lang="en-US" sz="2400" b="0" i="1">
                                <a:latin typeface="Cambria Math" panose="02040503050406030204" pitchFamily="18" charset="0"/>
                              </a:rPr>
                            </m:ctrlPr>
                          </m:sSupPr>
                          <m:e>
                            <m:r>
                              <a:rPr lang="en-US" sz="2400" b="0" i="1">
                                <a:latin typeface="Cambria Math" panose="02040503050406030204" pitchFamily="18" charset="0"/>
                              </a:rPr>
                              <m:t>𝑐</m:t>
                            </m:r>
                          </m:e>
                          <m:sup>
                            <m:r>
                              <a:rPr lang="en-US" sz="2400" b="0" i="1">
                                <a:latin typeface="Cambria Math" panose="02040503050406030204" pitchFamily="18" charset="0"/>
                              </a:rPr>
                              <m:t>∗</m:t>
                            </m:r>
                          </m:sup>
                        </m:sSup>
                        <m:r>
                          <a:rPr lang="en-US" sz="2400" b="0" i="1">
                            <a:latin typeface="Cambria Math" panose="02040503050406030204" pitchFamily="18" charset="0"/>
                          </a:rPr>
                          <m:t>=</m:t>
                        </m:r>
                        <m:r>
                          <a:rPr lang="en-US" sz="2400" b="0" i="1">
                            <a:latin typeface="Cambria Math" panose="02040503050406030204" pitchFamily="18" charset="0"/>
                          </a:rPr>
                          <m:t>𝑃</m:t>
                        </m:r>
                      </m:e>
                    </m:d>
                    <m:r>
                      <a:rPr lang="en-US" sz="2400" b="0" i="1">
                        <a:latin typeface="Cambria Math" panose="02040503050406030204" pitchFamily="18" charset="0"/>
                      </a:rPr>
                      <m:t>𝜃</m:t>
                    </m:r>
                    <m:r>
                      <a:rPr lang="en-US" sz="2400" b="0" i="1">
                        <a:latin typeface="Cambria Math" panose="02040503050406030204" pitchFamily="18" charset="0"/>
                      </a:rPr>
                      <m:t>,</m:t>
                    </m:r>
                    <m:r>
                      <a:rPr lang="en-US" sz="2400" b="0" i="1">
                        <a:latin typeface="Cambria Math" panose="02040503050406030204" pitchFamily="18" charset="0"/>
                      </a:rPr>
                      <m:t>𝑎</m:t>
                    </m:r>
                    <m:r>
                      <a:rPr lang="en-US" sz="2400" b="0" i="1">
                        <a:latin typeface="Cambria Math" panose="02040503050406030204" pitchFamily="18" charset="0"/>
                      </a:rPr>
                      <m:t>,</m:t>
                    </m:r>
                    <m:r>
                      <a:rPr lang="en-US" sz="2400" b="0" i="1">
                        <a:latin typeface="Cambria Math" panose="02040503050406030204" pitchFamily="18" charset="0"/>
                      </a:rPr>
                      <m:t>𝑏</m:t>
                    </m:r>
                    <m:r>
                      <a:rPr lang="en-US" sz="2400" b="0" i="1">
                        <a:latin typeface="Cambria Math" panose="02040503050406030204" pitchFamily="18" charset="0"/>
                      </a:rPr>
                      <m:t>,</m:t>
                    </m:r>
                    <m:r>
                      <a:rPr lang="en-US" sz="2400" b="0" i="1">
                        <a:latin typeface="Cambria Math" panose="02040503050406030204" pitchFamily="18" charset="0"/>
                      </a:rPr>
                      <m:t>𝑐</m:t>
                    </m:r>
                  </m:oMath>
                </a14:m>
                <a:endParaRPr lang="en-US" sz="2400"/>
              </a:p>
              <a:p>
                <a:r>
                  <a:rPr lang="en-US" sz="2400"/>
                  <a:t>Relative to Data Set 1 which has </a:t>
                </a:r>
                <a14:m>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0,1</m:t>
                        </m:r>
                      </m:e>
                    </m:d>
                  </m:oMath>
                </a14:m>
                <a:r>
                  <a:rPr lang="en-US" sz="2400"/>
                  <a:t>, Data Set 2 has </a:t>
                </a:r>
                <a14:m>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b="0" i="1">
                            <a:latin typeface="Cambria Math" panose="02040503050406030204" pitchFamily="18" charset="0"/>
                          </a:rPr>
                          <m:t>.2</m:t>
                        </m:r>
                        <m:r>
                          <a:rPr lang="en-US" sz="2400" i="1">
                            <a:latin typeface="Cambria Math" panose="02040503050406030204" pitchFamily="18" charset="0"/>
                          </a:rPr>
                          <m:t>,1</m:t>
                        </m:r>
                      </m:e>
                    </m:d>
                    <m:r>
                      <a:rPr lang="en-US" sz="2400" b="0" i="1">
                        <a:latin typeface="Cambria Math" panose="02040503050406030204" pitchFamily="18" charset="0"/>
                      </a:rPr>
                      <m:t> </m:t>
                    </m:r>
                  </m:oMath>
                </a14:m>
                <a:endParaRPr lang="en-US" sz="2400"/>
              </a:p>
              <a:p>
                <a:r>
                  <a:rPr lang="en-US" sz="2400"/>
                  <a:t>Given that we know the truth here, we also know the appropriate linking constants</a:t>
                </a:r>
              </a:p>
              <a:p>
                <a:r>
                  <a:rPr lang="en-US" sz="2400"/>
                  <a:t> </a:t>
                </a:r>
                <a14:m>
                  <m:oMath xmlns:m="http://schemas.openxmlformats.org/officeDocument/2006/math">
                    <m:r>
                      <a:rPr lang="en-US" sz="2400" i="1">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𝜃</m:t>
                        </m:r>
                      </m:e>
                      <m:sup>
                        <m:r>
                          <a:rPr lang="en-US" sz="2400" i="1">
                            <a:latin typeface="Cambria Math" panose="02040503050406030204" pitchFamily="18" charset="0"/>
                          </a:rPr>
                          <m:t>∗</m:t>
                        </m:r>
                      </m:sup>
                    </m:sSup>
                    <m:r>
                      <a:rPr lang="en-US" sz="2400" i="1">
                        <a:latin typeface="Cambria Math" panose="02040503050406030204" pitchFamily="18" charset="0"/>
                      </a:rPr>
                      <m:t>=1</m:t>
                    </m:r>
                    <m:r>
                      <a:rPr lang="en-US" sz="2400" i="1">
                        <a:latin typeface="Cambria Math" panose="02040503050406030204" pitchFamily="18" charset="0"/>
                      </a:rPr>
                      <m:t>𝜃</m:t>
                    </m:r>
                    <m:r>
                      <a:rPr lang="en-US" sz="2400" i="1">
                        <a:latin typeface="Cambria Math" panose="02040503050406030204" pitchFamily="18" charset="0"/>
                      </a:rPr>
                      <m:t>+.2</m:t>
                    </m:r>
                  </m:oMath>
                </a14:m>
                <a:r>
                  <a:rPr lang="en-US" sz="2400"/>
                  <a:t>  so A</a:t>
                </a:r>
                <a14:m>
                  <m:oMath xmlns:m="http://schemas.openxmlformats.org/officeDocument/2006/math">
                    <m:r>
                      <a:rPr lang="en-US" sz="2400" i="1">
                        <a:latin typeface="Cambria Math" panose="02040503050406030204" pitchFamily="18" charset="0"/>
                      </a:rPr>
                      <m:t> =1, </m:t>
                    </m:r>
                    <m:r>
                      <a:rPr lang="en-US" sz="2400" b="0" i="1">
                        <a:latin typeface="Cambria Math" panose="02040503050406030204" pitchFamily="18" charset="0"/>
                      </a:rPr>
                      <m:t>𝐵</m:t>
                    </m:r>
                    <m:r>
                      <a:rPr lang="en-US" sz="2400" i="1">
                        <a:latin typeface="Cambria Math" panose="02040503050406030204" pitchFamily="18" charset="0"/>
                      </a:rPr>
                      <m:t> = .2</m:t>
                    </m:r>
                  </m:oMath>
                </a14:m>
                <a:endParaRPr lang="en-US" sz="2400"/>
              </a:p>
              <a:p>
                <a:r>
                  <a:rPr lang="en-US" sz="2400"/>
                  <a:t>Apply these linking constants to data set two so item parameters are on common scale with data set 1.</a:t>
                </a:r>
                <a:endParaRPr lang="en-US"/>
              </a:p>
              <a:p>
                <a:endParaRPr lang="en-US"/>
              </a:p>
            </p:txBody>
          </p:sp>
        </mc:Choice>
        <mc:Fallback>
          <p:sp>
            <p:nvSpPr>
              <p:cNvPr id="3" name="Content Placeholder 2">
                <a:extLst>
                  <a:ext uri="{FF2B5EF4-FFF2-40B4-BE49-F238E27FC236}">
                    <a16:creationId xmlns:a16="http://schemas.microsoft.com/office/drawing/2014/main" id="{1373385B-DDA1-7643-B5D7-428232500669}"/>
                  </a:ext>
                </a:extLst>
              </p:cNvPr>
              <p:cNvSpPr>
                <a:spLocks noGrp="1" noRot="1" noChangeAspect="1" noMove="1" noResize="1" noEditPoints="1" noAdjustHandles="1" noChangeArrowheads="1" noChangeShapeType="1" noTextEdit="1"/>
              </p:cNvSpPr>
              <p:nvPr>
                <p:ph idx="1"/>
              </p:nvPr>
            </p:nvSpPr>
            <p:spPr>
              <a:xfrm>
                <a:off x="609600" y="1600201"/>
                <a:ext cx="10972800" cy="4876799"/>
              </a:xfrm>
              <a:blipFill>
                <a:blip r:embed="rId2"/>
                <a:stretch>
                  <a:fillRect l="-925" t="-1299" b="-1116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4B19684-A532-6145-80D2-BAD318E19026}"/>
              </a:ext>
            </a:extLst>
          </p:cNvPr>
          <p:cNvSpPr>
            <a:spLocks noGrp="1"/>
          </p:cNvSpPr>
          <p:nvPr>
            <p:ph type="sldNum" sz="quarter" idx="12"/>
          </p:nvPr>
        </p:nvSpPr>
        <p:spPr/>
        <p:txBody>
          <a:bodyPr/>
          <a:lstStyle/>
          <a:p>
            <a:pPr>
              <a:defRPr/>
            </a:pPr>
            <a:fld id="{CD98E987-055C-A941-82AA-E638330DCBBF}" type="slidenum">
              <a:rPr lang="en-US"/>
              <a:pPr>
                <a:defRPr/>
              </a:pPr>
              <a:t>30</a:t>
            </a:fld>
            <a:endParaRPr lang="en-US"/>
          </a:p>
        </p:txBody>
      </p:sp>
      <p:sp>
        <p:nvSpPr>
          <p:cNvPr id="5" name="TextBox 4">
            <a:extLst>
              <a:ext uri="{FF2B5EF4-FFF2-40B4-BE49-F238E27FC236}">
                <a16:creationId xmlns:a16="http://schemas.microsoft.com/office/drawing/2014/main" id="{5CFA18D9-F551-714E-8B06-2C1B7672E783}"/>
              </a:ext>
            </a:extLst>
          </p:cNvPr>
          <p:cNvSpPr txBox="1"/>
          <p:nvPr/>
        </p:nvSpPr>
        <p:spPr>
          <a:xfrm>
            <a:off x="7391400" y="2743200"/>
            <a:ext cx="3962400" cy="646331"/>
          </a:xfrm>
          <a:prstGeom prst="rect">
            <a:avLst/>
          </a:prstGeom>
          <a:noFill/>
          <a:ln>
            <a:solidFill>
              <a:schemeClr val="accent2"/>
            </a:solidFill>
          </a:ln>
        </p:spPr>
        <p:txBody>
          <a:bodyPr wrap="square" rtlCol="0">
            <a:spAutoFit/>
          </a:bodyPr>
          <a:lstStyle/>
          <a:p>
            <a:r>
              <a:rPr lang="en-US"/>
              <a:t>A and B are known as </a:t>
            </a:r>
            <a:r>
              <a:rPr lang="en-US" b="1"/>
              <a:t>linking constants</a:t>
            </a:r>
          </a:p>
        </p:txBody>
      </p:sp>
    </p:spTree>
    <p:extLst>
      <p:ext uri="{BB962C8B-B14F-4D97-AF65-F5344CB8AC3E}">
        <p14:creationId xmlns:p14="http://schemas.microsoft.com/office/powerpoint/2010/main" val="2585012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E9574-B339-9146-B3DE-8C92762965F4}"/>
              </a:ext>
            </a:extLst>
          </p:cNvPr>
          <p:cNvSpPr>
            <a:spLocks noGrp="1"/>
          </p:cNvSpPr>
          <p:nvPr>
            <p:ph type="title"/>
          </p:nvPr>
        </p:nvSpPr>
        <p:spPr/>
        <p:txBody>
          <a:bodyPr/>
          <a:lstStyle/>
          <a:p>
            <a:r>
              <a:rPr lang="en-US" b="1"/>
              <a:t>After Applying Linking Constants</a:t>
            </a:r>
          </a:p>
        </p:txBody>
      </p:sp>
      <p:sp>
        <p:nvSpPr>
          <p:cNvPr id="4" name="Slide Number Placeholder 3">
            <a:extLst>
              <a:ext uri="{FF2B5EF4-FFF2-40B4-BE49-F238E27FC236}">
                <a16:creationId xmlns:a16="http://schemas.microsoft.com/office/drawing/2014/main" id="{7D0CE99F-18E1-4B4A-A13F-CE8D46FB71AE}"/>
              </a:ext>
            </a:extLst>
          </p:cNvPr>
          <p:cNvSpPr>
            <a:spLocks noGrp="1"/>
          </p:cNvSpPr>
          <p:nvPr>
            <p:ph type="sldNum" sz="quarter" idx="12"/>
          </p:nvPr>
        </p:nvSpPr>
        <p:spPr/>
        <p:txBody>
          <a:bodyPr/>
          <a:lstStyle/>
          <a:p>
            <a:pPr>
              <a:defRPr/>
            </a:pPr>
            <a:fld id="{CD98E987-055C-A941-82AA-E638330DCBBF}" type="slidenum">
              <a:rPr lang="en-US"/>
              <a:pPr>
                <a:defRPr/>
              </a:pPr>
              <a:t>31</a:t>
            </a:fld>
            <a:endParaRPr lang="en-US"/>
          </a:p>
        </p:txBody>
      </p:sp>
      <p:sp>
        <p:nvSpPr>
          <p:cNvPr id="7" name="TextBox 6">
            <a:extLst>
              <a:ext uri="{FF2B5EF4-FFF2-40B4-BE49-F238E27FC236}">
                <a16:creationId xmlns:a16="http://schemas.microsoft.com/office/drawing/2014/main" id="{D6EA640C-1EA4-2149-A13A-B90255E75614}"/>
              </a:ext>
            </a:extLst>
          </p:cNvPr>
          <p:cNvSpPr txBox="1"/>
          <p:nvPr/>
        </p:nvSpPr>
        <p:spPr>
          <a:xfrm>
            <a:off x="1604689" y="6075144"/>
            <a:ext cx="7996511" cy="646331"/>
          </a:xfrm>
          <a:prstGeom prst="rect">
            <a:avLst/>
          </a:prstGeom>
          <a:noFill/>
        </p:spPr>
        <p:txBody>
          <a:bodyPr wrap="square" rtlCol="0">
            <a:spAutoFit/>
          </a:bodyPr>
          <a:lstStyle/>
          <a:p>
            <a:r>
              <a:rPr lang="en-US"/>
              <a:t>We no longer see same evidence of DIF, even though estimates are not exactly the same due to estimation error</a:t>
            </a:r>
          </a:p>
        </p:txBody>
      </p:sp>
      <p:pic>
        <p:nvPicPr>
          <p:cNvPr id="8" name="Content Placeholder 7">
            <a:extLst>
              <a:ext uri="{FF2B5EF4-FFF2-40B4-BE49-F238E27FC236}">
                <a16:creationId xmlns:a16="http://schemas.microsoft.com/office/drawing/2014/main" id="{1026022F-6ACF-F06E-C58B-885296F856D0}"/>
              </a:ext>
            </a:extLst>
          </p:cNvPr>
          <p:cNvPicPr>
            <a:picLocks noGrp="1" noChangeAspect="1"/>
          </p:cNvPicPr>
          <p:nvPr>
            <p:ph idx="1"/>
          </p:nvPr>
        </p:nvPicPr>
        <p:blipFill>
          <a:blip r:embed="rId2"/>
          <a:stretch>
            <a:fillRect/>
          </a:stretch>
        </p:blipFill>
        <p:spPr>
          <a:xfrm>
            <a:off x="1295400" y="1384980"/>
            <a:ext cx="8763000" cy="4781093"/>
          </a:xfrm>
          <a:prstGeom prst="rect">
            <a:avLst/>
          </a:prstGeom>
        </p:spPr>
      </p:pic>
    </p:spTree>
    <p:extLst>
      <p:ext uri="{BB962C8B-B14F-4D97-AF65-F5344CB8AC3E}">
        <p14:creationId xmlns:p14="http://schemas.microsoft.com/office/powerpoint/2010/main" val="193593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C4CC7-9BB2-1B45-8B7B-385FE91BABCA}"/>
              </a:ext>
            </a:extLst>
          </p:cNvPr>
          <p:cNvSpPr>
            <a:spLocks noGrp="1"/>
          </p:cNvSpPr>
          <p:nvPr>
            <p:ph type="title"/>
          </p:nvPr>
        </p:nvSpPr>
        <p:spPr/>
        <p:txBody>
          <a:bodyPr/>
          <a:lstStyle/>
          <a:p>
            <a:r>
              <a:rPr lang="en-US" b="1"/>
              <a:t>Estimating Linking Constants</a:t>
            </a:r>
          </a:p>
        </p:txBody>
      </p:sp>
      <p:sp>
        <p:nvSpPr>
          <p:cNvPr id="3" name="Content Placeholder 2">
            <a:extLst>
              <a:ext uri="{FF2B5EF4-FFF2-40B4-BE49-F238E27FC236}">
                <a16:creationId xmlns:a16="http://schemas.microsoft.com/office/drawing/2014/main" id="{B903BC2D-A991-744C-84ED-12E083BFCA2F}"/>
              </a:ext>
            </a:extLst>
          </p:cNvPr>
          <p:cNvSpPr>
            <a:spLocks noGrp="1"/>
          </p:cNvSpPr>
          <p:nvPr>
            <p:ph idx="1"/>
          </p:nvPr>
        </p:nvSpPr>
        <p:spPr/>
        <p:txBody>
          <a:bodyPr/>
          <a:lstStyle/>
          <a:p>
            <a:r>
              <a:rPr lang="en-US"/>
              <a:t>We never know what the true differences in theta distributions are for each group</a:t>
            </a:r>
          </a:p>
          <a:p>
            <a:r>
              <a:rPr lang="en-US"/>
              <a:t>So how do we know what linking constants to use?</a:t>
            </a:r>
          </a:p>
          <a:p>
            <a:r>
              <a:rPr lang="en-US"/>
              <a:t>The typical strategy is to find a set of items that we think are DIF free</a:t>
            </a:r>
          </a:p>
          <a:p>
            <a:r>
              <a:rPr lang="en-US"/>
              <a:t>If they have no DIF, than any differences we observe in their ICCs must be caused by true differences in groups.</a:t>
            </a:r>
          </a:p>
          <a:p>
            <a:r>
              <a:rPr lang="en-US"/>
              <a:t>So we use this to generate estimates of linking constants.</a:t>
            </a:r>
          </a:p>
        </p:txBody>
      </p:sp>
      <p:sp>
        <p:nvSpPr>
          <p:cNvPr id="4" name="Slide Number Placeholder 3">
            <a:extLst>
              <a:ext uri="{FF2B5EF4-FFF2-40B4-BE49-F238E27FC236}">
                <a16:creationId xmlns:a16="http://schemas.microsoft.com/office/drawing/2014/main" id="{D3F6FE98-B766-D94E-AE76-5228AE9A33E0}"/>
              </a:ext>
            </a:extLst>
          </p:cNvPr>
          <p:cNvSpPr>
            <a:spLocks noGrp="1"/>
          </p:cNvSpPr>
          <p:nvPr>
            <p:ph type="sldNum" sz="quarter" idx="12"/>
          </p:nvPr>
        </p:nvSpPr>
        <p:spPr/>
        <p:txBody>
          <a:bodyPr/>
          <a:lstStyle/>
          <a:p>
            <a:pPr>
              <a:defRPr/>
            </a:pPr>
            <a:fld id="{CD98E987-055C-A941-82AA-E638330DCBBF}" type="slidenum">
              <a:rPr lang="en-US"/>
              <a:pPr>
                <a:defRPr/>
              </a:pPr>
              <a:t>32</a:t>
            </a:fld>
            <a:endParaRPr lang="en-US"/>
          </a:p>
        </p:txBody>
      </p:sp>
    </p:spTree>
    <p:extLst>
      <p:ext uri="{BB962C8B-B14F-4D97-AF65-F5344CB8AC3E}">
        <p14:creationId xmlns:p14="http://schemas.microsoft.com/office/powerpoint/2010/main" val="3791948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6DE0A-0168-254A-9518-7F6DD217FCA9}"/>
              </a:ext>
            </a:extLst>
          </p:cNvPr>
          <p:cNvSpPr>
            <a:spLocks noGrp="1"/>
          </p:cNvSpPr>
          <p:nvPr>
            <p:ph type="title"/>
          </p:nvPr>
        </p:nvSpPr>
        <p:spPr/>
        <p:txBody>
          <a:bodyPr/>
          <a:lstStyle/>
          <a:p>
            <a:r>
              <a:rPr lang="en-US" sz="3600" b="1"/>
              <a:t>Two Common Approaches of Estimating Linking Constants </a:t>
            </a:r>
          </a:p>
        </p:txBody>
      </p:sp>
      <p:sp>
        <p:nvSpPr>
          <p:cNvPr id="5" name="Text Placeholder 4">
            <a:extLst>
              <a:ext uri="{FF2B5EF4-FFF2-40B4-BE49-F238E27FC236}">
                <a16:creationId xmlns:a16="http://schemas.microsoft.com/office/drawing/2014/main" id="{6FB3BB2C-5CAA-374B-8429-C1443519C0E2}"/>
              </a:ext>
            </a:extLst>
          </p:cNvPr>
          <p:cNvSpPr>
            <a:spLocks noGrp="1"/>
          </p:cNvSpPr>
          <p:nvPr>
            <p:ph type="body" idx="1"/>
          </p:nvPr>
        </p:nvSpPr>
        <p:spPr/>
        <p:txBody>
          <a:bodyPr/>
          <a:lstStyle/>
          <a:p>
            <a:r>
              <a:rPr lang="en-US"/>
              <a:t>Mean-Sigma Method</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D3F23257-6C23-9F41-A7E6-BA02B0298CDB}"/>
                  </a:ext>
                </a:extLst>
              </p:cNvPr>
              <p:cNvSpPr>
                <a:spLocks noGrp="1"/>
              </p:cNvSpPr>
              <p:nvPr>
                <p:ph sz="half" idx="2"/>
              </p:nvPr>
            </p:nvSpPr>
            <p:spPr/>
            <p:txBody>
              <a:bodyPr/>
              <a:lstStyle/>
              <a:p>
                <a:pPr marL="457200" indent="-457200">
                  <a:buFont typeface="+mj-lt"/>
                  <a:buAutoNum type="arabicPeriod"/>
                </a:pPr>
                <a:r>
                  <a:rPr lang="en-US"/>
                  <a:t>Find the mean and sd of DIF-free item difficulty parameter estimates for group 1 and 2.</a:t>
                </a:r>
              </a:p>
              <a:p>
                <a:pPr marL="457200" indent="-457200">
                  <a:buFont typeface="+mj-lt"/>
                  <a:buAutoNum type="arabicPeriod"/>
                </a:pPr>
                <a:r>
                  <a:rPr lang="en-US"/>
                  <a:t>Say we want to place group 2 item parameters on scale of group 1 item parameters.</a:t>
                </a:r>
              </a:p>
              <a:p>
                <a:pPr marL="0" indent="0">
                  <a:buNone/>
                </a:pPr>
                <a14:m>
                  <m:oMath xmlns:m="http://schemas.openxmlformats.org/officeDocument/2006/math">
                    <m:r>
                      <a:rPr lang="en-US" b="0" i="1">
                        <a:latin typeface="Cambria Math" panose="02040503050406030204" pitchFamily="18" charset="0"/>
                      </a:rPr>
                      <m:t>𝐴</m:t>
                    </m:r>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𝑆</m:t>
                        </m:r>
                        <m:sSub>
                          <m:sSubPr>
                            <m:ctrlPr>
                              <a:rPr lang="en-US" b="0" i="1">
                                <a:latin typeface="Cambria Math" panose="02040503050406030204" pitchFamily="18" charset="0"/>
                              </a:rPr>
                            </m:ctrlPr>
                          </m:sSubPr>
                          <m:e>
                            <m:r>
                              <a:rPr lang="en-US" b="0" i="1">
                                <a:latin typeface="Cambria Math" panose="02040503050406030204" pitchFamily="18" charset="0"/>
                              </a:rPr>
                              <m:t>𝐷</m:t>
                            </m:r>
                          </m:e>
                          <m:sub>
                            <m:r>
                              <a:rPr lang="en-US" b="0" i="1">
                                <a:latin typeface="Cambria Math" panose="02040503050406030204" pitchFamily="18" charset="0"/>
                              </a:rPr>
                              <m:t>1</m:t>
                            </m:r>
                          </m:sub>
                        </m:sSub>
                      </m:num>
                      <m:den>
                        <m:r>
                          <a:rPr lang="en-US" b="0" i="1">
                            <a:latin typeface="Cambria Math" panose="02040503050406030204" pitchFamily="18" charset="0"/>
                          </a:rPr>
                          <m:t>𝑆</m:t>
                        </m:r>
                        <m:sSub>
                          <m:sSubPr>
                            <m:ctrlPr>
                              <a:rPr lang="en-US" b="0" i="1">
                                <a:latin typeface="Cambria Math" panose="02040503050406030204" pitchFamily="18" charset="0"/>
                              </a:rPr>
                            </m:ctrlPr>
                          </m:sSubPr>
                          <m:e>
                            <m:r>
                              <a:rPr lang="en-US" b="0" i="1">
                                <a:latin typeface="Cambria Math" panose="02040503050406030204" pitchFamily="18" charset="0"/>
                              </a:rPr>
                              <m:t>𝐷</m:t>
                            </m:r>
                          </m:e>
                          <m:sub>
                            <m:r>
                              <a:rPr lang="en-US" b="0" i="1">
                                <a:latin typeface="Cambria Math" panose="02040503050406030204" pitchFamily="18" charset="0"/>
                              </a:rPr>
                              <m:t>2</m:t>
                            </m:r>
                          </m:sub>
                        </m:sSub>
                      </m:den>
                    </m:f>
                  </m:oMath>
                </a14:m>
                <a:r>
                  <a:rPr lang="en-US"/>
                  <a:t>  </a:t>
                </a:r>
                <a:endParaRPr lang="en-US" i="1">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a:latin typeface="Cambria Math" panose="02040503050406030204" pitchFamily="18" charset="0"/>
                        </a:rPr>
                        <m:t>𝐵</m:t>
                      </m:r>
                      <m:r>
                        <a:rPr lang="en-US" b="0" i="1">
                          <a:latin typeface="Cambria Math" panose="02040503050406030204" pitchFamily="18" charset="0"/>
                        </a:rPr>
                        <m:t>=</m:t>
                      </m:r>
                      <m:r>
                        <a:rPr lang="en-US" b="0" i="1">
                          <a:latin typeface="Cambria Math" panose="02040503050406030204" pitchFamily="18" charset="0"/>
                        </a:rPr>
                        <m:t>𝑚𝑒𝑎</m:t>
                      </m:r>
                      <m:sSub>
                        <m:sSubPr>
                          <m:ctrlPr>
                            <a:rPr lang="en-US" b="0" i="1">
                              <a:latin typeface="Cambria Math" panose="02040503050406030204" pitchFamily="18" charset="0"/>
                            </a:rPr>
                          </m:ctrlPr>
                        </m:sSubPr>
                        <m:e>
                          <m:r>
                            <a:rPr lang="en-US" b="0" i="1">
                              <a:latin typeface="Cambria Math" panose="02040503050406030204" pitchFamily="18" charset="0"/>
                            </a:rPr>
                            <m:t>𝑛</m:t>
                          </m:r>
                        </m:e>
                        <m:sub>
                          <m:r>
                            <a:rPr lang="en-US" b="0" i="1">
                              <a:latin typeface="Cambria Math" panose="02040503050406030204" pitchFamily="18" charset="0"/>
                            </a:rPr>
                            <m:t>𝐴</m:t>
                          </m:r>
                        </m:sub>
                      </m:sSub>
                      <m:r>
                        <a:rPr lang="en-US" b="0" i="1">
                          <a:latin typeface="Cambria Math" panose="02040503050406030204" pitchFamily="18" charset="0"/>
                        </a:rPr>
                        <m:t>−</m:t>
                      </m:r>
                      <m:r>
                        <a:rPr lang="en-US" b="0" i="1">
                          <a:latin typeface="Cambria Math" panose="02040503050406030204" pitchFamily="18" charset="0"/>
                        </a:rPr>
                        <m:t>𝐴</m:t>
                      </m:r>
                      <m:r>
                        <a:rPr lang="en-US" b="0" i="1">
                          <a:latin typeface="Cambria Math" panose="02040503050406030204" pitchFamily="18" charset="0"/>
                        </a:rPr>
                        <m:t>∗</m:t>
                      </m:r>
                      <m:r>
                        <a:rPr lang="en-US" b="0" i="1">
                          <a:latin typeface="Cambria Math" panose="02040503050406030204" pitchFamily="18" charset="0"/>
                        </a:rPr>
                        <m:t>𝑚𝑒𝑎</m:t>
                      </m:r>
                      <m:sSub>
                        <m:sSubPr>
                          <m:ctrlPr>
                            <a:rPr lang="en-US" b="0" i="1">
                              <a:latin typeface="Cambria Math" panose="02040503050406030204" pitchFamily="18" charset="0"/>
                            </a:rPr>
                          </m:ctrlPr>
                        </m:sSubPr>
                        <m:e>
                          <m:r>
                            <a:rPr lang="en-US" b="0" i="1">
                              <a:latin typeface="Cambria Math" panose="02040503050406030204" pitchFamily="18" charset="0"/>
                            </a:rPr>
                            <m:t>𝑛</m:t>
                          </m:r>
                        </m:e>
                        <m:sub>
                          <m:r>
                            <a:rPr lang="en-US" b="0" i="1">
                              <a:latin typeface="Cambria Math" panose="02040503050406030204" pitchFamily="18" charset="0"/>
                            </a:rPr>
                            <m:t>𝐵</m:t>
                          </m:r>
                        </m:sub>
                      </m:sSub>
                    </m:oMath>
                  </m:oMathPara>
                </a14:m>
                <a:endParaRPr lang="en-US"/>
              </a:p>
              <a:p>
                <a:pPr marL="0" indent="0">
                  <a:buNone/>
                </a:pPr>
                <a14:m>
                  <m:oMathPara xmlns:m="http://schemas.openxmlformats.org/officeDocument/2006/math">
                    <m:oMathParaPr>
                      <m:jc m:val="left"/>
                    </m:oMathParaPr>
                    <m:oMath xmlns:m="http://schemas.openxmlformats.org/officeDocument/2006/math">
                      <m:sSubSup>
                        <m:sSubSupPr>
                          <m:ctrlPr>
                            <a:rPr lang="en-US" b="0" i="1">
                              <a:latin typeface="Cambria Math" panose="02040503050406030204" pitchFamily="18" charset="0"/>
                            </a:rPr>
                          </m:ctrlPr>
                        </m:sSubSupPr>
                        <m:e>
                          <m:r>
                            <a:rPr lang="en-US" b="0" i="1">
                              <a:latin typeface="Cambria Math" panose="02040503050406030204" pitchFamily="18" charset="0"/>
                            </a:rPr>
                            <m:t>𝑏</m:t>
                          </m:r>
                        </m:e>
                        <m:sub>
                          <m:r>
                            <a:rPr lang="en-US" b="0" i="1">
                              <a:latin typeface="Cambria Math" panose="02040503050406030204" pitchFamily="18" charset="0"/>
                            </a:rPr>
                            <m:t>𝐵</m:t>
                          </m:r>
                        </m:sub>
                        <m:sup>
                          <m:r>
                            <a:rPr lang="en-US" b="0" i="1">
                              <a:latin typeface="Cambria Math" panose="02040503050406030204" pitchFamily="18" charset="0"/>
                            </a:rPr>
                            <m:t>∗</m:t>
                          </m:r>
                        </m:sup>
                      </m:sSubSup>
                      <m:r>
                        <a:rPr lang="en-US" b="0" i="1">
                          <a:latin typeface="Cambria Math" panose="02040503050406030204" pitchFamily="18" charset="0"/>
                        </a:rPr>
                        <m:t>=</m:t>
                      </m:r>
                      <m:r>
                        <a:rPr lang="en-US" b="0" i="1">
                          <a:latin typeface="Cambria Math" panose="02040503050406030204" pitchFamily="18" charset="0"/>
                        </a:rPr>
                        <m:t>𝐴</m:t>
                      </m:r>
                      <m:sSub>
                        <m:sSubPr>
                          <m:ctrlPr>
                            <a:rPr lang="en-US" b="0" i="1">
                              <a:latin typeface="Cambria Math" panose="02040503050406030204" pitchFamily="18" charset="0"/>
                            </a:rPr>
                          </m:ctrlPr>
                        </m:sSubPr>
                        <m:e>
                          <m:r>
                            <a:rPr lang="en-US" b="0" i="1">
                              <a:latin typeface="Cambria Math" panose="02040503050406030204" pitchFamily="18" charset="0"/>
                            </a:rPr>
                            <m:t>𝑏</m:t>
                          </m:r>
                        </m:e>
                        <m:sub>
                          <m:r>
                            <a:rPr lang="en-US" b="0" i="1">
                              <a:latin typeface="Cambria Math" panose="02040503050406030204" pitchFamily="18" charset="0"/>
                            </a:rPr>
                            <m:t>𝐵</m:t>
                          </m:r>
                        </m:sub>
                      </m:sSub>
                      <m:r>
                        <a:rPr lang="en-US" b="0" i="1">
                          <a:latin typeface="Cambria Math" panose="02040503050406030204" pitchFamily="18" charset="0"/>
                        </a:rPr>
                        <m:t>+</m:t>
                      </m:r>
                      <m:r>
                        <a:rPr lang="en-US" b="0" i="1">
                          <a:latin typeface="Cambria Math" panose="02040503050406030204" pitchFamily="18" charset="0"/>
                        </a:rPr>
                        <m:t>𝐵</m:t>
                      </m:r>
                    </m:oMath>
                  </m:oMathPara>
                </a14:m>
                <a:endParaRPr lang="en-US"/>
              </a:p>
              <a:p>
                <a:pPr marL="457200" indent="-457200">
                  <a:buFont typeface="+mj-lt"/>
                  <a:buAutoNum type="arabicPeriod"/>
                </a:pPr>
                <a:endParaRPr lang="en-US"/>
              </a:p>
              <a:p>
                <a:pPr marL="457200" indent="-457200">
                  <a:buFont typeface="+mj-lt"/>
                  <a:buAutoNum type="arabicPeriod"/>
                </a:pPr>
                <a:endParaRPr lang="en-US"/>
              </a:p>
            </p:txBody>
          </p:sp>
        </mc:Choice>
        <mc:Fallback>
          <p:sp>
            <p:nvSpPr>
              <p:cNvPr id="6" name="Content Placeholder 5">
                <a:extLst>
                  <a:ext uri="{FF2B5EF4-FFF2-40B4-BE49-F238E27FC236}">
                    <a16:creationId xmlns:a16="http://schemas.microsoft.com/office/drawing/2014/main" id="{D3F23257-6C23-9F41-A7E6-BA02B0298CDB}"/>
                  </a:ext>
                </a:extLst>
              </p:cNvPr>
              <p:cNvSpPr>
                <a:spLocks noGrp="1" noRot="1" noChangeAspect="1" noMove="1" noResize="1" noEditPoints="1" noAdjustHandles="1" noChangeArrowheads="1" noChangeShapeType="1" noTextEdit="1"/>
              </p:cNvSpPr>
              <p:nvPr>
                <p:ph sz="half" idx="2"/>
              </p:nvPr>
            </p:nvSpPr>
            <p:spPr>
              <a:blipFill>
                <a:blip r:embed="rId2"/>
                <a:stretch>
                  <a:fillRect l="-1882" t="-1603" r="-1882"/>
                </a:stretch>
              </a:blipFill>
            </p:spPr>
            <p:txBody>
              <a:bodyPr/>
              <a:lstStyle/>
              <a:p>
                <a:r>
                  <a:rPr lang="en-US">
                    <a:noFill/>
                  </a:rPr>
                  <a:t> </a:t>
                </a:r>
              </a:p>
            </p:txBody>
          </p:sp>
        </mc:Fallback>
      </mc:AlternateContent>
      <p:sp>
        <p:nvSpPr>
          <p:cNvPr id="7" name="Text Placeholder 6">
            <a:extLst>
              <a:ext uri="{FF2B5EF4-FFF2-40B4-BE49-F238E27FC236}">
                <a16:creationId xmlns:a16="http://schemas.microsoft.com/office/drawing/2014/main" id="{5391BB17-F215-B44C-9978-E85DEEEA1681}"/>
              </a:ext>
            </a:extLst>
          </p:cNvPr>
          <p:cNvSpPr>
            <a:spLocks noGrp="1"/>
          </p:cNvSpPr>
          <p:nvPr>
            <p:ph type="body" sz="quarter" idx="3"/>
          </p:nvPr>
        </p:nvSpPr>
        <p:spPr/>
        <p:txBody>
          <a:bodyPr/>
          <a:lstStyle/>
          <a:p>
            <a:r>
              <a:rPr lang="en-US"/>
              <a:t>Stocking-Lord Method</a:t>
            </a:r>
          </a:p>
        </p:txBody>
      </p:sp>
      <p:sp>
        <p:nvSpPr>
          <p:cNvPr id="8" name="Content Placeholder 7">
            <a:extLst>
              <a:ext uri="{FF2B5EF4-FFF2-40B4-BE49-F238E27FC236}">
                <a16:creationId xmlns:a16="http://schemas.microsoft.com/office/drawing/2014/main" id="{468A9047-04DE-4349-B91A-9B3D5DA5DB4B}"/>
              </a:ext>
            </a:extLst>
          </p:cNvPr>
          <p:cNvSpPr>
            <a:spLocks noGrp="1"/>
          </p:cNvSpPr>
          <p:nvPr>
            <p:ph sz="quarter" idx="4"/>
          </p:nvPr>
        </p:nvSpPr>
        <p:spPr/>
        <p:txBody>
          <a:bodyPr/>
          <a:lstStyle/>
          <a:p>
            <a:pPr marL="457200" indent="-457200">
              <a:buFont typeface="+mj-lt"/>
              <a:buAutoNum type="arabicPeriod"/>
            </a:pPr>
            <a:r>
              <a:rPr lang="en-US"/>
              <a:t>Compute the TCC for all DIF-free items for groups 1 and 2.</a:t>
            </a:r>
          </a:p>
          <a:p>
            <a:pPr marL="457200" indent="-457200">
              <a:buFont typeface="+mj-lt"/>
              <a:buAutoNum type="arabicPeriod"/>
            </a:pPr>
            <a:r>
              <a:rPr lang="en-US"/>
              <a:t>Find the values of linking constants x and y that minimize the distance between the two TCCs.</a:t>
            </a:r>
          </a:p>
          <a:p>
            <a:pPr marL="457200" indent="-457200">
              <a:buFont typeface="+mj-lt"/>
              <a:buAutoNum type="arabicPeriod"/>
            </a:pPr>
            <a:r>
              <a:rPr lang="en-US"/>
              <a:t>This is generally considered a stronger method, but it is more complicated to implement without specialized code.</a:t>
            </a:r>
          </a:p>
        </p:txBody>
      </p:sp>
      <p:sp>
        <p:nvSpPr>
          <p:cNvPr id="4" name="Slide Number Placeholder 3">
            <a:extLst>
              <a:ext uri="{FF2B5EF4-FFF2-40B4-BE49-F238E27FC236}">
                <a16:creationId xmlns:a16="http://schemas.microsoft.com/office/drawing/2014/main" id="{804C97B0-3DC7-114E-921D-EC916A643C87}"/>
              </a:ext>
            </a:extLst>
          </p:cNvPr>
          <p:cNvSpPr>
            <a:spLocks noGrp="1"/>
          </p:cNvSpPr>
          <p:nvPr>
            <p:ph type="sldNum" sz="quarter" idx="12"/>
          </p:nvPr>
        </p:nvSpPr>
        <p:spPr/>
        <p:txBody>
          <a:bodyPr/>
          <a:lstStyle/>
          <a:p>
            <a:pPr>
              <a:defRPr/>
            </a:pPr>
            <a:fld id="{CD98E987-055C-A941-82AA-E638330DCBBF}" type="slidenum">
              <a:rPr lang="en-US"/>
              <a:pPr>
                <a:defRPr/>
              </a:pPr>
              <a:t>33</a:t>
            </a:fld>
            <a:endParaRPr lang="en-US"/>
          </a:p>
        </p:txBody>
      </p:sp>
    </p:spTree>
    <p:extLst>
      <p:ext uri="{BB962C8B-B14F-4D97-AF65-F5344CB8AC3E}">
        <p14:creationId xmlns:p14="http://schemas.microsoft.com/office/powerpoint/2010/main" val="5369394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701" y="0"/>
            <a:ext cx="6869113"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650" name="TextBox 4"/>
          <p:cNvSpPr txBox="1">
            <a:spLocks noChangeArrowheads="1"/>
          </p:cNvSpPr>
          <p:nvPr/>
        </p:nvSpPr>
        <p:spPr bwMode="auto">
          <a:xfrm>
            <a:off x="5272088" y="1219201"/>
            <a:ext cx="576262" cy="246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00">
                <a:latin typeface="Times New Roman" charset="0"/>
                <a:cs typeface="Times New Roman" charset="0"/>
              </a:rPr>
              <a:t>To</a:t>
            </a:r>
          </a:p>
        </p:txBody>
      </p:sp>
      <p:sp>
        <p:nvSpPr>
          <p:cNvPr id="27651" name="TextBox 5"/>
          <p:cNvSpPr txBox="1">
            <a:spLocks noChangeArrowheads="1"/>
          </p:cNvSpPr>
          <p:nvPr/>
        </p:nvSpPr>
        <p:spPr bwMode="auto">
          <a:xfrm>
            <a:off x="6567488" y="1219201"/>
            <a:ext cx="812800" cy="246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00">
                <a:latin typeface="Times New Roman" charset="0"/>
                <a:cs typeface="Times New Roman" charset="0"/>
              </a:rPr>
              <a:t>From</a:t>
            </a:r>
          </a:p>
        </p:txBody>
      </p:sp>
      <p:cxnSp>
        <p:nvCxnSpPr>
          <p:cNvPr id="8" name="Straight Connector 7"/>
          <p:cNvCxnSpPr/>
          <p:nvPr/>
        </p:nvCxnSpPr>
        <p:spPr>
          <a:xfrm rot="5400000" flipH="1" flipV="1">
            <a:off x="4356894" y="3124994"/>
            <a:ext cx="1524000" cy="15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flipH="1" flipV="1">
            <a:off x="5158582" y="1845470"/>
            <a:ext cx="1143000" cy="15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flipH="1" flipV="1">
            <a:off x="6299994" y="1162844"/>
            <a:ext cx="381000" cy="15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flipH="1" flipV="1">
            <a:off x="4128294" y="4801394"/>
            <a:ext cx="609600" cy="15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7656" name="TextBox 17"/>
          <p:cNvSpPr txBox="1">
            <a:spLocks noChangeArrowheads="1"/>
          </p:cNvSpPr>
          <p:nvPr/>
        </p:nvSpPr>
        <p:spPr bwMode="auto">
          <a:xfrm>
            <a:off x="8077200" y="609601"/>
            <a:ext cx="2362200" cy="5078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For the TCCs</a:t>
            </a:r>
          </a:p>
          <a:p>
            <a:pPr eaLnBrk="1" hangingPunct="1"/>
            <a:endParaRPr lang="en-US" sz="1800">
              <a:latin typeface="Calibri" charset="0"/>
            </a:endParaRPr>
          </a:p>
          <a:p>
            <a:pPr eaLnBrk="1" hangingPunct="1">
              <a:buFontTx/>
              <a:buAutoNum type="arabicPeriod"/>
            </a:pPr>
            <a:r>
              <a:rPr lang="en-US" sz="1800">
                <a:latin typeface="Calibri" charset="0"/>
              </a:rPr>
              <a:t>For given values of </a:t>
            </a:r>
            <a:r>
              <a:rPr lang="el-GR" sz="1800">
                <a:latin typeface="Calibri" charset="0"/>
              </a:rPr>
              <a:t>θ</a:t>
            </a:r>
            <a:r>
              <a:rPr lang="en-US" sz="1800">
                <a:latin typeface="Calibri" charset="0"/>
              </a:rPr>
              <a:t>, take the difference between the response probabilities</a:t>
            </a:r>
          </a:p>
          <a:p>
            <a:pPr eaLnBrk="1" hangingPunct="1">
              <a:buFontTx/>
              <a:buAutoNum type="arabicPeriod"/>
            </a:pPr>
            <a:endParaRPr lang="en-US" sz="1800">
              <a:latin typeface="Calibri" charset="0"/>
            </a:endParaRPr>
          </a:p>
          <a:p>
            <a:pPr eaLnBrk="1" hangingPunct="1">
              <a:buFontTx/>
              <a:buAutoNum type="arabicPeriod"/>
            </a:pPr>
            <a:r>
              <a:rPr lang="en-US" sz="1800">
                <a:latin typeface="Calibri" charset="0"/>
              </a:rPr>
              <a:t>Square the differences</a:t>
            </a:r>
          </a:p>
          <a:p>
            <a:pPr eaLnBrk="1" hangingPunct="1">
              <a:buFontTx/>
              <a:buAutoNum type="arabicPeriod"/>
            </a:pPr>
            <a:endParaRPr lang="en-US" sz="1800">
              <a:latin typeface="Calibri" charset="0"/>
            </a:endParaRPr>
          </a:p>
          <a:p>
            <a:pPr eaLnBrk="1" hangingPunct="1">
              <a:buFontTx/>
              <a:buAutoNum type="arabicPeriod"/>
            </a:pPr>
            <a:r>
              <a:rPr lang="en-US" sz="1800">
                <a:latin typeface="Calibri" charset="0"/>
              </a:rPr>
              <a:t>Sum the squared differences across all theta values</a:t>
            </a:r>
          </a:p>
          <a:p>
            <a:pPr eaLnBrk="1" hangingPunct="1">
              <a:buFontTx/>
              <a:buAutoNum type="arabicPeriod"/>
            </a:pPr>
            <a:endParaRPr lang="en-US" sz="1800">
              <a:latin typeface="Calibri" charset="0"/>
            </a:endParaRPr>
          </a:p>
          <a:p>
            <a:pPr eaLnBrk="1" hangingPunct="1">
              <a:buFontTx/>
              <a:buAutoNum type="arabicPeriod"/>
            </a:pPr>
            <a:r>
              <a:rPr lang="en-US" sz="1800">
                <a:latin typeface="Calibri" charset="0"/>
              </a:rPr>
              <a:t>Find the linking constants A and B that minimize these differences</a:t>
            </a: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34</a:t>
            </a:fld>
            <a:endParaRPr lang="en-US"/>
          </a:p>
        </p:txBody>
      </p:sp>
      <p:sp>
        <p:nvSpPr>
          <p:cNvPr id="3" name="TextBox 2">
            <a:extLst>
              <a:ext uri="{FF2B5EF4-FFF2-40B4-BE49-F238E27FC236}">
                <a16:creationId xmlns:a16="http://schemas.microsoft.com/office/drawing/2014/main" id="{6CC1680B-E483-4046-8E46-C95F0C7F91E7}"/>
              </a:ext>
            </a:extLst>
          </p:cNvPr>
          <p:cNvSpPr txBox="1"/>
          <p:nvPr/>
        </p:nvSpPr>
        <p:spPr>
          <a:xfrm>
            <a:off x="1066800" y="152400"/>
            <a:ext cx="6172200" cy="400110"/>
          </a:xfrm>
          <a:prstGeom prst="rect">
            <a:avLst/>
          </a:prstGeom>
          <a:noFill/>
        </p:spPr>
        <p:txBody>
          <a:bodyPr wrap="square" rtlCol="0">
            <a:spAutoFit/>
          </a:bodyPr>
          <a:lstStyle/>
          <a:p>
            <a:r>
              <a:rPr lang="en-US" sz="2000" b="1">
                <a:latin typeface="Calibri" panose="020F0502020204030204" pitchFamily="34" charset="0"/>
                <a:cs typeface="Calibri" panose="020F0502020204030204" pitchFamily="34" charset="0"/>
              </a:rPr>
              <a:t>Visualization of Stocking-Lord Approach</a:t>
            </a:r>
          </a:p>
        </p:txBody>
      </p:sp>
    </p:spTree>
    <p:extLst>
      <p:ext uri="{BB962C8B-B14F-4D97-AF65-F5344CB8AC3E}">
        <p14:creationId xmlns:p14="http://schemas.microsoft.com/office/powerpoint/2010/main" val="3895095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pPr eaLnBrk="1" hangingPunct="1"/>
            <a:r>
              <a:rPr lang="en-US" b="1">
                <a:latin typeface="Calibri"/>
                <a:cs typeface="Calibri"/>
              </a:rPr>
              <a:t>Recap of Hypothetical Scenario</a:t>
            </a:r>
          </a:p>
        </p:txBody>
      </p:sp>
      <mc:AlternateContent xmlns:mc="http://schemas.openxmlformats.org/markup-compatibility/2006" xmlns:a14="http://schemas.microsoft.com/office/drawing/2010/main">
        <mc:Choice Requires="a14">
          <p:sp>
            <p:nvSpPr>
              <p:cNvPr id="60418" name="Rectangle 3"/>
              <p:cNvSpPr>
                <a:spLocks noGrp="1" noChangeArrowheads="1"/>
              </p:cNvSpPr>
              <p:nvPr>
                <p:ph type="body" idx="1"/>
              </p:nvPr>
            </p:nvSpPr>
            <p:spPr/>
            <p:txBody>
              <a:bodyPr/>
              <a:lstStyle/>
              <a:p>
                <a:pPr eaLnBrk="1" hangingPunct="1"/>
                <a:r>
                  <a:rPr lang="en-US" sz="2600">
                    <a:latin typeface="Calibri"/>
                    <a:cs typeface="Calibri"/>
                  </a:rPr>
                  <a:t>A test has been developed to measure X</a:t>
                </a:r>
              </a:p>
              <a:p>
                <a:pPr eaLnBrk="1" hangingPunct="1"/>
                <a:r>
                  <a:rPr lang="en-US" sz="2600">
                    <a:latin typeface="Calibri"/>
                    <a:cs typeface="Calibri"/>
                  </a:rPr>
                  <a:t>We are concerned about possible DIF between groups 1 and 2.</a:t>
                </a:r>
              </a:p>
              <a:p>
                <a:pPr eaLnBrk="1" hangingPunct="1"/>
                <a:r>
                  <a:rPr lang="en-US" sz="2600">
                    <a:latin typeface="Calibri"/>
                    <a:cs typeface="Calibri"/>
                  </a:rPr>
                  <a:t>We estimate item parameters separately for each group using IRT. In each run </a:t>
                </a:r>
                <a14:m>
                  <m:oMath xmlns:m="http://schemas.openxmlformats.org/officeDocument/2006/math">
                    <m:sSub>
                      <m:sSubPr>
                        <m:ctrlPr>
                          <a:rPr lang="en-US" sz="2600" b="0" i="1">
                            <a:latin typeface="Cambria Math" panose="02040503050406030204" pitchFamily="18" charset="0"/>
                            <a:cs typeface="Calibri"/>
                          </a:rPr>
                        </m:ctrlPr>
                      </m:sSubPr>
                      <m:e>
                        <m:r>
                          <a:rPr lang="en-US" sz="2600" b="0" i="1">
                            <a:latin typeface="Cambria Math" panose="02040503050406030204" pitchFamily="18" charset="0"/>
                            <a:cs typeface="Calibri"/>
                          </a:rPr>
                          <m:t>𝜃</m:t>
                        </m:r>
                      </m:e>
                      <m:sub>
                        <m:r>
                          <a:rPr lang="en-US" sz="2600" b="0" i="1">
                            <a:latin typeface="Cambria Math" panose="02040503050406030204" pitchFamily="18" charset="0"/>
                            <a:cs typeface="Calibri"/>
                          </a:rPr>
                          <m:t>𝑔</m:t>
                        </m:r>
                      </m:sub>
                    </m:sSub>
                    <m:r>
                      <a:rPr lang="en-US" sz="2600" b="0" i="1">
                        <a:latin typeface="Cambria Math" panose="02040503050406030204" pitchFamily="18" charset="0"/>
                        <a:cs typeface="Calibri"/>
                      </a:rPr>
                      <m:t>~</m:t>
                    </m:r>
                    <m:r>
                      <a:rPr lang="en-US" sz="2600" b="0" i="1">
                        <a:latin typeface="Cambria Math" panose="02040503050406030204" pitchFamily="18" charset="0"/>
                        <a:cs typeface="Calibri"/>
                      </a:rPr>
                      <m:t>𝑁</m:t>
                    </m:r>
                    <m:r>
                      <a:rPr lang="en-US" sz="2600" b="0" i="1">
                        <a:latin typeface="Cambria Math" panose="02040503050406030204" pitchFamily="18" charset="0"/>
                        <a:cs typeface="Calibri"/>
                      </a:rPr>
                      <m:t>(0,1)</m:t>
                    </m:r>
                  </m:oMath>
                </a14:m>
                <a:endParaRPr lang="en-US" sz="2600">
                  <a:latin typeface="Calibri"/>
                  <a:cs typeface="Calibri"/>
                </a:endParaRPr>
              </a:p>
              <a:p>
                <a:pPr eaLnBrk="1" hangingPunct="1"/>
                <a:r>
                  <a:rPr lang="en-US" sz="2600">
                    <a:latin typeface="Calibri"/>
                    <a:cs typeface="Calibri"/>
                  </a:rPr>
                  <a:t>Here’s</a:t>
                </a:r>
                <a:r>
                  <a:rPr lang="en-US" altLang="ja-JP" sz="2600">
                    <a:latin typeface="Calibri"/>
                    <a:cs typeface="Calibri"/>
                  </a:rPr>
                  <a:t> what we see on many of the items</a:t>
                </a:r>
                <a:endParaRPr lang="en-US" sz="2600">
                  <a:latin typeface="Calibri"/>
                  <a:cs typeface="Calibri"/>
                </a:endParaRPr>
              </a:p>
            </p:txBody>
          </p:sp>
        </mc:Choice>
        <mc:Fallback xmlns="">
          <p:sp>
            <p:nvSpPr>
              <p:cNvPr id="60418" name="Rectangle 3"/>
              <p:cNvSpPr>
                <a:spLocks noGrp="1" noRot="1" noChangeAspect="1" noMove="1" noResize="1" noEditPoints="1" noAdjustHandles="1" noChangeArrowheads="1" noChangeShapeType="1" noTextEdit="1"/>
              </p:cNvSpPr>
              <p:nvPr>
                <p:ph type="body" idx="1"/>
              </p:nvPr>
            </p:nvSpPr>
            <p:spPr>
              <a:blipFill>
                <a:blip r:embed="rId3"/>
                <a:stretch>
                  <a:fillRect l="-1157" t="-1401"/>
                </a:stretch>
              </a:blipFill>
            </p:spPr>
            <p:txBody>
              <a:bodyPr/>
              <a:lstStyle/>
              <a:p>
                <a:r>
                  <a:rPr lang="en-US">
                    <a:noFill/>
                  </a:rPr>
                  <a:t> </a:t>
                </a:r>
              </a:p>
            </p:txBody>
          </p:sp>
        </mc:Fallback>
      </mc:AlternateContent>
      <p:pic>
        <p:nvPicPr>
          <p:cNvPr id="6041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050129"/>
            <a:ext cx="3200400" cy="2316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420" name="Text Box 5"/>
          <p:cNvSpPr txBox="1">
            <a:spLocks noChangeArrowheads="1"/>
          </p:cNvSpPr>
          <p:nvPr/>
        </p:nvSpPr>
        <p:spPr bwMode="auto">
          <a:xfrm>
            <a:off x="5211233" y="4024728"/>
            <a:ext cx="5774267" cy="2585323"/>
          </a:xfrm>
          <a:prstGeom prst="rect">
            <a:avLst/>
          </a:prstGeom>
          <a:noFill/>
          <a:ln>
            <a:solidFill>
              <a:schemeClr val="accent2"/>
            </a:solid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latin typeface="Calibri"/>
                <a:cs typeface="Calibri"/>
              </a:rPr>
              <a:t>There are two possible explanations:</a:t>
            </a:r>
          </a:p>
          <a:p>
            <a:pPr marL="609600" indent="-609600" eaLnBrk="1" hangingPunct="1">
              <a:buFontTx/>
              <a:buAutoNum type="arabicPeriod"/>
            </a:pPr>
            <a:r>
              <a:rPr lang="en-US" sz="1800">
                <a:latin typeface="Calibri"/>
                <a:cs typeface="Calibri"/>
              </a:rPr>
              <a:t>Differences in the two group population distributions (obscurred by scale indeterminacy)</a:t>
            </a:r>
          </a:p>
          <a:p>
            <a:pPr marL="609600" indent="-609600" eaLnBrk="1" hangingPunct="1">
              <a:buFontTx/>
              <a:buAutoNum type="arabicPeriod"/>
            </a:pPr>
            <a:r>
              <a:rPr lang="en-US" sz="1800">
                <a:latin typeface="Calibri"/>
                <a:cs typeface="Calibri"/>
              </a:rPr>
              <a:t>DIF</a:t>
            </a:r>
          </a:p>
          <a:p>
            <a:pPr marL="609600" indent="-609600" eaLnBrk="1" hangingPunct="1"/>
            <a:endParaRPr lang="en-US" sz="1800">
              <a:latin typeface="Calibri"/>
              <a:cs typeface="Calibri"/>
            </a:endParaRPr>
          </a:p>
          <a:p>
            <a:pPr marL="609600" indent="-609600" eaLnBrk="1" hangingPunct="1"/>
            <a:r>
              <a:rPr lang="en-US" sz="1800">
                <a:latin typeface="Calibri"/>
                <a:cs typeface="Calibri"/>
              </a:rPr>
              <a:t>Before we can draw conclusions about 2, we need to account for 1. To do so the two scales need to be linked together.</a:t>
            </a:r>
          </a:p>
          <a:p>
            <a:pPr marL="609600" indent="-609600" eaLnBrk="1" hangingPunct="1"/>
            <a:endParaRPr lang="en-US" sz="1800">
              <a:latin typeface="Calibri"/>
              <a:cs typeface="Calibri"/>
            </a:endParaRPr>
          </a:p>
        </p:txBody>
      </p:sp>
      <p:sp>
        <p:nvSpPr>
          <p:cNvPr id="2" name="Slide Number Placeholder 1"/>
          <p:cNvSpPr>
            <a:spLocks noGrp="1"/>
          </p:cNvSpPr>
          <p:nvPr>
            <p:ph type="sldNum" sz="quarter" idx="12"/>
          </p:nvPr>
        </p:nvSpPr>
        <p:spPr/>
        <p:txBody>
          <a:bodyPr/>
          <a:lstStyle/>
          <a:p>
            <a:pPr>
              <a:defRPr/>
            </a:pPr>
            <a:fld id="{CD98E987-055C-A941-82AA-E638330DCBBF}" type="slidenum">
              <a:rPr lang="en-US"/>
              <a:pPr>
                <a:defRPr/>
              </a:pPr>
              <a:t>35</a:t>
            </a:fld>
            <a:endParaRPr lang="en-US"/>
          </a:p>
        </p:txBody>
      </p:sp>
    </p:spTree>
    <p:extLst>
      <p:ext uri="{BB962C8B-B14F-4D97-AF65-F5344CB8AC3E}">
        <p14:creationId xmlns:p14="http://schemas.microsoft.com/office/powerpoint/2010/main" val="276795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 calcmode="lin" valueType="num">
                                      <p:cBhvr additive="base">
                                        <p:cTn id="7" dur="500" fill="hold"/>
                                        <p:tgtEl>
                                          <p:spTgt spid="60420"/>
                                        </p:tgtEl>
                                        <p:attrNameLst>
                                          <p:attrName>ppt_x</p:attrName>
                                        </p:attrNameLst>
                                      </p:cBhvr>
                                      <p:tavLst>
                                        <p:tav tm="0">
                                          <p:val>
                                            <p:strVal val="#ppt_x"/>
                                          </p:val>
                                        </p:tav>
                                        <p:tav tm="100000">
                                          <p:val>
                                            <p:strVal val="#ppt_x"/>
                                          </p:val>
                                        </p:tav>
                                      </p:tavLst>
                                    </p:anim>
                                    <p:anim calcmode="lin" valueType="num">
                                      <p:cBhvr additive="base">
                                        <p:cTn id="8" dur="500" fill="hold"/>
                                        <p:tgtEl>
                                          <p:spTgt spid="604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747A696-4CC9-8D48-96C4-87EC9FFB659B}"/>
              </a:ext>
            </a:extLst>
          </p:cNvPr>
          <p:cNvSpPr>
            <a:spLocks noGrp="1"/>
          </p:cNvSpPr>
          <p:nvPr>
            <p:ph type="title"/>
          </p:nvPr>
        </p:nvSpPr>
        <p:spPr/>
        <p:txBody>
          <a:bodyPr/>
          <a:lstStyle/>
          <a:p>
            <a:r>
              <a:rPr lang="en-US" b="1"/>
              <a:t>How do we Identify DIF-free Items?</a:t>
            </a:r>
          </a:p>
        </p:txBody>
      </p:sp>
      <p:sp>
        <p:nvSpPr>
          <p:cNvPr id="9" name="Content Placeholder 8">
            <a:extLst>
              <a:ext uri="{FF2B5EF4-FFF2-40B4-BE49-F238E27FC236}">
                <a16:creationId xmlns:a16="http://schemas.microsoft.com/office/drawing/2014/main" id="{9A301C56-78ED-A04B-B19B-3BE17E5A374D}"/>
              </a:ext>
            </a:extLst>
          </p:cNvPr>
          <p:cNvSpPr>
            <a:spLocks noGrp="1"/>
          </p:cNvSpPr>
          <p:nvPr>
            <p:ph idx="1"/>
          </p:nvPr>
        </p:nvSpPr>
        <p:spPr/>
        <p:txBody>
          <a:bodyPr/>
          <a:lstStyle/>
          <a:p>
            <a:r>
              <a:rPr lang="en-US"/>
              <a:t>This is hard!</a:t>
            </a:r>
          </a:p>
          <a:p>
            <a:r>
              <a:rPr lang="en-US"/>
              <a:t>One approach might be to have those with content expertise and membership in focal group vouch for a subset of items.</a:t>
            </a:r>
          </a:p>
          <a:p>
            <a:r>
              <a:rPr lang="en-US"/>
              <a:t>A more objective approach (but not necessarily better) is to evaluate items for DIF iteratively. </a:t>
            </a:r>
          </a:p>
          <a:p>
            <a:pPr marL="971550" lvl="1" indent="-514350">
              <a:buFont typeface="+mj-lt"/>
              <a:buAutoNum type="arabicPeriod"/>
            </a:pPr>
            <a:r>
              <a:rPr lang="en-US"/>
              <a:t>Start by using theta associated with all items as matching criterion</a:t>
            </a:r>
          </a:p>
          <a:p>
            <a:pPr marL="971550" lvl="1" indent="-514350">
              <a:buFont typeface="+mj-lt"/>
              <a:buAutoNum type="arabicPeriod"/>
            </a:pPr>
            <a:r>
              <a:rPr lang="en-US"/>
              <a:t>Flag items that look like they have DIF</a:t>
            </a:r>
          </a:p>
          <a:p>
            <a:pPr marL="971550" lvl="1" indent="-514350">
              <a:buFont typeface="+mj-lt"/>
              <a:buAutoNum type="arabicPeriod"/>
            </a:pPr>
            <a:r>
              <a:rPr lang="en-US"/>
              <a:t>Now use a purified theta with suspected DIF items removed</a:t>
            </a:r>
          </a:p>
          <a:p>
            <a:pPr marL="971550" lvl="1" indent="-514350">
              <a:buFont typeface="+mj-lt"/>
              <a:buAutoNum type="arabicPeriod"/>
            </a:pPr>
            <a:r>
              <a:rPr lang="en-US"/>
              <a:t>Go back and examine items suspected of having DIF plus any new items that emerge.</a:t>
            </a:r>
          </a:p>
          <a:p>
            <a:pPr lvl="1"/>
            <a:endParaRPr lang="en-US"/>
          </a:p>
          <a:p>
            <a:pPr lvl="1"/>
            <a:endParaRPr lang="en-US"/>
          </a:p>
          <a:p>
            <a:endParaRPr lang="en-US"/>
          </a:p>
        </p:txBody>
      </p:sp>
      <p:sp>
        <p:nvSpPr>
          <p:cNvPr id="7" name="Slide Number Placeholder 6">
            <a:extLst>
              <a:ext uri="{FF2B5EF4-FFF2-40B4-BE49-F238E27FC236}">
                <a16:creationId xmlns:a16="http://schemas.microsoft.com/office/drawing/2014/main" id="{F2300C7D-05AA-094C-B7D5-03D8910D1E2C}"/>
              </a:ext>
            </a:extLst>
          </p:cNvPr>
          <p:cNvSpPr>
            <a:spLocks noGrp="1"/>
          </p:cNvSpPr>
          <p:nvPr>
            <p:ph type="sldNum" sz="quarter" idx="12"/>
          </p:nvPr>
        </p:nvSpPr>
        <p:spPr/>
        <p:txBody>
          <a:bodyPr/>
          <a:lstStyle/>
          <a:p>
            <a:pPr>
              <a:defRPr/>
            </a:pPr>
            <a:fld id="{B713CAD4-FAFE-4D44-87E7-909887E167EB}" type="slidenum">
              <a:rPr lang="en-US"/>
              <a:pPr>
                <a:defRPr/>
              </a:pPr>
              <a:t>36</a:t>
            </a:fld>
            <a:endParaRPr lang="en-US"/>
          </a:p>
        </p:txBody>
      </p:sp>
    </p:spTree>
    <p:extLst>
      <p:ext uri="{BB962C8B-B14F-4D97-AF65-F5344CB8AC3E}">
        <p14:creationId xmlns:p14="http://schemas.microsoft.com/office/powerpoint/2010/main" val="2970473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 calcmode="lin" valueType="num">
                                      <p:cBhvr additive="base">
                                        <p:cTn id="23"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 calcmode="lin" valueType="num">
                                      <p:cBhvr additive="base">
                                        <p:cTn id="2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 calcmode="lin" valueType="num">
                                      <p:cBhvr additive="base">
                                        <p:cTn id="3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xEl>
                                              <p:pRg st="6" end="6"/>
                                            </p:txEl>
                                          </p:spTgt>
                                        </p:tgtEl>
                                        <p:attrNameLst>
                                          <p:attrName>style.visibility</p:attrName>
                                        </p:attrNameLst>
                                      </p:cBhvr>
                                      <p:to>
                                        <p:strVal val="visible"/>
                                      </p:to>
                                    </p:set>
                                    <p:anim calcmode="lin" valueType="num">
                                      <p:cBhvr additive="base">
                                        <p:cTn id="35"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BE506A-69C5-EE45-B31B-A0AFE7194CFB}"/>
              </a:ext>
            </a:extLst>
          </p:cNvPr>
          <p:cNvSpPr>
            <a:spLocks noGrp="1"/>
          </p:cNvSpPr>
          <p:nvPr>
            <p:ph type="sldNum" sz="quarter" idx="12"/>
          </p:nvPr>
        </p:nvSpPr>
        <p:spPr/>
        <p:txBody>
          <a:bodyPr/>
          <a:lstStyle/>
          <a:p>
            <a:pPr>
              <a:defRPr/>
            </a:pPr>
            <a:fld id="{CD98E987-055C-A941-82AA-E638330DCBBF}" type="slidenum">
              <a:rPr lang="en-US"/>
              <a:pPr>
                <a:defRPr/>
              </a:pPr>
              <a:t>37</a:t>
            </a:fld>
            <a:endParaRPr lang="en-US"/>
          </a:p>
        </p:txBody>
      </p:sp>
      <p:sp>
        <p:nvSpPr>
          <p:cNvPr id="5" name="TextBox 4">
            <a:extLst>
              <a:ext uri="{FF2B5EF4-FFF2-40B4-BE49-F238E27FC236}">
                <a16:creationId xmlns:a16="http://schemas.microsoft.com/office/drawing/2014/main" id="{310FFA0F-DF33-DB47-8322-67BADED824FE}"/>
              </a:ext>
            </a:extLst>
          </p:cNvPr>
          <p:cNvSpPr txBox="1"/>
          <p:nvPr/>
        </p:nvSpPr>
        <p:spPr>
          <a:xfrm>
            <a:off x="2133600" y="2590800"/>
            <a:ext cx="7924800" cy="1323439"/>
          </a:xfrm>
          <a:prstGeom prst="rect">
            <a:avLst/>
          </a:prstGeom>
          <a:noFill/>
        </p:spPr>
        <p:txBody>
          <a:bodyPr wrap="square" rtlCol="0">
            <a:spAutoFit/>
          </a:bodyPr>
          <a:lstStyle/>
          <a:p>
            <a:r>
              <a:rPr lang="en-US" sz="4000" b="1">
                <a:latin typeface="Calibri" panose="020F0502020204030204" pitchFamily="34" charset="0"/>
                <a:cs typeface="Calibri" panose="020F0502020204030204" pitchFamily="34" charset="0"/>
              </a:rPr>
              <a:t>The Logistic Ordinal Regression DIF Algorithm (lordif)</a:t>
            </a:r>
          </a:p>
        </p:txBody>
      </p:sp>
    </p:spTree>
    <p:extLst>
      <p:ext uri="{BB962C8B-B14F-4D97-AF65-F5344CB8AC3E}">
        <p14:creationId xmlns:p14="http://schemas.microsoft.com/office/powerpoint/2010/main" val="2395997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Steps of lordif</a:t>
            </a:r>
          </a:p>
        </p:txBody>
      </p:sp>
      <p:sp>
        <p:nvSpPr>
          <p:cNvPr id="3" name="Content Placeholder 2"/>
          <p:cNvSpPr>
            <a:spLocks noGrp="1"/>
          </p:cNvSpPr>
          <p:nvPr>
            <p:ph idx="1"/>
          </p:nvPr>
        </p:nvSpPr>
        <p:spPr/>
        <p:txBody>
          <a:bodyPr/>
          <a:lstStyle/>
          <a:p>
            <a:pPr marL="514350" indent="-514350">
              <a:buFont typeface="+mj-lt"/>
              <a:buAutoNum type="arabicPeriod"/>
            </a:pPr>
            <a:r>
              <a:rPr lang="en-US" sz="2200"/>
              <a:t>Data preparation and screening</a:t>
            </a:r>
          </a:p>
          <a:p>
            <a:pPr marL="514350" indent="-514350">
              <a:buFont typeface="+mj-lt"/>
              <a:buAutoNum type="arabicPeriod"/>
            </a:pPr>
            <a:r>
              <a:rPr lang="en-US" sz="2200"/>
              <a:t>IRT calibration</a:t>
            </a:r>
          </a:p>
          <a:p>
            <a:pPr marL="514350" indent="-514350">
              <a:buFont typeface="+mj-lt"/>
              <a:buAutoNum type="arabicPeriod"/>
            </a:pPr>
            <a:r>
              <a:rPr lang="en-US" sz="2200"/>
              <a:t>Trait (theta) estimation</a:t>
            </a:r>
          </a:p>
          <a:p>
            <a:pPr marL="514350" indent="-514350">
              <a:buFont typeface="+mj-lt"/>
              <a:buAutoNum type="arabicPeriod"/>
            </a:pPr>
            <a:r>
              <a:rPr lang="en-US" sz="2200"/>
              <a:t>Logistic regression</a:t>
            </a:r>
          </a:p>
          <a:p>
            <a:pPr marL="514350" indent="-514350">
              <a:buFont typeface="+mj-lt"/>
              <a:buAutoNum type="arabicPeriod"/>
            </a:pPr>
            <a:r>
              <a:rPr lang="en-US" sz="2200"/>
              <a:t>Detecting DIF</a:t>
            </a:r>
          </a:p>
          <a:p>
            <a:pPr marL="514350" indent="-514350">
              <a:buFont typeface="+mj-lt"/>
              <a:buAutoNum type="arabicPeriod"/>
            </a:pPr>
            <a:r>
              <a:rPr lang="en-US" sz="2200"/>
              <a:t>Split any item with suspected DIF into two items w/ missing data</a:t>
            </a:r>
          </a:p>
          <a:p>
            <a:pPr marL="514350" indent="-514350">
              <a:buFont typeface="+mj-lt"/>
              <a:buAutoNum type="arabicPeriod"/>
            </a:pPr>
            <a:r>
              <a:rPr lang="en-US" sz="2200"/>
              <a:t>IRT recalibration</a:t>
            </a:r>
          </a:p>
          <a:p>
            <a:pPr marL="514350" indent="-514350">
              <a:buFont typeface="+mj-lt"/>
              <a:buAutoNum type="arabicPeriod"/>
            </a:pPr>
            <a:r>
              <a:rPr lang="en-US" sz="2200"/>
              <a:t>Scale transformation (equating)</a:t>
            </a:r>
          </a:p>
          <a:p>
            <a:pPr marL="514350" indent="-514350">
              <a:buFont typeface="+mj-lt"/>
              <a:buAutoNum type="arabicPeriod"/>
            </a:pPr>
            <a:r>
              <a:rPr lang="en-US" sz="2200"/>
              <a:t>Trait (theta) reestimation using group-specific item parameters</a:t>
            </a:r>
          </a:p>
          <a:p>
            <a:pPr marL="514350" indent="-514350">
              <a:buFont typeface="+mj-lt"/>
              <a:buAutoNum type="arabicPeriod"/>
            </a:pPr>
            <a:r>
              <a:rPr lang="en-US" sz="2200"/>
              <a:t>Iterative Cycle</a:t>
            </a:r>
          </a:p>
          <a:p>
            <a:pPr marL="514350" indent="-514350">
              <a:buFont typeface="+mj-lt"/>
              <a:buAutoNum type="arabicPeriod"/>
            </a:pPr>
            <a:r>
              <a:rPr lang="en-US" sz="2200"/>
              <a:t>Monte Carlo simulation to evaluate statistical significance</a:t>
            </a:r>
          </a:p>
          <a:p>
            <a:endParaRPr lang="en-US"/>
          </a:p>
        </p:txBody>
      </p:sp>
      <p:cxnSp>
        <p:nvCxnSpPr>
          <p:cNvPr id="6" name="Straight Connector 5"/>
          <p:cNvCxnSpPr/>
          <p:nvPr/>
        </p:nvCxnSpPr>
        <p:spPr>
          <a:xfrm>
            <a:off x="4419600" y="5410200"/>
            <a:ext cx="57912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V="1">
            <a:off x="10210800" y="3048000"/>
            <a:ext cx="0" cy="236220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a:off x="4800600" y="3048000"/>
            <a:ext cx="541020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81200" y="6126163"/>
            <a:ext cx="80772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atin typeface="Calibri" charset="0"/>
                <a:ea typeface="Calibri" charset="0"/>
                <a:cs typeface="Calibri" charset="0"/>
              </a:rPr>
              <a:t>Source: Choi, Gibbons &amp; Crane (2011) in </a:t>
            </a:r>
            <a:r>
              <a:rPr lang="en-US" i="1">
                <a:latin typeface="Calibri" charset="0"/>
                <a:ea typeface="Calibri" charset="0"/>
                <a:cs typeface="Calibri" charset="0"/>
              </a:rPr>
              <a:t>Journal of Statistical Software</a:t>
            </a:r>
          </a:p>
        </p:txBody>
      </p:sp>
      <p:sp>
        <p:nvSpPr>
          <p:cNvPr id="14" name="Slide Number Placeholder 13"/>
          <p:cNvSpPr>
            <a:spLocks noGrp="1"/>
          </p:cNvSpPr>
          <p:nvPr>
            <p:ph type="sldNum" sz="quarter" idx="12"/>
          </p:nvPr>
        </p:nvSpPr>
        <p:spPr/>
        <p:txBody>
          <a:bodyPr/>
          <a:lstStyle/>
          <a:p>
            <a:pPr>
              <a:defRPr/>
            </a:pPr>
            <a:fld id="{CD98E987-055C-A941-82AA-E638330DCBBF}" type="slidenum">
              <a:rPr lang="en-US"/>
              <a:pPr>
                <a:defRPr/>
              </a:pPr>
              <a:t>38</a:t>
            </a:fld>
            <a:endParaRPr lang="en-US"/>
          </a:p>
        </p:txBody>
      </p:sp>
    </p:spTree>
    <p:extLst>
      <p:ext uri="{BB962C8B-B14F-4D97-AF65-F5344CB8AC3E}">
        <p14:creationId xmlns:p14="http://schemas.microsoft.com/office/powerpoint/2010/main" val="252825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Calibri" charset="0"/>
                <a:ea typeface="Calibri" charset="0"/>
                <a:cs typeface="Calibri" charset="0"/>
              </a:rPr>
              <a:t>1. Data Prep</a:t>
            </a:r>
          </a:p>
        </p:txBody>
      </p:sp>
      <p:sp>
        <p:nvSpPr>
          <p:cNvPr id="3" name="Content Placeholder 2"/>
          <p:cNvSpPr>
            <a:spLocks noGrp="1"/>
          </p:cNvSpPr>
          <p:nvPr>
            <p:ph idx="1"/>
          </p:nvPr>
        </p:nvSpPr>
        <p:spPr/>
        <p:txBody>
          <a:bodyPr/>
          <a:lstStyle/>
          <a:p>
            <a:r>
              <a:rPr lang="en-US"/>
              <a:t>Need a data file with rows = cases and columns that distinguish items and a salient grouping variable for respondents.</a:t>
            </a:r>
          </a:p>
          <a:p>
            <a:r>
              <a:rPr lang="en-US"/>
              <a:t>Check for sparse cells when grouping variable is crossed with items (i.e., &lt; 5)</a:t>
            </a:r>
          </a:p>
        </p:txBody>
      </p:sp>
      <p:graphicFrame>
        <p:nvGraphicFramePr>
          <p:cNvPr id="4" name="Table 3"/>
          <p:cNvGraphicFramePr>
            <a:graphicFrameLocks noGrp="1"/>
          </p:cNvGraphicFramePr>
          <p:nvPr>
            <p:extLst>
              <p:ext uri="{D42A27DB-BD31-4B8C-83A1-F6EECF244321}">
                <p14:modId xmlns:p14="http://schemas.microsoft.com/office/powerpoint/2010/main" val="64442421"/>
              </p:ext>
            </p:extLst>
          </p:nvPr>
        </p:nvGraphicFramePr>
        <p:xfrm>
          <a:off x="2895600" y="4267200"/>
          <a:ext cx="6096000" cy="111252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endParaRPr lang="en-US">
                        <a:ln>
                          <a:noFill/>
                        </a:ln>
                        <a:latin typeface="Calibri"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n>
                            <a:noFill/>
                          </a:ln>
                          <a:latin typeface="Calibri" charset="0"/>
                          <a:ea typeface="Calibri" charset="0"/>
                          <a:cs typeface="Calibri" charset="0"/>
                        </a:rPr>
                        <a:t>Person Cat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n>
                            <a:noFill/>
                          </a:ln>
                          <a:latin typeface="Calibri" charset="0"/>
                          <a:ea typeface="Calibri" charset="0"/>
                          <a:cs typeface="Calibri" charset="0"/>
                        </a:rPr>
                        <a:t>Person</a:t>
                      </a:r>
                      <a:r>
                        <a:rPr lang="en-US" baseline="0">
                          <a:ln>
                            <a:noFill/>
                          </a:ln>
                          <a:latin typeface="Calibri" charset="0"/>
                          <a:ea typeface="Calibri" charset="0"/>
                          <a:cs typeface="Calibri" charset="0"/>
                        </a:rPr>
                        <a:t> Cat 2</a:t>
                      </a:r>
                      <a:endParaRPr lang="en-US">
                        <a:ln>
                          <a:noFill/>
                        </a:ln>
                        <a:latin typeface="Calibri"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n>
                            <a:noFill/>
                          </a:ln>
                          <a:latin typeface="Calibri" charset="0"/>
                          <a:ea typeface="Calibri" charset="0"/>
                          <a:cs typeface="Calibri" charset="0"/>
                        </a:rPr>
                        <a:t>Item 1 Category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latin typeface="Calibri" charset="0"/>
                          <a:ea typeface="Calibri" charset="0"/>
                          <a:cs typeface="Calibri" charset="0"/>
                        </a:rPr>
                        <a:t>N</a:t>
                      </a:r>
                      <a:r>
                        <a:rPr lang="en-US" baseline="-25000">
                          <a:ln>
                            <a:noFill/>
                          </a:ln>
                          <a:latin typeface="Calibri" charset="0"/>
                          <a:ea typeface="Calibri" charset="0"/>
                          <a:cs typeface="Calibri"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latin typeface="Calibri" charset="0"/>
                          <a:ea typeface="Calibri" charset="0"/>
                          <a:cs typeface="Calibri" charset="0"/>
                        </a:rPr>
                        <a:t>N</a:t>
                      </a:r>
                      <a:r>
                        <a:rPr lang="en-US" baseline="-25000">
                          <a:ln>
                            <a:noFill/>
                          </a:ln>
                          <a:latin typeface="Calibri" charset="0"/>
                          <a:ea typeface="Calibri" charset="0"/>
                          <a:cs typeface="Calibri"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a:ln>
                            <a:noFill/>
                          </a:ln>
                          <a:latin typeface="Calibri" charset="0"/>
                          <a:ea typeface="Calibri" charset="0"/>
                          <a:cs typeface="Calibri" charset="0"/>
                        </a:rPr>
                        <a:t>Item 1 Category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latin typeface="Calibri" charset="0"/>
                          <a:ea typeface="Calibri" charset="0"/>
                          <a:cs typeface="Calibri" charset="0"/>
                        </a:rPr>
                        <a:t>N</a:t>
                      </a:r>
                      <a:r>
                        <a:rPr lang="en-US" baseline="-25000">
                          <a:ln>
                            <a:noFill/>
                          </a:ln>
                          <a:latin typeface="Calibri" charset="0"/>
                          <a:ea typeface="Calibri" charset="0"/>
                          <a:cs typeface="Calibri"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n>
                            <a:noFill/>
                          </a:ln>
                          <a:latin typeface="Calibri" charset="0"/>
                          <a:ea typeface="Calibri" charset="0"/>
                          <a:cs typeface="Calibri" charset="0"/>
                        </a:rPr>
                        <a:t>N</a:t>
                      </a:r>
                      <a:r>
                        <a:rPr lang="en-US" baseline="-25000">
                          <a:ln>
                            <a:noFill/>
                          </a:ln>
                          <a:latin typeface="Calibri" charset="0"/>
                          <a:ea typeface="Calibri" charset="0"/>
                          <a:cs typeface="Calibri"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5" name="TextBox 4"/>
          <p:cNvSpPr txBox="1"/>
          <p:nvPr/>
        </p:nvSpPr>
        <p:spPr>
          <a:xfrm>
            <a:off x="2209800" y="5791200"/>
            <a:ext cx="769620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atin typeface="Calibri" charset="0"/>
                <a:ea typeface="Calibri" charset="0"/>
                <a:cs typeface="Calibri" charset="0"/>
              </a:rPr>
              <a:t>In this example there are just two item categories and two groups of respondents—can be easily extended to multiple categories, but makes sparse cells more likely.</a:t>
            </a:r>
          </a:p>
        </p:txBody>
      </p:sp>
      <p:sp>
        <p:nvSpPr>
          <p:cNvPr id="6" name="Slide Number Placeholder 5"/>
          <p:cNvSpPr>
            <a:spLocks noGrp="1"/>
          </p:cNvSpPr>
          <p:nvPr>
            <p:ph type="sldNum" sz="quarter" idx="12"/>
          </p:nvPr>
        </p:nvSpPr>
        <p:spPr/>
        <p:txBody>
          <a:bodyPr/>
          <a:lstStyle/>
          <a:p>
            <a:pPr>
              <a:defRPr/>
            </a:pPr>
            <a:fld id="{CD98E987-055C-A941-82AA-E638330DCBBF}" type="slidenum">
              <a:rPr lang="en-US"/>
              <a:pPr>
                <a:defRPr/>
              </a:pPr>
              <a:t>39</a:t>
            </a:fld>
            <a:endParaRPr lang="en-US"/>
          </a:p>
        </p:txBody>
      </p:sp>
    </p:spTree>
    <p:extLst>
      <p:ext uri="{BB962C8B-B14F-4D97-AF65-F5344CB8AC3E}">
        <p14:creationId xmlns:p14="http://schemas.microsoft.com/office/powerpoint/2010/main" val="8057771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2. IRT Calibration</a:t>
            </a:r>
          </a:p>
        </p:txBody>
      </p:sp>
      <p:sp>
        <p:nvSpPr>
          <p:cNvPr id="3" name="Content Placeholder 2"/>
          <p:cNvSpPr>
            <a:spLocks noGrp="1"/>
          </p:cNvSpPr>
          <p:nvPr>
            <p:ph idx="1"/>
          </p:nvPr>
        </p:nvSpPr>
        <p:spPr/>
        <p:txBody>
          <a:bodyPr/>
          <a:lstStyle/>
          <a:p>
            <a:r>
              <a:rPr lang="en-US"/>
              <a:t>Use </a:t>
            </a:r>
            <a:r>
              <a:rPr lang="en-US">
                <a:latin typeface="Courier New" charset="0"/>
                <a:ea typeface="Courier New" charset="0"/>
                <a:cs typeface="Courier New" charset="0"/>
              </a:rPr>
              <a:t>mirt</a:t>
            </a:r>
            <a:r>
              <a:rPr lang="en-US"/>
              <a:t> to fit the Graded Response Model to the data, ignoring group distinctions among respondents.</a:t>
            </a:r>
          </a:p>
          <a:p>
            <a:r>
              <a:rPr lang="en-US"/>
              <a:t>i.e., </a:t>
            </a:r>
            <a:r>
              <a:rPr lang="en-US" sz="2400">
                <a:latin typeface="Courier New" charset="0"/>
                <a:ea typeface="Courier New" charset="0"/>
                <a:cs typeface="Courier New" charset="0"/>
              </a:rPr>
              <a:t>out&lt;-grm(data,1, itemtype="graded")</a:t>
            </a:r>
            <a:endParaRPr lang="en-US" sz="2000">
              <a:latin typeface="Courier New" charset="0"/>
              <a:ea typeface="Courier New" charset="0"/>
              <a:cs typeface="Courier New"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4245308517"/>
              </p:ext>
            </p:extLst>
          </p:nvPr>
        </p:nvGraphicFramePr>
        <p:xfrm>
          <a:off x="2535290" y="3200400"/>
          <a:ext cx="6237287" cy="1568450"/>
        </p:xfrm>
        <a:graphic>
          <a:graphicData uri="http://schemas.openxmlformats.org/presentationml/2006/ole">
            <mc:AlternateContent xmlns:mc="http://schemas.openxmlformats.org/markup-compatibility/2006">
              <mc:Choice xmlns:v="urn:schemas-microsoft-com:vml" Requires="v">
                <p:oleObj name="Equation" r:id="rId2" imgW="2527300" imgH="635000" progId="Equation.DSMT4">
                  <p:embed/>
                </p:oleObj>
              </mc:Choice>
              <mc:Fallback>
                <p:oleObj name="Equation" r:id="rId2" imgW="2527300" imgH="6350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5290" y="3200400"/>
                        <a:ext cx="6237287" cy="15684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5" name="TextBox 4"/>
          <p:cNvSpPr txBox="1"/>
          <p:nvPr/>
        </p:nvSpPr>
        <p:spPr>
          <a:xfrm>
            <a:off x="1981200" y="5144026"/>
            <a:ext cx="78486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atin typeface="Calibri" charset="0"/>
                <a:ea typeface="Calibri" charset="0"/>
                <a:cs typeface="Calibri" charset="0"/>
              </a:rPr>
              <a:t>Note: GRM can be constrained to get something akin to Partial Credit Model, or equivalent to 2PL or 1PL. In eqn above j = item response category, i indexes item, and s indexes respondent. The “m” represents max score category, which need not be the same for every item, hence the the ”i” index.</a:t>
            </a:r>
          </a:p>
        </p:txBody>
      </p:sp>
      <p:sp>
        <p:nvSpPr>
          <p:cNvPr id="6" name="Slide Number Placeholder 5"/>
          <p:cNvSpPr>
            <a:spLocks noGrp="1"/>
          </p:cNvSpPr>
          <p:nvPr>
            <p:ph type="sldNum" sz="quarter" idx="12"/>
          </p:nvPr>
        </p:nvSpPr>
        <p:spPr/>
        <p:txBody>
          <a:bodyPr/>
          <a:lstStyle/>
          <a:p>
            <a:pPr>
              <a:defRPr/>
            </a:pPr>
            <a:fld id="{CD98E987-055C-A941-82AA-E638330DCBBF}" type="slidenum">
              <a:rPr lang="en-US"/>
              <a:pPr>
                <a:defRPr/>
              </a:pPr>
              <a:t>40</a:t>
            </a:fld>
            <a:endParaRPr lang="en-US"/>
          </a:p>
        </p:txBody>
      </p:sp>
    </p:spTree>
    <p:extLst>
      <p:ext uri="{BB962C8B-B14F-4D97-AF65-F5344CB8AC3E}">
        <p14:creationId xmlns:p14="http://schemas.microsoft.com/office/powerpoint/2010/main" val="997626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3. Trait (Theta) Estimation</a:t>
            </a:r>
          </a:p>
        </p:txBody>
      </p:sp>
      <p:sp>
        <p:nvSpPr>
          <p:cNvPr id="3" name="Content Placeholder 2"/>
          <p:cNvSpPr>
            <a:spLocks noGrp="1"/>
          </p:cNvSpPr>
          <p:nvPr>
            <p:ph idx="1"/>
          </p:nvPr>
        </p:nvSpPr>
        <p:spPr/>
        <p:txBody>
          <a:bodyPr/>
          <a:lstStyle/>
          <a:p>
            <a:r>
              <a:rPr lang="en-US"/>
              <a:t>Obtain trait/ability/theta estimates using EAP approach.</a:t>
            </a:r>
          </a:p>
          <a:p>
            <a:r>
              <a:rPr lang="en-US"/>
              <a:t>Missing responses are treated as though item was not presented to person.</a:t>
            </a:r>
          </a:p>
          <a:p>
            <a:r>
              <a:rPr lang="en-US"/>
              <a:t>So in mirt, this could be done as follows:</a:t>
            </a:r>
          </a:p>
          <a:p>
            <a:pPr marL="0" indent="0">
              <a:buNone/>
            </a:pPr>
            <a:r>
              <a:rPr lang="en-US" sz="2400">
                <a:latin typeface="Courier New" charset="0"/>
                <a:ea typeface="Courier New" charset="0"/>
                <a:cs typeface="Courier New" charset="0"/>
              </a:rPr>
              <a:t>eap&lt;-fscores(out, method = "EAP", full.scores.SE = TRUE)</a:t>
            </a:r>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41</a:t>
            </a:fld>
            <a:endParaRPr lang="en-US"/>
          </a:p>
        </p:txBody>
      </p:sp>
    </p:spTree>
    <p:extLst>
      <p:ext uri="{BB962C8B-B14F-4D97-AF65-F5344CB8AC3E}">
        <p14:creationId xmlns:p14="http://schemas.microsoft.com/office/powerpoint/2010/main" val="1821726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4. Logistic regression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0" y="1905000"/>
            <a:ext cx="7924800" cy="1054100"/>
          </a:xfrm>
        </p:spPr>
      </p:pic>
      <p:sp>
        <p:nvSpPr>
          <p:cNvPr id="5" name="TextBox 4"/>
          <p:cNvSpPr txBox="1"/>
          <p:nvPr/>
        </p:nvSpPr>
        <p:spPr>
          <a:xfrm>
            <a:off x="2133600" y="3505201"/>
            <a:ext cx="7620000"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atin typeface="Calibri" charset="0"/>
                <a:ea typeface="Calibri" charset="0"/>
                <a:cs typeface="Calibri" charset="0"/>
              </a:rPr>
              <a:t>We can compare model 2 to model 1 to see if there is evidence of uniform DIF—focus on size and significance of β</a:t>
            </a:r>
            <a:r>
              <a:rPr lang="en-US" baseline="-25000">
                <a:latin typeface="Calibri" charset="0"/>
                <a:ea typeface="Calibri" charset="0"/>
                <a:cs typeface="Calibri" charset="0"/>
              </a:rPr>
              <a:t>1</a:t>
            </a:r>
          </a:p>
          <a:p>
            <a:endParaRPr lang="en-US" baseline="-25000">
              <a:latin typeface="Calibri" charset="0"/>
              <a:ea typeface="Calibri" charset="0"/>
              <a:cs typeface="Calibri" charset="0"/>
            </a:endParaRPr>
          </a:p>
          <a:p>
            <a:r>
              <a:rPr lang="en-US">
                <a:latin typeface="Calibri" charset="0"/>
                <a:ea typeface="Calibri" charset="0"/>
                <a:cs typeface="Calibri" charset="0"/>
              </a:rPr>
              <a:t>We can compare model 3 to model 2 to see if there is evidence of non-uniform DIF—focus on size and significance of β</a:t>
            </a:r>
            <a:r>
              <a:rPr lang="en-US" baseline="-25000">
                <a:latin typeface="Calibri" charset="0"/>
                <a:ea typeface="Calibri" charset="0"/>
                <a:cs typeface="Calibri" charset="0"/>
              </a:rPr>
              <a:t>2</a:t>
            </a:r>
          </a:p>
          <a:p>
            <a:endParaRPr lang="en-US" baseline="-25000">
              <a:latin typeface="Calibri" charset="0"/>
              <a:ea typeface="Calibri" charset="0"/>
              <a:cs typeface="Calibri" charset="0"/>
            </a:endParaRPr>
          </a:p>
          <a:p>
            <a:r>
              <a:rPr lang="en-US">
                <a:latin typeface="Calibri" charset="0"/>
                <a:ea typeface="Calibri" charset="0"/>
                <a:cs typeface="Calibri" charset="0"/>
              </a:rPr>
              <a:t>We estimate three logistic regression models for each unique item!</a:t>
            </a:r>
          </a:p>
          <a:p>
            <a:r>
              <a:rPr lang="en-US">
                <a:latin typeface="Calibri" charset="0"/>
                <a:ea typeface="Calibri" charset="0"/>
                <a:cs typeface="Calibri" charset="0"/>
              </a:rPr>
              <a:t>Ability = theta estimated in previous step, group = dummy variable</a:t>
            </a:r>
          </a:p>
          <a:p>
            <a:endParaRPr lang="en-US">
              <a:latin typeface="Calibri" charset="0"/>
              <a:ea typeface="Calibri" charset="0"/>
              <a:cs typeface="Calibri" charset="0"/>
            </a:endParaRPr>
          </a:p>
          <a:p>
            <a:r>
              <a:rPr lang="en-US">
                <a:latin typeface="Calibri" charset="0"/>
                <a:ea typeface="Calibri" charset="0"/>
                <a:cs typeface="Calibri" charset="0"/>
              </a:rPr>
              <a:t>Each model run generates a LR Chi-Square statistic and a pseudo R</a:t>
            </a:r>
            <a:r>
              <a:rPr lang="en-US" baseline="30000">
                <a:latin typeface="Calibri" charset="0"/>
                <a:ea typeface="Calibri" charset="0"/>
                <a:cs typeface="Calibri" charset="0"/>
              </a:rPr>
              <a:t>2</a:t>
            </a:r>
            <a:r>
              <a:rPr lang="en-US">
                <a:latin typeface="Calibri" charset="0"/>
                <a:ea typeface="Calibri" charset="0"/>
                <a:cs typeface="Calibri" charset="0"/>
              </a:rPr>
              <a:t> statistic</a:t>
            </a:r>
          </a:p>
          <a:p>
            <a:endParaRPr lang="en-US" baseline="-25000">
              <a:latin typeface="Calibri" charset="0"/>
              <a:ea typeface="Calibri" charset="0"/>
              <a:cs typeface="Calibri" charset="0"/>
            </a:endParaRPr>
          </a:p>
        </p:txBody>
      </p:sp>
      <p:sp>
        <p:nvSpPr>
          <p:cNvPr id="6" name="Slide Number Placeholder 5"/>
          <p:cNvSpPr>
            <a:spLocks noGrp="1"/>
          </p:cNvSpPr>
          <p:nvPr>
            <p:ph type="sldNum" sz="quarter" idx="12"/>
          </p:nvPr>
        </p:nvSpPr>
        <p:spPr/>
        <p:txBody>
          <a:bodyPr/>
          <a:lstStyle/>
          <a:p>
            <a:pPr>
              <a:defRPr/>
            </a:pPr>
            <a:fld id="{CD98E987-055C-A941-82AA-E638330DCBBF}" type="slidenum">
              <a:rPr lang="en-US"/>
              <a:pPr>
                <a:defRPr/>
              </a:pPr>
              <a:t>42</a:t>
            </a:fld>
            <a:endParaRPr lang="en-US"/>
          </a:p>
        </p:txBody>
      </p:sp>
    </p:spTree>
    <p:extLst>
      <p:ext uri="{BB962C8B-B14F-4D97-AF65-F5344CB8AC3E}">
        <p14:creationId xmlns:p14="http://schemas.microsoft.com/office/powerpoint/2010/main" val="4492981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5. DIF Detection</a:t>
            </a:r>
          </a:p>
        </p:txBody>
      </p:sp>
      <p:sp>
        <p:nvSpPr>
          <p:cNvPr id="3" name="Content Placeholder 2"/>
          <p:cNvSpPr>
            <a:spLocks noGrp="1"/>
          </p:cNvSpPr>
          <p:nvPr>
            <p:ph idx="1"/>
          </p:nvPr>
        </p:nvSpPr>
        <p:spPr/>
        <p:txBody>
          <a:bodyPr/>
          <a:lstStyle/>
          <a:p>
            <a:r>
              <a:rPr lang="en-US"/>
              <a:t>Flag any item on basis of some decision criterion when comparing model 2 to 1 or model 3 to 2.</a:t>
            </a:r>
          </a:p>
          <a:p>
            <a:r>
              <a:rPr lang="en-US"/>
              <a:t>Typically done on basis of Chi-Square statistic with sig level (alpha) of .01.</a:t>
            </a:r>
          </a:p>
          <a:p>
            <a:r>
              <a:rPr lang="en-US"/>
              <a:t>But could also be done using pseudo R</a:t>
            </a:r>
            <a:r>
              <a:rPr lang="en-US" baseline="30000"/>
              <a:t>2</a:t>
            </a:r>
            <a:r>
              <a:rPr lang="en-US"/>
              <a:t> or change in β</a:t>
            </a:r>
            <a:r>
              <a:rPr lang="en-US" baseline="-25000"/>
              <a:t>1</a:t>
            </a:r>
            <a:r>
              <a:rPr lang="en-US"/>
              <a:t> as criterion.  </a:t>
            </a:r>
          </a:p>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04" y="4525965"/>
            <a:ext cx="11972396" cy="1600199"/>
          </a:xfrm>
          <a:prstGeom prst="rect">
            <a:avLst/>
          </a:prstGeom>
        </p:spPr>
      </p:pic>
      <p:sp>
        <p:nvSpPr>
          <p:cNvPr id="5" name="Slide Number Placeholder 4"/>
          <p:cNvSpPr>
            <a:spLocks noGrp="1"/>
          </p:cNvSpPr>
          <p:nvPr>
            <p:ph type="sldNum" sz="quarter" idx="12"/>
          </p:nvPr>
        </p:nvSpPr>
        <p:spPr/>
        <p:txBody>
          <a:bodyPr/>
          <a:lstStyle/>
          <a:p>
            <a:pPr>
              <a:defRPr/>
            </a:pPr>
            <a:fld id="{CD98E987-055C-A941-82AA-E638330DCBBF}" type="slidenum">
              <a:rPr lang="en-US"/>
              <a:pPr>
                <a:defRPr/>
              </a:pPr>
              <a:t>43</a:t>
            </a:fld>
            <a:endParaRPr lang="en-US"/>
          </a:p>
        </p:txBody>
      </p:sp>
    </p:spTree>
    <p:extLst>
      <p:ext uri="{BB962C8B-B14F-4D97-AF65-F5344CB8AC3E}">
        <p14:creationId xmlns:p14="http://schemas.microsoft.com/office/powerpoint/2010/main" val="19036884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t>6. Split item with suspected DIF into two items w/ missing data</a:t>
            </a:r>
            <a:br>
              <a:rPr lang="en-US" sz="3200" b="1"/>
            </a:br>
            <a:r>
              <a:rPr lang="en-US"/>
              <a:t>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12453215"/>
              </p:ext>
            </p:extLst>
          </p:nvPr>
        </p:nvGraphicFramePr>
        <p:xfrm>
          <a:off x="1955800" y="1417638"/>
          <a:ext cx="8229600" cy="4820920"/>
        </p:xfrm>
        <a:graphic>
          <a:graphicData uri="http://schemas.openxmlformats.org/drawingml/2006/table">
            <a:tbl>
              <a:tblPr firstRow="1" bandRow="1">
                <a:tableStyleId>{5940675A-B579-460E-94D1-54222C63F5DA}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370840">
                <a:tc>
                  <a:txBody>
                    <a:bodyPr/>
                    <a:lstStyle/>
                    <a:p>
                      <a:pPr algn="ctr"/>
                      <a:r>
                        <a:rPr lang="en-US" b="1">
                          <a:latin typeface="Calibri" charset="0"/>
                          <a:ea typeface="Calibri" charset="0"/>
                          <a:cs typeface="Calibri" charset="0"/>
                        </a:rPr>
                        <a:t>Person</a:t>
                      </a:r>
                    </a:p>
                  </a:txBody>
                  <a:tcPr/>
                </a:tc>
                <a:tc>
                  <a:txBody>
                    <a:bodyPr/>
                    <a:lstStyle/>
                    <a:p>
                      <a:pPr algn="ctr"/>
                      <a:r>
                        <a:rPr lang="en-US" b="1">
                          <a:latin typeface="Calibri" charset="0"/>
                          <a:ea typeface="Calibri" charset="0"/>
                          <a:cs typeface="Calibri" charset="0"/>
                        </a:rPr>
                        <a:t>Group</a:t>
                      </a:r>
                    </a:p>
                  </a:txBody>
                  <a:tcPr/>
                </a:tc>
                <a:tc>
                  <a:txBody>
                    <a:bodyPr/>
                    <a:lstStyle/>
                    <a:p>
                      <a:pPr algn="ctr"/>
                      <a:r>
                        <a:rPr lang="en-US" b="1">
                          <a:latin typeface="Calibri" charset="0"/>
                          <a:ea typeface="Calibri" charset="0"/>
                          <a:cs typeface="Calibri" charset="0"/>
                        </a:rPr>
                        <a:t>Item Response</a:t>
                      </a:r>
                    </a:p>
                  </a:txBody>
                  <a:tcPr/>
                </a:tc>
                <a:tc>
                  <a:txBody>
                    <a:bodyPr/>
                    <a:lstStyle/>
                    <a:p>
                      <a:r>
                        <a:rPr lang="en-US" b="1">
                          <a:latin typeface="Calibri" charset="0"/>
                          <a:ea typeface="Calibri" charset="0"/>
                          <a:cs typeface="Calibri" charset="0"/>
                        </a:rPr>
                        <a:t>New Item: Grp 1</a:t>
                      </a:r>
                    </a:p>
                  </a:txBody>
                  <a:tcPr/>
                </a:tc>
                <a:tc>
                  <a:txBody>
                    <a:bodyPr/>
                    <a:lstStyle/>
                    <a:p>
                      <a:r>
                        <a:rPr lang="en-US" b="1">
                          <a:latin typeface="Calibri" charset="0"/>
                          <a:ea typeface="Calibri" charset="0"/>
                          <a:cs typeface="Calibri" charset="0"/>
                        </a:rPr>
                        <a:t>New Item: Grp</a:t>
                      </a:r>
                      <a:r>
                        <a:rPr lang="en-US" b="1" baseline="0">
                          <a:latin typeface="Calibri" charset="0"/>
                          <a:ea typeface="Calibri" charset="0"/>
                          <a:cs typeface="Calibri" charset="0"/>
                        </a:rPr>
                        <a:t> 2</a:t>
                      </a:r>
                      <a:endParaRPr lang="en-US" b="1">
                        <a:latin typeface="Calibri" charset="0"/>
                        <a:ea typeface="Calibri" charset="0"/>
                        <a:cs typeface="Calibri" charset="0"/>
                      </a:endParaRPr>
                    </a:p>
                  </a:txBody>
                  <a:tcPr/>
                </a:tc>
                <a:extLst>
                  <a:ext uri="{0D108BD9-81ED-4DB2-BD59-A6C34878D82A}">
                    <a16:rowId xmlns:a16="http://schemas.microsoft.com/office/drawing/2014/main" val="10000"/>
                  </a:ext>
                </a:extLst>
              </a:tr>
              <a:tr h="370840">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1</a:t>
                      </a:r>
                    </a:p>
                  </a:txBody>
                  <a:tcPr/>
                </a:tc>
                <a:tc>
                  <a:txBody>
                    <a:bodyPr/>
                    <a:lstStyle/>
                    <a:p>
                      <a:endParaRPr lang="en-US">
                        <a:latin typeface="Calibri" charset="0"/>
                        <a:ea typeface="Calibri" charset="0"/>
                        <a:cs typeface="Calibri" charset="0"/>
                      </a:endParaRPr>
                    </a:p>
                  </a:txBody>
                  <a:tcPr/>
                </a:tc>
                <a:extLst>
                  <a:ext uri="{0D108BD9-81ED-4DB2-BD59-A6C34878D82A}">
                    <a16:rowId xmlns:a16="http://schemas.microsoft.com/office/drawing/2014/main" val="10001"/>
                  </a:ext>
                </a:extLst>
              </a:tr>
              <a:tr h="370840">
                <a:tc>
                  <a:txBody>
                    <a:bodyPr/>
                    <a:lstStyle/>
                    <a:p>
                      <a:pPr algn="ctr"/>
                      <a:r>
                        <a:rPr lang="en-US">
                          <a:latin typeface="Calibri" charset="0"/>
                          <a:ea typeface="Calibri" charset="0"/>
                          <a:cs typeface="Calibri" charset="0"/>
                        </a:rPr>
                        <a:t>2</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0</a:t>
                      </a:r>
                    </a:p>
                  </a:txBody>
                  <a:tcPr/>
                </a:tc>
                <a:tc>
                  <a:txBody>
                    <a:bodyPr/>
                    <a:lstStyle/>
                    <a:p>
                      <a:pPr algn="ctr"/>
                      <a:r>
                        <a:rPr lang="en-US">
                          <a:latin typeface="Calibri" charset="0"/>
                          <a:ea typeface="Calibri" charset="0"/>
                          <a:cs typeface="Calibri" charset="0"/>
                        </a:rPr>
                        <a:t>0</a:t>
                      </a:r>
                    </a:p>
                  </a:txBody>
                  <a:tcPr/>
                </a:tc>
                <a:tc>
                  <a:txBody>
                    <a:bodyPr/>
                    <a:lstStyle/>
                    <a:p>
                      <a:endParaRPr lang="en-US">
                        <a:latin typeface="Calibri" charset="0"/>
                        <a:ea typeface="Calibri" charset="0"/>
                        <a:cs typeface="Calibri" charset="0"/>
                      </a:endParaRPr>
                    </a:p>
                  </a:txBody>
                  <a:tcPr/>
                </a:tc>
                <a:extLst>
                  <a:ext uri="{0D108BD9-81ED-4DB2-BD59-A6C34878D82A}">
                    <a16:rowId xmlns:a16="http://schemas.microsoft.com/office/drawing/2014/main" val="10002"/>
                  </a:ext>
                </a:extLst>
              </a:tr>
              <a:tr h="370840">
                <a:tc>
                  <a:txBody>
                    <a:bodyPr/>
                    <a:lstStyle/>
                    <a:p>
                      <a:pPr algn="ctr"/>
                      <a:r>
                        <a:rPr lang="en-US">
                          <a:latin typeface="Calibri" charset="0"/>
                          <a:ea typeface="Calibri" charset="0"/>
                          <a:cs typeface="Calibri" charset="0"/>
                        </a:rPr>
                        <a:t>3</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0</a:t>
                      </a:r>
                    </a:p>
                  </a:txBody>
                  <a:tcPr/>
                </a:tc>
                <a:tc>
                  <a:txBody>
                    <a:bodyPr/>
                    <a:lstStyle/>
                    <a:p>
                      <a:pPr algn="ctr"/>
                      <a:r>
                        <a:rPr lang="en-US">
                          <a:latin typeface="Calibri" charset="0"/>
                          <a:ea typeface="Calibri" charset="0"/>
                          <a:cs typeface="Calibri" charset="0"/>
                        </a:rPr>
                        <a:t>0</a:t>
                      </a:r>
                    </a:p>
                  </a:txBody>
                  <a:tcPr/>
                </a:tc>
                <a:tc>
                  <a:txBody>
                    <a:bodyPr/>
                    <a:lstStyle/>
                    <a:p>
                      <a:endParaRPr lang="en-US">
                        <a:latin typeface="Calibri" charset="0"/>
                        <a:ea typeface="Calibri" charset="0"/>
                        <a:cs typeface="Calibri" charset="0"/>
                      </a:endParaRPr>
                    </a:p>
                  </a:txBody>
                  <a:tcPr/>
                </a:tc>
                <a:extLst>
                  <a:ext uri="{0D108BD9-81ED-4DB2-BD59-A6C34878D82A}">
                    <a16:rowId xmlns:a16="http://schemas.microsoft.com/office/drawing/2014/main" val="10003"/>
                  </a:ext>
                </a:extLst>
              </a:tr>
              <a:tr h="370840">
                <a:tc>
                  <a:txBody>
                    <a:bodyPr/>
                    <a:lstStyle/>
                    <a:p>
                      <a:pPr algn="ctr"/>
                      <a:r>
                        <a:rPr lang="en-US">
                          <a:latin typeface="Calibri" charset="0"/>
                          <a:ea typeface="Calibri" charset="0"/>
                          <a:cs typeface="Calibri" charset="0"/>
                        </a:rPr>
                        <a:t>4</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1</a:t>
                      </a:r>
                    </a:p>
                  </a:txBody>
                  <a:tcPr/>
                </a:tc>
                <a:tc>
                  <a:txBody>
                    <a:bodyPr/>
                    <a:lstStyle/>
                    <a:p>
                      <a:endParaRPr lang="en-US">
                        <a:latin typeface="Calibri" charset="0"/>
                        <a:ea typeface="Calibri" charset="0"/>
                        <a:cs typeface="Calibri" charset="0"/>
                      </a:endParaRPr>
                    </a:p>
                  </a:txBody>
                  <a:tcPr/>
                </a:tc>
                <a:extLst>
                  <a:ext uri="{0D108BD9-81ED-4DB2-BD59-A6C34878D82A}">
                    <a16:rowId xmlns:a16="http://schemas.microsoft.com/office/drawing/2014/main" val="10004"/>
                  </a:ext>
                </a:extLst>
              </a:tr>
              <a:tr h="370840">
                <a:tc>
                  <a:txBody>
                    <a:bodyPr/>
                    <a:lstStyle/>
                    <a:p>
                      <a:pPr algn="ctr"/>
                      <a:r>
                        <a:rPr lang="en-US">
                          <a:latin typeface="Calibri" charset="0"/>
                          <a:ea typeface="Calibri" charset="0"/>
                          <a:cs typeface="Calibri" charset="0"/>
                        </a:rPr>
                        <a:t>5</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1</a:t>
                      </a:r>
                    </a:p>
                  </a:txBody>
                  <a:tcPr/>
                </a:tc>
                <a:tc>
                  <a:txBody>
                    <a:bodyPr/>
                    <a:lstStyle/>
                    <a:p>
                      <a:endParaRPr lang="en-US">
                        <a:latin typeface="Calibri" charset="0"/>
                        <a:ea typeface="Calibri" charset="0"/>
                        <a:cs typeface="Calibri" charset="0"/>
                      </a:endParaRPr>
                    </a:p>
                  </a:txBody>
                  <a:tcPr/>
                </a:tc>
                <a:extLst>
                  <a:ext uri="{0D108BD9-81ED-4DB2-BD59-A6C34878D82A}">
                    <a16:rowId xmlns:a16="http://schemas.microsoft.com/office/drawing/2014/main" val="10005"/>
                  </a:ext>
                </a:extLst>
              </a:tr>
              <a:tr h="370840">
                <a:tc>
                  <a:txBody>
                    <a:bodyPr/>
                    <a:lstStyle/>
                    <a:p>
                      <a:pPr algn="ctr"/>
                      <a:r>
                        <a:rPr lang="en-US">
                          <a:latin typeface="Calibri" charset="0"/>
                          <a:ea typeface="Calibri" charset="0"/>
                          <a:cs typeface="Calibri" charset="0"/>
                        </a:rPr>
                        <a:t>6</a:t>
                      </a:r>
                    </a:p>
                  </a:txBody>
                  <a:tcPr/>
                </a:tc>
                <a:tc>
                  <a:txBody>
                    <a:bodyPr/>
                    <a:lstStyle/>
                    <a:p>
                      <a:pPr algn="ctr"/>
                      <a:r>
                        <a:rPr lang="en-US">
                          <a:latin typeface="Calibri" charset="0"/>
                          <a:ea typeface="Calibri" charset="0"/>
                          <a:cs typeface="Calibri" charset="0"/>
                        </a:rPr>
                        <a:t>1</a:t>
                      </a:r>
                    </a:p>
                  </a:txBody>
                  <a:tcPr/>
                </a:tc>
                <a:tc>
                  <a:txBody>
                    <a:bodyPr/>
                    <a:lstStyle/>
                    <a:p>
                      <a:pPr algn="ctr"/>
                      <a:r>
                        <a:rPr lang="en-US">
                          <a:latin typeface="Calibri" charset="0"/>
                          <a:ea typeface="Calibri" charset="0"/>
                          <a:cs typeface="Calibri" charset="0"/>
                        </a:rPr>
                        <a:t>0</a:t>
                      </a:r>
                    </a:p>
                  </a:txBody>
                  <a:tcPr/>
                </a:tc>
                <a:tc>
                  <a:txBody>
                    <a:bodyPr/>
                    <a:lstStyle/>
                    <a:p>
                      <a:pPr algn="ctr"/>
                      <a:r>
                        <a:rPr lang="en-US">
                          <a:latin typeface="Calibri" charset="0"/>
                          <a:ea typeface="Calibri" charset="0"/>
                          <a:cs typeface="Calibri" charset="0"/>
                        </a:rPr>
                        <a:t>0</a:t>
                      </a:r>
                    </a:p>
                  </a:txBody>
                  <a:tcPr/>
                </a:tc>
                <a:tc>
                  <a:txBody>
                    <a:bodyPr/>
                    <a:lstStyle/>
                    <a:p>
                      <a:endParaRPr lang="en-US">
                        <a:latin typeface="Calibri" charset="0"/>
                        <a:ea typeface="Calibri" charset="0"/>
                        <a:cs typeface="Calibri" charset="0"/>
                      </a:endParaRPr>
                    </a:p>
                  </a:txBody>
                  <a:tcPr/>
                </a:tc>
                <a:extLst>
                  <a:ext uri="{0D108BD9-81ED-4DB2-BD59-A6C34878D82A}">
                    <a16:rowId xmlns:a16="http://schemas.microsoft.com/office/drawing/2014/main" val="10006"/>
                  </a:ext>
                </a:extLst>
              </a:tr>
              <a:tr h="370840">
                <a:tc>
                  <a:txBody>
                    <a:bodyPr/>
                    <a:lstStyle/>
                    <a:p>
                      <a:pPr algn="ctr"/>
                      <a:r>
                        <a:rPr lang="en-US">
                          <a:latin typeface="Calibri" charset="0"/>
                          <a:ea typeface="Calibri" charset="0"/>
                          <a:cs typeface="Calibri" charset="0"/>
                        </a:rPr>
                        <a:t>7</a:t>
                      </a:r>
                    </a:p>
                  </a:txBody>
                  <a:tcPr/>
                </a:tc>
                <a:tc>
                  <a:txBody>
                    <a:bodyPr/>
                    <a:lstStyle/>
                    <a:p>
                      <a:pPr algn="ctr"/>
                      <a:r>
                        <a:rPr lang="en-US">
                          <a:latin typeface="Calibri" charset="0"/>
                          <a:ea typeface="Calibri" charset="0"/>
                          <a:cs typeface="Calibri" charset="0"/>
                        </a:rPr>
                        <a:t>2</a:t>
                      </a:r>
                    </a:p>
                  </a:txBody>
                  <a:tcPr/>
                </a:tc>
                <a:tc>
                  <a:txBody>
                    <a:bodyPr/>
                    <a:lstStyle/>
                    <a:p>
                      <a:pPr algn="ctr"/>
                      <a:r>
                        <a:rPr lang="en-US">
                          <a:latin typeface="Calibri" charset="0"/>
                          <a:ea typeface="Calibri" charset="0"/>
                          <a:cs typeface="Calibri" charset="0"/>
                        </a:rPr>
                        <a:t>0</a:t>
                      </a:r>
                    </a:p>
                  </a:txBody>
                  <a:tcPr/>
                </a:tc>
                <a:tc>
                  <a:txBody>
                    <a:bodyPr/>
                    <a:lstStyle/>
                    <a:p>
                      <a:endParaRPr lang="en-US">
                        <a:latin typeface="Calibri" charset="0"/>
                        <a:ea typeface="Calibri" charset="0"/>
                        <a:cs typeface="Calibri" charset="0"/>
                      </a:endParaRPr>
                    </a:p>
                  </a:txBody>
                  <a:tcPr/>
                </a:tc>
                <a:tc>
                  <a:txBody>
                    <a:bodyPr/>
                    <a:lstStyle/>
                    <a:p>
                      <a:pPr algn="ctr"/>
                      <a:r>
                        <a:rPr lang="en-US">
                          <a:latin typeface="Calibri" charset="0"/>
                          <a:ea typeface="Calibri" charset="0"/>
                          <a:cs typeface="Calibri" charset="0"/>
                        </a:rPr>
                        <a:t>0</a:t>
                      </a:r>
                    </a:p>
                  </a:txBody>
                  <a:tcPr/>
                </a:tc>
                <a:extLst>
                  <a:ext uri="{0D108BD9-81ED-4DB2-BD59-A6C34878D82A}">
                    <a16:rowId xmlns:a16="http://schemas.microsoft.com/office/drawing/2014/main" val="10007"/>
                  </a:ext>
                </a:extLst>
              </a:tr>
              <a:tr h="370840">
                <a:tc>
                  <a:txBody>
                    <a:bodyPr/>
                    <a:lstStyle/>
                    <a:p>
                      <a:pPr algn="ctr"/>
                      <a:r>
                        <a:rPr lang="en-US">
                          <a:latin typeface="Calibri" charset="0"/>
                          <a:ea typeface="Calibri" charset="0"/>
                          <a:cs typeface="Calibri" charset="0"/>
                        </a:rPr>
                        <a:t>8</a:t>
                      </a:r>
                    </a:p>
                  </a:txBody>
                  <a:tcPr/>
                </a:tc>
                <a:tc>
                  <a:txBody>
                    <a:bodyPr/>
                    <a:lstStyle/>
                    <a:p>
                      <a:pPr algn="ctr"/>
                      <a:r>
                        <a:rPr lang="en-US">
                          <a:latin typeface="Calibri" charset="0"/>
                          <a:ea typeface="Calibri" charset="0"/>
                          <a:cs typeface="Calibri" charset="0"/>
                        </a:rPr>
                        <a:t>2</a:t>
                      </a:r>
                    </a:p>
                  </a:txBody>
                  <a:tcPr/>
                </a:tc>
                <a:tc>
                  <a:txBody>
                    <a:bodyPr/>
                    <a:lstStyle/>
                    <a:p>
                      <a:pPr algn="ctr"/>
                      <a:r>
                        <a:rPr lang="en-US">
                          <a:latin typeface="Calibri" charset="0"/>
                          <a:ea typeface="Calibri" charset="0"/>
                          <a:cs typeface="Calibri" charset="0"/>
                        </a:rPr>
                        <a:t>0</a:t>
                      </a:r>
                    </a:p>
                  </a:txBody>
                  <a:tcPr/>
                </a:tc>
                <a:tc>
                  <a:txBody>
                    <a:bodyPr/>
                    <a:lstStyle/>
                    <a:p>
                      <a:endParaRPr lang="en-US">
                        <a:latin typeface="Calibri" charset="0"/>
                        <a:ea typeface="Calibri" charset="0"/>
                        <a:cs typeface="Calibri" charset="0"/>
                      </a:endParaRPr>
                    </a:p>
                  </a:txBody>
                  <a:tcPr/>
                </a:tc>
                <a:tc>
                  <a:txBody>
                    <a:bodyPr/>
                    <a:lstStyle/>
                    <a:p>
                      <a:pPr algn="ctr"/>
                      <a:r>
                        <a:rPr lang="en-US">
                          <a:latin typeface="Calibri" charset="0"/>
                          <a:ea typeface="Calibri" charset="0"/>
                          <a:cs typeface="Calibri" charset="0"/>
                        </a:rPr>
                        <a:t>0</a:t>
                      </a:r>
                    </a:p>
                  </a:txBody>
                  <a:tcPr/>
                </a:tc>
                <a:extLst>
                  <a:ext uri="{0D108BD9-81ED-4DB2-BD59-A6C34878D82A}">
                    <a16:rowId xmlns:a16="http://schemas.microsoft.com/office/drawing/2014/main" val="10008"/>
                  </a:ext>
                </a:extLst>
              </a:tr>
              <a:tr h="370840">
                <a:tc>
                  <a:txBody>
                    <a:bodyPr/>
                    <a:lstStyle/>
                    <a:p>
                      <a:pPr algn="ctr"/>
                      <a:r>
                        <a:rPr lang="en-US">
                          <a:latin typeface="Calibri" charset="0"/>
                          <a:ea typeface="Calibri" charset="0"/>
                          <a:cs typeface="Calibri" charset="0"/>
                        </a:rPr>
                        <a:t>9</a:t>
                      </a:r>
                    </a:p>
                  </a:txBody>
                  <a:tcPr/>
                </a:tc>
                <a:tc>
                  <a:txBody>
                    <a:bodyPr/>
                    <a:lstStyle/>
                    <a:p>
                      <a:pPr algn="ctr"/>
                      <a:r>
                        <a:rPr lang="en-US">
                          <a:latin typeface="Calibri" charset="0"/>
                          <a:ea typeface="Calibri" charset="0"/>
                          <a:cs typeface="Calibri" charset="0"/>
                        </a:rPr>
                        <a:t>2</a:t>
                      </a:r>
                    </a:p>
                  </a:txBody>
                  <a:tcPr/>
                </a:tc>
                <a:tc>
                  <a:txBody>
                    <a:bodyPr/>
                    <a:lstStyle/>
                    <a:p>
                      <a:pPr algn="ctr"/>
                      <a:r>
                        <a:rPr lang="en-US">
                          <a:latin typeface="Calibri" charset="0"/>
                          <a:ea typeface="Calibri" charset="0"/>
                          <a:cs typeface="Calibri" charset="0"/>
                        </a:rPr>
                        <a:t>1</a:t>
                      </a:r>
                    </a:p>
                  </a:txBody>
                  <a:tcPr/>
                </a:tc>
                <a:tc>
                  <a:txBody>
                    <a:bodyPr/>
                    <a:lstStyle/>
                    <a:p>
                      <a:endParaRPr lang="en-US">
                        <a:latin typeface="Calibri" charset="0"/>
                        <a:ea typeface="Calibri" charset="0"/>
                        <a:cs typeface="Calibri" charset="0"/>
                      </a:endParaRPr>
                    </a:p>
                  </a:txBody>
                  <a:tcPr/>
                </a:tc>
                <a:tc>
                  <a:txBody>
                    <a:bodyPr/>
                    <a:lstStyle/>
                    <a:p>
                      <a:pPr algn="ctr"/>
                      <a:r>
                        <a:rPr lang="en-US">
                          <a:latin typeface="Calibri" charset="0"/>
                          <a:ea typeface="Calibri" charset="0"/>
                          <a:cs typeface="Calibri" charset="0"/>
                        </a:rPr>
                        <a:t>1</a:t>
                      </a:r>
                    </a:p>
                  </a:txBody>
                  <a:tcPr/>
                </a:tc>
                <a:extLst>
                  <a:ext uri="{0D108BD9-81ED-4DB2-BD59-A6C34878D82A}">
                    <a16:rowId xmlns:a16="http://schemas.microsoft.com/office/drawing/2014/main" val="10009"/>
                  </a:ext>
                </a:extLst>
              </a:tr>
              <a:tr h="370840">
                <a:tc>
                  <a:txBody>
                    <a:bodyPr/>
                    <a:lstStyle/>
                    <a:p>
                      <a:pPr algn="ctr"/>
                      <a:r>
                        <a:rPr lang="en-US">
                          <a:latin typeface="Calibri" charset="0"/>
                          <a:ea typeface="Calibri" charset="0"/>
                          <a:cs typeface="Calibri" charset="0"/>
                        </a:rPr>
                        <a:t>10</a:t>
                      </a:r>
                    </a:p>
                  </a:txBody>
                  <a:tcPr/>
                </a:tc>
                <a:tc>
                  <a:txBody>
                    <a:bodyPr/>
                    <a:lstStyle/>
                    <a:p>
                      <a:pPr algn="ctr"/>
                      <a:r>
                        <a:rPr lang="en-US">
                          <a:latin typeface="Calibri" charset="0"/>
                          <a:ea typeface="Calibri" charset="0"/>
                          <a:cs typeface="Calibri" charset="0"/>
                        </a:rPr>
                        <a:t>2</a:t>
                      </a:r>
                    </a:p>
                  </a:txBody>
                  <a:tcPr/>
                </a:tc>
                <a:tc>
                  <a:txBody>
                    <a:bodyPr/>
                    <a:lstStyle/>
                    <a:p>
                      <a:pPr algn="ctr"/>
                      <a:r>
                        <a:rPr lang="en-US">
                          <a:latin typeface="Calibri" charset="0"/>
                          <a:ea typeface="Calibri" charset="0"/>
                          <a:cs typeface="Calibri" charset="0"/>
                        </a:rPr>
                        <a:t>1</a:t>
                      </a:r>
                    </a:p>
                  </a:txBody>
                  <a:tcPr/>
                </a:tc>
                <a:tc>
                  <a:txBody>
                    <a:bodyPr/>
                    <a:lstStyle/>
                    <a:p>
                      <a:endParaRPr lang="en-US">
                        <a:latin typeface="Calibri" charset="0"/>
                        <a:ea typeface="Calibri" charset="0"/>
                        <a:cs typeface="Calibri" charset="0"/>
                      </a:endParaRPr>
                    </a:p>
                  </a:txBody>
                  <a:tcPr/>
                </a:tc>
                <a:tc>
                  <a:txBody>
                    <a:bodyPr/>
                    <a:lstStyle/>
                    <a:p>
                      <a:pPr algn="ctr"/>
                      <a:r>
                        <a:rPr lang="en-US">
                          <a:latin typeface="Calibri" charset="0"/>
                          <a:ea typeface="Calibri" charset="0"/>
                          <a:cs typeface="Calibri" charset="0"/>
                        </a:rPr>
                        <a:t>1</a:t>
                      </a:r>
                    </a:p>
                  </a:txBody>
                  <a:tcPr/>
                </a:tc>
                <a:extLst>
                  <a:ext uri="{0D108BD9-81ED-4DB2-BD59-A6C34878D82A}">
                    <a16:rowId xmlns:a16="http://schemas.microsoft.com/office/drawing/2014/main" val="10010"/>
                  </a:ext>
                </a:extLst>
              </a:tr>
              <a:tr h="370840">
                <a:tc>
                  <a:txBody>
                    <a:bodyPr/>
                    <a:lstStyle/>
                    <a:p>
                      <a:pPr algn="ctr"/>
                      <a:r>
                        <a:rPr lang="en-US">
                          <a:latin typeface="Calibri" charset="0"/>
                          <a:ea typeface="Calibri" charset="0"/>
                          <a:cs typeface="Calibri" charset="0"/>
                        </a:rPr>
                        <a:t>11</a:t>
                      </a:r>
                    </a:p>
                  </a:txBody>
                  <a:tcPr/>
                </a:tc>
                <a:tc>
                  <a:txBody>
                    <a:bodyPr/>
                    <a:lstStyle/>
                    <a:p>
                      <a:pPr algn="ctr"/>
                      <a:r>
                        <a:rPr lang="en-US">
                          <a:latin typeface="Calibri" charset="0"/>
                          <a:ea typeface="Calibri" charset="0"/>
                          <a:cs typeface="Calibri" charset="0"/>
                        </a:rPr>
                        <a:t>2</a:t>
                      </a:r>
                    </a:p>
                  </a:txBody>
                  <a:tcPr/>
                </a:tc>
                <a:tc>
                  <a:txBody>
                    <a:bodyPr/>
                    <a:lstStyle/>
                    <a:p>
                      <a:pPr algn="ctr"/>
                      <a:r>
                        <a:rPr lang="en-US">
                          <a:latin typeface="Calibri" charset="0"/>
                          <a:ea typeface="Calibri" charset="0"/>
                          <a:cs typeface="Calibri" charset="0"/>
                        </a:rPr>
                        <a:t>1</a:t>
                      </a:r>
                    </a:p>
                  </a:txBody>
                  <a:tcPr/>
                </a:tc>
                <a:tc>
                  <a:txBody>
                    <a:bodyPr/>
                    <a:lstStyle/>
                    <a:p>
                      <a:endParaRPr lang="en-US">
                        <a:latin typeface="Calibri" charset="0"/>
                        <a:ea typeface="Calibri" charset="0"/>
                        <a:cs typeface="Calibri" charset="0"/>
                      </a:endParaRPr>
                    </a:p>
                  </a:txBody>
                  <a:tcPr/>
                </a:tc>
                <a:tc>
                  <a:txBody>
                    <a:bodyPr/>
                    <a:lstStyle/>
                    <a:p>
                      <a:pPr algn="ctr"/>
                      <a:r>
                        <a:rPr lang="en-US">
                          <a:latin typeface="Calibri" charset="0"/>
                          <a:ea typeface="Calibri" charset="0"/>
                          <a:cs typeface="Calibri" charset="0"/>
                        </a:rPr>
                        <a:t>1</a:t>
                      </a:r>
                    </a:p>
                  </a:txBody>
                  <a:tcPr/>
                </a:tc>
                <a:extLst>
                  <a:ext uri="{0D108BD9-81ED-4DB2-BD59-A6C34878D82A}">
                    <a16:rowId xmlns:a16="http://schemas.microsoft.com/office/drawing/2014/main" val="10011"/>
                  </a:ext>
                </a:extLst>
              </a:tr>
              <a:tr h="370840">
                <a:tc>
                  <a:txBody>
                    <a:bodyPr/>
                    <a:lstStyle/>
                    <a:p>
                      <a:pPr algn="ctr"/>
                      <a:r>
                        <a:rPr lang="en-US">
                          <a:latin typeface="Calibri" charset="0"/>
                          <a:ea typeface="Calibri" charset="0"/>
                          <a:cs typeface="Calibri" charset="0"/>
                        </a:rPr>
                        <a:t>12</a:t>
                      </a:r>
                    </a:p>
                  </a:txBody>
                  <a:tcPr/>
                </a:tc>
                <a:tc>
                  <a:txBody>
                    <a:bodyPr/>
                    <a:lstStyle/>
                    <a:p>
                      <a:pPr algn="ctr"/>
                      <a:r>
                        <a:rPr lang="en-US">
                          <a:latin typeface="Calibri" charset="0"/>
                          <a:ea typeface="Calibri" charset="0"/>
                          <a:cs typeface="Calibri" charset="0"/>
                        </a:rPr>
                        <a:t>2</a:t>
                      </a:r>
                    </a:p>
                  </a:txBody>
                  <a:tcPr/>
                </a:tc>
                <a:tc>
                  <a:txBody>
                    <a:bodyPr/>
                    <a:lstStyle/>
                    <a:p>
                      <a:pPr algn="ctr"/>
                      <a:r>
                        <a:rPr lang="en-US">
                          <a:latin typeface="Calibri" charset="0"/>
                          <a:ea typeface="Calibri" charset="0"/>
                          <a:cs typeface="Calibri" charset="0"/>
                        </a:rPr>
                        <a:t>1</a:t>
                      </a:r>
                    </a:p>
                  </a:txBody>
                  <a:tcPr/>
                </a:tc>
                <a:tc>
                  <a:txBody>
                    <a:bodyPr/>
                    <a:lstStyle/>
                    <a:p>
                      <a:endParaRPr lang="en-US">
                        <a:latin typeface="Calibri" charset="0"/>
                        <a:ea typeface="Calibri" charset="0"/>
                        <a:cs typeface="Calibri" charset="0"/>
                      </a:endParaRPr>
                    </a:p>
                  </a:txBody>
                  <a:tcPr/>
                </a:tc>
                <a:tc>
                  <a:txBody>
                    <a:bodyPr/>
                    <a:lstStyle/>
                    <a:p>
                      <a:pPr algn="ctr"/>
                      <a:r>
                        <a:rPr lang="en-US">
                          <a:latin typeface="Calibri" charset="0"/>
                          <a:ea typeface="Calibri" charset="0"/>
                          <a:cs typeface="Calibri" charset="0"/>
                        </a:rPr>
                        <a:t>1</a:t>
                      </a:r>
                    </a:p>
                  </a:txBody>
                  <a:tcPr/>
                </a:tc>
                <a:extLst>
                  <a:ext uri="{0D108BD9-81ED-4DB2-BD59-A6C34878D82A}">
                    <a16:rowId xmlns:a16="http://schemas.microsoft.com/office/drawing/2014/main" val="10012"/>
                  </a:ext>
                </a:extLst>
              </a:tr>
            </a:tbl>
          </a:graphicData>
        </a:graphic>
      </p:graphicFrame>
      <p:sp>
        <p:nvSpPr>
          <p:cNvPr id="5" name="Slide Number Placeholder 4"/>
          <p:cNvSpPr>
            <a:spLocks noGrp="1"/>
          </p:cNvSpPr>
          <p:nvPr>
            <p:ph type="sldNum" sz="quarter" idx="12"/>
          </p:nvPr>
        </p:nvSpPr>
        <p:spPr/>
        <p:txBody>
          <a:bodyPr/>
          <a:lstStyle/>
          <a:p>
            <a:pPr>
              <a:defRPr/>
            </a:pPr>
            <a:fld id="{CD98E987-055C-A941-82AA-E638330DCBBF}" type="slidenum">
              <a:rPr lang="en-US"/>
              <a:pPr>
                <a:defRPr/>
              </a:pPr>
              <a:t>44</a:t>
            </a:fld>
            <a:endParaRPr lang="en-US"/>
          </a:p>
        </p:txBody>
      </p:sp>
    </p:spTree>
    <p:extLst>
      <p:ext uri="{BB962C8B-B14F-4D97-AF65-F5344CB8AC3E}">
        <p14:creationId xmlns:p14="http://schemas.microsoft.com/office/powerpoint/2010/main" val="456624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7. IRT Recalibration</a:t>
            </a:r>
          </a:p>
        </p:txBody>
      </p:sp>
      <p:sp>
        <p:nvSpPr>
          <p:cNvPr id="3" name="Content Placeholder 2"/>
          <p:cNvSpPr>
            <a:spLocks noGrp="1"/>
          </p:cNvSpPr>
          <p:nvPr>
            <p:ph idx="1"/>
          </p:nvPr>
        </p:nvSpPr>
        <p:spPr/>
        <p:txBody>
          <a:bodyPr/>
          <a:lstStyle/>
          <a:p>
            <a:r>
              <a:rPr lang="en-US"/>
              <a:t>Now recalibrate item parameters (using multigroup function in mirt) with group specific items</a:t>
            </a:r>
          </a:p>
          <a:p>
            <a:r>
              <a:rPr lang="en-US"/>
              <a:t>So if you had X items and subset Y was flagged for DIF, total number of items in new data set would be X+Y.</a:t>
            </a:r>
          </a:p>
          <a:p>
            <a:endParaRPr lang="en-US"/>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45</a:t>
            </a:fld>
            <a:endParaRPr lang="en-US"/>
          </a:p>
        </p:txBody>
      </p:sp>
    </p:spTree>
    <p:extLst>
      <p:ext uri="{BB962C8B-B14F-4D97-AF65-F5344CB8AC3E}">
        <p14:creationId xmlns:p14="http://schemas.microsoft.com/office/powerpoint/2010/main" val="13392547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8. Scale Transformation (Equating)</a:t>
            </a:r>
          </a:p>
        </p:txBody>
      </p:sp>
      <p:sp>
        <p:nvSpPr>
          <p:cNvPr id="3" name="Content Placeholder 2"/>
          <p:cNvSpPr>
            <a:spLocks noGrp="1"/>
          </p:cNvSpPr>
          <p:nvPr>
            <p:ph idx="1"/>
          </p:nvPr>
        </p:nvSpPr>
        <p:spPr/>
        <p:txBody>
          <a:bodyPr/>
          <a:lstStyle/>
          <a:p>
            <a:r>
              <a:rPr lang="en-US" sz="2400"/>
              <a:t>Say we have 5 items flagged for DIF. </a:t>
            </a:r>
          </a:p>
          <a:p>
            <a:r>
              <a:rPr lang="en-US" sz="2400"/>
              <a:t>In step 7 of the lordif algorithm these 5 items get replaced by 10 pseudo items (5 per group). So this effectively doubles the item parameters that get estimated for these items.</a:t>
            </a:r>
          </a:p>
          <a:p>
            <a:r>
              <a:rPr lang="en-US" sz="2400"/>
              <a:t>How do we place these 10 pseudo items on a common scale?</a:t>
            </a:r>
          </a:p>
          <a:p>
            <a:r>
              <a:rPr lang="en-US" sz="2400"/>
              <a:t>Strategy: use the subset of non-DIF items as an anchor set. </a:t>
            </a:r>
          </a:p>
          <a:p>
            <a:r>
              <a:rPr lang="en-US" sz="2400"/>
              <a:t>For this anchor set parameter invariance should hold, so we should get same item parameter estimates whether calibrated using group 1 or group 2.</a:t>
            </a:r>
          </a:p>
          <a:p>
            <a:r>
              <a:rPr lang="en-US" sz="2400"/>
              <a:t>So calibrate anchor items separately for groups 1 and 2</a:t>
            </a:r>
          </a:p>
          <a:p>
            <a:r>
              <a:rPr lang="en-US" sz="2400"/>
              <a:t>Estimate linking constants using Stocking-Lord method (i.e., see slides 30-33)</a:t>
            </a:r>
          </a:p>
          <a:p>
            <a:r>
              <a:rPr lang="en-US" sz="2400"/>
              <a:t>Use these linking constants to place 5 pseudo items for focal group on the scale of the 5 items for reference group.</a:t>
            </a:r>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46</a:t>
            </a:fld>
            <a:endParaRPr lang="en-US"/>
          </a:p>
        </p:txBody>
      </p:sp>
    </p:spTree>
    <p:extLst>
      <p:ext uri="{BB962C8B-B14F-4D97-AF65-F5344CB8AC3E}">
        <p14:creationId xmlns:p14="http://schemas.microsoft.com/office/powerpoint/2010/main" val="15681036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9. Trait (Theta) Re-estimation</a:t>
            </a:r>
            <a:endParaRPr lang="en-US"/>
          </a:p>
        </p:txBody>
      </p:sp>
      <p:sp>
        <p:nvSpPr>
          <p:cNvPr id="3" name="Content Placeholder 2"/>
          <p:cNvSpPr>
            <a:spLocks noGrp="1"/>
          </p:cNvSpPr>
          <p:nvPr>
            <p:ph idx="1"/>
          </p:nvPr>
        </p:nvSpPr>
        <p:spPr/>
        <p:txBody>
          <a:bodyPr/>
          <a:lstStyle/>
          <a:p>
            <a:r>
              <a:rPr lang="en-US"/>
              <a:t>Obtain new EAP trait (ability) estimates based on item parameter estimates from the entire sample for items that did not have DIF and for group-specific item parameter estimates for items that had DIF.</a:t>
            </a:r>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47</a:t>
            </a:fld>
            <a:endParaRPr lang="en-US"/>
          </a:p>
        </p:txBody>
      </p:sp>
    </p:spTree>
    <p:extLst>
      <p:ext uri="{BB962C8B-B14F-4D97-AF65-F5344CB8AC3E}">
        <p14:creationId xmlns:p14="http://schemas.microsoft.com/office/powerpoint/2010/main" val="2119346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10. Iterative Cycle</a:t>
            </a:r>
          </a:p>
        </p:txBody>
      </p:sp>
      <p:sp>
        <p:nvSpPr>
          <p:cNvPr id="3" name="Content Placeholder 2"/>
          <p:cNvSpPr>
            <a:spLocks noGrp="1"/>
          </p:cNvSpPr>
          <p:nvPr>
            <p:ph idx="1"/>
          </p:nvPr>
        </p:nvSpPr>
        <p:spPr/>
        <p:txBody>
          <a:bodyPr/>
          <a:lstStyle/>
          <a:p>
            <a:r>
              <a:rPr lang="en-US"/>
              <a:t>Repeat Steps 4 through 9 until the same items are flagged for DIF or a preset maximum number of iterations has been reached. </a:t>
            </a:r>
          </a:p>
          <a:p>
            <a:endParaRPr lang="en-US"/>
          </a:p>
          <a:p>
            <a:endParaRPr lang="en-US"/>
          </a:p>
          <a:p>
            <a:endParaRPr lang="en-US"/>
          </a:p>
          <a:p>
            <a:endParaRPr lang="en-US"/>
          </a:p>
          <a:p>
            <a:r>
              <a:rPr lang="en-US"/>
              <a:t>Using the trait estimates from the previous round that account for DIF detected to that point, (ordinal) logistic regression DIF detection is repeated on all items including previously flagged items.</a:t>
            </a:r>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48</a:t>
            </a:fld>
            <a:endParaRPr lang="en-US"/>
          </a:p>
        </p:txBody>
      </p:sp>
      <p:pic>
        <p:nvPicPr>
          <p:cNvPr id="6" name="Picture 5" descr="A screenshot of a cell phone&#10;&#10;Description automatically generated">
            <a:extLst>
              <a:ext uri="{FF2B5EF4-FFF2-40B4-BE49-F238E27FC236}">
                <a16:creationId xmlns:a16="http://schemas.microsoft.com/office/drawing/2014/main" id="{16330D3A-4A5C-5F43-87E5-E0F450727B9F}"/>
              </a:ext>
            </a:extLst>
          </p:cNvPr>
          <p:cNvPicPr>
            <a:picLocks noChangeAspect="1"/>
          </p:cNvPicPr>
          <p:nvPr/>
        </p:nvPicPr>
        <p:blipFill>
          <a:blip r:embed="rId2"/>
          <a:stretch>
            <a:fillRect/>
          </a:stretch>
        </p:blipFill>
        <p:spPr>
          <a:xfrm>
            <a:off x="2438400" y="2667000"/>
            <a:ext cx="4591050" cy="1865352"/>
          </a:xfrm>
          <a:prstGeom prst="rect">
            <a:avLst/>
          </a:prstGeom>
        </p:spPr>
      </p:pic>
    </p:spTree>
    <p:extLst>
      <p:ext uri="{BB962C8B-B14F-4D97-AF65-F5344CB8AC3E}">
        <p14:creationId xmlns:p14="http://schemas.microsoft.com/office/powerpoint/2010/main" val="10961700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11. Monte Carlo Simulation</a:t>
            </a:r>
          </a:p>
        </p:txBody>
      </p:sp>
      <p:sp>
        <p:nvSpPr>
          <p:cNvPr id="3" name="Content Placeholder 2"/>
          <p:cNvSpPr>
            <a:spLocks noGrp="1"/>
          </p:cNvSpPr>
          <p:nvPr>
            <p:ph idx="1"/>
          </p:nvPr>
        </p:nvSpPr>
        <p:spPr/>
        <p:txBody>
          <a:bodyPr/>
          <a:lstStyle/>
          <a:p>
            <a:r>
              <a:rPr lang="en-US" sz="2000"/>
              <a:t>Generate DIF-free datasets “nr” number of times (e.g., nr = 1000), using the final trait estimates accounting for DIF (Step 10) and the initial single-group item parameter estimates (Step 2). </a:t>
            </a:r>
          </a:p>
          <a:p>
            <a:r>
              <a:rPr lang="en-US" sz="2000"/>
              <a:t>Each simulated dataset contains the same number of cases by group as the empirical dataset and reflects observed group differences (i.e., impact, not bias) in trait estimates. </a:t>
            </a:r>
          </a:p>
          <a:p>
            <a:r>
              <a:rPr lang="en-US" sz="2000"/>
              <a:t>For each simulated dataset, obtain trait (ability) estimates based on the single-group item parameter estimates and run the OLR/IRT procedure. </a:t>
            </a:r>
          </a:p>
          <a:p>
            <a:r>
              <a:rPr lang="en-US" sz="2000"/>
              <a:t>Establishes sampling distribution when null hypothesis of no DIF is true.</a:t>
            </a:r>
          </a:p>
          <a:p>
            <a:r>
              <a:rPr lang="en-US" sz="2000"/>
              <a:t>Compute the DIF statistics and magnitude measures for each simulated dataset and store the results for all replications. </a:t>
            </a:r>
          </a:p>
          <a:p>
            <a:r>
              <a:rPr lang="en-US" sz="2000"/>
              <a:t>Identify a threshold value for each statistic/magnitude measure that cuts off the most extreme (defined by α) end of its cumulative distribution.</a:t>
            </a:r>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49</a:t>
            </a:fld>
            <a:endParaRPr lang="en-US"/>
          </a:p>
        </p:txBody>
      </p:sp>
      <p:sp>
        <p:nvSpPr>
          <p:cNvPr id="5" name="TextBox 4">
            <a:extLst>
              <a:ext uri="{FF2B5EF4-FFF2-40B4-BE49-F238E27FC236}">
                <a16:creationId xmlns:a16="http://schemas.microsoft.com/office/drawing/2014/main" id="{8C301EA9-755D-364D-A8E3-D2DA4959CF23}"/>
              </a:ext>
            </a:extLst>
          </p:cNvPr>
          <p:cNvSpPr txBox="1"/>
          <p:nvPr/>
        </p:nvSpPr>
        <p:spPr>
          <a:xfrm>
            <a:off x="1600200" y="5867400"/>
            <a:ext cx="8382000" cy="646331"/>
          </a:xfrm>
          <a:prstGeom prst="rect">
            <a:avLst/>
          </a:prstGeom>
          <a:noFill/>
        </p:spPr>
        <p:txBody>
          <a:bodyPr wrap="square" rtlCol="0">
            <a:spAutoFit/>
          </a:bodyPr>
          <a:lstStyle/>
          <a:p>
            <a:r>
              <a:rPr lang="en-US"/>
              <a:t>Note: this takes a while to run. Took me 7 minutes as of 4/2024; took 40 minutes in 2014!</a:t>
            </a:r>
          </a:p>
        </p:txBody>
      </p:sp>
    </p:spTree>
    <p:extLst>
      <p:ext uri="{BB962C8B-B14F-4D97-AF65-F5344CB8AC3E}">
        <p14:creationId xmlns:p14="http://schemas.microsoft.com/office/powerpoint/2010/main" val="616600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Illustration Using CDE Data</a:t>
            </a:r>
          </a:p>
        </p:txBody>
      </p:sp>
      <p:sp>
        <p:nvSpPr>
          <p:cNvPr id="3" name="Content Placeholder 2"/>
          <p:cNvSpPr>
            <a:spLocks noGrp="1"/>
          </p:cNvSpPr>
          <p:nvPr>
            <p:ph idx="1"/>
          </p:nvPr>
        </p:nvSpPr>
        <p:spPr/>
        <p:txBody>
          <a:bodyPr/>
          <a:lstStyle/>
          <a:p>
            <a:r>
              <a:rPr lang="en-US"/>
              <a:t>See file “Differential_Item_Functioning.html”</a:t>
            </a:r>
          </a:p>
          <a:p>
            <a:pPr marL="0" indent="0">
              <a:buNone/>
            </a:pPr>
            <a:endParaRPr lang="en-US"/>
          </a:p>
          <a:p>
            <a:pPr marL="0" indent="0">
              <a:buNone/>
            </a:pPr>
            <a:r>
              <a:rPr lang="en-US" sz="2400">
                <a:latin typeface="Courier New" charset="0"/>
                <a:ea typeface="Courier New" charset="0"/>
                <a:cs typeface="Courier New" charset="0"/>
              </a:rPr>
              <a:t>response&lt;-cde[,1:31]</a:t>
            </a:r>
          </a:p>
          <a:p>
            <a:pPr marL="0" indent="0">
              <a:buNone/>
            </a:pPr>
            <a:r>
              <a:rPr lang="en-US" sz="2400">
                <a:latin typeface="Courier New" charset="0"/>
                <a:ea typeface="Courier New" charset="0"/>
                <a:cs typeface="Courier New" charset="0"/>
              </a:rPr>
              <a:t>gender&lt;-as.numeric(as.factor(cde[,32]))</a:t>
            </a:r>
          </a:p>
          <a:p>
            <a:pPr marL="0" indent="0">
              <a:buNone/>
            </a:pPr>
            <a:endParaRPr lang="en-US" sz="2400">
              <a:latin typeface="Courier New" charset="0"/>
              <a:ea typeface="Courier New" charset="0"/>
              <a:cs typeface="Courier New" charset="0"/>
            </a:endParaRPr>
          </a:p>
          <a:p>
            <a:pPr marL="0" indent="0">
              <a:buNone/>
            </a:pPr>
            <a:r>
              <a:rPr lang="en-US" sz="2400">
                <a:latin typeface="Courier New" charset="0"/>
                <a:ea typeface="Courier New" charset="0"/>
                <a:cs typeface="Courier New" charset="0"/>
              </a:rPr>
              <a:t>DIF &lt;- lordif(response, gender, criterion = "Chisqr", alpha = 0.01,minCell = 5)</a:t>
            </a:r>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50</a:t>
            </a:fld>
            <a:endParaRPr lang="en-US"/>
          </a:p>
        </p:txBody>
      </p:sp>
    </p:spTree>
    <p:extLst>
      <p:ext uri="{BB962C8B-B14F-4D97-AF65-F5344CB8AC3E}">
        <p14:creationId xmlns:p14="http://schemas.microsoft.com/office/powerpoint/2010/main" val="2261300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a:latin typeface="Courier New" charset="0"/>
                <a:ea typeface="Courier New" charset="0"/>
                <a:cs typeface="Courier New" charset="0"/>
              </a:rPr>
              <a:t>print(DIF)</a:t>
            </a:r>
            <a:endParaRPr lang="en-US" b="1"/>
          </a:p>
        </p:txBody>
      </p:sp>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23470" y="1981200"/>
            <a:ext cx="5452398" cy="3188180"/>
          </a:xfrm>
        </p:spPr>
      </p:pic>
      <p:pic>
        <p:nvPicPr>
          <p:cNvPr id="7" name="Content Placeholder 6"/>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24600" y="129381"/>
            <a:ext cx="3276600" cy="6553201"/>
          </a:xfrm>
        </p:spPr>
      </p:pic>
      <p:sp>
        <p:nvSpPr>
          <p:cNvPr id="8" name="Slide Number Placeholder 7"/>
          <p:cNvSpPr>
            <a:spLocks noGrp="1"/>
          </p:cNvSpPr>
          <p:nvPr>
            <p:ph type="sldNum" sz="quarter" idx="12"/>
          </p:nvPr>
        </p:nvSpPr>
        <p:spPr/>
        <p:txBody>
          <a:bodyPr/>
          <a:lstStyle/>
          <a:p>
            <a:pPr>
              <a:defRPr/>
            </a:pPr>
            <a:fld id="{8E9550E6-1534-DB42-98C7-E49F9982025C}" type="slidenum">
              <a:rPr lang="en-US"/>
              <a:pPr>
                <a:defRPr/>
              </a:pPr>
              <a:t>51</a:t>
            </a:fld>
            <a:endParaRPr lang="en-US"/>
          </a:p>
        </p:txBody>
      </p:sp>
      <p:sp>
        <p:nvSpPr>
          <p:cNvPr id="3" name="TextBox 2">
            <a:extLst>
              <a:ext uri="{FF2B5EF4-FFF2-40B4-BE49-F238E27FC236}">
                <a16:creationId xmlns:a16="http://schemas.microsoft.com/office/drawing/2014/main" id="{13D5842E-14D9-6140-BB5A-32CA270FED59}"/>
              </a:ext>
            </a:extLst>
          </p:cNvPr>
          <p:cNvSpPr txBox="1"/>
          <p:nvPr/>
        </p:nvSpPr>
        <p:spPr>
          <a:xfrm>
            <a:off x="6324600" y="2590800"/>
            <a:ext cx="3048000" cy="228600"/>
          </a:xfrm>
          <a:prstGeom prst="rect">
            <a:avLst/>
          </a:prstGeom>
          <a:noFill/>
          <a:ln>
            <a:solidFill>
              <a:srgbClr val="FF0000"/>
            </a:solidFill>
          </a:ln>
        </p:spPr>
        <p:txBody>
          <a:bodyPr wrap="square" rtlCol="0">
            <a:spAutoFit/>
          </a:bodyPr>
          <a:lstStyle/>
          <a:p>
            <a:endParaRPr lang="en-US"/>
          </a:p>
        </p:txBody>
      </p:sp>
      <p:sp>
        <p:nvSpPr>
          <p:cNvPr id="9" name="TextBox 8">
            <a:extLst>
              <a:ext uri="{FF2B5EF4-FFF2-40B4-BE49-F238E27FC236}">
                <a16:creationId xmlns:a16="http://schemas.microsoft.com/office/drawing/2014/main" id="{A6709C04-4245-F246-A897-5211896F64E6}"/>
              </a:ext>
            </a:extLst>
          </p:cNvPr>
          <p:cNvSpPr txBox="1"/>
          <p:nvPr/>
        </p:nvSpPr>
        <p:spPr>
          <a:xfrm>
            <a:off x="6290734" y="4171950"/>
            <a:ext cx="3276600" cy="476250"/>
          </a:xfrm>
          <a:prstGeom prst="rect">
            <a:avLst/>
          </a:prstGeom>
          <a:noFill/>
          <a:ln>
            <a:solidFill>
              <a:srgbClr val="FF0000"/>
            </a:solidFill>
          </a:ln>
        </p:spPr>
        <p:txBody>
          <a:bodyPr wrap="square" rtlCol="0">
            <a:spAutoFit/>
          </a:bodyPr>
          <a:lstStyle/>
          <a:p>
            <a:endParaRPr lang="en-US"/>
          </a:p>
        </p:txBody>
      </p:sp>
      <p:sp>
        <p:nvSpPr>
          <p:cNvPr id="10" name="TextBox 9">
            <a:extLst>
              <a:ext uri="{FF2B5EF4-FFF2-40B4-BE49-F238E27FC236}">
                <a16:creationId xmlns:a16="http://schemas.microsoft.com/office/drawing/2014/main" id="{B3583FCB-4691-DD4A-806B-350391719AF9}"/>
              </a:ext>
            </a:extLst>
          </p:cNvPr>
          <p:cNvSpPr txBox="1"/>
          <p:nvPr/>
        </p:nvSpPr>
        <p:spPr>
          <a:xfrm>
            <a:off x="6290734" y="5404379"/>
            <a:ext cx="3048000" cy="228600"/>
          </a:xfrm>
          <a:prstGeom prst="rect">
            <a:avLst/>
          </a:prstGeom>
          <a:noFill/>
          <a:ln>
            <a:solidFill>
              <a:srgbClr val="FF0000"/>
            </a:solidFill>
          </a:ln>
        </p:spPr>
        <p:txBody>
          <a:bodyPr wrap="square" rtlCol="0">
            <a:spAutoFit/>
          </a:bodyPr>
          <a:lstStyle/>
          <a:p>
            <a:endParaRPr lang="en-US"/>
          </a:p>
        </p:txBody>
      </p:sp>
      <p:sp>
        <p:nvSpPr>
          <p:cNvPr id="11" name="TextBox 10">
            <a:extLst>
              <a:ext uri="{FF2B5EF4-FFF2-40B4-BE49-F238E27FC236}">
                <a16:creationId xmlns:a16="http://schemas.microsoft.com/office/drawing/2014/main" id="{D9CFB395-A146-084C-AFC8-69C73A3045B8}"/>
              </a:ext>
            </a:extLst>
          </p:cNvPr>
          <p:cNvSpPr txBox="1"/>
          <p:nvPr/>
        </p:nvSpPr>
        <p:spPr>
          <a:xfrm>
            <a:off x="6290734" y="6019800"/>
            <a:ext cx="3048000" cy="228600"/>
          </a:xfrm>
          <a:prstGeom prst="rect">
            <a:avLst/>
          </a:prstGeom>
          <a:noFill/>
          <a:ln>
            <a:solidFill>
              <a:srgbClr val="FF0000"/>
            </a:solidFill>
          </a:ln>
        </p:spPr>
        <p:txBody>
          <a:bodyPr wrap="square" rtlCol="0">
            <a:spAutoFit/>
          </a:bodyPr>
          <a:lstStyle/>
          <a:p>
            <a:endParaRPr lang="en-US"/>
          </a:p>
        </p:txBody>
      </p:sp>
    </p:spTree>
    <p:extLst>
      <p:ext uri="{BB962C8B-B14F-4D97-AF65-F5344CB8AC3E}">
        <p14:creationId xmlns:p14="http://schemas.microsoft.com/office/powerpoint/2010/main" val="28009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plot(DIF, labels = c("Female", "Male”))</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2400" y="1605564"/>
            <a:ext cx="5796152" cy="4525963"/>
          </a:xfrm>
        </p:spPr>
      </p:pic>
      <p:sp>
        <p:nvSpPr>
          <p:cNvPr id="8" name="Slide Number Placeholder 7"/>
          <p:cNvSpPr>
            <a:spLocks noGrp="1"/>
          </p:cNvSpPr>
          <p:nvPr>
            <p:ph type="sldNum" sz="quarter" idx="12"/>
          </p:nvPr>
        </p:nvSpPr>
        <p:spPr/>
        <p:txBody>
          <a:bodyPr/>
          <a:lstStyle/>
          <a:p>
            <a:pPr>
              <a:defRPr/>
            </a:pPr>
            <a:fld id="{CD98E987-055C-A941-82AA-E638330DCBBF}" type="slidenum">
              <a:rPr lang="en-US"/>
              <a:pPr>
                <a:defRPr/>
              </a:pPr>
              <a:t>52</a:t>
            </a:fld>
            <a:endParaRPr lang="en-US"/>
          </a:p>
        </p:txBody>
      </p:sp>
      <p:sp>
        <p:nvSpPr>
          <p:cNvPr id="2" name="TextBox 1">
            <a:extLst>
              <a:ext uri="{FF2B5EF4-FFF2-40B4-BE49-F238E27FC236}">
                <a16:creationId xmlns:a16="http://schemas.microsoft.com/office/drawing/2014/main" id="{032FAA67-D2A5-3E4C-B9F3-88EB18941D73}"/>
              </a:ext>
            </a:extLst>
          </p:cNvPr>
          <p:cNvSpPr txBox="1"/>
          <p:nvPr/>
        </p:nvSpPr>
        <p:spPr>
          <a:xfrm>
            <a:off x="457200" y="2209800"/>
            <a:ext cx="2514600" cy="4524315"/>
          </a:xfrm>
          <a:prstGeom prst="rect">
            <a:avLst/>
          </a:prstGeom>
          <a:noFill/>
        </p:spPr>
        <p:txBody>
          <a:bodyPr wrap="square" rtlCol="0">
            <a:spAutoFit/>
          </a:bodyPr>
          <a:lstStyle/>
          <a:p>
            <a:r>
              <a:rPr lang="en-US"/>
              <a:t>This is the final estimate of the ”true” differences between the two groups on the underlying construct (based on items not flagged for DIF). We can see there is very little difference between these distributions, but males are slightly higher than females (note slight shift to the right of red line vs black).</a:t>
            </a:r>
          </a:p>
        </p:txBody>
      </p:sp>
    </p:spTree>
    <p:extLst>
      <p:ext uri="{BB962C8B-B14F-4D97-AF65-F5344CB8AC3E}">
        <p14:creationId xmlns:p14="http://schemas.microsoft.com/office/powerpoint/2010/main" val="11790492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9DF669-407A-EA49-B0F0-4A0924F4B0BB}"/>
              </a:ext>
            </a:extLst>
          </p:cNvPr>
          <p:cNvSpPr>
            <a:spLocks noGrp="1"/>
          </p:cNvSpPr>
          <p:nvPr>
            <p:ph type="sldNum" sz="quarter" idx="12"/>
          </p:nvPr>
        </p:nvSpPr>
        <p:spPr/>
        <p:txBody>
          <a:bodyPr/>
          <a:lstStyle/>
          <a:p>
            <a:pPr>
              <a:defRPr/>
            </a:pPr>
            <a:fld id="{CD98E987-055C-A941-82AA-E638330DCBBF}" type="slidenum">
              <a:rPr lang="en-US"/>
              <a:pPr>
                <a:defRPr/>
              </a:pPr>
              <a:t>53</a:t>
            </a:fld>
            <a:endParaRPr lang="en-US"/>
          </a:p>
        </p:txBody>
      </p:sp>
      <p:sp>
        <p:nvSpPr>
          <p:cNvPr id="7" name="TextBox 6">
            <a:extLst>
              <a:ext uri="{FF2B5EF4-FFF2-40B4-BE49-F238E27FC236}">
                <a16:creationId xmlns:a16="http://schemas.microsoft.com/office/drawing/2014/main" id="{2814D4C5-46CC-4B4F-9E9C-2B9DA0CBF90B}"/>
              </a:ext>
            </a:extLst>
          </p:cNvPr>
          <p:cNvSpPr txBox="1"/>
          <p:nvPr/>
        </p:nvSpPr>
        <p:spPr>
          <a:xfrm>
            <a:off x="1981200" y="2667000"/>
            <a:ext cx="8229600" cy="1077218"/>
          </a:xfrm>
          <a:prstGeom prst="rect">
            <a:avLst/>
          </a:prstGeom>
          <a:noFill/>
        </p:spPr>
        <p:txBody>
          <a:bodyPr wrap="square" rtlCol="0">
            <a:spAutoFit/>
          </a:bodyPr>
          <a:lstStyle/>
          <a:p>
            <a:r>
              <a:rPr lang="en-US" sz="3200">
                <a:latin typeface="Calibri" panose="020F0502020204030204" pitchFamily="34" charset="0"/>
                <a:cs typeface="Calibri" panose="020F0502020204030204" pitchFamily="34" charset="0"/>
              </a:rPr>
              <a:t>Let’s have a closer look at the 5 items that were flagged for DIF</a:t>
            </a:r>
          </a:p>
        </p:txBody>
      </p:sp>
    </p:spTree>
    <p:extLst>
      <p:ext uri="{BB962C8B-B14F-4D97-AF65-F5344CB8AC3E}">
        <p14:creationId xmlns:p14="http://schemas.microsoft.com/office/powerpoint/2010/main" val="14442012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1981200" y="275677"/>
            <a:ext cx="8458200" cy="6545693"/>
          </a:xfrm>
        </p:spPr>
      </p:pic>
      <p:sp>
        <p:nvSpPr>
          <p:cNvPr id="5" name="Slide Number Placeholder 4"/>
          <p:cNvSpPr>
            <a:spLocks noGrp="1"/>
          </p:cNvSpPr>
          <p:nvPr>
            <p:ph type="sldNum" sz="quarter" idx="12"/>
          </p:nvPr>
        </p:nvSpPr>
        <p:spPr/>
        <p:txBody>
          <a:bodyPr/>
          <a:lstStyle/>
          <a:p>
            <a:pPr>
              <a:defRPr/>
            </a:pPr>
            <a:fld id="{82792DE7-658D-A340-982F-16F3F548D202}" type="slidenum">
              <a:rPr lang="en-US"/>
              <a:pPr>
                <a:defRPr/>
              </a:pPr>
              <a:t>54</a:t>
            </a:fld>
            <a:endParaRPr lang="en-US"/>
          </a:p>
        </p:txBody>
      </p:sp>
      <p:sp>
        <p:nvSpPr>
          <p:cNvPr id="2" name="TextBox 1">
            <a:extLst>
              <a:ext uri="{FF2B5EF4-FFF2-40B4-BE49-F238E27FC236}">
                <a16:creationId xmlns:a16="http://schemas.microsoft.com/office/drawing/2014/main" id="{66E11C5A-8B6D-664A-8626-6204E3DD1CCC}"/>
              </a:ext>
            </a:extLst>
          </p:cNvPr>
          <p:cNvSpPr txBox="1"/>
          <p:nvPr/>
        </p:nvSpPr>
        <p:spPr>
          <a:xfrm>
            <a:off x="99391" y="1066800"/>
            <a:ext cx="1676400" cy="1754326"/>
          </a:xfrm>
          <a:prstGeom prst="rect">
            <a:avLst/>
          </a:prstGeom>
          <a:noFill/>
        </p:spPr>
        <p:txBody>
          <a:bodyPr wrap="square" rtlCol="0">
            <a:spAutoFit/>
          </a:bodyPr>
          <a:lstStyle/>
          <a:p>
            <a:r>
              <a:rPr lang="en-US">
                <a:latin typeface="Calibri" panose="020F0502020204030204" pitchFamily="34" charset="0"/>
                <a:cs typeface="Calibri" panose="020F0502020204030204" pitchFamily="34" charset="0"/>
              </a:rPr>
              <a:t>Note this item actually shows evidence of DIF in favor of females</a:t>
            </a:r>
          </a:p>
          <a:p>
            <a:endParaRPr lang="en-US"/>
          </a:p>
        </p:txBody>
      </p:sp>
      <p:sp>
        <p:nvSpPr>
          <p:cNvPr id="3" name="Oval 2">
            <a:extLst>
              <a:ext uri="{FF2B5EF4-FFF2-40B4-BE49-F238E27FC236}">
                <a16:creationId xmlns:a16="http://schemas.microsoft.com/office/drawing/2014/main" id="{B5EA7008-877B-E7C2-58C4-071D05558DA2}"/>
              </a:ext>
            </a:extLst>
          </p:cNvPr>
          <p:cNvSpPr/>
          <p:nvPr/>
        </p:nvSpPr>
        <p:spPr>
          <a:xfrm>
            <a:off x="2819400" y="4497526"/>
            <a:ext cx="381000" cy="226874"/>
          </a:xfrm>
          <a:prstGeom prst="ellipse">
            <a:avLst/>
          </a:prstGeom>
          <a:no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E0B79A16-5A12-FFC5-E0BF-4D882A067BFA}"/>
              </a:ext>
            </a:extLst>
          </p:cNvPr>
          <p:cNvCxnSpPr/>
          <p:nvPr/>
        </p:nvCxnSpPr>
        <p:spPr>
          <a:xfrm>
            <a:off x="2133600" y="4038600"/>
            <a:ext cx="685800" cy="458926"/>
          </a:xfrm>
          <a:prstGeom prst="straightConnector1">
            <a:avLst/>
          </a:prstGeom>
          <a:ln w="127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676318D-13E2-6966-2A6F-333C13014ABD}"/>
              </a:ext>
            </a:extLst>
          </p:cNvPr>
          <p:cNvSpPr txBox="1"/>
          <p:nvPr/>
        </p:nvSpPr>
        <p:spPr>
          <a:xfrm>
            <a:off x="1230796" y="3716538"/>
            <a:ext cx="1295400" cy="523220"/>
          </a:xfrm>
          <a:prstGeom prst="rect">
            <a:avLst/>
          </a:prstGeom>
          <a:noFill/>
        </p:spPr>
        <p:txBody>
          <a:bodyPr wrap="square" rtlCol="0">
            <a:spAutoFit/>
          </a:bodyPr>
          <a:lstStyle/>
          <a:p>
            <a:r>
              <a:rPr lang="en-US" sz="1400"/>
              <a:t>Item slope, females</a:t>
            </a:r>
          </a:p>
        </p:txBody>
      </p:sp>
      <p:sp>
        <p:nvSpPr>
          <p:cNvPr id="9" name="Oval 8">
            <a:extLst>
              <a:ext uri="{FF2B5EF4-FFF2-40B4-BE49-F238E27FC236}">
                <a16:creationId xmlns:a16="http://schemas.microsoft.com/office/drawing/2014/main" id="{3C467CA4-A243-6466-A056-2E204D75368D}"/>
              </a:ext>
            </a:extLst>
          </p:cNvPr>
          <p:cNvSpPr/>
          <p:nvPr/>
        </p:nvSpPr>
        <p:spPr>
          <a:xfrm>
            <a:off x="3200400" y="4497526"/>
            <a:ext cx="381000" cy="226874"/>
          </a:xfrm>
          <a:prstGeom prst="ellipse">
            <a:avLst/>
          </a:prstGeom>
          <a:no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055D2DB0-4233-EDAE-1E35-F5EBD7BE09DB}"/>
              </a:ext>
            </a:extLst>
          </p:cNvPr>
          <p:cNvCxnSpPr>
            <a:cxnSpLocks/>
          </p:cNvCxnSpPr>
          <p:nvPr/>
        </p:nvCxnSpPr>
        <p:spPr>
          <a:xfrm>
            <a:off x="2426804" y="3479095"/>
            <a:ext cx="849796" cy="1018431"/>
          </a:xfrm>
          <a:prstGeom prst="straightConnector1">
            <a:avLst/>
          </a:prstGeom>
          <a:ln w="127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190D519-DB41-9021-9362-8FCD96A6846B}"/>
              </a:ext>
            </a:extLst>
          </p:cNvPr>
          <p:cNvSpPr txBox="1"/>
          <p:nvPr/>
        </p:nvSpPr>
        <p:spPr>
          <a:xfrm>
            <a:off x="1524000" y="3157033"/>
            <a:ext cx="1295400" cy="523220"/>
          </a:xfrm>
          <a:prstGeom prst="rect">
            <a:avLst/>
          </a:prstGeom>
          <a:noFill/>
        </p:spPr>
        <p:txBody>
          <a:bodyPr wrap="square" rtlCol="0">
            <a:spAutoFit/>
          </a:bodyPr>
          <a:lstStyle/>
          <a:p>
            <a:r>
              <a:rPr lang="en-US" sz="1400"/>
              <a:t>Item location, females</a:t>
            </a:r>
          </a:p>
        </p:txBody>
      </p:sp>
    </p:spTree>
    <p:extLst>
      <p:ext uri="{BB962C8B-B14F-4D97-AF65-F5344CB8AC3E}">
        <p14:creationId xmlns:p14="http://schemas.microsoft.com/office/powerpoint/2010/main" val="186766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8" grpId="0"/>
      <p:bldP spid="9" grpId="0" animBg="1"/>
      <p:bldP spid="1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0"/>
            <a:ext cx="8820544" cy="6858000"/>
          </a:xfrm>
          <a:prstGeom prst="rect">
            <a:avLst/>
          </a:prstGeom>
        </p:spPr>
      </p:pic>
      <p:sp>
        <p:nvSpPr>
          <p:cNvPr id="3" name="Slide Number Placeholder 2"/>
          <p:cNvSpPr>
            <a:spLocks noGrp="1"/>
          </p:cNvSpPr>
          <p:nvPr>
            <p:ph type="sldNum" sz="quarter" idx="12"/>
          </p:nvPr>
        </p:nvSpPr>
        <p:spPr/>
        <p:txBody>
          <a:bodyPr/>
          <a:lstStyle/>
          <a:p>
            <a:pPr>
              <a:defRPr/>
            </a:pPr>
            <a:fld id="{82792DE7-658D-A340-982F-16F3F548D202}" type="slidenum">
              <a:rPr lang="en-US"/>
              <a:pPr>
                <a:defRPr/>
              </a:pPr>
              <a:t>55</a:t>
            </a:fld>
            <a:endParaRPr lang="en-US"/>
          </a:p>
        </p:txBody>
      </p:sp>
    </p:spTree>
    <p:extLst>
      <p:ext uri="{BB962C8B-B14F-4D97-AF65-F5344CB8AC3E}">
        <p14:creationId xmlns:p14="http://schemas.microsoft.com/office/powerpoint/2010/main" val="11478954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800" y="0"/>
            <a:ext cx="8786474" cy="6858000"/>
          </a:xfrm>
          <a:prstGeom prst="rect">
            <a:avLst/>
          </a:prstGeom>
        </p:spPr>
      </p:pic>
      <p:sp>
        <p:nvSpPr>
          <p:cNvPr id="3" name="Slide Number Placeholder 2"/>
          <p:cNvSpPr>
            <a:spLocks noGrp="1"/>
          </p:cNvSpPr>
          <p:nvPr>
            <p:ph type="sldNum" sz="quarter" idx="12"/>
          </p:nvPr>
        </p:nvSpPr>
        <p:spPr/>
        <p:txBody>
          <a:bodyPr/>
          <a:lstStyle/>
          <a:p>
            <a:pPr>
              <a:defRPr/>
            </a:pPr>
            <a:fld id="{82792DE7-658D-A340-982F-16F3F548D202}" type="slidenum">
              <a:rPr lang="en-US"/>
              <a:pPr>
                <a:defRPr/>
              </a:pPr>
              <a:t>56</a:t>
            </a:fld>
            <a:endParaRPr lang="en-US"/>
          </a:p>
        </p:txBody>
      </p:sp>
    </p:spTree>
    <p:extLst>
      <p:ext uri="{BB962C8B-B14F-4D97-AF65-F5344CB8AC3E}">
        <p14:creationId xmlns:p14="http://schemas.microsoft.com/office/powerpoint/2010/main" val="7541587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1801" y="0"/>
            <a:ext cx="8784771" cy="6858000"/>
          </a:xfrm>
          <a:prstGeom prst="rect">
            <a:avLst/>
          </a:prstGeom>
        </p:spPr>
      </p:pic>
      <p:sp>
        <p:nvSpPr>
          <p:cNvPr id="3" name="Slide Number Placeholder 2"/>
          <p:cNvSpPr>
            <a:spLocks noGrp="1"/>
          </p:cNvSpPr>
          <p:nvPr>
            <p:ph type="sldNum" sz="quarter" idx="12"/>
          </p:nvPr>
        </p:nvSpPr>
        <p:spPr/>
        <p:txBody>
          <a:bodyPr/>
          <a:lstStyle/>
          <a:p>
            <a:pPr>
              <a:defRPr/>
            </a:pPr>
            <a:fld id="{82792DE7-658D-A340-982F-16F3F548D202}" type="slidenum">
              <a:rPr lang="en-US"/>
              <a:pPr>
                <a:defRPr/>
              </a:pPr>
              <a:t>57</a:t>
            </a:fld>
            <a:endParaRPr lang="en-US"/>
          </a:p>
        </p:txBody>
      </p:sp>
      <p:sp>
        <p:nvSpPr>
          <p:cNvPr id="4" name="TextBox 3">
            <a:extLst>
              <a:ext uri="{FF2B5EF4-FFF2-40B4-BE49-F238E27FC236}">
                <a16:creationId xmlns:a16="http://schemas.microsoft.com/office/drawing/2014/main" id="{33B46AD6-0F29-2A4B-9077-88BC6EAE18D7}"/>
              </a:ext>
            </a:extLst>
          </p:cNvPr>
          <p:cNvSpPr txBox="1"/>
          <p:nvPr/>
        </p:nvSpPr>
        <p:spPr>
          <a:xfrm>
            <a:off x="0" y="3048000"/>
            <a:ext cx="2209800" cy="1219200"/>
          </a:xfrm>
          <a:prstGeom prst="rect">
            <a:avLst/>
          </a:prstGeom>
          <a:noFill/>
        </p:spPr>
        <p:txBody>
          <a:bodyPr wrap="square" rtlCol="0">
            <a:spAutoFit/>
          </a:bodyPr>
          <a:lstStyle/>
          <a:p>
            <a:r>
              <a:rPr lang="en-US"/>
              <a:t>First example of strong non-uniform DIF</a:t>
            </a:r>
          </a:p>
          <a:p>
            <a:endParaRPr lang="en-US"/>
          </a:p>
        </p:txBody>
      </p:sp>
    </p:spTree>
    <p:extLst>
      <p:ext uri="{BB962C8B-B14F-4D97-AF65-F5344CB8AC3E}">
        <p14:creationId xmlns:p14="http://schemas.microsoft.com/office/powerpoint/2010/main" val="12704772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9901" y="0"/>
            <a:ext cx="8699801" cy="6858000"/>
          </a:xfrm>
          <a:prstGeom prst="rect">
            <a:avLst/>
          </a:prstGeom>
        </p:spPr>
      </p:pic>
      <p:sp>
        <p:nvSpPr>
          <p:cNvPr id="3" name="Slide Number Placeholder 2"/>
          <p:cNvSpPr>
            <a:spLocks noGrp="1"/>
          </p:cNvSpPr>
          <p:nvPr>
            <p:ph type="sldNum" sz="quarter" idx="12"/>
          </p:nvPr>
        </p:nvSpPr>
        <p:spPr/>
        <p:txBody>
          <a:bodyPr/>
          <a:lstStyle/>
          <a:p>
            <a:pPr>
              <a:defRPr/>
            </a:pPr>
            <a:fld id="{82792DE7-658D-A340-982F-16F3F548D202}" type="slidenum">
              <a:rPr lang="en-US"/>
              <a:pPr>
                <a:defRPr/>
              </a:pPr>
              <a:t>58</a:t>
            </a:fld>
            <a:endParaRPr lang="en-US"/>
          </a:p>
        </p:txBody>
      </p:sp>
    </p:spTree>
    <p:extLst>
      <p:ext uri="{BB962C8B-B14F-4D97-AF65-F5344CB8AC3E}">
        <p14:creationId xmlns:p14="http://schemas.microsoft.com/office/powerpoint/2010/main" val="16321460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31C89E-E527-8F4D-9E8B-57715B1BBE66}"/>
              </a:ext>
            </a:extLst>
          </p:cNvPr>
          <p:cNvSpPr>
            <a:spLocks noGrp="1"/>
          </p:cNvSpPr>
          <p:nvPr>
            <p:ph type="sldNum" sz="quarter" idx="12"/>
          </p:nvPr>
        </p:nvSpPr>
        <p:spPr/>
        <p:txBody>
          <a:bodyPr/>
          <a:lstStyle/>
          <a:p>
            <a:pPr>
              <a:defRPr/>
            </a:pPr>
            <a:fld id="{82792DE7-658D-A340-982F-16F3F548D202}" type="slidenum">
              <a:rPr lang="en-US"/>
              <a:pPr>
                <a:defRPr/>
              </a:pPr>
              <a:t>59</a:t>
            </a:fld>
            <a:endParaRPr lang="en-US"/>
          </a:p>
        </p:txBody>
      </p:sp>
      <p:sp>
        <p:nvSpPr>
          <p:cNvPr id="3" name="TextBox 2">
            <a:extLst>
              <a:ext uri="{FF2B5EF4-FFF2-40B4-BE49-F238E27FC236}">
                <a16:creationId xmlns:a16="http://schemas.microsoft.com/office/drawing/2014/main" id="{2C38C66F-F22D-E049-B901-FDA67239DDB9}"/>
              </a:ext>
            </a:extLst>
          </p:cNvPr>
          <p:cNvSpPr txBox="1"/>
          <p:nvPr/>
        </p:nvSpPr>
        <p:spPr>
          <a:xfrm>
            <a:off x="1981200" y="2667000"/>
            <a:ext cx="8229600" cy="1077218"/>
          </a:xfrm>
          <a:prstGeom prst="rect">
            <a:avLst/>
          </a:prstGeom>
          <a:noFill/>
        </p:spPr>
        <p:txBody>
          <a:bodyPr wrap="square" rtlCol="0">
            <a:spAutoFit/>
          </a:bodyPr>
          <a:lstStyle/>
          <a:p>
            <a:r>
              <a:rPr lang="en-US" sz="3200" b="1">
                <a:latin typeface="Calibri" panose="020F0502020204030204" pitchFamily="34" charset="0"/>
                <a:cs typeface="Calibri" panose="020F0502020204030204" pitchFamily="34" charset="0"/>
              </a:rPr>
              <a:t>What’s the overall impact of DIF on test score inferences?</a:t>
            </a:r>
          </a:p>
        </p:txBody>
      </p:sp>
    </p:spTree>
    <p:extLst>
      <p:ext uri="{BB962C8B-B14F-4D97-AF65-F5344CB8AC3E}">
        <p14:creationId xmlns:p14="http://schemas.microsoft.com/office/powerpoint/2010/main" val="32713396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0"/>
            <a:ext cx="8920886" cy="6858000"/>
          </a:xfrm>
          <a:prstGeom prst="rect">
            <a:avLst/>
          </a:prstGeom>
        </p:spPr>
      </p:pic>
      <p:sp>
        <p:nvSpPr>
          <p:cNvPr id="3" name="Slide Number Placeholder 2"/>
          <p:cNvSpPr>
            <a:spLocks noGrp="1"/>
          </p:cNvSpPr>
          <p:nvPr>
            <p:ph type="sldNum" sz="quarter" idx="12"/>
          </p:nvPr>
        </p:nvSpPr>
        <p:spPr/>
        <p:txBody>
          <a:bodyPr/>
          <a:lstStyle/>
          <a:p>
            <a:pPr>
              <a:defRPr/>
            </a:pPr>
            <a:fld id="{82792DE7-658D-A340-982F-16F3F548D202}" type="slidenum">
              <a:rPr lang="en-US"/>
              <a:pPr>
                <a:defRPr/>
              </a:pPr>
              <a:t>60</a:t>
            </a:fld>
            <a:endParaRPr lang="en-US"/>
          </a:p>
        </p:txBody>
      </p:sp>
    </p:spTree>
    <p:extLst>
      <p:ext uri="{BB962C8B-B14F-4D97-AF65-F5344CB8AC3E}">
        <p14:creationId xmlns:p14="http://schemas.microsoft.com/office/powerpoint/2010/main" val="10890032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1236"/>
            <a:ext cx="8784771" cy="6858000"/>
          </a:xfrm>
          <a:prstGeom prst="rect">
            <a:avLst/>
          </a:prstGeom>
        </p:spPr>
      </p:pic>
      <p:sp>
        <p:nvSpPr>
          <p:cNvPr id="3" name="Slide Number Placeholder 2"/>
          <p:cNvSpPr>
            <a:spLocks noGrp="1"/>
          </p:cNvSpPr>
          <p:nvPr>
            <p:ph type="sldNum" sz="quarter" idx="12"/>
          </p:nvPr>
        </p:nvSpPr>
        <p:spPr/>
        <p:txBody>
          <a:bodyPr/>
          <a:lstStyle/>
          <a:p>
            <a:pPr>
              <a:defRPr/>
            </a:pPr>
            <a:fld id="{82792DE7-658D-A340-982F-16F3F548D202}" type="slidenum">
              <a:rPr lang="en-US"/>
              <a:pPr>
                <a:defRPr/>
              </a:pPr>
              <a:t>61</a:t>
            </a:fld>
            <a:endParaRPr lang="en-US"/>
          </a:p>
        </p:txBody>
      </p:sp>
      <p:sp>
        <p:nvSpPr>
          <p:cNvPr id="4" name="TextBox 3">
            <a:extLst>
              <a:ext uri="{FF2B5EF4-FFF2-40B4-BE49-F238E27FC236}">
                <a16:creationId xmlns:a16="http://schemas.microsoft.com/office/drawing/2014/main" id="{1F1F5C42-6865-594C-857F-59ED278CF4B0}"/>
              </a:ext>
            </a:extLst>
          </p:cNvPr>
          <p:cNvSpPr txBox="1"/>
          <p:nvPr/>
        </p:nvSpPr>
        <p:spPr>
          <a:xfrm>
            <a:off x="9013371" y="1828800"/>
            <a:ext cx="2797629" cy="3693319"/>
          </a:xfrm>
          <a:prstGeom prst="rect">
            <a:avLst/>
          </a:prstGeom>
          <a:noFill/>
        </p:spPr>
        <p:txBody>
          <a:bodyPr wrap="square" rtlCol="0">
            <a:spAutoFit/>
          </a:bodyPr>
          <a:lstStyle/>
          <a:p>
            <a:r>
              <a:rPr lang="en-US">
                <a:latin typeface="Calibri" panose="020F0502020204030204" pitchFamily="34" charset="0"/>
                <a:cs typeface="Calibri" panose="020F0502020204030204" pitchFamily="34" charset="0"/>
              </a:rPr>
              <a:t>Values &gt; 0 indicate that after adjusting for DIF, score goes down (most males)</a:t>
            </a:r>
          </a:p>
          <a:p>
            <a:endParaRPr lang="en-US">
              <a:latin typeface="Calibri" panose="020F0502020204030204" pitchFamily="34" charset="0"/>
              <a:cs typeface="Calibri" panose="020F0502020204030204" pitchFamily="34" charset="0"/>
            </a:endParaRPr>
          </a:p>
          <a:p>
            <a:r>
              <a:rPr lang="en-US">
                <a:latin typeface="Calibri" panose="020F0502020204030204" pitchFamily="34" charset="0"/>
                <a:cs typeface="Calibri" panose="020F0502020204030204" pitchFamily="34" charset="0"/>
              </a:rPr>
              <a:t>Values &lt; 0 indicate that after adjusting for DIF, score goes up (most females)</a:t>
            </a:r>
          </a:p>
          <a:p>
            <a:endParaRPr lang="en-US">
              <a:latin typeface="Calibri" panose="020F0502020204030204" pitchFamily="34" charset="0"/>
              <a:cs typeface="Calibri" panose="020F0502020204030204" pitchFamily="34" charset="0"/>
            </a:endParaRPr>
          </a:p>
          <a:p>
            <a:r>
              <a:rPr lang="en-US">
                <a:latin typeface="Calibri" panose="020F0502020204030204" pitchFamily="34" charset="0"/>
                <a:cs typeface="Calibri" panose="020F0502020204030204" pitchFamily="34" charset="0"/>
              </a:rPr>
              <a:t>But relative increase is very small.</a:t>
            </a:r>
          </a:p>
          <a:p>
            <a:endParaRPr lang="en-US"/>
          </a:p>
          <a:p>
            <a:endParaRPr lang="en-US"/>
          </a:p>
          <a:p>
            <a:endParaRPr lang="en-US"/>
          </a:p>
        </p:txBody>
      </p:sp>
      <p:sp>
        <p:nvSpPr>
          <p:cNvPr id="5" name="TextBox 4">
            <a:extLst>
              <a:ext uri="{FF2B5EF4-FFF2-40B4-BE49-F238E27FC236}">
                <a16:creationId xmlns:a16="http://schemas.microsoft.com/office/drawing/2014/main" id="{5BBA783E-70DE-7646-828E-2D1593DB96D0}"/>
              </a:ext>
            </a:extLst>
          </p:cNvPr>
          <p:cNvSpPr txBox="1"/>
          <p:nvPr/>
        </p:nvSpPr>
        <p:spPr>
          <a:xfrm>
            <a:off x="246089" y="6075144"/>
            <a:ext cx="3505200" cy="646331"/>
          </a:xfrm>
          <a:prstGeom prst="rect">
            <a:avLst/>
          </a:prstGeom>
          <a:noFill/>
        </p:spPr>
        <p:txBody>
          <a:bodyPr wrap="square" rtlCol="0">
            <a:spAutoFit/>
          </a:bodyPr>
          <a:lstStyle/>
          <a:p>
            <a:r>
              <a:rPr lang="en-US">
                <a:latin typeface="Calibri" panose="020F0502020204030204" pitchFamily="34" charset="0"/>
                <a:cs typeface="Calibri" panose="020F0502020204030204" pitchFamily="34" charset="0"/>
              </a:rPr>
              <a:t>Boxplot of all differences on right, ignoring initial theta</a:t>
            </a:r>
          </a:p>
        </p:txBody>
      </p:sp>
      <p:sp>
        <p:nvSpPr>
          <p:cNvPr id="6" name="TextBox 5">
            <a:extLst>
              <a:ext uri="{FF2B5EF4-FFF2-40B4-BE49-F238E27FC236}">
                <a16:creationId xmlns:a16="http://schemas.microsoft.com/office/drawing/2014/main" id="{C8870AB5-B3FE-4640-A822-6FFC0B645C40}"/>
              </a:ext>
            </a:extLst>
          </p:cNvPr>
          <p:cNvSpPr txBox="1"/>
          <p:nvPr/>
        </p:nvSpPr>
        <p:spPr>
          <a:xfrm>
            <a:off x="914400" y="153458"/>
            <a:ext cx="6858000" cy="461665"/>
          </a:xfrm>
          <a:prstGeom prst="rect">
            <a:avLst/>
          </a:prstGeom>
          <a:noFill/>
        </p:spPr>
        <p:txBody>
          <a:bodyPr wrap="square" rtlCol="0">
            <a:spAutoFit/>
          </a:bodyPr>
          <a:lstStyle/>
          <a:p>
            <a:r>
              <a:rPr lang="en-US" sz="2400" b="1">
                <a:latin typeface="Calibri" panose="020F0502020204030204" pitchFamily="34" charset="0"/>
                <a:cs typeface="Calibri" panose="020F0502020204030204" pitchFamily="34" charset="0"/>
              </a:rPr>
              <a:t>Impact on logit metric</a:t>
            </a:r>
          </a:p>
        </p:txBody>
      </p:sp>
    </p:spTree>
    <p:extLst>
      <p:ext uri="{BB962C8B-B14F-4D97-AF65-F5344CB8AC3E}">
        <p14:creationId xmlns:p14="http://schemas.microsoft.com/office/powerpoint/2010/main" val="2605332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a:t>Are the Differences Practically Significant?</a:t>
            </a:r>
          </a:p>
        </p:txBody>
      </p:sp>
      <p:pic>
        <p:nvPicPr>
          <p:cNvPr id="6" name="Content Placeholder 5"/>
          <p:cNvPicPr>
            <a:picLocks noGrp="1" noChangeAspect="1"/>
          </p:cNvPicPr>
          <p:nvPr>
            <p:ph sz="half" idx="1"/>
          </p:nvPr>
        </p:nvPicPr>
        <p:blipFill>
          <a:blip r:embed="rId2"/>
          <a:stretch>
            <a:fillRect/>
          </a:stretch>
        </p:blipFill>
        <p:spPr>
          <a:xfrm>
            <a:off x="1905000" y="1447800"/>
            <a:ext cx="4038600" cy="3230880"/>
          </a:xfrm>
          <a:prstGeom prst="rect">
            <a:avLst/>
          </a:prstGeom>
        </p:spPr>
      </p:pic>
      <p:sp>
        <p:nvSpPr>
          <p:cNvPr id="5" name="Content Placeholder 4"/>
          <p:cNvSpPr>
            <a:spLocks noGrp="1"/>
          </p:cNvSpPr>
          <p:nvPr>
            <p:ph sz="half" idx="2"/>
          </p:nvPr>
        </p:nvSpPr>
        <p:spPr/>
        <p:txBody>
          <a:bodyPr/>
          <a:lstStyle/>
          <a:p>
            <a:pPr eaLnBrk="1" fontAlgn="auto" hangingPunct="1">
              <a:spcBef>
                <a:spcPts val="0"/>
              </a:spcBef>
              <a:spcAft>
                <a:spcPts val="0"/>
              </a:spcAft>
            </a:pPr>
            <a:r>
              <a:rPr lang="en-US" sz="2400"/>
              <a:t>Recall that the SEM from 0 to 2 is between about .5 and .8 logits</a:t>
            </a:r>
          </a:p>
          <a:p>
            <a:pPr eaLnBrk="1" fontAlgn="auto" hangingPunct="1">
              <a:spcBef>
                <a:spcPts val="0"/>
              </a:spcBef>
              <a:spcAft>
                <a:spcPts val="0"/>
              </a:spcAft>
            </a:pPr>
            <a:r>
              <a:rPr lang="en-US" sz="2400"/>
              <a:t>The differences in individual thetas potentially caused by biased items is between .05 and .15 logits. </a:t>
            </a:r>
          </a:p>
          <a:p>
            <a:pPr eaLnBrk="1" fontAlgn="auto" hangingPunct="1">
              <a:spcBef>
                <a:spcPts val="0"/>
              </a:spcBef>
              <a:spcAft>
                <a:spcPts val="0"/>
              </a:spcAft>
            </a:pPr>
            <a:r>
              <a:rPr lang="en-US" sz="2400"/>
              <a:t>Impact seems rather small, but unlike measurement error, it is directional.</a:t>
            </a:r>
          </a:p>
          <a:p>
            <a:pPr eaLnBrk="1" fontAlgn="auto" hangingPunct="1">
              <a:spcBef>
                <a:spcPts val="0"/>
              </a:spcBef>
              <a:spcAft>
                <a:spcPts val="0"/>
              </a:spcAft>
            </a:pPr>
            <a:r>
              <a:rPr lang="en-US" sz="2400"/>
              <a:t>Gets added to females, subtracted from males</a:t>
            </a:r>
          </a:p>
        </p:txBody>
      </p:sp>
      <p:sp>
        <p:nvSpPr>
          <p:cNvPr id="7" name="Slide Number Placeholder 6"/>
          <p:cNvSpPr>
            <a:spLocks noGrp="1"/>
          </p:cNvSpPr>
          <p:nvPr>
            <p:ph type="sldNum" sz="quarter" idx="12"/>
          </p:nvPr>
        </p:nvSpPr>
        <p:spPr/>
        <p:txBody>
          <a:bodyPr/>
          <a:lstStyle/>
          <a:p>
            <a:pPr>
              <a:defRPr/>
            </a:pPr>
            <a:fld id="{8E9550E6-1534-DB42-98C7-E49F9982025C}" type="slidenum">
              <a:rPr lang="en-US"/>
              <a:pPr>
                <a:defRPr/>
              </a:pPr>
              <a:t>62</a:t>
            </a:fld>
            <a:endParaRPr lang="en-US"/>
          </a:p>
        </p:txBody>
      </p:sp>
    </p:spTree>
    <p:extLst>
      <p:ext uri="{BB962C8B-B14F-4D97-AF65-F5344CB8AC3E}">
        <p14:creationId xmlns:p14="http://schemas.microsoft.com/office/powerpoint/2010/main" val="851057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Comparing Results</a:t>
            </a:r>
          </a:p>
        </p:txBody>
      </p:sp>
      <p:graphicFrame>
        <p:nvGraphicFramePr>
          <p:cNvPr id="7" name="Content Placeholder 3"/>
          <p:cNvGraphicFramePr>
            <a:graphicFrameLocks noGrp="1"/>
          </p:cNvGraphicFramePr>
          <p:nvPr>
            <p:ph idx="1"/>
            <p:extLst>
              <p:ext uri="{D42A27DB-BD31-4B8C-83A1-F6EECF244321}">
                <p14:modId xmlns:p14="http://schemas.microsoft.com/office/powerpoint/2010/main" val="3110890622"/>
              </p:ext>
            </p:extLst>
          </p:nvPr>
        </p:nvGraphicFramePr>
        <p:xfrm>
          <a:off x="3048000" y="1600200"/>
          <a:ext cx="2506579" cy="3708400"/>
        </p:xfrm>
        <a:graphic>
          <a:graphicData uri="http://schemas.openxmlformats.org/drawingml/2006/table">
            <a:tbl>
              <a:tblPr firstRow="1" bandRow="1">
                <a:tableStyleId>{72833802-FEF1-4C79-8D5D-14CF1EAF98D9}</a:tableStyleId>
              </a:tblPr>
              <a:tblGrid>
                <a:gridCol w="1203158">
                  <a:extLst>
                    <a:ext uri="{9D8B030D-6E8A-4147-A177-3AD203B41FA5}">
                      <a16:colId xmlns:a16="http://schemas.microsoft.com/office/drawing/2014/main" val="20000"/>
                    </a:ext>
                  </a:extLst>
                </a:gridCol>
                <a:gridCol w="1303421">
                  <a:extLst>
                    <a:ext uri="{9D8B030D-6E8A-4147-A177-3AD203B41FA5}">
                      <a16:colId xmlns:a16="http://schemas.microsoft.com/office/drawing/2014/main" val="20002"/>
                    </a:ext>
                  </a:extLst>
                </a:gridCol>
              </a:tblGrid>
              <a:tr h="370840">
                <a:tc>
                  <a:txBody>
                    <a:bodyPr/>
                    <a:lstStyle/>
                    <a:p>
                      <a:pPr algn="ctr"/>
                      <a:r>
                        <a:rPr lang="en-US"/>
                        <a:t>MH</a:t>
                      </a:r>
                    </a:p>
                  </a:txBody>
                  <a:tcPr/>
                </a:tc>
                <a:tc>
                  <a:txBody>
                    <a:bodyPr/>
                    <a:lstStyle/>
                    <a:p>
                      <a:pPr algn="ctr"/>
                      <a:r>
                        <a:rPr lang="en-US"/>
                        <a:t>lordif</a:t>
                      </a:r>
                    </a:p>
                  </a:txBody>
                  <a:tcPr/>
                </a:tc>
                <a:extLst>
                  <a:ext uri="{0D108BD9-81ED-4DB2-BD59-A6C34878D82A}">
                    <a16:rowId xmlns:a16="http://schemas.microsoft.com/office/drawing/2014/main" val="10000"/>
                  </a:ext>
                </a:extLst>
              </a:tr>
              <a:tr h="370840">
                <a:tc>
                  <a:txBody>
                    <a:bodyPr/>
                    <a:lstStyle/>
                    <a:p>
                      <a:pPr algn="ctr"/>
                      <a:r>
                        <a:rPr lang="en-US">
                          <a:latin typeface="Calibri" charset="0"/>
                          <a:ea typeface="Calibri" charset="0"/>
                          <a:cs typeface="Calibri" charset="0"/>
                        </a:rPr>
                        <a:t>3</a:t>
                      </a:r>
                    </a:p>
                  </a:txBody>
                  <a:tcPr/>
                </a:tc>
                <a:tc>
                  <a:txBody>
                    <a:bodyPr/>
                    <a:lstStyle/>
                    <a:p>
                      <a:pPr algn="ctr"/>
                      <a:r>
                        <a:rPr lang="en-US">
                          <a:latin typeface="Calibri" charset="0"/>
                          <a:ea typeface="Calibri" charset="0"/>
                          <a:cs typeface="Calibri" charset="0"/>
                        </a:rPr>
                        <a:t>12</a:t>
                      </a:r>
                    </a:p>
                  </a:txBody>
                  <a:tcPr/>
                </a:tc>
                <a:extLst>
                  <a:ext uri="{0D108BD9-81ED-4DB2-BD59-A6C34878D82A}">
                    <a16:rowId xmlns:a16="http://schemas.microsoft.com/office/drawing/2014/main" val="10001"/>
                  </a:ext>
                </a:extLst>
              </a:tr>
              <a:tr h="370840">
                <a:tc>
                  <a:txBody>
                    <a:bodyPr/>
                    <a:lstStyle/>
                    <a:p>
                      <a:pPr algn="ctr"/>
                      <a:r>
                        <a:rPr lang="en-US">
                          <a:latin typeface="Calibri" charset="0"/>
                          <a:ea typeface="Calibri" charset="0"/>
                          <a:cs typeface="Calibri" charset="0"/>
                        </a:rPr>
                        <a:t>5</a:t>
                      </a:r>
                    </a:p>
                  </a:txBody>
                  <a:tcPr/>
                </a:tc>
                <a:tc>
                  <a:txBody>
                    <a:bodyPr/>
                    <a:lstStyle/>
                    <a:p>
                      <a:pPr algn="ctr"/>
                      <a:r>
                        <a:rPr lang="en-US">
                          <a:latin typeface="Calibri" charset="0"/>
                          <a:ea typeface="Calibri" charset="0"/>
                          <a:cs typeface="Calibri" charset="0"/>
                        </a:rPr>
                        <a:t>20</a:t>
                      </a:r>
                    </a:p>
                  </a:txBody>
                  <a:tcPr/>
                </a:tc>
                <a:extLst>
                  <a:ext uri="{0D108BD9-81ED-4DB2-BD59-A6C34878D82A}">
                    <a16:rowId xmlns:a16="http://schemas.microsoft.com/office/drawing/2014/main" val="10002"/>
                  </a:ext>
                </a:extLst>
              </a:tr>
              <a:tr h="370840">
                <a:tc>
                  <a:txBody>
                    <a:bodyPr/>
                    <a:lstStyle/>
                    <a:p>
                      <a:pPr algn="ctr"/>
                      <a:r>
                        <a:rPr lang="en-US">
                          <a:latin typeface="Calibri" charset="0"/>
                          <a:ea typeface="Calibri" charset="0"/>
                          <a:cs typeface="Calibri" charset="0"/>
                        </a:rPr>
                        <a:t>8</a:t>
                      </a:r>
                    </a:p>
                  </a:txBody>
                  <a:tcPr/>
                </a:tc>
                <a:tc>
                  <a:txBody>
                    <a:bodyPr/>
                    <a:lstStyle/>
                    <a:p>
                      <a:pPr algn="ctr"/>
                      <a:r>
                        <a:rPr lang="en-US">
                          <a:latin typeface="Calibri" charset="0"/>
                          <a:ea typeface="Calibri" charset="0"/>
                          <a:cs typeface="Calibri" charset="0"/>
                        </a:rPr>
                        <a:t>21</a:t>
                      </a:r>
                    </a:p>
                  </a:txBody>
                  <a:tcPr/>
                </a:tc>
                <a:extLst>
                  <a:ext uri="{0D108BD9-81ED-4DB2-BD59-A6C34878D82A}">
                    <a16:rowId xmlns:a16="http://schemas.microsoft.com/office/drawing/2014/main" val="10003"/>
                  </a:ext>
                </a:extLst>
              </a:tr>
              <a:tr h="370840">
                <a:tc>
                  <a:txBody>
                    <a:bodyPr/>
                    <a:lstStyle/>
                    <a:p>
                      <a:pPr algn="ctr"/>
                      <a:r>
                        <a:rPr lang="en-US">
                          <a:latin typeface="Calibri" charset="0"/>
                          <a:ea typeface="Calibri" charset="0"/>
                          <a:cs typeface="Calibri" charset="0"/>
                        </a:rPr>
                        <a:t>12</a:t>
                      </a:r>
                    </a:p>
                  </a:txBody>
                  <a:tcPr/>
                </a:tc>
                <a:tc>
                  <a:txBody>
                    <a:bodyPr/>
                    <a:lstStyle/>
                    <a:p>
                      <a:pPr algn="ctr"/>
                      <a:r>
                        <a:rPr lang="en-US">
                          <a:latin typeface="Calibri" charset="0"/>
                          <a:ea typeface="Calibri" charset="0"/>
                          <a:cs typeface="Calibri" charset="0"/>
                        </a:rPr>
                        <a:t>26</a:t>
                      </a:r>
                    </a:p>
                  </a:txBody>
                  <a:tcPr/>
                </a:tc>
                <a:extLst>
                  <a:ext uri="{0D108BD9-81ED-4DB2-BD59-A6C34878D82A}">
                    <a16:rowId xmlns:a16="http://schemas.microsoft.com/office/drawing/2014/main" val="10004"/>
                  </a:ext>
                </a:extLst>
              </a:tr>
              <a:tr h="370840">
                <a:tc>
                  <a:txBody>
                    <a:bodyPr/>
                    <a:lstStyle/>
                    <a:p>
                      <a:pPr algn="ctr"/>
                      <a:r>
                        <a:rPr lang="en-US">
                          <a:latin typeface="Calibri" charset="0"/>
                          <a:ea typeface="Calibri" charset="0"/>
                          <a:cs typeface="Calibri" charset="0"/>
                        </a:rPr>
                        <a:t>20</a:t>
                      </a:r>
                    </a:p>
                  </a:txBody>
                  <a:tcPr/>
                </a:tc>
                <a:tc>
                  <a:txBody>
                    <a:bodyPr/>
                    <a:lstStyle/>
                    <a:p>
                      <a:pPr algn="ctr"/>
                      <a:r>
                        <a:rPr lang="en-US">
                          <a:latin typeface="Calibri" charset="0"/>
                          <a:ea typeface="Calibri" charset="0"/>
                          <a:cs typeface="Calibri" charset="0"/>
                        </a:rPr>
                        <a:t>29</a:t>
                      </a:r>
                    </a:p>
                  </a:txBody>
                  <a:tcPr/>
                </a:tc>
                <a:extLst>
                  <a:ext uri="{0D108BD9-81ED-4DB2-BD59-A6C34878D82A}">
                    <a16:rowId xmlns:a16="http://schemas.microsoft.com/office/drawing/2014/main" val="10005"/>
                  </a:ext>
                </a:extLst>
              </a:tr>
              <a:tr h="370840">
                <a:tc>
                  <a:txBody>
                    <a:bodyPr/>
                    <a:lstStyle/>
                    <a:p>
                      <a:pPr algn="ctr"/>
                      <a:r>
                        <a:rPr lang="en-US">
                          <a:latin typeface="Calibri" charset="0"/>
                          <a:ea typeface="Calibri" charset="0"/>
                          <a:cs typeface="Calibri" charset="0"/>
                        </a:rPr>
                        <a:t>21</a:t>
                      </a:r>
                    </a:p>
                  </a:txBody>
                  <a:tcPr/>
                </a:tc>
                <a:tc>
                  <a:txBody>
                    <a:bodyPr/>
                    <a:lstStyle/>
                    <a:p>
                      <a:pPr algn="ctr"/>
                      <a:endParaRPr lang="en-US">
                        <a:latin typeface="Calibri" charset="0"/>
                        <a:ea typeface="Calibri" charset="0"/>
                        <a:cs typeface="Calibri" charset="0"/>
                      </a:endParaRPr>
                    </a:p>
                  </a:txBody>
                  <a:tcPr/>
                </a:tc>
                <a:extLst>
                  <a:ext uri="{0D108BD9-81ED-4DB2-BD59-A6C34878D82A}">
                    <a16:rowId xmlns:a16="http://schemas.microsoft.com/office/drawing/2014/main" val="10006"/>
                  </a:ext>
                </a:extLst>
              </a:tr>
              <a:tr h="370840">
                <a:tc>
                  <a:txBody>
                    <a:bodyPr/>
                    <a:lstStyle/>
                    <a:p>
                      <a:pPr algn="ctr"/>
                      <a:r>
                        <a:rPr lang="en-US">
                          <a:latin typeface="Calibri" charset="0"/>
                          <a:ea typeface="Calibri" charset="0"/>
                          <a:cs typeface="Calibri" charset="0"/>
                        </a:rPr>
                        <a:t>28</a:t>
                      </a:r>
                    </a:p>
                  </a:txBody>
                  <a:tcPr/>
                </a:tc>
                <a:tc>
                  <a:txBody>
                    <a:bodyPr/>
                    <a:lstStyle/>
                    <a:p>
                      <a:pPr algn="ctr"/>
                      <a:endParaRPr lang="en-US">
                        <a:latin typeface="Calibri" charset="0"/>
                        <a:ea typeface="Calibri" charset="0"/>
                        <a:cs typeface="Calibri" charset="0"/>
                      </a:endParaRPr>
                    </a:p>
                  </a:txBody>
                  <a:tcPr/>
                </a:tc>
                <a:extLst>
                  <a:ext uri="{0D108BD9-81ED-4DB2-BD59-A6C34878D82A}">
                    <a16:rowId xmlns:a16="http://schemas.microsoft.com/office/drawing/2014/main" val="10007"/>
                  </a:ext>
                </a:extLst>
              </a:tr>
              <a:tr h="370840">
                <a:tc>
                  <a:txBody>
                    <a:bodyPr/>
                    <a:lstStyle/>
                    <a:p>
                      <a:pPr algn="ctr"/>
                      <a:r>
                        <a:rPr lang="en-US">
                          <a:latin typeface="Calibri" charset="0"/>
                          <a:ea typeface="Calibri" charset="0"/>
                          <a:cs typeface="Calibri" charset="0"/>
                        </a:rPr>
                        <a:t>29</a:t>
                      </a:r>
                    </a:p>
                  </a:txBody>
                  <a:tcPr/>
                </a:tc>
                <a:tc>
                  <a:txBody>
                    <a:bodyPr/>
                    <a:lstStyle/>
                    <a:p>
                      <a:pPr algn="ctr"/>
                      <a:endParaRPr lang="en-US">
                        <a:latin typeface="Calibri" charset="0"/>
                        <a:ea typeface="Calibri" charset="0"/>
                        <a:cs typeface="Calibri" charset="0"/>
                      </a:endParaRPr>
                    </a:p>
                  </a:txBody>
                  <a:tcPr/>
                </a:tc>
                <a:extLst>
                  <a:ext uri="{0D108BD9-81ED-4DB2-BD59-A6C34878D82A}">
                    <a16:rowId xmlns:a16="http://schemas.microsoft.com/office/drawing/2014/main" val="10008"/>
                  </a:ext>
                </a:extLst>
              </a:tr>
              <a:tr h="370840">
                <a:tc>
                  <a:txBody>
                    <a:bodyPr/>
                    <a:lstStyle/>
                    <a:p>
                      <a:pPr algn="ctr"/>
                      <a:r>
                        <a:rPr lang="en-US">
                          <a:latin typeface="Calibri" charset="0"/>
                          <a:ea typeface="Calibri" charset="0"/>
                          <a:cs typeface="Calibri" charset="0"/>
                        </a:rPr>
                        <a:t>31</a:t>
                      </a:r>
                    </a:p>
                  </a:txBody>
                  <a:tcPr/>
                </a:tc>
                <a:tc>
                  <a:txBody>
                    <a:bodyPr/>
                    <a:lstStyle/>
                    <a:p>
                      <a:pPr algn="ctr"/>
                      <a:endParaRPr lang="en-US">
                        <a:latin typeface="Calibri" charset="0"/>
                        <a:ea typeface="Calibri" charset="0"/>
                        <a:cs typeface="Calibri" charset="0"/>
                      </a:endParaRPr>
                    </a:p>
                  </a:txBody>
                  <a:tcPr/>
                </a:tc>
                <a:extLst>
                  <a:ext uri="{0D108BD9-81ED-4DB2-BD59-A6C34878D82A}">
                    <a16:rowId xmlns:a16="http://schemas.microsoft.com/office/drawing/2014/main" val="10009"/>
                  </a:ext>
                </a:extLst>
              </a:tr>
            </a:tbl>
          </a:graphicData>
        </a:graphic>
      </p:graphicFrame>
      <p:sp>
        <p:nvSpPr>
          <p:cNvPr id="8" name="TextBox 7"/>
          <p:cNvSpPr txBox="1"/>
          <p:nvPr/>
        </p:nvSpPr>
        <p:spPr>
          <a:xfrm>
            <a:off x="6637423" y="1859339"/>
            <a:ext cx="3835844" cy="3139321"/>
          </a:xfrm>
          <a:prstGeom prst="rect">
            <a:avLst/>
          </a:prstGeom>
          <a:noFill/>
        </p:spPr>
        <p:txBody>
          <a:bodyPr wrap="square" rtlCol="0">
            <a:spAutoFit/>
          </a:bodyPr>
          <a:lstStyle/>
          <a:p>
            <a:r>
              <a:rPr lang="en-US">
                <a:latin typeface="Calibri" panose="020F0502020204030204" pitchFamily="34" charset="0"/>
                <a:cs typeface="Calibri" panose="020F0502020204030204" pitchFamily="34" charset="0"/>
              </a:rPr>
              <a:t>Items 20, 21 and 29 were flagged by both approaches.  </a:t>
            </a:r>
          </a:p>
          <a:p>
            <a:endParaRPr lang="en-US">
              <a:latin typeface="Calibri" panose="020F0502020204030204" pitchFamily="34" charset="0"/>
              <a:cs typeface="Calibri" panose="020F0502020204030204" pitchFamily="34" charset="0"/>
            </a:endParaRPr>
          </a:p>
          <a:p>
            <a:r>
              <a:rPr lang="en-US">
                <a:latin typeface="Calibri" panose="020F0502020204030204" pitchFamily="34" charset="0"/>
                <a:cs typeface="Calibri" panose="020F0502020204030204" pitchFamily="34" charset="0"/>
              </a:rPr>
              <a:t>MH flagged more as statistically significant, but only two of these would have been flagged based on ETS rules of thumb regarding practical significance.</a:t>
            </a:r>
          </a:p>
          <a:p>
            <a:endParaRPr lang="en-US">
              <a:latin typeface="Calibri" panose="020F0502020204030204" pitchFamily="34" charset="0"/>
              <a:cs typeface="Calibri" panose="020F0502020204030204" pitchFamily="34" charset="0"/>
            </a:endParaRPr>
          </a:p>
          <a:p>
            <a:r>
              <a:rPr lang="en-US">
                <a:latin typeface="Calibri" panose="020F0502020204030204" pitchFamily="34" charset="0"/>
                <a:cs typeface="Calibri" panose="020F0502020204030204" pitchFamily="34" charset="0"/>
              </a:rPr>
              <a:t>We would want to have a closer look at the content of these items.</a:t>
            </a:r>
          </a:p>
        </p:txBody>
      </p:sp>
      <p:sp>
        <p:nvSpPr>
          <p:cNvPr id="9" name="Slide Number Placeholder 8"/>
          <p:cNvSpPr>
            <a:spLocks noGrp="1"/>
          </p:cNvSpPr>
          <p:nvPr>
            <p:ph type="sldNum" sz="quarter" idx="12"/>
          </p:nvPr>
        </p:nvSpPr>
        <p:spPr/>
        <p:txBody>
          <a:bodyPr/>
          <a:lstStyle/>
          <a:p>
            <a:pPr>
              <a:defRPr/>
            </a:pPr>
            <a:fld id="{CD98E987-055C-A941-82AA-E638330DCBBF}" type="slidenum">
              <a:rPr lang="en-US"/>
              <a:pPr>
                <a:defRPr/>
              </a:pPr>
              <a:t>63</a:t>
            </a:fld>
            <a:endParaRPr lang="en-US"/>
          </a:p>
        </p:txBody>
      </p:sp>
    </p:spTree>
    <p:extLst>
      <p:ext uri="{BB962C8B-B14F-4D97-AF65-F5344CB8AC3E}">
        <p14:creationId xmlns:p14="http://schemas.microsoft.com/office/powerpoint/2010/main" val="17752389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D9384-303E-0C46-B119-997A729E0CBD}"/>
              </a:ext>
            </a:extLst>
          </p:cNvPr>
          <p:cNvSpPr>
            <a:spLocks noGrp="1"/>
          </p:cNvSpPr>
          <p:nvPr>
            <p:ph type="title"/>
          </p:nvPr>
        </p:nvSpPr>
        <p:spPr/>
        <p:txBody>
          <a:bodyPr/>
          <a:lstStyle/>
          <a:p>
            <a:r>
              <a:rPr lang="en-US" b="1"/>
              <a:t>Homework Activity</a:t>
            </a:r>
          </a:p>
        </p:txBody>
      </p:sp>
      <p:sp>
        <p:nvSpPr>
          <p:cNvPr id="3" name="Content Placeholder 2">
            <a:extLst>
              <a:ext uri="{FF2B5EF4-FFF2-40B4-BE49-F238E27FC236}">
                <a16:creationId xmlns:a16="http://schemas.microsoft.com/office/drawing/2014/main" id="{95356EAD-6C8C-5741-8C88-5FA225BBEB05}"/>
              </a:ext>
            </a:extLst>
          </p:cNvPr>
          <p:cNvSpPr>
            <a:spLocks noGrp="1"/>
          </p:cNvSpPr>
          <p:nvPr>
            <p:ph idx="1"/>
          </p:nvPr>
        </p:nvSpPr>
        <p:spPr/>
        <p:txBody>
          <a:bodyPr/>
          <a:lstStyle/>
          <a:p>
            <a:r>
              <a:rPr lang="en-US"/>
              <a:t>You will be working in two groups. Each group will have a different data set.</a:t>
            </a:r>
          </a:p>
          <a:p>
            <a:pPr marL="0" indent="0">
              <a:buNone/>
            </a:pPr>
            <a:r>
              <a:rPr lang="en-US"/>
              <a:t>Group 1: Use the files “DIF_Exercises1.R” and “DIF.data1.csv”</a:t>
            </a:r>
          </a:p>
          <a:p>
            <a:pPr marL="0" indent="0">
              <a:buNone/>
            </a:pPr>
            <a:r>
              <a:rPr lang="en-US"/>
              <a:t>Group 2: Use the files “DIF_Exercises2.R” and “DIF.data2.csv”</a:t>
            </a:r>
          </a:p>
          <a:p>
            <a:pPr marL="0" indent="0">
              <a:buNone/>
            </a:pPr>
            <a:endParaRPr lang="en-US"/>
          </a:p>
          <a:p>
            <a:r>
              <a:rPr lang="en-US"/>
              <a:t>Each data file has 2000 cases, 28 items, and a gender indicator. The item responses are simulated. Some items have DIF. Your task is to use the lordif approach to find them.</a:t>
            </a:r>
          </a:p>
          <a:p>
            <a:pPr marL="0" indent="0">
              <a:buNone/>
            </a:pPr>
            <a:endParaRPr lang="en-US"/>
          </a:p>
          <a:p>
            <a:pPr marL="0" indent="0">
              <a:buNone/>
            </a:pPr>
            <a:endParaRPr lang="en-US"/>
          </a:p>
          <a:p>
            <a:pPr marL="0" indent="0">
              <a:buNone/>
            </a:pPr>
            <a:endParaRPr lang="en-US"/>
          </a:p>
          <a:p>
            <a:pPr marL="0" indent="0">
              <a:buNone/>
            </a:pPr>
            <a:endParaRPr lang="en-US"/>
          </a:p>
        </p:txBody>
      </p:sp>
      <p:sp>
        <p:nvSpPr>
          <p:cNvPr id="4" name="Slide Number Placeholder 3">
            <a:extLst>
              <a:ext uri="{FF2B5EF4-FFF2-40B4-BE49-F238E27FC236}">
                <a16:creationId xmlns:a16="http://schemas.microsoft.com/office/drawing/2014/main" id="{1CE3C486-E004-3846-B302-68D38518CA41}"/>
              </a:ext>
            </a:extLst>
          </p:cNvPr>
          <p:cNvSpPr>
            <a:spLocks noGrp="1"/>
          </p:cNvSpPr>
          <p:nvPr>
            <p:ph type="sldNum" sz="quarter" idx="12"/>
          </p:nvPr>
        </p:nvSpPr>
        <p:spPr/>
        <p:txBody>
          <a:bodyPr/>
          <a:lstStyle/>
          <a:p>
            <a:pPr>
              <a:defRPr/>
            </a:pPr>
            <a:fld id="{CD98E987-055C-A941-82AA-E638330DCBBF}" type="slidenum">
              <a:rPr lang="en-US"/>
              <a:pPr>
                <a:defRPr/>
              </a:pPr>
              <a:t>64</a:t>
            </a:fld>
            <a:endParaRPr lang="en-US"/>
          </a:p>
        </p:txBody>
      </p:sp>
    </p:spTree>
    <p:extLst>
      <p:ext uri="{BB962C8B-B14F-4D97-AF65-F5344CB8AC3E}">
        <p14:creationId xmlns:p14="http://schemas.microsoft.com/office/powerpoint/2010/main" val="4311722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C938-B79B-3F4F-A457-52997B292574}"/>
              </a:ext>
            </a:extLst>
          </p:cNvPr>
          <p:cNvSpPr>
            <a:spLocks noGrp="1"/>
          </p:cNvSpPr>
          <p:nvPr>
            <p:ph type="title"/>
          </p:nvPr>
        </p:nvSpPr>
        <p:spPr/>
        <p:txBody>
          <a:bodyPr/>
          <a:lstStyle/>
          <a:p>
            <a:r>
              <a:rPr lang="en-US" b="1"/>
              <a:t>Summary</a:t>
            </a:r>
          </a:p>
        </p:txBody>
      </p:sp>
      <p:sp>
        <p:nvSpPr>
          <p:cNvPr id="3" name="Content Placeholder 2">
            <a:extLst>
              <a:ext uri="{FF2B5EF4-FFF2-40B4-BE49-F238E27FC236}">
                <a16:creationId xmlns:a16="http://schemas.microsoft.com/office/drawing/2014/main" id="{30A7679C-3005-E649-BF84-83CC97E0F470}"/>
              </a:ext>
            </a:extLst>
          </p:cNvPr>
          <p:cNvSpPr>
            <a:spLocks noGrp="1"/>
          </p:cNvSpPr>
          <p:nvPr>
            <p:ph idx="1"/>
          </p:nvPr>
        </p:nvSpPr>
        <p:spPr/>
        <p:txBody>
          <a:bodyPr/>
          <a:lstStyle/>
          <a:p>
            <a:r>
              <a:rPr lang="en-US"/>
              <a:t>Important to keep three concepts distinct: impact, bias, DIF</a:t>
            </a:r>
          </a:p>
          <a:p>
            <a:r>
              <a:rPr lang="en-US"/>
              <a:t>Prominent non-IRT method of detecting DIF: MH</a:t>
            </a:r>
          </a:p>
          <a:p>
            <a:r>
              <a:rPr lang="en-US"/>
              <a:t>Flexible IRT method of detecting DIF: lordif</a:t>
            </a:r>
          </a:p>
          <a:p>
            <a:r>
              <a:rPr lang="en-US"/>
              <a:t>Detection depends on both statistical and practical significance</a:t>
            </a:r>
          </a:p>
          <a:p>
            <a:r>
              <a:rPr lang="en-US"/>
              <a:t>MH not well-equipped to detect non-uniform DIF</a:t>
            </a:r>
          </a:p>
          <a:p>
            <a:r>
              <a:rPr lang="en-US"/>
              <a:t>Almost all DIF methods use an internal matching criterion</a:t>
            </a:r>
          </a:p>
          <a:p>
            <a:r>
              <a:rPr lang="en-US"/>
              <a:t>Only some apply an iterative “purification” approach</a:t>
            </a:r>
          </a:p>
          <a:p>
            <a:r>
              <a:rPr lang="en-US"/>
              <a:t>Often difficult to explain the cause of DIF</a:t>
            </a:r>
          </a:p>
          <a:p>
            <a:r>
              <a:rPr lang="en-US"/>
              <a:t>DIF analyses are part of virtually all large-scale assessment programs</a:t>
            </a:r>
          </a:p>
        </p:txBody>
      </p:sp>
      <p:sp>
        <p:nvSpPr>
          <p:cNvPr id="4" name="Slide Number Placeholder 3">
            <a:extLst>
              <a:ext uri="{FF2B5EF4-FFF2-40B4-BE49-F238E27FC236}">
                <a16:creationId xmlns:a16="http://schemas.microsoft.com/office/drawing/2014/main" id="{AD64DC1D-8F20-BC49-B6D1-F7245A225C8A}"/>
              </a:ext>
            </a:extLst>
          </p:cNvPr>
          <p:cNvSpPr>
            <a:spLocks noGrp="1"/>
          </p:cNvSpPr>
          <p:nvPr>
            <p:ph type="sldNum" sz="quarter" idx="12"/>
          </p:nvPr>
        </p:nvSpPr>
        <p:spPr/>
        <p:txBody>
          <a:bodyPr/>
          <a:lstStyle/>
          <a:p>
            <a:pPr>
              <a:defRPr/>
            </a:pPr>
            <a:fld id="{CD98E987-055C-A941-82AA-E638330DCBBF}" type="slidenum">
              <a:rPr lang="en-US"/>
              <a:pPr>
                <a:defRPr/>
              </a:pPr>
              <a:t>65</a:t>
            </a:fld>
            <a:endParaRPr lang="en-US"/>
          </a:p>
        </p:txBody>
      </p:sp>
    </p:spTree>
    <p:extLst>
      <p:ext uri="{BB962C8B-B14F-4D97-AF65-F5344CB8AC3E}">
        <p14:creationId xmlns:p14="http://schemas.microsoft.com/office/powerpoint/2010/main" val="19983768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DIF References</a:t>
            </a:r>
          </a:p>
        </p:txBody>
      </p:sp>
      <p:sp>
        <p:nvSpPr>
          <p:cNvPr id="3" name="Content Placeholder 2"/>
          <p:cNvSpPr>
            <a:spLocks noGrp="1"/>
          </p:cNvSpPr>
          <p:nvPr>
            <p:ph idx="1"/>
          </p:nvPr>
        </p:nvSpPr>
        <p:spPr/>
        <p:txBody>
          <a:bodyPr/>
          <a:lstStyle/>
          <a:p>
            <a:pPr marL="0" lvl="0" indent="0">
              <a:buNone/>
            </a:pPr>
            <a:r>
              <a:rPr lang="en-US" sz="1800"/>
              <a:t>Zwick, R. (2025) Fairness In Educational Measurement.  In L. Cook &amp; M. Pitoniak (eds) </a:t>
            </a:r>
            <a:r>
              <a:rPr lang="en-US" sz="1800" i="1"/>
              <a:t>Educational Measurement</a:t>
            </a:r>
            <a:r>
              <a:rPr lang="en-US" sz="1800"/>
              <a:t>, 5</a:t>
            </a:r>
            <a:r>
              <a:rPr lang="en-US" sz="1800" baseline="30000"/>
              <a:t>th</a:t>
            </a:r>
            <a:r>
              <a:rPr lang="en-US" sz="1800"/>
              <a:t> Edition. </a:t>
            </a:r>
          </a:p>
          <a:p>
            <a:pPr marL="0" lvl="0" indent="0">
              <a:buNone/>
            </a:pPr>
            <a:endParaRPr lang="en-US" sz="1800"/>
          </a:p>
          <a:p>
            <a:pPr marL="0" lvl="0" indent="0">
              <a:buNone/>
            </a:pPr>
            <a:r>
              <a:rPr lang="en-US" sz="1800"/>
              <a:t>Choi, S., Gibbons, L. &amp; Crane, P. (2011). lordif: An R Package for Detecting Differential Item Functioning Using Iterative Hybrid Ordinal Logistic Regression/Item Response Theory and Monte Carlo Simulations. </a:t>
            </a:r>
            <a:r>
              <a:rPr lang="en-US" sz="1800" i="1"/>
              <a:t>Journal of Statistical Software</a:t>
            </a:r>
            <a:r>
              <a:rPr lang="en-US" sz="1800"/>
              <a:t>. Vol 39(8). </a:t>
            </a:r>
          </a:p>
          <a:p>
            <a:pPr marL="0" indent="0">
              <a:buNone/>
            </a:pPr>
            <a:endParaRPr lang="en-US" sz="1800"/>
          </a:p>
          <a:p>
            <a:pPr marL="0" indent="0">
              <a:buNone/>
            </a:pPr>
            <a:r>
              <a:rPr lang="en-US" sz="1800"/>
              <a:t>Clauser, B. &amp; Mazor, K. (1998) Using statistical procedures to identify differentially functioning test items.  </a:t>
            </a:r>
            <a:r>
              <a:rPr lang="en-US" sz="1800" i="1"/>
              <a:t>Educational Measurement: Issues and Practice</a:t>
            </a:r>
            <a:r>
              <a:rPr lang="en-US" sz="1800"/>
              <a:t>.  17, 31-44. </a:t>
            </a:r>
          </a:p>
          <a:p>
            <a:pPr marL="0" indent="0">
              <a:buNone/>
            </a:pPr>
            <a:endParaRPr lang="en-US" sz="1800"/>
          </a:p>
          <a:p>
            <a:pPr marL="0" indent="0">
              <a:buNone/>
            </a:pPr>
            <a:r>
              <a:rPr lang="en-US" sz="1800"/>
              <a:t>Holland, P. &amp; Thayer, D. (1988). Differential item performance and the Mantel-Haenszel procedure. In H. Wainer &amp; H. Braun (Eds.) Test Validity (pp. 129-45). Hillsdale, NJ.</a:t>
            </a:r>
          </a:p>
          <a:p>
            <a:pPr marL="0" indent="0">
              <a:buNone/>
            </a:pPr>
            <a:endParaRPr lang="en-US" sz="1800"/>
          </a:p>
          <a:p>
            <a:pPr marL="0" indent="0">
              <a:buNone/>
            </a:pPr>
            <a:r>
              <a:rPr lang="en-US" sz="1800"/>
              <a:t>Penfield, R. &amp; Lam, T. (2000) Assessing differential item functioning in performance assessment: review and recommendations. </a:t>
            </a:r>
            <a:r>
              <a:rPr lang="en-US" sz="1800" i="1"/>
              <a:t>Educational Measurement: Issues and Practice</a:t>
            </a:r>
            <a:r>
              <a:rPr lang="en-US" sz="1800"/>
              <a:t>, 19, Fall 5-15.</a:t>
            </a:r>
          </a:p>
          <a:p>
            <a:pPr marL="0" indent="0">
              <a:buNone/>
            </a:pPr>
            <a:endParaRPr lang="en-US" sz="1800"/>
          </a:p>
          <a:p>
            <a:pPr marL="0" indent="0">
              <a:spcBef>
                <a:spcPts val="0"/>
              </a:spcBef>
              <a:buNone/>
            </a:pPr>
            <a:r>
              <a:rPr lang="en-US" sz="2400"/>
              <a:t> </a:t>
            </a:r>
          </a:p>
          <a:p>
            <a:endParaRPr lang="en-US"/>
          </a:p>
        </p:txBody>
      </p:sp>
      <p:sp>
        <p:nvSpPr>
          <p:cNvPr id="4" name="Slide Number Placeholder 3"/>
          <p:cNvSpPr>
            <a:spLocks noGrp="1"/>
          </p:cNvSpPr>
          <p:nvPr>
            <p:ph type="sldNum" sz="quarter" idx="12"/>
          </p:nvPr>
        </p:nvSpPr>
        <p:spPr/>
        <p:txBody>
          <a:bodyPr/>
          <a:lstStyle/>
          <a:p>
            <a:pPr>
              <a:defRPr/>
            </a:pPr>
            <a:fld id="{CD98E987-055C-A941-82AA-E638330DCBBF}" type="slidenum">
              <a:rPr lang="en-US"/>
              <a:pPr>
                <a:defRPr/>
              </a:pPr>
              <a:t>66</a:t>
            </a:fld>
            <a:endParaRPr lang="en-US"/>
          </a:p>
        </p:txBody>
      </p:sp>
    </p:spTree>
    <p:extLst>
      <p:ext uri="{BB962C8B-B14F-4D97-AF65-F5344CB8AC3E}">
        <p14:creationId xmlns:p14="http://schemas.microsoft.com/office/powerpoint/2010/main" val="230898717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8118</TotalTime>
  <Words>4261</Words>
  <Application>Microsoft Macintosh PowerPoint</Application>
  <PresentationFormat>Widescreen</PresentationFormat>
  <Paragraphs>527</Paragraphs>
  <Slides>66</Slides>
  <Notes>20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66</vt:i4>
      </vt:variant>
    </vt:vector>
  </HeadingPairs>
  <TitlesOfParts>
    <vt:vector size="73" baseType="lpstr">
      <vt:lpstr>Arial</vt:lpstr>
      <vt:lpstr>Calibri</vt:lpstr>
      <vt:lpstr>Cambria Math</vt:lpstr>
      <vt:lpstr>Courier New</vt:lpstr>
      <vt:lpstr>Times New Roman</vt:lpstr>
      <vt:lpstr>Default Design</vt:lpstr>
      <vt:lpstr>Equation</vt:lpstr>
      <vt:lpstr>Differential Item Functioning </vt:lpstr>
      <vt:lpstr>Outline</vt:lpstr>
      <vt:lpstr>PowerPoint Presentation</vt:lpstr>
      <vt:lpstr>Are Standardized Tests Biased?</vt:lpstr>
      <vt:lpstr>Illustrative Context</vt:lpstr>
      <vt:lpstr>Impact vs DIF</vt:lpstr>
      <vt:lpstr>Bias vs Impact</vt:lpstr>
      <vt:lpstr>Test Bias</vt:lpstr>
      <vt:lpstr>Graphical Visualizations of DIF</vt:lpstr>
      <vt:lpstr>What Groups?</vt:lpstr>
      <vt:lpstr>Evaluating Bias</vt:lpstr>
      <vt:lpstr>Obstacles to Establishing DIF</vt:lpstr>
      <vt:lpstr>A Fundamental Problem</vt:lpstr>
      <vt:lpstr>PowerPoint Presentation</vt:lpstr>
      <vt:lpstr>Mantel-Haenszel (MH)</vt:lpstr>
      <vt:lpstr>Terminology</vt:lpstr>
      <vt:lpstr>Recall Illustrative Context</vt:lpstr>
      <vt:lpstr>Picking a Criterion for Matching</vt:lpstr>
      <vt:lpstr>MH Notation</vt:lpstr>
      <vt:lpstr>The MH Statistic</vt:lpstr>
      <vt:lpstr>MH for TIMMS Item 4</vt:lpstr>
      <vt:lpstr>MH Odds and Ends</vt:lpstr>
      <vt:lpstr>ETS Rules of Thumb for  Interpreting DIF</vt:lpstr>
      <vt:lpstr>Example in R</vt:lpstr>
      <vt:lpstr>PowerPoint Presentation</vt:lpstr>
      <vt:lpstr>Hypothetical Scenario</vt:lpstr>
      <vt:lpstr>Problem</vt:lpstr>
      <vt:lpstr>Illustration</vt:lpstr>
      <vt:lpstr>Results from Calibrating all Three Data Sets with 2PL</vt:lpstr>
      <vt:lpstr>Linking Scales</vt:lpstr>
      <vt:lpstr>After Applying Linking Constants</vt:lpstr>
      <vt:lpstr>Estimating Linking Constants</vt:lpstr>
      <vt:lpstr>Two Common Approaches of Estimating Linking Constants </vt:lpstr>
      <vt:lpstr>PowerPoint Presentation</vt:lpstr>
      <vt:lpstr>Recap of Hypothetical Scenario</vt:lpstr>
      <vt:lpstr>How do we Identify DIF-free Items?</vt:lpstr>
      <vt:lpstr>PowerPoint Presentation</vt:lpstr>
      <vt:lpstr>Steps of lordif</vt:lpstr>
      <vt:lpstr>1. Data Prep</vt:lpstr>
      <vt:lpstr>2. IRT Calibration</vt:lpstr>
      <vt:lpstr>3. Trait (Theta) Estimation</vt:lpstr>
      <vt:lpstr>4. Logistic regression</vt:lpstr>
      <vt:lpstr>5. DIF Detection</vt:lpstr>
      <vt:lpstr>6. Split item with suspected DIF into two items w/ missing data  </vt:lpstr>
      <vt:lpstr>7. IRT Recalibration</vt:lpstr>
      <vt:lpstr>8. Scale Transformation (Equating)</vt:lpstr>
      <vt:lpstr>9. Trait (Theta) Re-estimation</vt:lpstr>
      <vt:lpstr>10. Iterative Cycle</vt:lpstr>
      <vt:lpstr>11. Monte Carlo Simulation</vt:lpstr>
      <vt:lpstr>Illustration Using CDE Data</vt:lpstr>
      <vt:lpstr>print(DIF)</vt:lpstr>
      <vt:lpstr>plot(DIF, labels = c("Female", "Male”))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Are the Differences Practically Significant?</vt:lpstr>
      <vt:lpstr>Comparing Results</vt:lpstr>
      <vt:lpstr>Homework Activity</vt:lpstr>
      <vt:lpstr>Summary</vt:lpstr>
      <vt:lpstr>DIF References</vt:lpstr>
    </vt:vector>
  </TitlesOfParts>
  <Company>University of Colorado at Boulder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Differential Item Functioning</dc:title>
  <dc:creator>Derek Briggs</dc:creator>
  <cp:lastModifiedBy>Derek Briggs</cp:lastModifiedBy>
  <cp:revision>101</cp:revision>
  <dcterms:created xsi:type="dcterms:W3CDTF">2010-04-11T17:38:41Z</dcterms:created>
  <dcterms:modified xsi:type="dcterms:W3CDTF">2026-03-31T01:58:16Z</dcterms:modified>
</cp:coreProperties>
</file>