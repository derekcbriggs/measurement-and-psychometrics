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charts/chart1.xml" ContentType="application/vnd.openxmlformats-officedocument.drawingml.chart+xml"/>
  <Override PartName="/ppt/charts/style1.xml" ContentType="application/vnd.ms-office.chartstyle+xml"/>
  <Override PartName="/ppt/charts/colors1.xml" ContentType="application/vnd.ms-office.chartcolorstyle+xml"/>
  <Override PartName="/ppt/notesSlides/notesSlide1.xml" ContentType="application/vnd.openxmlformats-officedocument.presentationml.notesSlide+xml"/>
  <Override PartName="/ppt/charts/chart2.xml" ContentType="application/vnd.openxmlformats-officedocument.drawingml.chart+xml"/>
  <Override PartName="/ppt/charts/style2.xml" ContentType="application/vnd.ms-office.chartstyle+xml"/>
  <Override PartName="/ppt/charts/colors2.xml" ContentType="application/vnd.ms-office.chartcolorstyl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648" r:id="rId1"/>
  </p:sldMasterIdLst>
  <p:notesMasterIdLst>
    <p:notesMasterId r:id="rId16"/>
  </p:notesMasterIdLst>
  <p:sldIdLst>
    <p:sldId id="256" r:id="rId2"/>
    <p:sldId id="307" r:id="rId3"/>
    <p:sldId id="309" r:id="rId4"/>
    <p:sldId id="310" r:id="rId5"/>
    <p:sldId id="311" r:id="rId6"/>
    <p:sldId id="305" r:id="rId7"/>
    <p:sldId id="306" r:id="rId8"/>
    <p:sldId id="320" r:id="rId9"/>
    <p:sldId id="313" r:id="rId10"/>
    <p:sldId id="312" r:id="rId11"/>
    <p:sldId id="323" r:id="rId12"/>
    <p:sldId id="324" r:id="rId13"/>
    <p:sldId id="315" r:id="rId14"/>
    <p:sldId id="322" r:id="rId15"/>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20125"/>
    <p:restoredTop sz="91986"/>
  </p:normalViewPr>
  <p:slideViewPr>
    <p:cSldViewPr snapToGrid="0" snapToObjects="1">
      <p:cViewPr varScale="1">
        <p:scale>
          <a:sx n="116" d="100"/>
          <a:sy n="116" d="100"/>
        </p:scale>
        <p:origin x="672" y="19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notesMaster" Target="notesMasters/notesMaster1.xml"/><Relationship Id="rId20"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charts/_rels/chart1.xml.rels><?xml version="1.0" encoding="UTF-8" standalone="yes"?>
<Relationships xmlns="http://schemas.openxmlformats.org/package/2006/relationships"><Relationship Id="rId3" Type="http://schemas.openxmlformats.org/officeDocument/2006/relationships/oleObject" Target="file:////Users/bshear/Dropbox/ucb/teaching/courses/educ8720/educ8720_spring18/three_item_test_solns.xlsx" TargetMode="External"/><Relationship Id="rId2" Type="http://schemas.microsoft.com/office/2011/relationships/chartColorStyle" Target="colors1.xml"/><Relationship Id="rId1" Type="http://schemas.microsoft.com/office/2011/relationships/chartStyle" Target="style1.xml"/></Relationships>
</file>

<file path=ppt/charts/_rels/chart2.xml.rels><?xml version="1.0" encoding="UTF-8" standalone="yes"?>
<Relationships xmlns="http://schemas.openxmlformats.org/package/2006/relationships"><Relationship Id="rId3" Type="http://schemas.openxmlformats.org/officeDocument/2006/relationships/oleObject" Target="file:////Users/bshear/Dropbox/ucb/teaching/courses/educ8720/educ8720_spring18/three_item_test.xlsx" TargetMode="External"/><Relationship Id="rId2" Type="http://schemas.microsoft.com/office/2011/relationships/chartColorStyle" Target="colors2.xml"/><Relationship Id="rId1" Type="http://schemas.microsoft.com/office/2011/relationships/chartStyle" Target="style2.xml"/></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sz="1400" b="0" i="0" u="none" strike="noStrike" kern="1200" spc="0" baseline="0">
                <a:solidFill>
                  <a:schemeClr val="tx1">
                    <a:lumMod val="65000"/>
                    <a:lumOff val="35000"/>
                  </a:schemeClr>
                </a:solidFill>
                <a:latin typeface="+mn-lt"/>
                <a:ea typeface="+mn-ea"/>
                <a:cs typeface="+mn-cs"/>
              </a:defRPr>
            </a:pPr>
            <a:r>
              <a:rPr lang="en-US"/>
              <a:t>TCC</a:t>
            </a:r>
          </a:p>
        </c:rich>
      </c:tx>
      <c:overlay val="0"/>
      <c:spPr>
        <a:noFill/>
        <a:ln>
          <a:noFill/>
        </a:ln>
        <a:effectLst/>
      </c:spPr>
      <c:txPr>
        <a:bodyPr rot="0" spcFirstLastPara="1" vertOverflow="ellipsis" vert="horz" wrap="square" anchor="ctr" anchorCtr="1"/>
        <a:lstStyle/>
        <a:p>
          <a:pPr>
            <a:defRPr sz="1400" b="0" i="0" u="none" strike="noStrike" kern="1200" spc="0" baseline="0">
              <a:solidFill>
                <a:schemeClr val="tx1">
                  <a:lumMod val="65000"/>
                  <a:lumOff val="35000"/>
                </a:schemeClr>
              </a:solidFill>
              <a:latin typeface="+mn-lt"/>
              <a:ea typeface="+mn-ea"/>
              <a:cs typeface="+mn-cs"/>
            </a:defRPr>
          </a:pPr>
          <a:endParaRPr lang="en-US"/>
        </a:p>
      </c:txPr>
    </c:title>
    <c:autoTitleDeleted val="0"/>
    <c:plotArea>
      <c:layout>
        <c:manualLayout>
          <c:layoutTarget val="inner"/>
          <c:xMode val="edge"/>
          <c:yMode val="edge"/>
          <c:x val="9.1546804402979798E-2"/>
          <c:y val="0.11640226628895201"/>
          <c:w val="0.86922341382551804"/>
          <c:h val="0.78210122459904996"/>
        </c:manualLayout>
      </c:layout>
      <c:scatterChart>
        <c:scatterStyle val="smoothMarker"/>
        <c:varyColors val="0"/>
        <c:ser>
          <c:idx val="0"/>
          <c:order val="0"/>
          <c:tx>
            <c:strRef>
              <c:f>Sheet1!$E$15</c:f>
              <c:strCache>
                <c:ptCount val="1"/>
                <c:pt idx="0">
                  <c:v>E[TestScore]</c:v>
                </c:pt>
              </c:strCache>
            </c:strRef>
          </c:tx>
          <c:spPr>
            <a:ln w="19050" cap="rnd">
              <a:solidFill>
                <a:schemeClr val="accent1"/>
              </a:solidFill>
              <a:round/>
            </a:ln>
            <a:effectLst/>
          </c:spPr>
          <c:marker>
            <c:symbol val="none"/>
          </c:marker>
          <c:xVal>
            <c:numRef>
              <c:f>Sheet1!$A$16:$A$56</c:f>
              <c:numCache>
                <c:formatCode>General</c:formatCode>
                <c:ptCount val="41"/>
                <c:pt idx="0">
                  <c:v>-4</c:v>
                </c:pt>
                <c:pt idx="1">
                  <c:v>-3.8</c:v>
                </c:pt>
                <c:pt idx="2">
                  <c:v>-3.6</c:v>
                </c:pt>
                <c:pt idx="3">
                  <c:v>-3.4</c:v>
                </c:pt>
                <c:pt idx="4">
                  <c:v>-3.2</c:v>
                </c:pt>
                <c:pt idx="5">
                  <c:v>-3</c:v>
                </c:pt>
                <c:pt idx="6">
                  <c:v>-2.8</c:v>
                </c:pt>
                <c:pt idx="7">
                  <c:v>-2.6</c:v>
                </c:pt>
                <c:pt idx="8">
                  <c:v>-2.4</c:v>
                </c:pt>
                <c:pt idx="9">
                  <c:v>-2.2000000000000002</c:v>
                </c:pt>
                <c:pt idx="10">
                  <c:v>-2</c:v>
                </c:pt>
                <c:pt idx="11">
                  <c:v>-1.8</c:v>
                </c:pt>
                <c:pt idx="12">
                  <c:v>-1.6</c:v>
                </c:pt>
                <c:pt idx="13">
                  <c:v>-1.4</c:v>
                </c:pt>
                <c:pt idx="14">
                  <c:v>-1.2</c:v>
                </c:pt>
                <c:pt idx="15">
                  <c:v>-1</c:v>
                </c:pt>
                <c:pt idx="16">
                  <c:v>-0.8</c:v>
                </c:pt>
                <c:pt idx="17">
                  <c:v>-0.6</c:v>
                </c:pt>
                <c:pt idx="18">
                  <c:v>-0.4</c:v>
                </c:pt>
                <c:pt idx="19">
                  <c:v>-0.2</c:v>
                </c:pt>
                <c:pt idx="20">
                  <c:v>0</c:v>
                </c:pt>
                <c:pt idx="21">
                  <c:v>0.2</c:v>
                </c:pt>
                <c:pt idx="22">
                  <c:v>0.4</c:v>
                </c:pt>
                <c:pt idx="23">
                  <c:v>0.6</c:v>
                </c:pt>
                <c:pt idx="24">
                  <c:v>0.8</c:v>
                </c:pt>
                <c:pt idx="25">
                  <c:v>1</c:v>
                </c:pt>
                <c:pt idx="26">
                  <c:v>1.2</c:v>
                </c:pt>
                <c:pt idx="27">
                  <c:v>1.4</c:v>
                </c:pt>
                <c:pt idx="28">
                  <c:v>1.6</c:v>
                </c:pt>
                <c:pt idx="29">
                  <c:v>1.80000000000001</c:v>
                </c:pt>
                <c:pt idx="30">
                  <c:v>2.0000000000000102</c:v>
                </c:pt>
                <c:pt idx="31">
                  <c:v>2.2000000000000099</c:v>
                </c:pt>
                <c:pt idx="32">
                  <c:v>2.4000000000000101</c:v>
                </c:pt>
                <c:pt idx="33">
                  <c:v>2.6000000000000099</c:v>
                </c:pt>
                <c:pt idx="34">
                  <c:v>2.80000000000001</c:v>
                </c:pt>
                <c:pt idx="35">
                  <c:v>3.0000000000000102</c:v>
                </c:pt>
                <c:pt idx="36">
                  <c:v>3.2000000000000099</c:v>
                </c:pt>
                <c:pt idx="37">
                  <c:v>3.4000000000000101</c:v>
                </c:pt>
                <c:pt idx="38">
                  <c:v>3.6000000000000099</c:v>
                </c:pt>
                <c:pt idx="39">
                  <c:v>3.80000000000001</c:v>
                </c:pt>
                <c:pt idx="40">
                  <c:v>4.0000000000000098</c:v>
                </c:pt>
              </c:numCache>
            </c:numRef>
          </c:xVal>
          <c:yVal>
            <c:numRef>
              <c:f>Sheet1!$E$16:$E$56</c:f>
              <c:numCache>
                <c:formatCode>General</c:formatCode>
                <c:ptCount val="41"/>
                <c:pt idx="0">
                  <c:v>0.77523288372583099</c:v>
                </c:pt>
                <c:pt idx="1">
                  <c:v>0.79063813065211597</c:v>
                </c:pt>
                <c:pt idx="2">
                  <c:v>0.80890519259293903</c:v>
                </c:pt>
                <c:pt idx="3">
                  <c:v>0.83044537143284403</c:v>
                </c:pt>
                <c:pt idx="4">
                  <c:v>0.85568356552724101</c:v>
                </c:pt>
                <c:pt idx="5">
                  <c:v>0.88504227834326099</c:v>
                </c:pt>
                <c:pt idx="6">
                  <c:v>0.91892219049469204</c:v>
                </c:pt>
                <c:pt idx="7">
                  <c:v>0.95768161972818899</c:v>
                </c:pt>
                <c:pt idx="8">
                  <c:v>1.0016189643247499</c:v>
                </c:pt>
                <c:pt idx="9">
                  <c:v>1.0509639733684271</c:v>
                </c:pt>
                <c:pt idx="10">
                  <c:v>1.1058847771452021</c:v>
                </c:pt>
                <c:pt idx="11">
                  <c:v>1.1665171854445271</c:v>
                </c:pt>
                <c:pt idx="12">
                  <c:v>1.2330198374135151</c:v>
                </c:pt>
                <c:pt idx="13">
                  <c:v>1.305652245094022</c:v>
                </c:pt>
                <c:pt idx="14">
                  <c:v>1.3848611097793211</c:v>
                </c:pt>
                <c:pt idx="15">
                  <c:v>1.4713414896032251</c:v>
                </c:pt>
                <c:pt idx="16">
                  <c:v>1.5660126782479249</c:v>
                </c:pt>
                <c:pt idx="17">
                  <c:v>1.6698216875256191</c:v>
                </c:pt>
                <c:pt idx="18">
                  <c:v>1.78329060793682</c:v>
                </c:pt>
                <c:pt idx="19">
                  <c:v>1.905818651794736</c:v>
                </c:pt>
                <c:pt idx="20">
                  <c:v>2.0349782188762</c:v>
                </c:pt>
                <c:pt idx="21">
                  <c:v>2.1662949857831539</c:v>
                </c:pt>
                <c:pt idx="22">
                  <c:v>2.29394471067828</c:v>
                </c:pt>
                <c:pt idx="23">
                  <c:v>2.412229724813475</c:v>
                </c:pt>
                <c:pt idx="24">
                  <c:v>2.5170485645395169</c:v>
                </c:pt>
                <c:pt idx="25">
                  <c:v>2.6065731884807559</c:v>
                </c:pt>
                <c:pt idx="26">
                  <c:v>2.6809990965381352</c:v>
                </c:pt>
                <c:pt idx="27">
                  <c:v>2.7418033728383859</c:v>
                </c:pt>
                <c:pt idx="28">
                  <c:v>2.7910019810250621</c:v>
                </c:pt>
                <c:pt idx="29">
                  <c:v>2.830646190703765</c:v>
                </c:pt>
                <c:pt idx="30">
                  <c:v>2.862569982277416</c:v>
                </c:pt>
                <c:pt idx="31">
                  <c:v>2.8883076445966531</c:v>
                </c:pt>
                <c:pt idx="32">
                  <c:v>2.909099693728606</c:v>
                </c:pt>
                <c:pt idx="33">
                  <c:v>2.92593346442096</c:v>
                </c:pt>
                <c:pt idx="34">
                  <c:v>2.939590715789159</c:v>
                </c:pt>
                <c:pt idx="35">
                  <c:v>2.950690779423867</c:v>
                </c:pt>
                <c:pt idx="36">
                  <c:v>2.9597259466306669</c:v>
                </c:pt>
                <c:pt idx="37">
                  <c:v>2.9670892344096922</c:v>
                </c:pt>
                <c:pt idx="38">
                  <c:v>2.973095788722238</c:v>
                </c:pt>
                <c:pt idx="39">
                  <c:v>2.9779993217473648</c:v>
                </c:pt>
                <c:pt idx="40">
                  <c:v>2.982004781082654</c:v>
                </c:pt>
              </c:numCache>
            </c:numRef>
          </c:yVal>
          <c:smooth val="1"/>
          <c:extLst>
            <c:ext xmlns:c16="http://schemas.microsoft.com/office/drawing/2014/chart" uri="{C3380CC4-5D6E-409C-BE32-E72D297353CC}">
              <c16:uniqueId val="{00000000-2CAC-A84E-94FF-36BAC343306A}"/>
            </c:ext>
          </c:extLst>
        </c:ser>
        <c:dLbls>
          <c:showLegendKey val="0"/>
          <c:showVal val="0"/>
          <c:showCatName val="0"/>
          <c:showSerName val="0"/>
          <c:showPercent val="0"/>
          <c:showBubbleSize val="0"/>
        </c:dLbls>
        <c:axId val="-1003049776"/>
        <c:axId val="-1003047296"/>
      </c:scatterChart>
      <c:valAx>
        <c:axId val="-1003049776"/>
        <c:scaling>
          <c:orientation val="minMax"/>
          <c:max val="4"/>
          <c:min val="-4"/>
        </c:scaling>
        <c:delete val="0"/>
        <c:axPos val="b"/>
        <c:majorGridlines>
          <c:spPr>
            <a:ln w="9525" cap="flat" cmpd="sng" algn="ctr">
              <a:solidFill>
                <a:schemeClr val="tx1">
                  <a:lumMod val="15000"/>
                  <a:lumOff val="85000"/>
                </a:schemeClr>
              </a:solidFill>
              <a:round/>
            </a:ln>
            <a:effectLst/>
          </c:spPr>
        </c:majorGridlines>
        <c:numFmt formatCode="General" sourceLinked="1"/>
        <c:majorTickMark val="none"/>
        <c:minorTickMark val="none"/>
        <c:tickLblPos val="nextTo"/>
        <c:spPr>
          <a:noFill/>
          <a:ln w="9525" cap="flat" cmpd="sng" algn="ctr">
            <a:solidFill>
              <a:schemeClr val="tx1">
                <a:lumMod val="25000"/>
                <a:lumOff val="75000"/>
              </a:schemeClr>
            </a:solidFill>
            <a:round/>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1003047296"/>
        <c:crosses val="autoZero"/>
        <c:crossBetween val="midCat"/>
      </c:valAx>
      <c:valAx>
        <c:axId val="-1003047296"/>
        <c:scaling>
          <c:orientation val="minMax"/>
        </c:scaling>
        <c:delete val="0"/>
        <c:axPos val="l"/>
        <c:majorGridlines>
          <c:spPr>
            <a:ln w="9525" cap="flat" cmpd="sng" algn="ctr">
              <a:solidFill>
                <a:schemeClr val="tx1">
                  <a:lumMod val="15000"/>
                  <a:lumOff val="85000"/>
                </a:schemeClr>
              </a:solidFill>
              <a:round/>
            </a:ln>
            <a:effectLst/>
          </c:spPr>
        </c:majorGridlines>
        <c:numFmt formatCode="General" sourceLinked="0"/>
        <c:majorTickMark val="none"/>
        <c:minorTickMark val="none"/>
        <c:tickLblPos val="nextTo"/>
        <c:spPr>
          <a:noFill/>
          <a:ln w="9525" cap="flat" cmpd="sng" algn="ctr">
            <a:solidFill>
              <a:schemeClr val="tx1">
                <a:lumMod val="25000"/>
                <a:lumOff val="75000"/>
              </a:schemeClr>
            </a:solidFill>
            <a:round/>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1003049776"/>
        <c:crossesAt val="-4"/>
        <c:crossBetween val="midCat"/>
      </c:valAx>
      <c:spPr>
        <a:noFill/>
        <a:ln>
          <a:noFill/>
        </a:ln>
        <a:effectLst/>
      </c:spPr>
    </c:plotArea>
    <c:plotVisOnly val="1"/>
    <c:dispBlanksAs val="gap"/>
    <c:showDLblsOverMax val="0"/>
  </c:chart>
  <c:spPr>
    <a:solidFill>
      <a:schemeClr val="bg1"/>
    </a:solidFill>
    <a:ln>
      <a:noFill/>
    </a:ln>
    <a:effectLst/>
  </c:spPr>
  <c:txPr>
    <a:bodyPr/>
    <a:lstStyle/>
    <a:p>
      <a:pPr>
        <a:defRPr/>
      </a:pPr>
      <a:endParaRPr lang="en-US"/>
    </a:p>
  </c:txPr>
  <c:externalData r:id="rId3">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sz="1400" b="0" i="0" u="none" strike="noStrike" kern="1200" spc="0" baseline="0">
                <a:solidFill>
                  <a:schemeClr val="tx1">
                    <a:lumMod val="65000"/>
                    <a:lumOff val="35000"/>
                  </a:schemeClr>
                </a:solidFill>
                <a:latin typeface="+mn-lt"/>
                <a:ea typeface="+mn-ea"/>
                <a:cs typeface="+mn-cs"/>
              </a:defRPr>
            </a:pPr>
            <a:r>
              <a:rPr lang="en-US"/>
              <a:t>Test and Item Info</a:t>
            </a:r>
          </a:p>
        </c:rich>
      </c:tx>
      <c:overlay val="0"/>
      <c:spPr>
        <a:noFill/>
        <a:ln>
          <a:noFill/>
        </a:ln>
        <a:effectLst/>
      </c:spPr>
      <c:txPr>
        <a:bodyPr rot="0" spcFirstLastPara="1" vertOverflow="ellipsis" vert="horz" wrap="square" anchor="ctr" anchorCtr="1"/>
        <a:lstStyle/>
        <a:p>
          <a:pPr>
            <a:defRPr sz="1400" b="0" i="0" u="none" strike="noStrike" kern="1200" spc="0" baseline="0">
              <a:solidFill>
                <a:schemeClr val="tx1">
                  <a:lumMod val="65000"/>
                  <a:lumOff val="35000"/>
                </a:schemeClr>
              </a:solidFill>
              <a:latin typeface="+mn-lt"/>
              <a:ea typeface="+mn-ea"/>
              <a:cs typeface="+mn-cs"/>
            </a:defRPr>
          </a:pPr>
          <a:endParaRPr lang="en-US"/>
        </a:p>
      </c:txPr>
    </c:title>
    <c:autoTitleDeleted val="0"/>
    <c:plotArea>
      <c:layout>
        <c:manualLayout>
          <c:layoutTarget val="inner"/>
          <c:xMode val="edge"/>
          <c:yMode val="edge"/>
          <c:x val="8.3243358232650902E-2"/>
          <c:y val="9.6880907196926797E-2"/>
          <c:w val="0.74971024923129104"/>
          <c:h val="0.78327755745076799"/>
        </c:manualLayout>
      </c:layout>
      <c:scatterChart>
        <c:scatterStyle val="smoothMarker"/>
        <c:varyColors val="0"/>
        <c:ser>
          <c:idx val="0"/>
          <c:order val="0"/>
          <c:tx>
            <c:strRef>
              <c:f>Solns!$J$15</c:f>
              <c:strCache>
                <c:ptCount val="1"/>
                <c:pt idx="0">
                  <c:v>info1</c:v>
                </c:pt>
              </c:strCache>
            </c:strRef>
          </c:tx>
          <c:spPr>
            <a:ln w="19050" cap="rnd">
              <a:solidFill>
                <a:schemeClr val="accent1"/>
              </a:solidFill>
              <a:round/>
            </a:ln>
            <a:effectLst/>
          </c:spPr>
          <c:marker>
            <c:symbol val="none"/>
          </c:marker>
          <c:xVal>
            <c:numRef>
              <c:f>Solns!$I$16:$I$56</c:f>
              <c:numCache>
                <c:formatCode>General</c:formatCode>
                <c:ptCount val="41"/>
                <c:pt idx="0">
                  <c:v>-4</c:v>
                </c:pt>
                <c:pt idx="1">
                  <c:v>-3.8</c:v>
                </c:pt>
                <c:pt idx="2">
                  <c:v>-3.6</c:v>
                </c:pt>
                <c:pt idx="3">
                  <c:v>-3.4</c:v>
                </c:pt>
                <c:pt idx="4">
                  <c:v>-3.2</c:v>
                </c:pt>
                <c:pt idx="5">
                  <c:v>-3</c:v>
                </c:pt>
                <c:pt idx="6">
                  <c:v>-2.8</c:v>
                </c:pt>
                <c:pt idx="7">
                  <c:v>-2.6</c:v>
                </c:pt>
                <c:pt idx="8">
                  <c:v>-2.4</c:v>
                </c:pt>
                <c:pt idx="9">
                  <c:v>-2.2000000000000002</c:v>
                </c:pt>
                <c:pt idx="10">
                  <c:v>-2</c:v>
                </c:pt>
                <c:pt idx="11">
                  <c:v>-1.8</c:v>
                </c:pt>
                <c:pt idx="12">
                  <c:v>-1.6</c:v>
                </c:pt>
                <c:pt idx="13">
                  <c:v>-1.4</c:v>
                </c:pt>
                <c:pt idx="14">
                  <c:v>-1.2</c:v>
                </c:pt>
                <c:pt idx="15">
                  <c:v>-1</c:v>
                </c:pt>
                <c:pt idx="16">
                  <c:v>-0.8</c:v>
                </c:pt>
                <c:pt idx="17">
                  <c:v>-0.6</c:v>
                </c:pt>
                <c:pt idx="18">
                  <c:v>-0.4</c:v>
                </c:pt>
                <c:pt idx="19">
                  <c:v>-0.2</c:v>
                </c:pt>
                <c:pt idx="20">
                  <c:v>0</c:v>
                </c:pt>
                <c:pt idx="21">
                  <c:v>0.2</c:v>
                </c:pt>
                <c:pt idx="22">
                  <c:v>0.4</c:v>
                </c:pt>
                <c:pt idx="23">
                  <c:v>0.6</c:v>
                </c:pt>
                <c:pt idx="24">
                  <c:v>0.8</c:v>
                </c:pt>
                <c:pt idx="25">
                  <c:v>1</c:v>
                </c:pt>
                <c:pt idx="26">
                  <c:v>1.2</c:v>
                </c:pt>
                <c:pt idx="27">
                  <c:v>1.4</c:v>
                </c:pt>
                <c:pt idx="28">
                  <c:v>1.6</c:v>
                </c:pt>
                <c:pt idx="29">
                  <c:v>1.80000000000001</c:v>
                </c:pt>
                <c:pt idx="30">
                  <c:v>2.0000000000000102</c:v>
                </c:pt>
                <c:pt idx="31">
                  <c:v>2.2000000000000099</c:v>
                </c:pt>
                <c:pt idx="32">
                  <c:v>2.4000000000000101</c:v>
                </c:pt>
                <c:pt idx="33">
                  <c:v>2.6000000000000099</c:v>
                </c:pt>
                <c:pt idx="34">
                  <c:v>2.80000000000001</c:v>
                </c:pt>
                <c:pt idx="35">
                  <c:v>3.0000000000000102</c:v>
                </c:pt>
                <c:pt idx="36">
                  <c:v>3.2000000000000099</c:v>
                </c:pt>
                <c:pt idx="37">
                  <c:v>3.4000000000000101</c:v>
                </c:pt>
                <c:pt idx="38">
                  <c:v>3.6000000000000099</c:v>
                </c:pt>
                <c:pt idx="39">
                  <c:v>3.80000000000001</c:v>
                </c:pt>
                <c:pt idx="40">
                  <c:v>4.0000000000000098</c:v>
                </c:pt>
              </c:numCache>
            </c:numRef>
          </c:xVal>
          <c:yVal>
            <c:numRef>
              <c:f>Solns!$J$16:$J$56</c:f>
              <c:numCache>
                <c:formatCode>General</c:formatCode>
                <c:ptCount val="41"/>
                <c:pt idx="0">
                  <c:v>1.6319800072198101E-2</c:v>
                </c:pt>
                <c:pt idx="1">
                  <c:v>2.2123295810146E-2</c:v>
                </c:pt>
                <c:pt idx="2">
                  <c:v>2.9528619316343201E-2</c:v>
                </c:pt>
                <c:pt idx="3">
                  <c:v>3.8740811778154603E-2</c:v>
                </c:pt>
                <c:pt idx="4">
                  <c:v>4.9878328420616798E-2</c:v>
                </c:pt>
                <c:pt idx="5">
                  <c:v>6.2919781892833204E-2</c:v>
                </c:pt>
                <c:pt idx="6">
                  <c:v>7.7652602706594506E-2</c:v>
                </c:pt>
                <c:pt idx="7">
                  <c:v>9.3636178453549004E-2</c:v>
                </c:pt>
                <c:pt idx="8">
                  <c:v>0.11019369490846299</c:v>
                </c:pt>
                <c:pt idx="9">
                  <c:v>0.12644464813078399</c:v>
                </c:pt>
                <c:pt idx="10">
                  <c:v>0.14138280287803201</c:v>
                </c:pt>
                <c:pt idx="11">
                  <c:v>0.153992911715822</c:v>
                </c:pt>
                <c:pt idx="12">
                  <c:v>0.163386770682905</c:v>
                </c:pt>
                <c:pt idx="13">
                  <c:v>0.16892999589197</c:v>
                </c:pt>
                <c:pt idx="14">
                  <c:v>0.17032994412543301</c:v>
                </c:pt>
                <c:pt idx="15">
                  <c:v>0.16766426616751201</c:v>
                </c:pt>
                <c:pt idx="16">
                  <c:v>0.16134589825445</c:v>
                </c:pt>
                <c:pt idx="17">
                  <c:v>0.15203748052854901</c:v>
                </c:pt>
                <c:pt idx="18">
                  <c:v>0.14053959048084799</c:v>
                </c:pt>
                <c:pt idx="19">
                  <c:v>0.127679353354617</c:v>
                </c:pt>
                <c:pt idx="20">
                  <c:v>0.11421997729123699</c:v>
                </c:pt>
                <c:pt idx="21">
                  <c:v>0.100801637885137</c:v>
                </c:pt>
                <c:pt idx="22">
                  <c:v>8.7914361478314607E-2</c:v>
                </c:pt>
                <c:pt idx="23">
                  <c:v>7.5896949959044294E-2</c:v>
                </c:pt>
                <c:pt idx="24">
                  <c:v>6.4953226515295198E-2</c:v>
                </c:pt>
                <c:pt idx="25">
                  <c:v>5.5177130303086602E-2</c:v>
                </c:pt>
                <c:pt idx="26">
                  <c:v>4.6580082323924299E-2</c:v>
                </c:pt>
                <c:pt idx="27">
                  <c:v>3.9116393167500797E-2</c:v>
                </c:pt>
                <c:pt idx="28">
                  <c:v>3.2704552806311703E-2</c:v>
                </c:pt>
                <c:pt idx="29">
                  <c:v>2.72437367524377E-2</c:v>
                </c:pt>
                <c:pt idx="30">
                  <c:v>2.2625771285640601E-2</c:v>
                </c:pt>
                <c:pt idx="31">
                  <c:v>1.8743246772599701E-2</c:v>
                </c:pt>
                <c:pt idx="32">
                  <c:v>1.54946063121925E-2</c:v>
                </c:pt>
                <c:pt idx="33">
                  <c:v>1.2786999350627701E-2</c:v>
                </c:pt>
                <c:pt idx="34">
                  <c:v>1.0537570677076599E-2</c:v>
                </c:pt>
                <c:pt idx="35">
                  <c:v>8.6737125292877908E-3</c:v>
                </c:pt>
                <c:pt idx="36">
                  <c:v>7.1326725535238002E-3</c:v>
                </c:pt>
                <c:pt idx="37">
                  <c:v>5.86079658694079E-3</c:v>
                </c:pt>
                <c:pt idx="38">
                  <c:v>4.8125960023434698E-3</c:v>
                </c:pt>
                <c:pt idx="39">
                  <c:v>3.9497629026528699E-3</c:v>
                </c:pt>
                <c:pt idx="40">
                  <c:v>3.24020895721159E-3</c:v>
                </c:pt>
              </c:numCache>
            </c:numRef>
          </c:yVal>
          <c:smooth val="1"/>
          <c:extLst>
            <c:ext xmlns:c16="http://schemas.microsoft.com/office/drawing/2014/chart" uri="{C3380CC4-5D6E-409C-BE32-E72D297353CC}">
              <c16:uniqueId val="{00000000-7A30-5246-B7ED-CC183D000D82}"/>
            </c:ext>
          </c:extLst>
        </c:ser>
        <c:ser>
          <c:idx val="1"/>
          <c:order val="1"/>
          <c:tx>
            <c:strRef>
              <c:f>Solns!$K$15</c:f>
              <c:strCache>
                <c:ptCount val="1"/>
                <c:pt idx="0">
                  <c:v>info2</c:v>
                </c:pt>
              </c:strCache>
            </c:strRef>
          </c:tx>
          <c:spPr>
            <a:ln w="19050" cap="rnd">
              <a:solidFill>
                <a:schemeClr val="accent2"/>
              </a:solidFill>
              <a:round/>
            </a:ln>
            <a:effectLst/>
          </c:spPr>
          <c:marker>
            <c:symbol val="none"/>
          </c:marker>
          <c:xVal>
            <c:numRef>
              <c:f>Solns!$I$16:$I$56</c:f>
              <c:numCache>
                <c:formatCode>General</c:formatCode>
                <c:ptCount val="41"/>
                <c:pt idx="0">
                  <c:v>-4</c:v>
                </c:pt>
                <c:pt idx="1">
                  <c:v>-3.8</c:v>
                </c:pt>
                <c:pt idx="2">
                  <c:v>-3.6</c:v>
                </c:pt>
                <c:pt idx="3">
                  <c:v>-3.4</c:v>
                </c:pt>
                <c:pt idx="4">
                  <c:v>-3.2</c:v>
                </c:pt>
                <c:pt idx="5">
                  <c:v>-3</c:v>
                </c:pt>
                <c:pt idx="6">
                  <c:v>-2.8</c:v>
                </c:pt>
                <c:pt idx="7">
                  <c:v>-2.6</c:v>
                </c:pt>
                <c:pt idx="8">
                  <c:v>-2.4</c:v>
                </c:pt>
                <c:pt idx="9">
                  <c:v>-2.2000000000000002</c:v>
                </c:pt>
                <c:pt idx="10">
                  <c:v>-2</c:v>
                </c:pt>
                <c:pt idx="11">
                  <c:v>-1.8</c:v>
                </c:pt>
                <c:pt idx="12">
                  <c:v>-1.6</c:v>
                </c:pt>
                <c:pt idx="13">
                  <c:v>-1.4</c:v>
                </c:pt>
                <c:pt idx="14">
                  <c:v>-1.2</c:v>
                </c:pt>
                <c:pt idx="15">
                  <c:v>-1</c:v>
                </c:pt>
                <c:pt idx="16">
                  <c:v>-0.8</c:v>
                </c:pt>
                <c:pt idx="17">
                  <c:v>-0.6</c:v>
                </c:pt>
                <c:pt idx="18">
                  <c:v>-0.4</c:v>
                </c:pt>
                <c:pt idx="19">
                  <c:v>-0.2</c:v>
                </c:pt>
                <c:pt idx="20">
                  <c:v>0</c:v>
                </c:pt>
                <c:pt idx="21">
                  <c:v>0.2</c:v>
                </c:pt>
                <c:pt idx="22">
                  <c:v>0.4</c:v>
                </c:pt>
                <c:pt idx="23">
                  <c:v>0.6</c:v>
                </c:pt>
                <c:pt idx="24">
                  <c:v>0.8</c:v>
                </c:pt>
                <c:pt idx="25">
                  <c:v>1</c:v>
                </c:pt>
                <c:pt idx="26">
                  <c:v>1.2</c:v>
                </c:pt>
                <c:pt idx="27">
                  <c:v>1.4</c:v>
                </c:pt>
                <c:pt idx="28">
                  <c:v>1.6</c:v>
                </c:pt>
                <c:pt idx="29">
                  <c:v>1.80000000000001</c:v>
                </c:pt>
                <c:pt idx="30">
                  <c:v>2.0000000000000102</c:v>
                </c:pt>
                <c:pt idx="31">
                  <c:v>2.2000000000000099</c:v>
                </c:pt>
                <c:pt idx="32">
                  <c:v>2.4000000000000101</c:v>
                </c:pt>
                <c:pt idx="33">
                  <c:v>2.6000000000000099</c:v>
                </c:pt>
                <c:pt idx="34">
                  <c:v>2.80000000000001</c:v>
                </c:pt>
                <c:pt idx="35">
                  <c:v>3.0000000000000102</c:v>
                </c:pt>
                <c:pt idx="36">
                  <c:v>3.2000000000000099</c:v>
                </c:pt>
                <c:pt idx="37">
                  <c:v>3.4000000000000101</c:v>
                </c:pt>
                <c:pt idx="38">
                  <c:v>3.6000000000000099</c:v>
                </c:pt>
                <c:pt idx="39">
                  <c:v>3.80000000000001</c:v>
                </c:pt>
                <c:pt idx="40">
                  <c:v>4.0000000000000098</c:v>
                </c:pt>
              </c:numCache>
            </c:numRef>
          </c:xVal>
          <c:yVal>
            <c:numRef>
              <c:f>Solns!$K$16:$K$56</c:f>
              <c:numCache>
                <c:formatCode>General</c:formatCode>
                <c:ptCount val="41"/>
                <c:pt idx="0">
                  <c:v>1.1854533205120201E-3</c:v>
                </c:pt>
                <c:pt idx="1">
                  <c:v>1.7224926235900799E-3</c:v>
                </c:pt>
                <c:pt idx="2">
                  <c:v>2.4894896483735399E-3</c:v>
                </c:pt>
                <c:pt idx="3">
                  <c:v>3.5753779008750198E-3</c:v>
                </c:pt>
                <c:pt idx="4">
                  <c:v>5.0969921917837901E-3</c:v>
                </c:pt>
                <c:pt idx="5">
                  <c:v>7.2036185423088699E-3</c:v>
                </c:pt>
                <c:pt idx="6">
                  <c:v>1.0079553248546201E-2</c:v>
                </c:pt>
                <c:pt idx="7">
                  <c:v>1.39426369793093E-2</c:v>
                </c:pt>
                <c:pt idx="8">
                  <c:v>1.9036175410009099E-2</c:v>
                </c:pt>
                <c:pt idx="9">
                  <c:v>2.56114773917877E-2</c:v>
                </c:pt>
                <c:pt idx="10">
                  <c:v>3.3898816686307197E-2</c:v>
                </c:pt>
                <c:pt idx="11">
                  <c:v>4.4066325438574597E-2</c:v>
                </c:pt>
                <c:pt idx="12">
                  <c:v>5.6169330500922099E-2</c:v>
                </c:pt>
                <c:pt idx="13">
                  <c:v>7.0096694971567397E-2</c:v>
                </c:pt>
                <c:pt idx="14">
                  <c:v>8.5524971487201104E-2</c:v>
                </c:pt>
                <c:pt idx="15">
                  <c:v>0.101894145671918</c:v>
                </c:pt>
                <c:pt idx="16">
                  <c:v>0.118418647759248</c:v>
                </c:pt>
                <c:pt idx="17">
                  <c:v>0.13414263055258499</c:v>
                </c:pt>
                <c:pt idx="18">
                  <c:v>0.14803896095889699</c:v>
                </c:pt>
                <c:pt idx="19">
                  <c:v>0.15913875525078999</c:v>
                </c:pt>
                <c:pt idx="20">
                  <c:v>0.16666666666666699</c:v>
                </c:pt>
                <c:pt idx="21">
                  <c:v>0.170151590245642</c:v>
                </c:pt>
                <c:pt idx="22">
                  <c:v>0.16948655017066</c:v>
                </c:pt>
                <c:pt idx="23">
                  <c:v>0.16492485631947301</c:v>
                </c:pt>
                <c:pt idx="24">
                  <c:v>0.157017275285708</c:v>
                </c:pt>
                <c:pt idx="25">
                  <c:v>0.14650994710013401</c:v>
                </c:pt>
                <c:pt idx="26">
                  <c:v>0.134229710163844</c:v>
                </c:pt>
                <c:pt idx="27">
                  <c:v>0.120981198736028</c:v>
                </c:pt>
                <c:pt idx="28">
                  <c:v>0.107471412743089</c:v>
                </c:pt>
                <c:pt idx="29">
                  <c:v>9.4267025332968393E-2</c:v>
                </c:pt>
                <c:pt idx="30">
                  <c:v>8.1781289526499601E-2</c:v>
                </c:pt>
                <c:pt idx="31">
                  <c:v>7.0282753029246206E-2</c:v>
                </c:pt>
                <c:pt idx="32">
                  <c:v>5.99168916852513E-2</c:v>
                </c:pt>
                <c:pt idx="33">
                  <c:v>5.0733014831589797E-2</c:v>
                </c:pt>
                <c:pt idx="34">
                  <c:v>4.2711039606455697E-2</c:v>
                </c:pt>
                <c:pt idx="35">
                  <c:v>3.5785001719300699E-2</c:v>
                </c:pt>
                <c:pt idx="36">
                  <c:v>2.9861967243660401E-2</c:v>
                </c:pt>
                <c:pt idx="37">
                  <c:v>2.4836201078015999E-2</c:v>
                </c:pt>
                <c:pt idx="38">
                  <c:v>2.05991059568645E-2</c:v>
                </c:pt>
                <c:pt idx="39">
                  <c:v>1.7045719554026399E-2</c:v>
                </c:pt>
                <c:pt idx="40">
                  <c:v>1.4078593284500699E-2</c:v>
                </c:pt>
              </c:numCache>
            </c:numRef>
          </c:yVal>
          <c:smooth val="1"/>
          <c:extLst>
            <c:ext xmlns:c16="http://schemas.microsoft.com/office/drawing/2014/chart" uri="{C3380CC4-5D6E-409C-BE32-E72D297353CC}">
              <c16:uniqueId val="{00000001-7A30-5246-B7ED-CC183D000D82}"/>
            </c:ext>
          </c:extLst>
        </c:ser>
        <c:ser>
          <c:idx val="2"/>
          <c:order val="2"/>
          <c:tx>
            <c:strRef>
              <c:f>Solns!$L$15</c:f>
              <c:strCache>
                <c:ptCount val="1"/>
                <c:pt idx="0">
                  <c:v>info3</c:v>
                </c:pt>
              </c:strCache>
            </c:strRef>
          </c:tx>
          <c:spPr>
            <a:ln w="19050" cap="rnd">
              <a:solidFill>
                <a:schemeClr val="accent3"/>
              </a:solidFill>
              <a:round/>
            </a:ln>
            <a:effectLst/>
          </c:spPr>
          <c:marker>
            <c:symbol val="none"/>
          </c:marker>
          <c:xVal>
            <c:numRef>
              <c:f>Solns!$I$16:$I$56</c:f>
              <c:numCache>
                <c:formatCode>General</c:formatCode>
                <c:ptCount val="41"/>
                <c:pt idx="0">
                  <c:v>-4</c:v>
                </c:pt>
                <c:pt idx="1">
                  <c:v>-3.8</c:v>
                </c:pt>
                <c:pt idx="2">
                  <c:v>-3.6</c:v>
                </c:pt>
                <c:pt idx="3">
                  <c:v>-3.4</c:v>
                </c:pt>
                <c:pt idx="4">
                  <c:v>-3.2</c:v>
                </c:pt>
                <c:pt idx="5">
                  <c:v>-3</c:v>
                </c:pt>
                <c:pt idx="6">
                  <c:v>-2.8</c:v>
                </c:pt>
                <c:pt idx="7">
                  <c:v>-2.6</c:v>
                </c:pt>
                <c:pt idx="8">
                  <c:v>-2.4</c:v>
                </c:pt>
                <c:pt idx="9">
                  <c:v>-2.2000000000000002</c:v>
                </c:pt>
                <c:pt idx="10">
                  <c:v>-2</c:v>
                </c:pt>
                <c:pt idx="11">
                  <c:v>-1.8</c:v>
                </c:pt>
                <c:pt idx="12">
                  <c:v>-1.6</c:v>
                </c:pt>
                <c:pt idx="13">
                  <c:v>-1.4</c:v>
                </c:pt>
                <c:pt idx="14">
                  <c:v>-1.2</c:v>
                </c:pt>
                <c:pt idx="15">
                  <c:v>-1</c:v>
                </c:pt>
                <c:pt idx="16">
                  <c:v>-0.8</c:v>
                </c:pt>
                <c:pt idx="17">
                  <c:v>-0.6</c:v>
                </c:pt>
                <c:pt idx="18">
                  <c:v>-0.4</c:v>
                </c:pt>
                <c:pt idx="19">
                  <c:v>-0.2</c:v>
                </c:pt>
                <c:pt idx="20">
                  <c:v>0</c:v>
                </c:pt>
                <c:pt idx="21">
                  <c:v>0.2</c:v>
                </c:pt>
                <c:pt idx="22">
                  <c:v>0.4</c:v>
                </c:pt>
                <c:pt idx="23">
                  <c:v>0.6</c:v>
                </c:pt>
                <c:pt idx="24">
                  <c:v>0.8</c:v>
                </c:pt>
                <c:pt idx="25">
                  <c:v>1</c:v>
                </c:pt>
                <c:pt idx="26">
                  <c:v>1.2</c:v>
                </c:pt>
                <c:pt idx="27">
                  <c:v>1.4</c:v>
                </c:pt>
                <c:pt idx="28">
                  <c:v>1.6</c:v>
                </c:pt>
                <c:pt idx="29">
                  <c:v>1.80000000000001</c:v>
                </c:pt>
                <c:pt idx="30">
                  <c:v>2.0000000000000102</c:v>
                </c:pt>
                <c:pt idx="31">
                  <c:v>2.2000000000000099</c:v>
                </c:pt>
                <c:pt idx="32">
                  <c:v>2.4000000000000101</c:v>
                </c:pt>
                <c:pt idx="33">
                  <c:v>2.6000000000000099</c:v>
                </c:pt>
                <c:pt idx="34">
                  <c:v>2.80000000000001</c:v>
                </c:pt>
                <c:pt idx="35">
                  <c:v>3.0000000000000102</c:v>
                </c:pt>
                <c:pt idx="36">
                  <c:v>3.2000000000000099</c:v>
                </c:pt>
                <c:pt idx="37">
                  <c:v>3.4000000000000101</c:v>
                </c:pt>
                <c:pt idx="38">
                  <c:v>3.6000000000000099</c:v>
                </c:pt>
                <c:pt idx="39">
                  <c:v>3.80000000000001</c:v>
                </c:pt>
                <c:pt idx="40">
                  <c:v>4.0000000000000098</c:v>
                </c:pt>
              </c:numCache>
            </c:numRef>
          </c:xVal>
          <c:yVal>
            <c:numRef>
              <c:f>Solns!$L$16:$L$56</c:f>
              <c:numCache>
                <c:formatCode>General</c:formatCode>
                <c:ptCount val="41"/>
                <c:pt idx="0">
                  <c:v>4.7137742372935498E-7</c:v>
                </c:pt>
                <c:pt idx="1">
                  <c:v>1.0484515723040301E-6</c:v>
                </c:pt>
                <c:pt idx="2">
                  <c:v>2.3313216659888099E-6</c:v>
                </c:pt>
                <c:pt idx="3">
                  <c:v>5.1816556931989502E-6</c:v>
                </c:pt>
                <c:pt idx="4">
                  <c:v>1.15094767306933E-5</c:v>
                </c:pt>
                <c:pt idx="5">
                  <c:v>2.5540340425509E-5</c:v>
                </c:pt>
                <c:pt idx="6">
                  <c:v>5.6595124933718498E-5</c:v>
                </c:pt>
                <c:pt idx="7">
                  <c:v>1.25144595083324E-4</c:v>
                </c:pt>
                <c:pt idx="8">
                  <c:v>2.7585585049797698E-4</c:v>
                </c:pt>
                <c:pt idx="9">
                  <c:v>6.0525368401721802E-4</c:v>
                </c:pt>
                <c:pt idx="10">
                  <c:v>1.3189462245246301E-3</c:v>
                </c:pt>
                <c:pt idx="11">
                  <c:v>2.84563617359015E-3</c:v>
                </c:pt>
                <c:pt idx="12">
                  <c:v>6.0512576775944103E-3</c:v>
                </c:pt>
                <c:pt idx="13">
                  <c:v>1.26043050197347E-2</c:v>
                </c:pt>
                <c:pt idx="14">
                  <c:v>2.5500871932481899E-2</c:v>
                </c:pt>
                <c:pt idx="15">
                  <c:v>4.9574258553327699E-2</c:v>
                </c:pt>
                <c:pt idx="16">
                  <c:v>9.1391954808511103E-2</c:v>
                </c:pt>
                <c:pt idx="17">
                  <c:v>0.157422698464073</c:v>
                </c:pt>
                <c:pt idx="18">
                  <c:v>0.249546934117197</c:v>
                </c:pt>
                <c:pt idx="19">
                  <c:v>0.35915374351358997</c:v>
                </c:pt>
                <c:pt idx="20">
                  <c:v>0.46473786195723898</c:v>
                </c:pt>
                <c:pt idx="21">
                  <c:v>0.53846153846153799</c:v>
                </c:pt>
                <c:pt idx="22">
                  <c:v>0.56009684516554603</c:v>
                </c:pt>
                <c:pt idx="23">
                  <c:v>0.52780035431703198</c:v>
                </c:pt>
                <c:pt idx="24">
                  <c:v>0.45682639408675901</c:v>
                </c:pt>
                <c:pt idx="25">
                  <c:v>0.36898931976145499</c:v>
                </c:pt>
                <c:pt idx="26">
                  <c:v>0.28251189109029401</c:v>
                </c:pt>
                <c:pt idx="27">
                  <c:v>0.20785708650583401</c:v>
                </c:pt>
                <c:pt idx="28">
                  <c:v>0.148595883817636</c:v>
                </c:pt>
                <c:pt idx="29">
                  <c:v>0.104095998377045</c:v>
                </c:pt>
                <c:pt idx="30">
                  <c:v>7.1901477026160801E-2</c:v>
                </c:pt>
                <c:pt idx="31">
                  <c:v>4.9185319233501799E-2</c:v>
                </c:pt>
                <c:pt idx="32">
                  <c:v>3.3424631269727903E-2</c:v>
                </c:pt>
                <c:pt idx="33">
                  <c:v>2.2612812720295899E-2</c:v>
                </c:pt>
                <c:pt idx="34">
                  <c:v>1.5252116601605401E-2</c:v>
                </c:pt>
                <c:pt idx="35">
                  <c:v>1.02664763631062E-2</c:v>
                </c:pt>
                <c:pt idx="36">
                  <c:v>6.9010941851377497E-3</c:v>
                </c:pt>
                <c:pt idx="37">
                  <c:v>4.63462827552669E-3</c:v>
                </c:pt>
                <c:pt idx="38">
                  <c:v>3.1105958787049602E-3</c:v>
                </c:pt>
                <c:pt idx="39">
                  <c:v>2.0868549645937798E-3</c:v>
                </c:pt>
                <c:pt idx="40">
                  <c:v>1.39965239919514E-3</c:v>
                </c:pt>
              </c:numCache>
            </c:numRef>
          </c:yVal>
          <c:smooth val="1"/>
          <c:extLst>
            <c:ext xmlns:c16="http://schemas.microsoft.com/office/drawing/2014/chart" uri="{C3380CC4-5D6E-409C-BE32-E72D297353CC}">
              <c16:uniqueId val="{00000002-7A30-5246-B7ED-CC183D000D82}"/>
            </c:ext>
          </c:extLst>
        </c:ser>
        <c:ser>
          <c:idx val="3"/>
          <c:order val="3"/>
          <c:tx>
            <c:strRef>
              <c:f>Solns!$M$15</c:f>
              <c:strCache>
                <c:ptCount val="1"/>
                <c:pt idx="0">
                  <c:v>testinfo</c:v>
                </c:pt>
              </c:strCache>
            </c:strRef>
          </c:tx>
          <c:spPr>
            <a:ln w="19050" cap="rnd">
              <a:solidFill>
                <a:schemeClr val="accent4"/>
              </a:solidFill>
              <a:round/>
            </a:ln>
            <a:effectLst/>
          </c:spPr>
          <c:marker>
            <c:symbol val="none"/>
          </c:marker>
          <c:xVal>
            <c:numRef>
              <c:f>Solns!$I$16:$I$56</c:f>
              <c:numCache>
                <c:formatCode>General</c:formatCode>
                <c:ptCount val="41"/>
                <c:pt idx="0">
                  <c:v>-4</c:v>
                </c:pt>
                <c:pt idx="1">
                  <c:v>-3.8</c:v>
                </c:pt>
                <c:pt idx="2">
                  <c:v>-3.6</c:v>
                </c:pt>
                <c:pt idx="3">
                  <c:v>-3.4</c:v>
                </c:pt>
                <c:pt idx="4">
                  <c:v>-3.2</c:v>
                </c:pt>
                <c:pt idx="5">
                  <c:v>-3</c:v>
                </c:pt>
                <c:pt idx="6">
                  <c:v>-2.8</c:v>
                </c:pt>
                <c:pt idx="7">
                  <c:v>-2.6</c:v>
                </c:pt>
                <c:pt idx="8">
                  <c:v>-2.4</c:v>
                </c:pt>
                <c:pt idx="9">
                  <c:v>-2.2000000000000002</c:v>
                </c:pt>
                <c:pt idx="10">
                  <c:v>-2</c:v>
                </c:pt>
                <c:pt idx="11">
                  <c:v>-1.8</c:v>
                </c:pt>
                <c:pt idx="12">
                  <c:v>-1.6</c:v>
                </c:pt>
                <c:pt idx="13">
                  <c:v>-1.4</c:v>
                </c:pt>
                <c:pt idx="14">
                  <c:v>-1.2</c:v>
                </c:pt>
                <c:pt idx="15">
                  <c:v>-1</c:v>
                </c:pt>
                <c:pt idx="16">
                  <c:v>-0.8</c:v>
                </c:pt>
                <c:pt idx="17">
                  <c:v>-0.6</c:v>
                </c:pt>
                <c:pt idx="18">
                  <c:v>-0.4</c:v>
                </c:pt>
                <c:pt idx="19">
                  <c:v>-0.2</c:v>
                </c:pt>
                <c:pt idx="20">
                  <c:v>0</c:v>
                </c:pt>
                <c:pt idx="21">
                  <c:v>0.2</c:v>
                </c:pt>
                <c:pt idx="22">
                  <c:v>0.4</c:v>
                </c:pt>
                <c:pt idx="23">
                  <c:v>0.6</c:v>
                </c:pt>
                <c:pt idx="24">
                  <c:v>0.8</c:v>
                </c:pt>
                <c:pt idx="25">
                  <c:v>1</c:v>
                </c:pt>
                <c:pt idx="26">
                  <c:v>1.2</c:v>
                </c:pt>
                <c:pt idx="27">
                  <c:v>1.4</c:v>
                </c:pt>
                <c:pt idx="28">
                  <c:v>1.6</c:v>
                </c:pt>
                <c:pt idx="29">
                  <c:v>1.80000000000001</c:v>
                </c:pt>
                <c:pt idx="30">
                  <c:v>2.0000000000000102</c:v>
                </c:pt>
                <c:pt idx="31">
                  <c:v>2.2000000000000099</c:v>
                </c:pt>
                <c:pt idx="32">
                  <c:v>2.4000000000000101</c:v>
                </c:pt>
                <c:pt idx="33">
                  <c:v>2.6000000000000099</c:v>
                </c:pt>
                <c:pt idx="34">
                  <c:v>2.80000000000001</c:v>
                </c:pt>
                <c:pt idx="35">
                  <c:v>3.0000000000000102</c:v>
                </c:pt>
                <c:pt idx="36">
                  <c:v>3.2000000000000099</c:v>
                </c:pt>
                <c:pt idx="37">
                  <c:v>3.4000000000000101</c:v>
                </c:pt>
                <c:pt idx="38">
                  <c:v>3.6000000000000099</c:v>
                </c:pt>
                <c:pt idx="39">
                  <c:v>3.80000000000001</c:v>
                </c:pt>
                <c:pt idx="40">
                  <c:v>4.0000000000000098</c:v>
                </c:pt>
              </c:numCache>
            </c:numRef>
          </c:xVal>
          <c:yVal>
            <c:numRef>
              <c:f>Solns!$M$16:$M$56</c:f>
              <c:numCache>
                <c:formatCode>General</c:formatCode>
                <c:ptCount val="41"/>
                <c:pt idx="0">
                  <c:v>1.7505724770133901E-2</c:v>
                </c:pt>
                <c:pt idx="1">
                  <c:v>2.3846836885308399E-2</c:v>
                </c:pt>
                <c:pt idx="2">
                  <c:v>3.20204402863827E-2</c:v>
                </c:pt>
                <c:pt idx="3">
                  <c:v>4.2321371334722802E-2</c:v>
                </c:pt>
                <c:pt idx="4">
                  <c:v>5.49868300891313E-2</c:v>
                </c:pt>
                <c:pt idx="5">
                  <c:v>7.0148940775567603E-2</c:v>
                </c:pt>
                <c:pt idx="6">
                  <c:v>8.7788751080074404E-2</c:v>
                </c:pt>
                <c:pt idx="7">
                  <c:v>0.107703960027942</c:v>
                </c:pt>
                <c:pt idx="8">
                  <c:v>0.12950572616897099</c:v>
                </c:pt>
                <c:pt idx="9">
                  <c:v>0.15266137920658901</c:v>
                </c:pt>
                <c:pt idx="10">
                  <c:v>0.17660056578886399</c:v>
                </c:pt>
                <c:pt idx="11">
                  <c:v>0.20090487332798601</c:v>
                </c:pt>
                <c:pt idx="12">
                  <c:v>0.225607358861422</c:v>
                </c:pt>
                <c:pt idx="13">
                  <c:v>0.25163099588327198</c:v>
                </c:pt>
                <c:pt idx="14">
                  <c:v>0.28135578754511598</c:v>
                </c:pt>
                <c:pt idx="15">
                  <c:v>0.319132670392759</c:v>
                </c:pt>
                <c:pt idx="16">
                  <c:v>0.37115650082220902</c:v>
                </c:pt>
                <c:pt idx="17">
                  <c:v>0.44360280954520698</c:v>
                </c:pt>
                <c:pt idx="18">
                  <c:v>0.53812548555694095</c:v>
                </c:pt>
                <c:pt idx="19">
                  <c:v>0.64597185211899699</c:v>
                </c:pt>
                <c:pt idx="20">
                  <c:v>0.74562450591514295</c:v>
                </c:pt>
                <c:pt idx="21">
                  <c:v>0.80941476659231804</c:v>
                </c:pt>
                <c:pt idx="22">
                  <c:v>0.81749775681451997</c:v>
                </c:pt>
                <c:pt idx="23">
                  <c:v>0.76862216059555</c:v>
                </c:pt>
                <c:pt idx="24">
                  <c:v>0.67879689588776304</c:v>
                </c:pt>
                <c:pt idx="25">
                  <c:v>0.570676397164676</c:v>
                </c:pt>
                <c:pt idx="26">
                  <c:v>0.46332168357806203</c:v>
                </c:pt>
                <c:pt idx="27">
                  <c:v>0.36795467840936202</c:v>
                </c:pt>
                <c:pt idx="28">
                  <c:v>0.28877184936703698</c:v>
                </c:pt>
                <c:pt idx="29">
                  <c:v>0.22560676046245101</c:v>
                </c:pt>
                <c:pt idx="30">
                  <c:v>0.176308537838301</c:v>
                </c:pt>
                <c:pt idx="31">
                  <c:v>0.138211319035348</c:v>
                </c:pt>
                <c:pt idx="32">
                  <c:v>0.108836129267172</c:v>
                </c:pt>
                <c:pt idx="33">
                  <c:v>8.6132826902513407E-2</c:v>
                </c:pt>
                <c:pt idx="34">
                  <c:v>6.8500726885137697E-2</c:v>
                </c:pt>
                <c:pt idx="35">
                  <c:v>5.4725190611694598E-2</c:v>
                </c:pt>
                <c:pt idx="36">
                  <c:v>4.3895733982321897E-2</c:v>
                </c:pt>
                <c:pt idx="37">
                  <c:v>3.5331625940483502E-2</c:v>
                </c:pt>
                <c:pt idx="38">
                  <c:v>2.8522297837912901E-2</c:v>
                </c:pt>
                <c:pt idx="39">
                  <c:v>2.3082337421273101E-2</c:v>
                </c:pt>
                <c:pt idx="40">
                  <c:v>1.87184546409075E-2</c:v>
                </c:pt>
              </c:numCache>
            </c:numRef>
          </c:yVal>
          <c:smooth val="1"/>
          <c:extLst>
            <c:ext xmlns:c16="http://schemas.microsoft.com/office/drawing/2014/chart" uri="{C3380CC4-5D6E-409C-BE32-E72D297353CC}">
              <c16:uniqueId val="{00000003-7A30-5246-B7ED-CC183D000D82}"/>
            </c:ext>
          </c:extLst>
        </c:ser>
        <c:dLbls>
          <c:showLegendKey val="0"/>
          <c:showVal val="0"/>
          <c:showCatName val="0"/>
          <c:showSerName val="0"/>
          <c:showPercent val="0"/>
          <c:showBubbleSize val="0"/>
        </c:dLbls>
        <c:axId val="-1002354256"/>
        <c:axId val="-1002351536"/>
      </c:scatterChart>
      <c:valAx>
        <c:axId val="-1002354256"/>
        <c:scaling>
          <c:orientation val="minMax"/>
          <c:max val="4"/>
          <c:min val="-4"/>
        </c:scaling>
        <c:delete val="0"/>
        <c:axPos val="b"/>
        <c:numFmt formatCode="General" sourceLinked="1"/>
        <c:majorTickMark val="none"/>
        <c:minorTickMark val="none"/>
        <c:tickLblPos val="nextTo"/>
        <c:spPr>
          <a:noFill/>
          <a:ln w="9525" cap="flat" cmpd="sng" algn="ctr">
            <a:solidFill>
              <a:schemeClr val="tx1">
                <a:lumMod val="25000"/>
                <a:lumOff val="75000"/>
              </a:schemeClr>
            </a:solidFill>
            <a:round/>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1002351536"/>
        <c:crosses val="autoZero"/>
        <c:crossBetween val="midCat"/>
      </c:valAx>
      <c:valAx>
        <c:axId val="-1002351536"/>
        <c:scaling>
          <c:orientation val="minMax"/>
        </c:scaling>
        <c:delete val="0"/>
        <c:axPos val="l"/>
        <c:numFmt formatCode="General" sourceLinked="1"/>
        <c:majorTickMark val="none"/>
        <c:minorTickMark val="none"/>
        <c:tickLblPos val="nextTo"/>
        <c:spPr>
          <a:noFill/>
          <a:ln w="9525" cap="flat" cmpd="sng" algn="ctr">
            <a:solidFill>
              <a:schemeClr val="tx1">
                <a:lumMod val="25000"/>
                <a:lumOff val="75000"/>
              </a:schemeClr>
            </a:solidFill>
            <a:round/>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1002354256"/>
        <c:crossesAt val="-4"/>
        <c:crossBetween val="midCat"/>
      </c:valAx>
      <c:spPr>
        <a:noFill/>
        <a:ln>
          <a:noFill/>
        </a:ln>
        <a:effectLst/>
      </c:spPr>
    </c:plotArea>
    <c:legend>
      <c:legendPos val="r"/>
      <c:overlay val="0"/>
      <c:spPr>
        <a:noFill/>
        <a:ln>
          <a:noFill/>
        </a:ln>
        <a:effectLst/>
      </c:spPr>
      <c:txPr>
        <a:bodyPr rot="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legend>
    <c:plotVisOnly val="1"/>
    <c:dispBlanksAs val="gap"/>
    <c:showDLblsOverMax val="0"/>
  </c:chart>
  <c:spPr>
    <a:noFill/>
    <a:ln>
      <a:noFill/>
    </a:ln>
    <a:effectLst/>
  </c:spPr>
  <c:txPr>
    <a:bodyPr/>
    <a:lstStyle/>
    <a:p>
      <a:pPr>
        <a:defRPr/>
      </a:pPr>
      <a:endParaRPr lang="en-US"/>
    </a:p>
  </c:txPr>
  <c:externalData r:id="rId3">
    <c:autoUpdate val="0"/>
  </c:externalData>
</c:chartSpace>
</file>

<file path=ppt/charts/colors1.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2.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style1.xml><?xml version="1.0" encoding="utf-8"?>
<cs:chartStyle xmlns:cs="http://schemas.microsoft.com/office/drawing/2012/chartStyle" xmlns:a="http://schemas.openxmlformats.org/drawingml/2006/main" id="240">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25000"/>
            <a:lumOff val="7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19050"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0"/>
    <cs:effectRef idx="0"/>
    <cs:fontRef idx="minor">
      <a:schemeClr val="dk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spPr>
      <a:ln w="9525" cap="flat" cmpd="sng" algn="ctr">
        <a:solidFill>
          <a:schemeClr val="tx1">
            <a:lumMod val="25000"/>
            <a:lumOff val="75000"/>
          </a:schemeClr>
        </a:solidFill>
        <a:round/>
      </a:ln>
    </cs:spPr>
    <cs:defRPr sz="900" kern="1200"/>
  </cs:valueAxis>
  <cs:wall>
    <cs:lnRef idx="0"/>
    <cs:fillRef idx="0"/>
    <cs:effectRef idx="0"/>
    <cs:fontRef idx="minor">
      <a:schemeClr val="tx1"/>
    </cs:fontRef>
    <cs:spPr>
      <a:noFill/>
      <a:ln>
        <a:noFill/>
      </a:ln>
    </cs:spPr>
  </cs:wall>
</cs:chartStyle>
</file>

<file path=ppt/charts/style2.xml><?xml version="1.0" encoding="utf-8"?>
<cs:chartStyle xmlns:cs="http://schemas.microsoft.com/office/drawing/2012/chartStyle" xmlns:a="http://schemas.openxmlformats.org/drawingml/2006/main" id="240">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25000"/>
            <a:lumOff val="7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19050"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0"/>
    <cs:effectRef idx="0"/>
    <cs:fontRef idx="minor">
      <a:schemeClr val="dk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spPr>
      <a:ln w="9525" cap="flat" cmpd="sng" algn="ctr">
        <a:solidFill>
          <a:schemeClr val="tx1">
            <a:lumMod val="25000"/>
            <a:lumOff val="75000"/>
          </a:schemeClr>
        </a:solidFill>
        <a:round/>
      </a:ln>
    </cs:spPr>
    <cs:defRPr sz="900" kern="1200"/>
  </cs:valueAxis>
  <cs:wall>
    <cs:lnRef idx="0"/>
    <cs:fillRef idx="0"/>
    <cs:effectRef idx="0"/>
    <cs:fontRef idx="minor">
      <a:schemeClr val="tx1"/>
    </cs:fontRef>
    <cs:spPr>
      <a:noFill/>
      <a:ln>
        <a:noFill/>
      </a:ln>
    </cs:spPr>
  </cs:wall>
</cs:chartStyl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D3A045BB-2ED9-6748-988A-0FF2A8B288DA}" type="datetimeFigureOut">
              <a:rPr lang="en-US" smtClean="0"/>
              <a:t>1/25/26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195B4A1-9DC8-0E4C-BB98-1DF79D36A9DE}" type="slidenum">
              <a:rPr lang="en-US" smtClean="0"/>
              <a:t>‹#›</a:t>
            </a:fld>
            <a:endParaRPr lang="en-US"/>
          </a:p>
        </p:txBody>
      </p:sp>
    </p:spTree>
    <p:extLst>
      <p:ext uri="{BB962C8B-B14F-4D97-AF65-F5344CB8AC3E}">
        <p14:creationId xmlns:p14="http://schemas.microsoft.com/office/powerpoint/2010/main" val="207740554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C195B4A1-9DC8-0E4C-BB98-1DF79D36A9DE}" type="slidenum">
              <a:rPr lang="en-US" smtClean="0"/>
              <a:t>8</a:t>
            </a:fld>
            <a:endParaRPr lang="en-US"/>
          </a:p>
        </p:txBody>
      </p:sp>
    </p:spTree>
    <p:extLst>
      <p:ext uri="{BB962C8B-B14F-4D97-AF65-F5344CB8AC3E}">
        <p14:creationId xmlns:p14="http://schemas.microsoft.com/office/powerpoint/2010/main" val="1519185068"/>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D31C39A-DD1F-A148-B0D3-4A1B95791A10}"/>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D6E534CF-C42F-E947-A288-82F2720F45B2}"/>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E47F6B06-127F-E842-B63A-7E01ADB8A352}"/>
              </a:ext>
            </a:extLst>
          </p:cNvPr>
          <p:cNvSpPr>
            <a:spLocks noGrp="1"/>
          </p:cNvSpPr>
          <p:nvPr>
            <p:ph type="dt" sz="half" idx="10"/>
          </p:nvPr>
        </p:nvSpPr>
        <p:spPr/>
        <p:txBody>
          <a:bodyPr/>
          <a:lstStyle/>
          <a:p>
            <a:fld id="{33BB6E07-7DEB-724D-8C23-1856C3946DDD}" type="datetime1">
              <a:t>1/25/26</a:t>
            </a:fld>
            <a:endParaRPr lang="en-US"/>
          </a:p>
        </p:txBody>
      </p:sp>
      <p:sp>
        <p:nvSpPr>
          <p:cNvPr id="5" name="Footer Placeholder 4">
            <a:extLst>
              <a:ext uri="{FF2B5EF4-FFF2-40B4-BE49-F238E27FC236}">
                <a16:creationId xmlns:a16="http://schemas.microsoft.com/office/drawing/2014/main" id="{362F1D16-6683-824B-89A2-430708900697}"/>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B0D1ACEB-79E0-204B-9E6A-C6F8A4605A79}"/>
              </a:ext>
            </a:extLst>
          </p:cNvPr>
          <p:cNvSpPr>
            <a:spLocks noGrp="1"/>
          </p:cNvSpPr>
          <p:nvPr>
            <p:ph type="sldNum" sz="quarter" idx="12"/>
          </p:nvPr>
        </p:nvSpPr>
        <p:spPr/>
        <p:txBody>
          <a:bodyPr/>
          <a:lstStyle/>
          <a:p>
            <a:fld id="{0B97A0ED-0713-854E-AE67-C1B678B4A72A}" type="slidenum">
              <a:rPr lang="en-US" smtClean="0"/>
              <a:t>‹#›</a:t>
            </a:fld>
            <a:endParaRPr lang="en-US"/>
          </a:p>
        </p:txBody>
      </p:sp>
    </p:spTree>
    <p:extLst>
      <p:ext uri="{BB962C8B-B14F-4D97-AF65-F5344CB8AC3E}">
        <p14:creationId xmlns:p14="http://schemas.microsoft.com/office/powerpoint/2010/main" val="192429582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34C4CF6-AD01-5543-803F-C54639204B8A}"/>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E2E48BBA-28F7-0643-B15F-D56C25F98B0B}"/>
              </a:ext>
            </a:extLst>
          </p:cNvPr>
          <p:cNvSpPr>
            <a:spLocks noGrp="1"/>
          </p:cNvSpPr>
          <p:nvPr>
            <p:ph idx="1"/>
          </p:nvPr>
        </p:nvSpPr>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B66F55F9-752E-EF46-B1BB-F890ADB20991}"/>
              </a:ext>
            </a:extLst>
          </p:cNvPr>
          <p:cNvSpPr>
            <a:spLocks noGrp="1"/>
          </p:cNvSpPr>
          <p:nvPr>
            <p:ph type="dt" sz="half" idx="10"/>
          </p:nvPr>
        </p:nvSpPr>
        <p:spPr/>
        <p:txBody>
          <a:bodyPr/>
          <a:lstStyle/>
          <a:p>
            <a:fld id="{A337887B-0420-4F4E-A047-ABDB69DD7D64}" type="datetime1">
              <a:t>1/25/26</a:t>
            </a:fld>
            <a:endParaRPr lang="en-US"/>
          </a:p>
        </p:txBody>
      </p:sp>
      <p:sp>
        <p:nvSpPr>
          <p:cNvPr id="5" name="Footer Placeholder 4">
            <a:extLst>
              <a:ext uri="{FF2B5EF4-FFF2-40B4-BE49-F238E27FC236}">
                <a16:creationId xmlns:a16="http://schemas.microsoft.com/office/drawing/2014/main" id="{AB9AAE76-683F-DF4F-AA92-A1A5B4DBA0C1}"/>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8108E903-ED97-8E40-919F-C4E6759E7E0D}"/>
              </a:ext>
            </a:extLst>
          </p:cNvPr>
          <p:cNvSpPr>
            <a:spLocks noGrp="1"/>
          </p:cNvSpPr>
          <p:nvPr>
            <p:ph type="sldNum" sz="quarter" idx="12"/>
          </p:nvPr>
        </p:nvSpPr>
        <p:spPr/>
        <p:txBody>
          <a:bodyPr/>
          <a:lstStyle/>
          <a:p>
            <a:fld id="{0B97A0ED-0713-854E-AE67-C1B678B4A72A}" type="slidenum">
              <a:rPr lang="en-US" smtClean="0"/>
              <a:t>‹#›</a:t>
            </a:fld>
            <a:endParaRPr lang="en-US"/>
          </a:p>
        </p:txBody>
      </p:sp>
    </p:spTree>
    <p:extLst>
      <p:ext uri="{BB962C8B-B14F-4D97-AF65-F5344CB8AC3E}">
        <p14:creationId xmlns:p14="http://schemas.microsoft.com/office/powerpoint/2010/main" val="102715454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BABE822-8388-3144-A79F-46DDE2647D11}"/>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9BF9E753-968E-AF43-A069-5EE0A8A3A7A5}"/>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Edit Master text styles</a:t>
            </a:r>
          </a:p>
        </p:txBody>
      </p:sp>
      <p:sp>
        <p:nvSpPr>
          <p:cNvPr id="4" name="Date Placeholder 3">
            <a:extLst>
              <a:ext uri="{FF2B5EF4-FFF2-40B4-BE49-F238E27FC236}">
                <a16:creationId xmlns:a16="http://schemas.microsoft.com/office/drawing/2014/main" id="{7CF00C7A-50EC-CF46-84FE-359537D14AEC}"/>
              </a:ext>
            </a:extLst>
          </p:cNvPr>
          <p:cNvSpPr>
            <a:spLocks noGrp="1"/>
          </p:cNvSpPr>
          <p:nvPr>
            <p:ph type="dt" sz="half" idx="10"/>
          </p:nvPr>
        </p:nvSpPr>
        <p:spPr/>
        <p:txBody>
          <a:bodyPr/>
          <a:lstStyle/>
          <a:p>
            <a:fld id="{13CD65F4-CF46-FB45-BA6B-9EEC8BC66370}" type="datetime1">
              <a:t>1/25/26</a:t>
            </a:fld>
            <a:endParaRPr lang="en-US"/>
          </a:p>
        </p:txBody>
      </p:sp>
      <p:sp>
        <p:nvSpPr>
          <p:cNvPr id="5" name="Footer Placeholder 4">
            <a:extLst>
              <a:ext uri="{FF2B5EF4-FFF2-40B4-BE49-F238E27FC236}">
                <a16:creationId xmlns:a16="http://schemas.microsoft.com/office/drawing/2014/main" id="{8F06A446-B99F-A94C-AC0C-9D0E13E2D907}"/>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A6E0DCD3-1C3F-C34E-93F4-801886513A79}"/>
              </a:ext>
            </a:extLst>
          </p:cNvPr>
          <p:cNvSpPr>
            <a:spLocks noGrp="1"/>
          </p:cNvSpPr>
          <p:nvPr>
            <p:ph type="sldNum" sz="quarter" idx="12"/>
          </p:nvPr>
        </p:nvSpPr>
        <p:spPr/>
        <p:txBody>
          <a:bodyPr/>
          <a:lstStyle/>
          <a:p>
            <a:fld id="{0B97A0ED-0713-854E-AE67-C1B678B4A72A}" type="slidenum">
              <a:rPr lang="en-US" smtClean="0"/>
              <a:t>‹#›</a:t>
            </a:fld>
            <a:endParaRPr lang="en-US"/>
          </a:p>
        </p:txBody>
      </p:sp>
    </p:spTree>
    <p:extLst>
      <p:ext uri="{BB962C8B-B14F-4D97-AF65-F5344CB8AC3E}">
        <p14:creationId xmlns:p14="http://schemas.microsoft.com/office/powerpoint/2010/main" val="325884226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E41FAE7-561D-D746-A9C4-73289808629C}"/>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487316E3-7DD2-884E-8B6B-83B8CA10308E}"/>
              </a:ext>
            </a:extLst>
          </p:cNvPr>
          <p:cNvSpPr>
            <a:spLocks noGrp="1"/>
          </p:cNvSpPr>
          <p:nvPr>
            <p:ph sz="half" idx="1"/>
          </p:nvPr>
        </p:nvSpPr>
        <p:spPr>
          <a:xfrm>
            <a:off x="838200" y="1825625"/>
            <a:ext cx="51816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9759B3D4-32C2-004C-A8DC-0A9944EDD2E2}"/>
              </a:ext>
            </a:extLst>
          </p:cNvPr>
          <p:cNvSpPr>
            <a:spLocks noGrp="1"/>
          </p:cNvSpPr>
          <p:nvPr>
            <p:ph sz="half" idx="2"/>
          </p:nvPr>
        </p:nvSpPr>
        <p:spPr>
          <a:xfrm>
            <a:off x="6172200" y="1825625"/>
            <a:ext cx="51816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8C5C59EF-8F55-EC4C-87F9-E26235153B8B}"/>
              </a:ext>
            </a:extLst>
          </p:cNvPr>
          <p:cNvSpPr>
            <a:spLocks noGrp="1"/>
          </p:cNvSpPr>
          <p:nvPr>
            <p:ph type="dt" sz="half" idx="10"/>
          </p:nvPr>
        </p:nvSpPr>
        <p:spPr/>
        <p:txBody>
          <a:bodyPr/>
          <a:lstStyle/>
          <a:p>
            <a:fld id="{19B80986-08CA-AB40-84FF-E2743FDA1A49}" type="datetime1">
              <a:t>1/25/26</a:t>
            </a:fld>
            <a:endParaRPr lang="en-US"/>
          </a:p>
        </p:txBody>
      </p:sp>
      <p:sp>
        <p:nvSpPr>
          <p:cNvPr id="6" name="Footer Placeholder 5">
            <a:extLst>
              <a:ext uri="{FF2B5EF4-FFF2-40B4-BE49-F238E27FC236}">
                <a16:creationId xmlns:a16="http://schemas.microsoft.com/office/drawing/2014/main" id="{EABBEB57-B775-7C46-9CE3-9F920DD19C11}"/>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6E451C04-543E-5E4D-9B03-9D559B3F66DA}"/>
              </a:ext>
            </a:extLst>
          </p:cNvPr>
          <p:cNvSpPr>
            <a:spLocks noGrp="1"/>
          </p:cNvSpPr>
          <p:nvPr>
            <p:ph type="sldNum" sz="quarter" idx="12"/>
          </p:nvPr>
        </p:nvSpPr>
        <p:spPr/>
        <p:txBody>
          <a:bodyPr/>
          <a:lstStyle/>
          <a:p>
            <a:fld id="{0B97A0ED-0713-854E-AE67-C1B678B4A72A}" type="slidenum">
              <a:rPr lang="en-US" smtClean="0"/>
              <a:t>‹#›</a:t>
            </a:fld>
            <a:endParaRPr lang="en-US"/>
          </a:p>
        </p:txBody>
      </p:sp>
    </p:spTree>
    <p:extLst>
      <p:ext uri="{BB962C8B-B14F-4D97-AF65-F5344CB8AC3E}">
        <p14:creationId xmlns:p14="http://schemas.microsoft.com/office/powerpoint/2010/main" val="279536394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51F6A71-D5DD-8441-B67B-BBB8DCDC5C36}"/>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F8BF922E-AA81-2B43-B031-DD239A724184}"/>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4" name="Content Placeholder 3">
            <a:extLst>
              <a:ext uri="{FF2B5EF4-FFF2-40B4-BE49-F238E27FC236}">
                <a16:creationId xmlns:a16="http://schemas.microsoft.com/office/drawing/2014/main" id="{9A1FA3A4-D5F0-FE4B-96F8-51A011DCE6D2}"/>
              </a:ext>
            </a:extLst>
          </p:cNvPr>
          <p:cNvSpPr>
            <a:spLocks noGrp="1"/>
          </p:cNvSpPr>
          <p:nvPr>
            <p:ph sz="half" idx="2"/>
          </p:nvPr>
        </p:nvSpPr>
        <p:spPr>
          <a:xfrm>
            <a:off x="839788" y="2505075"/>
            <a:ext cx="5157787"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FAFD1CE6-8A9C-2C46-A1E4-8D7163C0FFBC}"/>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6" name="Content Placeholder 5">
            <a:extLst>
              <a:ext uri="{FF2B5EF4-FFF2-40B4-BE49-F238E27FC236}">
                <a16:creationId xmlns:a16="http://schemas.microsoft.com/office/drawing/2014/main" id="{6EC48417-6421-234A-99CC-49ADC1814B59}"/>
              </a:ext>
            </a:extLst>
          </p:cNvPr>
          <p:cNvSpPr>
            <a:spLocks noGrp="1"/>
          </p:cNvSpPr>
          <p:nvPr>
            <p:ph sz="quarter" idx="4"/>
          </p:nvPr>
        </p:nvSpPr>
        <p:spPr>
          <a:xfrm>
            <a:off x="6172200" y="2505075"/>
            <a:ext cx="5183188"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F756567E-0258-4A4B-BCB3-337C01C422E3}"/>
              </a:ext>
            </a:extLst>
          </p:cNvPr>
          <p:cNvSpPr>
            <a:spLocks noGrp="1"/>
          </p:cNvSpPr>
          <p:nvPr>
            <p:ph type="dt" sz="half" idx="10"/>
          </p:nvPr>
        </p:nvSpPr>
        <p:spPr/>
        <p:txBody>
          <a:bodyPr/>
          <a:lstStyle/>
          <a:p>
            <a:fld id="{E781FDB9-57E3-9241-B74A-DBA989493D7D}" type="datetime1">
              <a:t>1/25/26</a:t>
            </a:fld>
            <a:endParaRPr lang="en-US"/>
          </a:p>
        </p:txBody>
      </p:sp>
      <p:sp>
        <p:nvSpPr>
          <p:cNvPr id="8" name="Footer Placeholder 7">
            <a:extLst>
              <a:ext uri="{FF2B5EF4-FFF2-40B4-BE49-F238E27FC236}">
                <a16:creationId xmlns:a16="http://schemas.microsoft.com/office/drawing/2014/main" id="{B7E777CD-E8A7-1A4C-85A7-4D501E7B21CF}"/>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F593ED2D-A467-FB4B-8EB4-206998BEFE0A}"/>
              </a:ext>
            </a:extLst>
          </p:cNvPr>
          <p:cNvSpPr>
            <a:spLocks noGrp="1"/>
          </p:cNvSpPr>
          <p:nvPr>
            <p:ph type="sldNum" sz="quarter" idx="12"/>
          </p:nvPr>
        </p:nvSpPr>
        <p:spPr/>
        <p:txBody>
          <a:bodyPr/>
          <a:lstStyle/>
          <a:p>
            <a:fld id="{0B97A0ED-0713-854E-AE67-C1B678B4A72A}" type="slidenum">
              <a:rPr lang="en-US" smtClean="0"/>
              <a:t>‹#›</a:t>
            </a:fld>
            <a:endParaRPr lang="en-US"/>
          </a:p>
        </p:txBody>
      </p:sp>
    </p:spTree>
    <p:extLst>
      <p:ext uri="{BB962C8B-B14F-4D97-AF65-F5344CB8AC3E}">
        <p14:creationId xmlns:p14="http://schemas.microsoft.com/office/powerpoint/2010/main" val="7297701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708EA55-90DB-7E4B-8C11-80C6A33679C8}"/>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F59A4ABB-7AFF-6F48-B33F-BDB17D4E8086}"/>
              </a:ext>
            </a:extLst>
          </p:cNvPr>
          <p:cNvSpPr>
            <a:spLocks noGrp="1"/>
          </p:cNvSpPr>
          <p:nvPr>
            <p:ph type="dt" sz="half" idx="10"/>
          </p:nvPr>
        </p:nvSpPr>
        <p:spPr/>
        <p:txBody>
          <a:bodyPr/>
          <a:lstStyle/>
          <a:p>
            <a:fld id="{CDF9C1B4-14FF-074D-9DFA-DC35CBEC0C8A}" type="datetime1">
              <a:t>1/25/26</a:t>
            </a:fld>
            <a:endParaRPr lang="en-US"/>
          </a:p>
        </p:txBody>
      </p:sp>
      <p:sp>
        <p:nvSpPr>
          <p:cNvPr id="4" name="Footer Placeholder 3">
            <a:extLst>
              <a:ext uri="{FF2B5EF4-FFF2-40B4-BE49-F238E27FC236}">
                <a16:creationId xmlns:a16="http://schemas.microsoft.com/office/drawing/2014/main" id="{F9D0BD56-28BF-BC47-8662-BAAB14C8D433}"/>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F4EF5C44-4DB2-F547-BAC9-0EA5A1731F93}"/>
              </a:ext>
            </a:extLst>
          </p:cNvPr>
          <p:cNvSpPr>
            <a:spLocks noGrp="1"/>
          </p:cNvSpPr>
          <p:nvPr>
            <p:ph type="sldNum" sz="quarter" idx="12"/>
          </p:nvPr>
        </p:nvSpPr>
        <p:spPr/>
        <p:txBody>
          <a:bodyPr/>
          <a:lstStyle/>
          <a:p>
            <a:fld id="{0B97A0ED-0713-854E-AE67-C1B678B4A72A}" type="slidenum">
              <a:rPr lang="en-US" smtClean="0"/>
              <a:t>‹#›</a:t>
            </a:fld>
            <a:endParaRPr lang="en-US"/>
          </a:p>
        </p:txBody>
      </p:sp>
    </p:spTree>
    <p:extLst>
      <p:ext uri="{BB962C8B-B14F-4D97-AF65-F5344CB8AC3E}">
        <p14:creationId xmlns:p14="http://schemas.microsoft.com/office/powerpoint/2010/main" val="412002351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FFADDE13-37F7-2E41-8FA2-10F6FD188F32}"/>
              </a:ext>
            </a:extLst>
          </p:cNvPr>
          <p:cNvSpPr>
            <a:spLocks noGrp="1"/>
          </p:cNvSpPr>
          <p:nvPr>
            <p:ph type="dt" sz="half" idx="10"/>
          </p:nvPr>
        </p:nvSpPr>
        <p:spPr/>
        <p:txBody>
          <a:bodyPr/>
          <a:lstStyle/>
          <a:p>
            <a:fld id="{2228F75C-BC3A-6945-9BB4-2587966BC3AF}" type="datetime1">
              <a:t>1/25/26</a:t>
            </a:fld>
            <a:endParaRPr lang="en-US"/>
          </a:p>
        </p:txBody>
      </p:sp>
      <p:sp>
        <p:nvSpPr>
          <p:cNvPr id="3" name="Footer Placeholder 2">
            <a:extLst>
              <a:ext uri="{FF2B5EF4-FFF2-40B4-BE49-F238E27FC236}">
                <a16:creationId xmlns:a16="http://schemas.microsoft.com/office/drawing/2014/main" id="{B6A60609-70EC-DF4F-97BE-CEBB01D442D3}"/>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326BAC87-03E5-814E-B14F-C2DCF65D544E}"/>
              </a:ext>
            </a:extLst>
          </p:cNvPr>
          <p:cNvSpPr>
            <a:spLocks noGrp="1"/>
          </p:cNvSpPr>
          <p:nvPr>
            <p:ph type="sldNum" sz="quarter" idx="12"/>
          </p:nvPr>
        </p:nvSpPr>
        <p:spPr/>
        <p:txBody>
          <a:bodyPr/>
          <a:lstStyle/>
          <a:p>
            <a:fld id="{0B97A0ED-0713-854E-AE67-C1B678B4A72A}" type="slidenum">
              <a:rPr lang="en-US" smtClean="0"/>
              <a:t>‹#›</a:t>
            </a:fld>
            <a:endParaRPr lang="en-US"/>
          </a:p>
        </p:txBody>
      </p:sp>
    </p:spTree>
    <p:extLst>
      <p:ext uri="{BB962C8B-B14F-4D97-AF65-F5344CB8AC3E}">
        <p14:creationId xmlns:p14="http://schemas.microsoft.com/office/powerpoint/2010/main" val="213368810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B8F54E3-0519-2741-9836-89D503E949FE}"/>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C42B972A-8F43-6B4C-8A4F-09C4193EF4FE}"/>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78139879-0C02-FB40-B638-F416DD96C667}"/>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a:extLst>
              <a:ext uri="{FF2B5EF4-FFF2-40B4-BE49-F238E27FC236}">
                <a16:creationId xmlns:a16="http://schemas.microsoft.com/office/drawing/2014/main" id="{6E1124E2-8013-1446-943F-90E8C5CE33B7}"/>
              </a:ext>
            </a:extLst>
          </p:cNvPr>
          <p:cNvSpPr>
            <a:spLocks noGrp="1"/>
          </p:cNvSpPr>
          <p:nvPr>
            <p:ph type="dt" sz="half" idx="10"/>
          </p:nvPr>
        </p:nvSpPr>
        <p:spPr/>
        <p:txBody>
          <a:bodyPr/>
          <a:lstStyle/>
          <a:p>
            <a:fld id="{9E815A24-6042-4041-A641-0DDE0B3B4F05}" type="datetime1">
              <a:t>1/25/26</a:t>
            </a:fld>
            <a:endParaRPr lang="en-US"/>
          </a:p>
        </p:txBody>
      </p:sp>
      <p:sp>
        <p:nvSpPr>
          <p:cNvPr id="6" name="Footer Placeholder 5">
            <a:extLst>
              <a:ext uri="{FF2B5EF4-FFF2-40B4-BE49-F238E27FC236}">
                <a16:creationId xmlns:a16="http://schemas.microsoft.com/office/drawing/2014/main" id="{B552C0D4-0CB4-6047-AFFB-AB3D588A024D}"/>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ADD42813-4FB9-494D-9149-25E8DC69646D}"/>
              </a:ext>
            </a:extLst>
          </p:cNvPr>
          <p:cNvSpPr>
            <a:spLocks noGrp="1"/>
          </p:cNvSpPr>
          <p:nvPr>
            <p:ph type="sldNum" sz="quarter" idx="12"/>
          </p:nvPr>
        </p:nvSpPr>
        <p:spPr/>
        <p:txBody>
          <a:bodyPr/>
          <a:lstStyle/>
          <a:p>
            <a:fld id="{0B97A0ED-0713-854E-AE67-C1B678B4A72A}" type="slidenum">
              <a:rPr lang="en-US" smtClean="0"/>
              <a:t>‹#›</a:t>
            </a:fld>
            <a:endParaRPr lang="en-US"/>
          </a:p>
        </p:txBody>
      </p:sp>
    </p:spTree>
    <p:extLst>
      <p:ext uri="{BB962C8B-B14F-4D97-AF65-F5344CB8AC3E}">
        <p14:creationId xmlns:p14="http://schemas.microsoft.com/office/powerpoint/2010/main" val="133007294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576E214-B67B-1842-895A-8AFB2FA211F0}"/>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544AED4A-0EDF-664F-AF09-5D27599D333F}"/>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p>
        </p:txBody>
      </p:sp>
      <p:sp>
        <p:nvSpPr>
          <p:cNvPr id="4" name="Text Placeholder 3">
            <a:extLst>
              <a:ext uri="{FF2B5EF4-FFF2-40B4-BE49-F238E27FC236}">
                <a16:creationId xmlns:a16="http://schemas.microsoft.com/office/drawing/2014/main" id="{AFAE99B0-E56B-9B4C-BD84-D5649AB28210}"/>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a:extLst>
              <a:ext uri="{FF2B5EF4-FFF2-40B4-BE49-F238E27FC236}">
                <a16:creationId xmlns:a16="http://schemas.microsoft.com/office/drawing/2014/main" id="{C8CB027E-9249-DA40-841B-CEA50DB35243}"/>
              </a:ext>
            </a:extLst>
          </p:cNvPr>
          <p:cNvSpPr>
            <a:spLocks noGrp="1"/>
          </p:cNvSpPr>
          <p:nvPr>
            <p:ph type="dt" sz="half" idx="10"/>
          </p:nvPr>
        </p:nvSpPr>
        <p:spPr/>
        <p:txBody>
          <a:bodyPr/>
          <a:lstStyle/>
          <a:p>
            <a:fld id="{322694A0-D5AB-FB46-8CB4-D42F469E28CB}" type="datetime1">
              <a:t>1/25/26</a:t>
            </a:fld>
            <a:endParaRPr lang="en-US"/>
          </a:p>
        </p:txBody>
      </p:sp>
      <p:sp>
        <p:nvSpPr>
          <p:cNvPr id="6" name="Footer Placeholder 5">
            <a:extLst>
              <a:ext uri="{FF2B5EF4-FFF2-40B4-BE49-F238E27FC236}">
                <a16:creationId xmlns:a16="http://schemas.microsoft.com/office/drawing/2014/main" id="{8D2DE9A3-71CB-2D42-B8A6-CFADF3DCF4F9}"/>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F17FF176-C547-7641-A9C8-48F13B239011}"/>
              </a:ext>
            </a:extLst>
          </p:cNvPr>
          <p:cNvSpPr>
            <a:spLocks noGrp="1"/>
          </p:cNvSpPr>
          <p:nvPr>
            <p:ph type="sldNum" sz="quarter" idx="12"/>
          </p:nvPr>
        </p:nvSpPr>
        <p:spPr/>
        <p:txBody>
          <a:bodyPr/>
          <a:lstStyle/>
          <a:p>
            <a:fld id="{0B97A0ED-0713-854E-AE67-C1B678B4A72A}" type="slidenum">
              <a:rPr lang="en-US" smtClean="0"/>
              <a:t>‹#›</a:t>
            </a:fld>
            <a:endParaRPr lang="en-US"/>
          </a:p>
        </p:txBody>
      </p:sp>
    </p:spTree>
    <p:extLst>
      <p:ext uri="{BB962C8B-B14F-4D97-AF65-F5344CB8AC3E}">
        <p14:creationId xmlns:p14="http://schemas.microsoft.com/office/powerpoint/2010/main" val="281438674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C0BCFFF-E244-9846-A016-E3A8E48F9AA2}"/>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7434A35A-59A3-8344-B17D-7B922C892818}"/>
              </a:ext>
            </a:extLst>
          </p:cNvPr>
          <p:cNvSpPr>
            <a:spLocks noGrp="1"/>
          </p:cNvSpPr>
          <p:nvPr>
            <p:ph type="body" orient="vert" idx="1"/>
          </p:nvPr>
        </p:nvSpPr>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D5023E28-085A-2D4C-90F8-98DB75210DF4}"/>
              </a:ext>
            </a:extLst>
          </p:cNvPr>
          <p:cNvSpPr>
            <a:spLocks noGrp="1"/>
          </p:cNvSpPr>
          <p:nvPr>
            <p:ph type="dt" sz="half" idx="10"/>
          </p:nvPr>
        </p:nvSpPr>
        <p:spPr/>
        <p:txBody>
          <a:bodyPr/>
          <a:lstStyle/>
          <a:p>
            <a:fld id="{EE444E7C-57F9-2646-BDD5-6F79B223E060}" type="datetime1">
              <a:t>1/25/26</a:t>
            </a:fld>
            <a:endParaRPr lang="en-US"/>
          </a:p>
        </p:txBody>
      </p:sp>
      <p:sp>
        <p:nvSpPr>
          <p:cNvPr id="5" name="Footer Placeholder 4">
            <a:extLst>
              <a:ext uri="{FF2B5EF4-FFF2-40B4-BE49-F238E27FC236}">
                <a16:creationId xmlns:a16="http://schemas.microsoft.com/office/drawing/2014/main" id="{239EE92C-EED5-F94A-B2D1-BE4AB8491918}"/>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4F7CC517-0968-F349-8741-10CED7628BBD}"/>
              </a:ext>
            </a:extLst>
          </p:cNvPr>
          <p:cNvSpPr>
            <a:spLocks noGrp="1"/>
          </p:cNvSpPr>
          <p:nvPr>
            <p:ph type="sldNum" sz="quarter" idx="12"/>
          </p:nvPr>
        </p:nvSpPr>
        <p:spPr/>
        <p:txBody>
          <a:bodyPr/>
          <a:lstStyle/>
          <a:p>
            <a:fld id="{0B97A0ED-0713-854E-AE67-C1B678B4A72A}" type="slidenum">
              <a:rPr lang="en-US" smtClean="0"/>
              <a:t>‹#›</a:t>
            </a:fld>
            <a:endParaRPr lang="en-US"/>
          </a:p>
        </p:txBody>
      </p:sp>
    </p:spTree>
    <p:extLst>
      <p:ext uri="{BB962C8B-B14F-4D97-AF65-F5344CB8AC3E}">
        <p14:creationId xmlns:p14="http://schemas.microsoft.com/office/powerpoint/2010/main" val="136468418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AED7C5D9-E6AD-F543-B705-F9E926039AB7}"/>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25FA712F-695F-DC48-A229-04E3A0C196E5}"/>
              </a:ext>
            </a:extLst>
          </p:cNvPr>
          <p:cNvSpPr>
            <a:spLocks noGrp="1"/>
          </p:cNvSpPr>
          <p:nvPr>
            <p:ph type="body" orient="vert" idx="1"/>
          </p:nvPr>
        </p:nvSpPr>
        <p:spPr>
          <a:xfrm>
            <a:off x="838200" y="365125"/>
            <a:ext cx="7734300" cy="5811838"/>
          </a:xfrm>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E6A0FC80-C037-CD43-8493-116566D1393E}"/>
              </a:ext>
            </a:extLst>
          </p:cNvPr>
          <p:cNvSpPr>
            <a:spLocks noGrp="1"/>
          </p:cNvSpPr>
          <p:nvPr>
            <p:ph type="dt" sz="half" idx="10"/>
          </p:nvPr>
        </p:nvSpPr>
        <p:spPr/>
        <p:txBody>
          <a:bodyPr/>
          <a:lstStyle/>
          <a:p>
            <a:fld id="{6BBB2BE4-1FD0-F841-B400-D554CE242E6C}" type="datetime1">
              <a:t>1/25/26</a:t>
            </a:fld>
            <a:endParaRPr lang="en-US"/>
          </a:p>
        </p:txBody>
      </p:sp>
      <p:sp>
        <p:nvSpPr>
          <p:cNvPr id="5" name="Footer Placeholder 4">
            <a:extLst>
              <a:ext uri="{FF2B5EF4-FFF2-40B4-BE49-F238E27FC236}">
                <a16:creationId xmlns:a16="http://schemas.microsoft.com/office/drawing/2014/main" id="{DC7969A5-A6FC-5648-8EE3-096166036E9B}"/>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C8D2A83D-DC6E-FB40-8A48-74586AF71FB4}"/>
              </a:ext>
            </a:extLst>
          </p:cNvPr>
          <p:cNvSpPr>
            <a:spLocks noGrp="1"/>
          </p:cNvSpPr>
          <p:nvPr>
            <p:ph type="sldNum" sz="quarter" idx="12"/>
          </p:nvPr>
        </p:nvSpPr>
        <p:spPr/>
        <p:txBody>
          <a:bodyPr/>
          <a:lstStyle/>
          <a:p>
            <a:fld id="{0B97A0ED-0713-854E-AE67-C1B678B4A72A}" type="slidenum">
              <a:rPr lang="en-US" smtClean="0"/>
              <a:t>‹#›</a:t>
            </a:fld>
            <a:endParaRPr lang="en-US"/>
          </a:p>
        </p:txBody>
      </p:sp>
    </p:spTree>
    <p:extLst>
      <p:ext uri="{BB962C8B-B14F-4D97-AF65-F5344CB8AC3E}">
        <p14:creationId xmlns:p14="http://schemas.microsoft.com/office/powerpoint/2010/main" val="351567816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20CD8138-CD82-2D46-85A6-460DC8F6259D}"/>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5F3D3D98-B305-014C-817F-8EEF42DAC9A9}"/>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D191548F-1A0A-474D-9681-A9FE21A10737}"/>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21462AEF-4AD9-964A-B9C6-315976D3F490}" type="datetime1">
              <a:t>1/25/26</a:t>
            </a:fld>
            <a:endParaRPr lang="en-US"/>
          </a:p>
        </p:txBody>
      </p:sp>
      <p:sp>
        <p:nvSpPr>
          <p:cNvPr id="5" name="Footer Placeholder 4">
            <a:extLst>
              <a:ext uri="{FF2B5EF4-FFF2-40B4-BE49-F238E27FC236}">
                <a16:creationId xmlns:a16="http://schemas.microsoft.com/office/drawing/2014/main" id="{E7DCD391-7FBD-EA46-9266-5F19F9ADFD0D}"/>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a:extLst>
              <a:ext uri="{FF2B5EF4-FFF2-40B4-BE49-F238E27FC236}">
                <a16:creationId xmlns:a16="http://schemas.microsoft.com/office/drawing/2014/main" id="{63B03041-2579-5E4F-8D4A-871D7A43FB84}"/>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0B97A0ED-0713-854E-AE67-C1B678B4A72A}" type="slidenum">
              <a:rPr lang="en-US" smtClean="0"/>
              <a:t>‹#›</a:t>
            </a:fld>
            <a:endParaRPr lang="en-US"/>
          </a:p>
        </p:txBody>
      </p:sp>
    </p:spTree>
    <p:extLst>
      <p:ext uri="{BB962C8B-B14F-4D97-AF65-F5344CB8AC3E}">
        <p14:creationId xmlns:p14="http://schemas.microsoft.com/office/powerpoint/2010/main" val="1019793090"/>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hdr="0" ft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2" Type="http://schemas.openxmlformats.org/officeDocument/2006/relationships/image" Target="../media/image270.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102.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290.png"/><Relationship Id="rId2" Type="http://schemas.openxmlformats.org/officeDocument/2006/relationships/chart" Target="../charts/chart1.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7.xml.rels><?xml version="1.0" encoding="UTF-8" standalone="yes"?>
<Relationships xmlns="http://schemas.openxmlformats.org/package/2006/relationships"><Relationship Id="rId2" Type="http://schemas.openxmlformats.org/officeDocument/2006/relationships/image" Target="../media/image410.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103.png"/><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300.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chart" Target="../charts/chart2.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018FB09-5224-EF4B-A112-FD8314C115F5}"/>
              </a:ext>
            </a:extLst>
          </p:cNvPr>
          <p:cNvSpPr>
            <a:spLocks noGrp="1"/>
          </p:cNvSpPr>
          <p:nvPr>
            <p:ph type="ctrTitle"/>
          </p:nvPr>
        </p:nvSpPr>
        <p:spPr>
          <a:xfrm>
            <a:off x="1524000" y="344130"/>
            <a:ext cx="9144000" cy="3257908"/>
          </a:xfrm>
        </p:spPr>
        <p:txBody>
          <a:bodyPr>
            <a:normAutofit/>
          </a:bodyPr>
          <a:lstStyle/>
          <a:p>
            <a:r>
              <a:rPr lang="en-US" sz="4400" b="1" dirty="0"/>
              <a:t>Test Characteristic Curves, Information Functions and SEM Functions</a:t>
            </a:r>
          </a:p>
        </p:txBody>
      </p:sp>
      <p:sp>
        <p:nvSpPr>
          <p:cNvPr id="3" name="Subtitle 2">
            <a:extLst>
              <a:ext uri="{FF2B5EF4-FFF2-40B4-BE49-F238E27FC236}">
                <a16:creationId xmlns:a16="http://schemas.microsoft.com/office/drawing/2014/main" id="{39F16454-4B6A-A24A-BFE0-914D927AA55D}"/>
              </a:ext>
            </a:extLst>
          </p:cNvPr>
          <p:cNvSpPr>
            <a:spLocks noGrp="1"/>
          </p:cNvSpPr>
          <p:nvPr>
            <p:ph type="subTitle" idx="1"/>
          </p:nvPr>
        </p:nvSpPr>
        <p:spPr>
          <a:xfrm>
            <a:off x="1524000" y="3602038"/>
            <a:ext cx="9144000" cy="2872504"/>
          </a:xfrm>
        </p:spPr>
        <p:txBody>
          <a:bodyPr>
            <a:normAutofit/>
          </a:bodyPr>
          <a:lstStyle/>
          <a:p>
            <a:endParaRPr lang="en-US" dirty="0"/>
          </a:p>
          <a:p>
            <a:endParaRPr lang="en-US" dirty="0"/>
          </a:p>
          <a:p>
            <a:endParaRPr lang="en-US" dirty="0"/>
          </a:p>
          <a:p>
            <a:r>
              <a:rPr lang="en-US" dirty="0"/>
              <a:t>EDUC 8720</a:t>
            </a:r>
          </a:p>
        </p:txBody>
      </p:sp>
    </p:spTree>
    <p:extLst>
      <p:ext uri="{BB962C8B-B14F-4D97-AF65-F5344CB8AC3E}">
        <p14:creationId xmlns:p14="http://schemas.microsoft.com/office/powerpoint/2010/main" val="424325564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p:cNvSpPr>
            <a:spLocks noGrp="1"/>
          </p:cNvSpPr>
          <p:nvPr>
            <p:ph type="title"/>
          </p:nvPr>
        </p:nvSpPr>
        <p:spPr/>
        <p:txBody>
          <a:bodyPr/>
          <a:lstStyle/>
          <a:p>
            <a:r>
              <a:rPr lang="en-US" b="1" dirty="0"/>
              <a:t>Test Characteristic Curves</a:t>
            </a:r>
          </a:p>
        </p:txBody>
      </p:sp>
      <p:sp>
        <p:nvSpPr>
          <p:cNvPr id="6" name="Text Placeholder 5"/>
          <p:cNvSpPr>
            <a:spLocks noGrp="1"/>
          </p:cNvSpPr>
          <p:nvPr>
            <p:ph type="body" idx="1"/>
          </p:nvPr>
        </p:nvSpPr>
        <p:spPr/>
        <p:txBody>
          <a:bodyPr/>
          <a:lstStyle/>
          <a:p>
            <a:endParaRPr lang="en-US"/>
          </a:p>
        </p:txBody>
      </p:sp>
      <p:sp>
        <p:nvSpPr>
          <p:cNvPr id="2" name="Slide Number Placeholder 1">
            <a:extLst>
              <a:ext uri="{FF2B5EF4-FFF2-40B4-BE49-F238E27FC236}">
                <a16:creationId xmlns:a16="http://schemas.microsoft.com/office/drawing/2014/main" id="{A2CE26D0-98B4-634C-B649-756438183CB1}"/>
              </a:ext>
            </a:extLst>
          </p:cNvPr>
          <p:cNvSpPr>
            <a:spLocks noGrp="1"/>
          </p:cNvSpPr>
          <p:nvPr>
            <p:ph type="sldNum" sz="quarter" idx="12"/>
          </p:nvPr>
        </p:nvSpPr>
        <p:spPr/>
        <p:txBody>
          <a:bodyPr/>
          <a:lstStyle/>
          <a:p>
            <a:fld id="{0B97A0ED-0713-854E-AE67-C1B678B4A72A}" type="slidenum">
              <a:rPr lang="en-US" smtClean="0"/>
              <a:t>2</a:t>
            </a:fld>
            <a:endParaRPr lang="en-US"/>
          </a:p>
        </p:txBody>
      </p:sp>
    </p:spTree>
    <p:extLst>
      <p:ext uri="{BB962C8B-B14F-4D97-AF65-F5344CB8AC3E}">
        <p14:creationId xmlns:p14="http://schemas.microsoft.com/office/powerpoint/2010/main" val="95385544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p:cNvSpPr>
            <a:spLocks noGrp="1"/>
          </p:cNvSpPr>
          <p:nvPr>
            <p:ph type="title"/>
          </p:nvPr>
        </p:nvSpPr>
        <p:spPr/>
        <p:txBody>
          <a:bodyPr/>
          <a:lstStyle/>
          <a:p>
            <a:r>
              <a:rPr lang="en-US" b="1" dirty="0"/>
              <a:t>Expected Item Response</a:t>
            </a:r>
          </a:p>
        </p:txBody>
      </p:sp>
      <mc:AlternateContent xmlns:mc="http://schemas.openxmlformats.org/markup-compatibility/2006" xmlns:a14="http://schemas.microsoft.com/office/drawing/2010/main">
        <mc:Choice Requires="a14">
          <p:sp>
            <p:nvSpPr>
              <p:cNvPr id="6" name="Content Placeholder 5"/>
              <p:cNvSpPr>
                <a:spLocks noGrp="1"/>
              </p:cNvSpPr>
              <p:nvPr>
                <p:ph idx="1"/>
              </p:nvPr>
            </p:nvSpPr>
            <p:spPr/>
            <p:txBody>
              <a:bodyPr/>
              <a:lstStyle/>
              <a:p>
                <a:r>
                  <a:rPr lang="en-US" dirty="0"/>
                  <a:t>We can calculate the expected value of a respondent’s answer as:</a:t>
                </a:r>
              </a:p>
              <a:p>
                <a:pPr marL="0" indent="0">
                  <a:buNone/>
                </a:pPr>
                <a14:m>
                  <m:oMathPara xmlns:m="http://schemas.openxmlformats.org/officeDocument/2006/math">
                    <m:oMathParaPr>
                      <m:jc m:val="centerGroup"/>
                    </m:oMathParaPr>
                    <m:oMath xmlns:m="http://schemas.openxmlformats.org/officeDocument/2006/math">
                      <m:r>
                        <a:rPr lang="en-US" b="0" i="1" smtClean="0">
                          <a:latin typeface="Cambria Math" charset="0"/>
                        </a:rPr>
                        <m:t>𝐸</m:t>
                      </m:r>
                      <m:d>
                        <m:dPr>
                          <m:begChr m:val="["/>
                          <m:endChr m:val="]"/>
                          <m:ctrlPr>
                            <a:rPr lang="en-US" b="0" i="1" smtClean="0">
                              <a:latin typeface="Cambria Math" panose="02040503050406030204" pitchFamily="18" charset="0"/>
                            </a:rPr>
                          </m:ctrlPr>
                        </m:dPr>
                        <m:e>
                          <m:sSub>
                            <m:sSubPr>
                              <m:ctrlPr>
                                <a:rPr lang="en-US" b="0" i="1" smtClean="0">
                                  <a:latin typeface="Cambria Math" panose="02040503050406030204" pitchFamily="18" charset="0"/>
                                </a:rPr>
                              </m:ctrlPr>
                            </m:sSubPr>
                            <m:e>
                              <m:r>
                                <a:rPr lang="en-US" b="0" i="1" smtClean="0">
                                  <a:latin typeface="Cambria Math" charset="0"/>
                                </a:rPr>
                                <m:t>𝑋</m:t>
                              </m:r>
                            </m:e>
                            <m:sub>
                              <m:r>
                                <a:rPr lang="en-US" b="0" i="1" smtClean="0">
                                  <a:latin typeface="Cambria Math" charset="0"/>
                                </a:rPr>
                                <m:t>𝑖𝑝</m:t>
                              </m:r>
                            </m:sub>
                          </m:sSub>
                        </m:e>
                        <m:e>
                          <m:sSub>
                            <m:sSubPr>
                              <m:ctrlPr>
                                <a:rPr lang="en-US" b="0" i="1" smtClean="0">
                                  <a:latin typeface="Cambria Math" panose="02040503050406030204" pitchFamily="18" charset="0"/>
                                </a:rPr>
                              </m:ctrlPr>
                            </m:sSubPr>
                            <m:e>
                              <m:r>
                                <a:rPr lang="en-US" b="0" i="1" smtClean="0">
                                  <a:latin typeface="Cambria Math" charset="0"/>
                                </a:rPr>
                                <m:t>𝜃</m:t>
                              </m:r>
                            </m:e>
                            <m:sub>
                              <m:r>
                                <a:rPr lang="en-US" b="0" i="1" smtClean="0">
                                  <a:latin typeface="Cambria Math" charset="0"/>
                                </a:rPr>
                                <m:t>𝑝</m:t>
                              </m:r>
                            </m:sub>
                          </m:sSub>
                        </m:e>
                      </m:d>
                      <m:r>
                        <a:rPr lang="en-US" b="0" i="1" smtClean="0">
                          <a:latin typeface="Cambria Math" charset="0"/>
                        </a:rPr>
                        <m:t>=</m:t>
                      </m:r>
                      <m:r>
                        <a:rPr lang="en-US" b="0" i="1" smtClean="0">
                          <a:latin typeface="Cambria Math" charset="0"/>
                        </a:rPr>
                        <m:t>𝑃</m:t>
                      </m:r>
                      <m:d>
                        <m:dPr>
                          <m:ctrlPr>
                            <a:rPr lang="en-US" b="0" i="1" smtClean="0">
                              <a:latin typeface="Cambria Math" panose="02040503050406030204" pitchFamily="18" charset="0"/>
                            </a:rPr>
                          </m:ctrlPr>
                        </m:dPr>
                        <m:e>
                          <m:sSub>
                            <m:sSubPr>
                              <m:ctrlPr>
                                <a:rPr lang="en-US" b="0" i="1" smtClean="0">
                                  <a:latin typeface="Cambria Math" panose="02040503050406030204" pitchFamily="18" charset="0"/>
                                </a:rPr>
                              </m:ctrlPr>
                            </m:sSubPr>
                            <m:e>
                              <m:r>
                                <a:rPr lang="en-US" b="0" i="1" smtClean="0">
                                  <a:latin typeface="Cambria Math" charset="0"/>
                                </a:rPr>
                                <m:t>𝑋</m:t>
                              </m:r>
                            </m:e>
                            <m:sub>
                              <m:r>
                                <a:rPr lang="en-US" b="0" i="1" smtClean="0">
                                  <a:latin typeface="Cambria Math" charset="0"/>
                                </a:rPr>
                                <m:t>𝑖𝑝</m:t>
                              </m:r>
                            </m:sub>
                          </m:sSub>
                          <m:r>
                            <a:rPr lang="en-US" b="0" i="1" smtClean="0">
                              <a:latin typeface="Cambria Math" charset="0"/>
                            </a:rPr>
                            <m:t>=1</m:t>
                          </m:r>
                        </m:e>
                        <m:e>
                          <m:sSub>
                            <m:sSubPr>
                              <m:ctrlPr>
                                <a:rPr lang="en-US" b="0" i="1" smtClean="0">
                                  <a:latin typeface="Cambria Math" panose="02040503050406030204" pitchFamily="18" charset="0"/>
                                </a:rPr>
                              </m:ctrlPr>
                            </m:sSubPr>
                            <m:e>
                              <m:r>
                                <a:rPr lang="en-US" b="0" i="1" smtClean="0">
                                  <a:latin typeface="Cambria Math" charset="0"/>
                                </a:rPr>
                                <m:t>𝜃</m:t>
                              </m:r>
                            </m:e>
                            <m:sub>
                              <m:r>
                                <a:rPr lang="en-US" b="0" i="1" smtClean="0">
                                  <a:latin typeface="Cambria Math" charset="0"/>
                                </a:rPr>
                                <m:t>𝑝</m:t>
                              </m:r>
                            </m:sub>
                          </m:sSub>
                        </m:e>
                      </m:d>
                    </m:oMath>
                  </m:oMathPara>
                </a14:m>
                <a:endParaRPr lang="en-US" dirty="0"/>
              </a:p>
              <a:p>
                <a:r>
                  <a:rPr lang="en-US" dirty="0"/>
                  <a:t>Because </a:t>
                </a:r>
                <a14:m>
                  <m:oMath xmlns:m="http://schemas.openxmlformats.org/officeDocument/2006/math">
                    <m:sSub>
                      <m:sSubPr>
                        <m:ctrlPr>
                          <a:rPr lang="en-US" b="0" i="1" smtClean="0">
                            <a:latin typeface="Cambria Math" panose="02040503050406030204" pitchFamily="18" charset="0"/>
                          </a:rPr>
                        </m:ctrlPr>
                      </m:sSubPr>
                      <m:e>
                        <m:r>
                          <a:rPr lang="en-US" b="0" i="1" smtClean="0">
                            <a:latin typeface="Cambria Math" charset="0"/>
                          </a:rPr>
                          <m:t>𝑋</m:t>
                        </m:r>
                      </m:e>
                      <m:sub>
                        <m:r>
                          <a:rPr lang="en-US" b="0" i="1" smtClean="0">
                            <a:latin typeface="Cambria Math" charset="0"/>
                          </a:rPr>
                          <m:t>𝑖𝑝</m:t>
                        </m:r>
                      </m:sub>
                    </m:sSub>
                  </m:oMath>
                </a14:m>
                <a:r>
                  <a:rPr lang="en-US" dirty="0"/>
                  <a:t> is a binary variable, the mean is equal to the probability.</a:t>
                </a:r>
              </a:p>
              <a:p>
                <a:r>
                  <a:rPr lang="en-US" dirty="0"/>
                  <a:t>For shorthand, we’ll write </a:t>
                </a:r>
                <a14:m>
                  <m:oMath xmlns:m="http://schemas.openxmlformats.org/officeDocument/2006/math">
                    <m:r>
                      <a:rPr lang="en-US" i="1">
                        <a:latin typeface="Cambria Math" charset="0"/>
                      </a:rPr>
                      <m:t>𝑃</m:t>
                    </m:r>
                    <m:d>
                      <m:dPr>
                        <m:ctrlPr>
                          <a:rPr lang="en-US" i="1">
                            <a:latin typeface="Cambria Math" panose="02040503050406030204" pitchFamily="18" charset="0"/>
                          </a:rPr>
                        </m:ctrlPr>
                      </m:dPr>
                      <m:e>
                        <m:sSub>
                          <m:sSubPr>
                            <m:ctrlPr>
                              <a:rPr lang="en-US" i="1">
                                <a:latin typeface="Cambria Math" panose="02040503050406030204" pitchFamily="18" charset="0"/>
                              </a:rPr>
                            </m:ctrlPr>
                          </m:sSubPr>
                          <m:e>
                            <m:r>
                              <a:rPr lang="en-US" i="1">
                                <a:latin typeface="Cambria Math" charset="0"/>
                              </a:rPr>
                              <m:t>𝑋</m:t>
                            </m:r>
                          </m:e>
                          <m:sub>
                            <m:r>
                              <a:rPr lang="en-US" i="1">
                                <a:latin typeface="Cambria Math" charset="0"/>
                              </a:rPr>
                              <m:t>𝑖𝑝</m:t>
                            </m:r>
                          </m:sub>
                        </m:sSub>
                        <m:r>
                          <a:rPr lang="en-US" i="1">
                            <a:latin typeface="Cambria Math" charset="0"/>
                          </a:rPr>
                          <m:t>=1</m:t>
                        </m:r>
                      </m:e>
                      <m:e>
                        <m:sSub>
                          <m:sSubPr>
                            <m:ctrlPr>
                              <a:rPr lang="en-US" i="1">
                                <a:latin typeface="Cambria Math" panose="02040503050406030204" pitchFamily="18" charset="0"/>
                              </a:rPr>
                            </m:ctrlPr>
                          </m:sSubPr>
                          <m:e>
                            <m:r>
                              <a:rPr lang="en-US" i="1">
                                <a:latin typeface="Cambria Math" charset="0"/>
                              </a:rPr>
                              <m:t>𝜃</m:t>
                            </m:r>
                          </m:e>
                          <m:sub>
                            <m:r>
                              <a:rPr lang="en-US" i="1">
                                <a:latin typeface="Cambria Math" charset="0"/>
                              </a:rPr>
                              <m:t>𝑝</m:t>
                            </m:r>
                          </m:sub>
                        </m:sSub>
                      </m:e>
                    </m:d>
                    <m:r>
                      <a:rPr lang="en-US" b="0" i="1" smtClean="0">
                        <a:latin typeface="Cambria Math" charset="0"/>
                      </a:rPr>
                      <m:t>=</m:t>
                    </m:r>
                    <m:sSub>
                      <m:sSubPr>
                        <m:ctrlPr>
                          <a:rPr lang="en-US" b="0" i="1" smtClean="0">
                            <a:latin typeface="Cambria Math" panose="02040503050406030204" pitchFamily="18" charset="0"/>
                          </a:rPr>
                        </m:ctrlPr>
                      </m:sSubPr>
                      <m:e>
                        <m:r>
                          <a:rPr lang="en-US" b="0" i="1" smtClean="0">
                            <a:latin typeface="Cambria Math" charset="0"/>
                          </a:rPr>
                          <m:t>𝑃</m:t>
                        </m:r>
                      </m:e>
                      <m:sub>
                        <m:r>
                          <a:rPr lang="en-US" b="0" i="1" smtClean="0">
                            <a:latin typeface="Cambria Math" charset="0"/>
                          </a:rPr>
                          <m:t>𝑖</m:t>
                        </m:r>
                      </m:sub>
                    </m:sSub>
                    <m:d>
                      <m:dPr>
                        <m:ctrlPr>
                          <a:rPr lang="en-US" b="0" i="1" smtClean="0">
                            <a:latin typeface="Cambria Math" panose="02040503050406030204" pitchFamily="18" charset="0"/>
                          </a:rPr>
                        </m:ctrlPr>
                      </m:dPr>
                      <m:e>
                        <m:r>
                          <a:rPr lang="en-US" b="0" i="1" smtClean="0">
                            <a:latin typeface="Cambria Math" charset="0"/>
                          </a:rPr>
                          <m:t>𝜃</m:t>
                        </m:r>
                      </m:e>
                    </m:d>
                  </m:oMath>
                </a14:m>
                <a:r>
                  <a:rPr lang="en-US" dirty="0"/>
                  <a:t>.</a:t>
                </a:r>
              </a:p>
              <a:p>
                <a:r>
                  <a:rPr lang="en-US" dirty="0"/>
                  <a:t>Thus, of all people with ability </a:t>
                </a:r>
                <a14:m>
                  <m:oMath xmlns:m="http://schemas.openxmlformats.org/officeDocument/2006/math">
                    <m:sSub>
                      <m:sSubPr>
                        <m:ctrlPr>
                          <a:rPr lang="en-US" i="1">
                            <a:latin typeface="Cambria Math" panose="02040503050406030204" pitchFamily="18" charset="0"/>
                          </a:rPr>
                        </m:ctrlPr>
                      </m:sSubPr>
                      <m:e>
                        <m:r>
                          <a:rPr lang="en-US" i="1">
                            <a:latin typeface="Cambria Math" charset="0"/>
                          </a:rPr>
                          <m:t>𝜃</m:t>
                        </m:r>
                      </m:e>
                      <m:sub>
                        <m:r>
                          <a:rPr lang="en-US" i="1">
                            <a:latin typeface="Cambria Math" charset="0"/>
                          </a:rPr>
                          <m:t>𝑝</m:t>
                        </m:r>
                      </m:sub>
                    </m:sSub>
                  </m:oMath>
                </a14:m>
                <a:r>
                  <a:rPr lang="en-US" dirty="0"/>
                  <a:t> we expect </a:t>
                </a:r>
                <a14:m>
                  <m:oMath xmlns:m="http://schemas.openxmlformats.org/officeDocument/2006/math">
                    <m:sSub>
                      <m:sSubPr>
                        <m:ctrlPr>
                          <a:rPr lang="en-US" i="1">
                            <a:latin typeface="Cambria Math" panose="02040503050406030204" pitchFamily="18" charset="0"/>
                          </a:rPr>
                        </m:ctrlPr>
                      </m:sSubPr>
                      <m:e>
                        <m:r>
                          <a:rPr lang="en-US" i="1">
                            <a:latin typeface="Cambria Math" charset="0"/>
                          </a:rPr>
                          <m:t>𝑃</m:t>
                        </m:r>
                      </m:e>
                      <m:sub>
                        <m:r>
                          <a:rPr lang="en-US" i="1">
                            <a:latin typeface="Cambria Math" charset="0"/>
                          </a:rPr>
                          <m:t>𝑖</m:t>
                        </m:r>
                      </m:sub>
                    </m:sSub>
                    <m:d>
                      <m:dPr>
                        <m:ctrlPr>
                          <a:rPr lang="en-US" i="1">
                            <a:latin typeface="Cambria Math" panose="02040503050406030204" pitchFamily="18" charset="0"/>
                          </a:rPr>
                        </m:ctrlPr>
                      </m:dPr>
                      <m:e>
                        <m:sSub>
                          <m:sSubPr>
                            <m:ctrlPr>
                              <a:rPr lang="en-US" i="1">
                                <a:latin typeface="Cambria Math" panose="02040503050406030204" pitchFamily="18" charset="0"/>
                              </a:rPr>
                            </m:ctrlPr>
                          </m:sSubPr>
                          <m:e>
                            <m:r>
                              <a:rPr lang="en-US" i="1">
                                <a:latin typeface="Cambria Math" charset="0"/>
                              </a:rPr>
                              <m:t>𝜃</m:t>
                            </m:r>
                          </m:e>
                          <m:sub>
                            <m:r>
                              <a:rPr lang="en-US" i="1">
                                <a:latin typeface="Cambria Math" charset="0"/>
                              </a:rPr>
                              <m:t>𝑝</m:t>
                            </m:r>
                          </m:sub>
                        </m:sSub>
                      </m:e>
                    </m:d>
                  </m:oMath>
                </a14:m>
                <a:r>
                  <a:rPr lang="en-US" dirty="0"/>
                  <a:t> to get the item right.</a:t>
                </a:r>
              </a:p>
            </p:txBody>
          </p:sp>
        </mc:Choice>
        <mc:Fallback xmlns="">
          <p:sp>
            <p:nvSpPr>
              <p:cNvPr id="6" name="Content Placeholder 5"/>
              <p:cNvSpPr>
                <a:spLocks noGrp="1" noRot="1" noChangeAspect="1" noMove="1" noResize="1" noEditPoints="1" noAdjustHandles="1" noChangeArrowheads="1" noChangeShapeType="1" noTextEdit="1"/>
              </p:cNvSpPr>
              <p:nvPr>
                <p:ph idx="1"/>
              </p:nvPr>
            </p:nvSpPr>
            <p:spPr>
              <a:blipFill rotWithShape="0">
                <a:blip r:embed="rId2"/>
                <a:stretch>
                  <a:fillRect l="-1043" t="-2241"/>
                </a:stretch>
              </a:blipFill>
            </p:spPr>
            <p:txBody>
              <a:bodyPr/>
              <a:lstStyle/>
              <a:p>
                <a:r>
                  <a:rPr lang="en-US">
                    <a:noFill/>
                  </a:rPr>
                  <a:t> </a:t>
                </a:r>
              </a:p>
            </p:txBody>
          </p:sp>
        </mc:Fallback>
      </mc:AlternateContent>
      <p:sp>
        <p:nvSpPr>
          <p:cNvPr id="2" name="Slide Number Placeholder 1">
            <a:extLst>
              <a:ext uri="{FF2B5EF4-FFF2-40B4-BE49-F238E27FC236}">
                <a16:creationId xmlns:a16="http://schemas.microsoft.com/office/drawing/2014/main" id="{22365ADD-A985-CD46-B3F3-A351D3BB9EFF}"/>
              </a:ext>
            </a:extLst>
          </p:cNvPr>
          <p:cNvSpPr>
            <a:spLocks noGrp="1"/>
          </p:cNvSpPr>
          <p:nvPr>
            <p:ph type="sldNum" sz="quarter" idx="12"/>
          </p:nvPr>
        </p:nvSpPr>
        <p:spPr/>
        <p:txBody>
          <a:bodyPr/>
          <a:lstStyle/>
          <a:p>
            <a:fld id="{0B97A0ED-0713-854E-AE67-C1B678B4A72A}" type="slidenum">
              <a:rPr lang="en-US" smtClean="0"/>
              <a:t>3</a:t>
            </a:fld>
            <a:endParaRPr lang="en-US"/>
          </a:p>
        </p:txBody>
      </p:sp>
    </p:spTree>
    <p:extLst>
      <p:ext uri="{BB962C8B-B14F-4D97-AF65-F5344CB8AC3E}">
        <p14:creationId xmlns:p14="http://schemas.microsoft.com/office/powerpoint/2010/main" val="137554268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Expected Test Score</a:t>
            </a:r>
          </a:p>
        </p:txBody>
      </p:sp>
      <mc:AlternateContent xmlns:mc="http://schemas.openxmlformats.org/markup-compatibility/2006" xmlns:a14="http://schemas.microsoft.com/office/drawing/2010/main">
        <mc:Choice Requires="a14">
          <p:sp>
            <p:nvSpPr>
              <p:cNvPr id="3" name="Content Placeholder 2"/>
              <p:cNvSpPr>
                <a:spLocks noGrp="1"/>
              </p:cNvSpPr>
              <p:nvPr>
                <p:ph idx="1"/>
              </p:nvPr>
            </p:nvSpPr>
            <p:spPr/>
            <p:txBody>
              <a:bodyPr>
                <a:normAutofit fontScale="92500" lnSpcReduction="10000"/>
              </a:bodyPr>
              <a:lstStyle/>
              <a:p>
                <a:r>
                  <a:rPr lang="en-US" dirty="0"/>
                  <a:t>From this expression, we can calculate the expected observed (number correct) score for a person based on their theta value.</a:t>
                </a:r>
              </a:p>
              <a:p>
                <a:r>
                  <a:rPr lang="en-US" dirty="0"/>
                  <a:t>This can be computed by summing the ICCs across items.</a:t>
                </a:r>
              </a:p>
              <a:p>
                <a:r>
                  <a:rPr lang="en-US" dirty="0"/>
                  <a:t>It is called the “Test Characteristic Curve” or TCC.</a:t>
                </a:r>
              </a:p>
              <a:p>
                <a:pPr marL="0" indent="0">
                  <a:buNone/>
                </a:pPr>
                <a14:m>
                  <m:oMathPara xmlns:m="http://schemas.openxmlformats.org/officeDocument/2006/math">
                    <m:oMathParaPr>
                      <m:jc m:val="centerGroup"/>
                    </m:oMathParaPr>
                    <m:oMath xmlns:m="http://schemas.openxmlformats.org/officeDocument/2006/math">
                      <m:r>
                        <a:rPr lang="en-US" b="0" i="1" smtClean="0">
                          <a:latin typeface="Cambria Math" charset="0"/>
                        </a:rPr>
                        <m:t>𝑇𝐶𝐶</m:t>
                      </m:r>
                      <m:d>
                        <m:dPr>
                          <m:ctrlPr>
                            <a:rPr lang="en-US" b="0" i="1" smtClean="0">
                              <a:latin typeface="Cambria Math" panose="02040503050406030204" pitchFamily="18" charset="0"/>
                            </a:rPr>
                          </m:ctrlPr>
                        </m:dPr>
                        <m:e>
                          <m:sSub>
                            <m:sSubPr>
                              <m:ctrlPr>
                                <a:rPr lang="en-US" b="0" i="1" smtClean="0">
                                  <a:latin typeface="Cambria Math" panose="02040503050406030204" pitchFamily="18" charset="0"/>
                                </a:rPr>
                              </m:ctrlPr>
                            </m:sSubPr>
                            <m:e>
                              <m:r>
                                <a:rPr lang="en-US" b="0" i="1" smtClean="0">
                                  <a:latin typeface="Cambria Math" charset="0"/>
                                </a:rPr>
                                <m:t>𝜃</m:t>
                              </m:r>
                            </m:e>
                            <m:sub>
                              <m:r>
                                <a:rPr lang="en-US" b="0" i="1" smtClean="0">
                                  <a:latin typeface="Cambria Math" charset="0"/>
                                </a:rPr>
                                <m:t>𝑝</m:t>
                              </m:r>
                            </m:sub>
                          </m:sSub>
                        </m:e>
                      </m:d>
                      <m:r>
                        <a:rPr lang="en-US" b="0" i="1" smtClean="0">
                          <a:latin typeface="Cambria Math" charset="0"/>
                        </a:rPr>
                        <m:t>=</m:t>
                      </m:r>
                      <m:nary>
                        <m:naryPr>
                          <m:chr m:val="∑"/>
                          <m:ctrlPr>
                            <a:rPr lang="is-IS" b="0" i="1" smtClean="0">
                              <a:latin typeface="Cambria Math" panose="02040503050406030204" pitchFamily="18" charset="0"/>
                            </a:rPr>
                          </m:ctrlPr>
                        </m:naryPr>
                        <m:sub>
                          <m:r>
                            <m:rPr>
                              <m:brk m:alnAt="23"/>
                            </m:rPr>
                            <a:rPr lang="en-US" b="0" i="1" smtClean="0">
                              <a:latin typeface="Cambria Math" charset="0"/>
                            </a:rPr>
                            <m:t>𝑖</m:t>
                          </m:r>
                          <m:r>
                            <a:rPr lang="en-US" b="0" i="1" smtClean="0">
                              <a:latin typeface="Cambria Math" charset="0"/>
                            </a:rPr>
                            <m:t>=1</m:t>
                          </m:r>
                        </m:sub>
                        <m:sup>
                          <m:r>
                            <a:rPr lang="en-US" b="0" i="1" smtClean="0">
                              <a:latin typeface="Cambria Math" charset="0"/>
                            </a:rPr>
                            <m:t>𝐼</m:t>
                          </m:r>
                        </m:sup>
                        <m:e>
                          <m:sSub>
                            <m:sSubPr>
                              <m:ctrlPr>
                                <a:rPr lang="en-US" b="0" i="1" smtClean="0">
                                  <a:latin typeface="Cambria Math" panose="02040503050406030204" pitchFamily="18" charset="0"/>
                                </a:rPr>
                              </m:ctrlPr>
                            </m:sSubPr>
                            <m:e>
                              <m:r>
                                <a:rPr lang="en-US" b="0" i="1" smtClean="0">
                                  <a:latin typeface="Cambria Math" charset="0"/>
                                </a:rPr>
                                <m:t>𝑃</m:t>
                              </m:r>
                            </m:e>
                            <m:sub>
                              <m:r>
                                <a:rPr lang="en-US" b="0" i="1" smtClean="0">
                                  <a:latin typeface="Cambria Math" charset="0"/>
                                </a:rPr>
                                <m:t>𝑖</m:t>
                              </m:r>
                            </m:sub>
                          </m:sSub>
                          <m:d>
                            <m:dPr>
                              <m:ctrlPr>
                                <a:rPr lang="en-US" b="0" i="1" smtClean="0">
                                  <a:latin typeface="Cambria Math" panose="02040503050406030204" pitchFamily="18" charset="0"/>
                                </a:rPr>
                              </m:ctrlPr>
                            </m:dPr>
                            <m:e>
                              <m:sSub>
                                <m:sSubPr>
                                  <m:ctrlPr>
                                    <a:rPr lang="en-US" b="0" i="1" smtClean="0">
                                      <a:latin typeface="Cambria Math" panose="02040503050406030204" pitchFamily="18" charset="0"/>
                                    </a:rPr>
                                  </m:ctrlPr>
                                </m:sSubPr>
                                <m:e>
                                  <m:r>
                                    <a:rPr lang="en-US" b="0" i="1" smtClean="0">
                                      <a:latin typeface="Cambria Math" charset="0"/>
                                    </a:rPr>
                                    <m:t>𝜃</m:t>
                                  </m:r>
                                </m:e>
                                <m:sub>
                                  <m:r>
                                    <a:rPr lang="en-US" b="0" i="1" smtClean="0">
                                      <a:latin typeface="Cambria Math" charset="0"/>
                                    </a:rPr>
                                    <m:t>𝑝</m:t>
                                  </m:r>
                                </m:sub>
                              </m:sSub>
                            </m:e>
                          </m:d>
                        </m:e>
                      </m:nary>
                    </m:oMath>
                  </m:oMathPara>
                </a14:m>
                <a:endParaRPr lang="en-US" dirty="0"/>
              </a:p>
              <a:p>
                <a:r>
                  <a:rPr lang="en-US" dirty="0"/>
                  <a:t>This tells us the expected number of correct answers for each level of theta.</a:t>
                </a:r>
              </a:p>
              <a:p>
                <a:r>
                  <a:rPr lang="en-US" dirty="0"/>
                  <a:t>We can think of this as an estimate of the true score associated with this particular set of items.</a:t>
                </a:r>
              </a:p>
            </p:txBody>
          </p:sp>
        </mc:Choice>
        <mc:Fallback xmlns="">
          <p:sp>
            <p:nvSpPr>
              <p:cNvPr id="3" name="Content Placeholder 2"/>
              <p:cNvSpPr>
                <a:spLocks noGrp="1" noRot="1" noChangeAspect="1" noMove="1" noResize="1" noEditPoints="1" noAdjustHandles="1" noChangeArrowheads="1" noChangeShapeType="1" noTextEdit="1"/>
              </p:cNvSpPr>
              <p:nvPr>
                <p:ph idx="1"/>
              </p:nvPr>
            </p:nvSpPr>
            <p:spPr>
              <a:blipFill>
                <a:blip r:embed="rId2"/>
                <a:stretch>
                  <a:fillRect l="-844" t="-2924" b="-6433"/>
                </a:stretch>
              </a:blipFill>
            </p:spPr>
            <p:txBody>
              <a:bodyPr/>
              <a:lstStyle/>
              <a:p>
                <a:r>
                  <a:rPr lang="en-US">
                    <a:noFill/>
                  </a:rPr>
                  <a:t> </a:t>
                </a:r>
              </a:p>
            </p:txBody>
          </p:sp>
        </mc:Fallback>
      </mc:AlternateContent>
      <p:sp>
        <p:nvSpPr>
          <p:cNvPr id="5" name="Slide Number Placeholder 4">
            <a:extLst>
              <a:ext uri="{FF2B5EF4-FFF2-40B4-BE49-F238E27FC236}">
                <a16:creationId xmlns:a16="http://schemas.microsoft.com/office/drawing/2014/main" id="{9F24CB48-02CC-AD44-8E41-A7F12A41F10F}"/>
              </a:ext>
            </a:extLst>
          </p:cNvPr>
          <p:cNvSpPr>
            <a:spLocks noGrp="1"/>
          </p:cNvSpPr>
          <p:nvPr>
            <p:ph type="sldNum" sz="quarter" idx="12"/>
          </p:nvPr>
        </p:nvSpPr>
        <p:spPr/>
        <p:txBody>
          <a:bodyPr/>
          <a:lstStyle/>
          <a:p>
            <a:fld id="{0B97A0ED-0713-854E-AE67-C1B678B4A72A}" type="slidenum">
              <a:rPr lang="en-US" smtClean="0"/>
              <a:t>4</a:t>
            </a:fld>
            <a:endParaRPr lang="en-US"/>
          </a:p>
        </p:txBody>
      </p:sp>
    </p:spTree>
    <p:extLst>
      <p:ext uri="{BB962C8B-B14F-4D97-AF65-F5344CB8AC3E}">
        <p14:creationId xmlns:p14="http://schemas.microsoft.com/office/powerpoint/2010/main" val="72463100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TCC for the </a:t>
            </a:r>
            <a:r>
              <a:rPr lang="en-US" b="1" dirty="0" err="1"/>
              <a:t>three_item_test.xlsx</a:t>
            </a:r>
            <a:r>
              <a:rPr lang="en-US" b="1" dirty="0"/>
              <a:t> Data</a:t>
            </a:r>
          </a:p>
        </p:txBody>
      </p:sp>
      <p:graphicFrame>
        <p:nvGraphicFramePr>
          <p:cNvPr id="5" name="Chart 4"/>
          <p:cNvGraphicFramePr>
            <a:graphicFrameLocks/>
          </p:cNvGraphicFramePr>
          <p:nvPr>
            <p:extLst>
              <p:ext uri="{D42A27DB-BD31-4B8C-83A1-F6EECF244321}">
                <p14:modId xmlns:p14="http://schemas.microsoft.com/office/powerpoint/2010/main" val="308175946"/>
              </p:ext>
            </p:extLst>
          </p:nvPr>
        </p:nvGraphicFramePr>
        <p:xfrm>
          <a:off x="6096000" y="1782753"/>
          <a:ext cx="4946650" cy="4483100"/>
        </p:xfrm>
        <a:graphic>
          <a:graphicData uri="http://schemas.openxmlformats.org/drawingml/2006/chart">
            <c:chart xmlns:c="http://schemas.openxmlformats.org/drawingml/2006/chart" xmlns:r="http://schemas.openxmlformats.org/officeDocument/2006/relationships" r:id="rId2"/>
          </a:graphicData>
        </a:graphic>
      </p:graphicFrame>
      <mc:AlternateContent xmlns:mc="http://schemas.openxmlformats.org/markup-compatibility/2006" xmlns:a14="http://schemas.microsoft.com/office/drawing/2010/main">
        <mc:Choice Requires="a14">
          <p:sp>
            <p:nvSpPr>
              <p:cNvPr id="3" name="TextBox 2"/>
              <p:cNvSpPr txBox="1"/>
              <p:nvPr/>
            </p:nvSpPr>
            <p:spPr>
              <a:xfrm>
                <a:off x="838200" y="2268638"/>
                <a:ext cx="4625051" cy="646331"/>
              </a:xfrm>
              <a:prstGeom prst="rect">
                <a:avLst/>
              </a:prstGeom>
              <a:noFill/>
            </p:spPr>
            <p:txBody>
              <a:bodyPr wrap="square" rtlCol="0">
                <a:spAutoFit/>
              </a:bodyPr>
              <a:lstStyle/>
              <a:p>
                <a:r>
                  <a:rPr lang="en-US" dirty="0"/>
                  <a:t>We can calculate the TCC as the sum of the item </a:t>
                </a:r>
                <a14:m>
                  <m:oMath xmlns:m="http://schemas.openxmlformats.org/officeDocument/2006/math">
                    <m:sSub>
                      <m:sSubPr>
                        <m:ctrlPr>
                          <a:rPr lang="en-US" b="0" i="1" smtClean="0">
                            <a:latin typeface="Cambria Math" panose="02040503050406030204" pitchFamily="18" charset="0"/>
                          </a:rPr>
                        </m:ctrlPr>
                      </m:sSubPr>
                      <m:e>
                        <m:r>
                          <a:rPr lang="en-US" b="0" i="1" smtClean="0">
                            <a:latin typeface="Cambria Math" charset="0"/>
                          </a:rPr>
                          <m:t>𝑃</m:t>
                        </m:r>
                      </m:e>
                      <m:sub>
                        <m:r>
                          <a:rPr lang="en-US" b="0" i="1" smtClean="0">
                            <a:latin typeface="Cambria Math" charset="0"/>
                          </a:rPr>
                          <m:t>𝑖</m:t>
                        </m:r>
                      </m:sub>
                    </m:sSub>
                  </m:oMath>
                </a14:m>
                <a:r>
                  <a:rPr lang="en-US" dirty="0"/>
                  <a:t> values at each value of </a:t>
                </a:r>
                <a14:m>
                  <m:oMath xmlns:m="http://schemas.openxmlformats.org/officeDocument/2006/math">
                    <m:r>
                      <a:rPr lang="en-US" b="0" i="1" smtClean="0">
                        <a:latin typeface="Cambria Math" charset="0"/>
                      </a:rPr>
                      <m:t>𝜃</m:t>
                    </m:r>
                  </m:oMath>
                </a14:m>
                <a:r>
                  <a:rPr lang="en-US" dirty="0"/>
                  <a:t>.</a:t>
                </a:r>
              </a:p>
            </p:txBody>
          </p:sp>
        </mc:Choice>
        <mc:Fallback xmlns="">
          <p:sp>
            <p:nvSpPr>
              <p:cNvPr id="3" name="TextBox 2"/>
              <p:cNvSpPr txBox="1">
                <a:spLocks noRot="1" noChangeAspect="1" noMove="1" noResize="1" noEditPoints="1" noAdjustHandles="1" noChangeArrowheads="1" noChangeShapeType="1" noTextEdit="1"/>
              </p:cNvSpPr>
              <p:nvPr/>
            </p:nvSpPr>
            <p:spPr>
              <a:xfrm>
                <a:off x="838200" y="2268638"/>
                <a:ext cx="4625051" cy="646331"/>
              </a:xfrm>
              <a:prstGeom prst="rect">
                <a:avLst/>
              </a:prstGeom>
              <a:blipFill rotWithShape="0">
                <a:blip r:embed="rId3"/>
                <a:stretch>
                  <a:fillRect l="-1187" t="-4717" b="-14151"/>
                </a:stretch>
              </a:blipFill>
            </p:spPr>
            <p:txBody>
              <a:bodyPr/>
              <a:lstStyle/>
              <a:p>
                <a:r>
                  <a:rPr lang="en-US">
                    <a:noFill/>
                  </a:rPr>
                  <a:t> </a:t>
                </a:r>
              </a:p>
            </p:txBody>
          </p:sp>
        </mc:Fallback>
      </mc:AlternateContent>
      <p:sp>
        <p:nvSpPr>
          <p:cNvPr id="6" name="Slide Number Placeholder 5">
            <a:extLst>
              <a:ext uri="{FF2B5EF4-FFF2-40B4-BE49-F238E27FC236}">
                <a16:creationId xmlns:a16="http://schemas.microsoft.com/office/drawing/2014/main" id="{A78718CE-D962-F944-84C8-D6215AAED0A0}"/>
              </a:ext>
            </a:extLst>
          </p:cNvPr>
          <p:cNvSpPr>
            <a:spLocks noGrp="1"/>
          </p:cNvSpPr>
          <p:nvPr>
            <p:ph type="sldNum" sz="quarter" idx="12"/>
          </p:nvPr>
        </p:nvSpPr>
        <p:spPr/>
        <p:txBody>
          <a:bodyPr/>
          <a:lstStyle/>
          <a:p>
            <a:fld id="{0B97A0ED-0713-854E-AE67-C1B678B4A72A}" type="slidenum">
              <a:rPr lang="en-US" smtClean="0"/>
              <a:t>5</a:t>
            </a:fld>
            <a:endParaRPr lang="en-US"/>
          </a:p>
        </p:txBody>
      </p:sp>
    </p:spTree>
    <p:extLst>
      <p:ext uri="{BB962C8B-B14F-4D97-AF65-F5344CB8AC3E}">
        <p14:creationId xmlns:p14="http://schemas.microsoft.com/office/powerpoint/2010/main" val="143136937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p:cNvSpPr>
            <a:spLocks noGrp="1"/>
          </p:cNvSpPr>
          <p:nvPr>
            <p:ph type="title"/>
          </p:nvPr>
        </p:nvSpPr>
        <p:spPr/>
        <p:txBody>
          <a:bodyPr/>
          <a:lstStyle/>
          <a:p>
            <a:r>
              <a:rPr lang="en-US" b="1" dirty="0"/>
              <a:t>Test and Item Information</a:t>
            </a:r>
          </a:p>
        </p:txBody>
      </p:sp>
      <p:sp>
        <p:nvSpPr>
          <p:cNvPr id="6" name="Text Placeholder 5"/>
          <p:cNvSpPr>
            <a:spLocks noGrp="1"/>
          </p:cNvSpPr>
          <p:nvPr>
            <p:ph type="body" idx="1"/>
          </p:nvPr>
        </p:nvSpPr>
        <p:spPr/>
        <p:txBody>
          <a:bodyPr/>
          <a:lstStyle/>
          <a:p>
            <a:endParaRPr lang="en-US"/>
          </a:p>
        </p:txBody>
      </p:sp>
      <p:sp>
        <p:nvSpPr>
          <p:cNvPr id="2" name="Slide Number Placeholder 1">
            <a:extLst>
              <a:ext uri="{FF2B5EF4-FFF2-40B4-BE49-F238E27FC236}">
                <a16:creationId xmlns:a16="http://schemas.microsoft.com/office/drawing/2014/main" id="{54F48D23-B52F-D34B-A28F-F5EB7C11E056}"/>
              </a:ext>
            </a:extLst>
          </p:cNvPr>
          <p:cNvSpPr>
            <a:spLocks noGrp="1"/>
          </p:cNvSpPr>
          <p:nvPr>
            <p:ph type="sldNum" sz="quarter" idx="12"/>
          </p:nvPr>
        </p:nvSpPr>
        <p:spPr/>
        <p:txBody>
          <a:bodyPr/>
          <a:lstStyle/>
          <a:p>
            <a:fld id="{0B97A0ED-0713-854E-AE67-C1B678B4A72A}" type="slidenum">
              <a:rPr lang="en-US" smtClean="0"/>
              <a:t>6</a:t>
            </a:fld>
            <a:endParaRPr lang="en-US"/>
          </a:p>
        </p:txBody>
      </p:sp>
    </p:spTree>
    <p:extLst>
      <p:ext uri="{BB962C8B-B14F-4D97-AF65-F5344CB8AC3E}">
        <p14:creationId xmlns:p14="http://schemas.microsoft.com/office/powerpoint/2010/main" val="29676718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p:cNvSpPr>
            <a:spLocks noGrp="1"/>
          </p:cNvSpPr>
          <p:nvPr>
            <p:ph type="title"/>
          </p:nvPr>
        </p:nvSpPr>
        <p:spPr/>
        <p:txBody>
          <a:bodyPr/>
          <a:lstStyle/>
          <a:p>
            <a:r>
              <a:rPr lang="en-US" b="1" dirty="0"/>
              <a:t>Item Information</a:t>
            </a:r>
          </a:p>
        </p:txBody>
      </p:sp>
      <mc:AlternateContent xmlns:mc="http://schemas.openxmlformats.org/markup-compatibility/2006" xmlns:a14="http://schemas.microsoft.com/office/drawing/2010/main">
        <mc:Choice Requires="a14">
          <p:sp>
            <p:nvSpPr>
              <p:cNvPr id="6" name="Content Placeholder 5"/>
              <p:cNvSpPr>
                <a:spLocks noGrp="1"/>
              </p:cNvSpPr>
              <p:nvPr>
                <p:ph idx="1"/>
              </p:nvPr>
            </p:nvSpPr>
            <p:spPr/>
            <p:txBody>
              <a:bodyPr/>
              <a:lstStyle/>
              <a:p>
                <a:r>
                  <a:rPr lang="en-US" dirty="0"/>
                  <a:t>Each item provides a certain amount of “information” about the respondents.</a:t>
                </a:r>
              </a:p>
              <a:p>
                <a:r>
                  <a:rPr lang="en-US" dirty="0"/>
                  <a:t>We can write item information function as</a:t>
                </a:r>
                <a:endParaRPr lang="en-US" baseline="-25000" dirty="0"/>
              </a:p>
              <a:p>
                <a:pPr marL="0" indent="0">
                  <a:buNone/>
                </a:pPr>
                <a14:m>
                  <m:oMathPara xmlns:m="http://schemas.openxmlformats.org/officeDocument/2006/math">
                    <m:oMathParaPr>
                      <m:jc m:val="centerGroup"/>
                    </m:oMathParaPr>
                    <m:oMath xmlns:m="http://schemas.openxmlformats.org/officeDocument/2006/math">
                      <m:sSub>
                        <m:sSubPr>
                          <m:ctrlPr>
                            <a:rPr lang="en-US" b="0" i="1" smtClean="0">
                              <a:latin typeface="Cambria Math" panose="02040503050406030204" pitchFamily="18" charset="0"/>
                            </a:rPr>
                          </m:ctrlPr>
                        </m:sSubPr>
                        <m:e>
                          <m:r>
                            <a:rPr lang="en-US" b="0" i="1" smtClean="0">
                              <a:latin typeface="Cambria Math" charset="0"/>
                            </a:rPr>
                            <m:t>𝐼</m:t>
                          </m:r>
                        </m:e>
                        <m:sub>
                          <m:r>
                            <a:rPr lang="en-US" b="0" i="1" smtClean="0">
                              <a:latin typeface="Cambria Math" charset="0"/>
                            </a:rPr>
                            <m:t>𝑖</m:t>
                          </m:r>
                        </m:sub>
                      </m:sSub>
                      <m:d>
                        <m:dPr>
                          <m:ctrlPr>
                            <a:rPr lang="en-US" b="0" i="1" smtClean="0">
                              <a:latin typeface="Cambria Math" panose="02040503050406030204" pitchFamily="18" charset="0"/>
                            </a:rPr>
                          </m:ctrlPr>
                        </m:dPr>
                        <m:e>
                          <m:r>
                            <a:rPr lang="en-US" b="0" i="1" smtClean="0">
                              <a:latin typeface="Cambria Math" charset="0"/>
                            </a:rPr>
                            <m:t>𝜃</m:t>
                          </m:r>
                        </m:e>
                      </m:d>
                      <m:r>
                        <a:rPr lang="en-US" b="0" i="1" smtClean="0">
                          <a:latin typeface="Cambria Math" charset="0"/>
                        </a:rPr>
                        <m:t>=</m:t>
                      </m:r>
                      <m:f>
                        <m:fPr>
                          <m:ctrlPr>
                            <a:rPr lang="en-US" i="1">
                              <a:latin typeface="Cambria Math" panose="02040503050406030204" pitchFamily="18" charset="0"/>
                            </a:rPr>
                          </m:ctrlPr>
                        </m:fPr>
                        <m:num>
                          <m:sSubSup>
                            <m:sSubSupPr>
                              <m:ctrlPr>
                                <a:rPr lang="en-US" b="0" i="1" smtClean="0">
                                  <a:latin typeface="Cambria Math" panose="02040503050406030204" pitchFamily="18" charset="0"/>
                                </a:rPr>
                              </m:ctrlPr>
                            </m:sSubSupPr>
                            <m:e>
                              <m:r>
                                <a:rPr lang="en-US" b="0" i="1" smtClean="0">
                                  <a:latin typeface="Cambria Math" charset="0"/>
                                </a:rPr>
                                <m:t>𝑃</m:t>
                              </m:r>
                            </m:e>
                            <m:sub>
                              <m:r>
                                <a:rPr lang="en-US" b="0" i="1" smtClean="0">
                                  <a:latin typeface="Cambria Math" charset="0"/>
                                </a:rPr>
                                <m:t>𝑖</m:t>
                              </m:r>
                            </m:sub>
                            <m:sup>
                              <m:r>
                                <a:rPr lang="en-US" b="0" i="1" smtClean="0">
                                  <a:latin typeface="Cambria Math" charset="0"/>
                                </a:rPr>
                                <m:t>′</m:t>
                              </m:r>
                            </m:sup>
                          </m:sSubSup>
                          <m:sSup>
                            <m:sSupPr>
                              <m:ctrlPr>
                                <a:rPr lang="en-US" b="0" i="1" smtClean="0">
                                  <a:latin typeface="Cambria Math" panose="02040503050406030204" pitchFamily="18" charset="0"/>
                                </a:rPr>
                              </m:ctrlPr>
                            </m:sSupPr>
                            <m:e>
                              <m:d>
                                <m:dPr>
                                  <m:ctrlPr>
                                    <a:rPr lang="en-US" b="0" i="1" smtClean="0">
                                      <a:latin typeface="Cambria Math" panose="02040503050406030204" pitchFamily="18" charset="0"/>
                                    </a:rPr>
                                  </m:ctrlPr>
                                </m:dPr>
                                <m:e>
                                  <m:r>
                                    <a:rPr lang="en-US" b="0" i="1" smtClean="0">
                                      <a:latin typeface="Cambria Math" charset="0"/>
                                    </a:rPr>
                                    <m:t>𝜃</m:t>
                                  </m:r>
                                </m:e>
                              </m:d>
                            </m:e>
                            <m:sup>
                              <m:r>
                                <a:rPr lang="en-US" b="0" i="1" smtClean="0">
                                  <a:latin typeface="Cambria Math" panose="02040503050406030204" pitchFamily="18" charset="0"/>
                                </a:rPr>
                                <m:t>2</m:t>
                              </m:r>
                            </m:sup>
                          </m:sSup>
                        </m:num>
                        <m:den>
                          <m:sSub>
                            <m:sSubPr>
                              <m:ctrlPr>
                                <a:rPr lang="en-US" i="1">
                                  <a:latin typeface="Cambria Math" panose="02040503050406030204" pitchFamily="18" charset="0"/>
                                </a:rPr>
                              </m:ctrlPr>
                            </m:sSubPr>
                            <m:e>
                              <m:r>
                                <a:rPr lang="en-US" i="1">
                                  <a:latin typeface="Cambria Math" charset="0"/>
                                </a:rPr>
                                <m:t>𝑃</m:t>
                              </m:r>
                            </m:e>
                            <m:sub>
                              <m:r>
                                <a:rPr lang="en-US" i="1">
                                  <a:latin typeface="Cambria Math" charset="0"/>
                                </a:rPr>
                                <m:t>𝑖</m:t>
                              </m:r>
                            </m:sub>
                          </m:sSub>
                          <m:d>
                            <m:dPr>
                              <m:ctrlPr>
                                <a:rPr lang="en-US" i="1">
                                  <a:latin typeface="Cambria Math" panose="02040503050406030204" pitchFamily="18" charset="0"/>
                                </a:rPr>
                              </m:ctrlPr>
                            </m:dPr>
                            <m:e>
                              <m:r>
                                <a:rPr lang="en-US" i="1">
                                  <a:latin typeface="Cambria Math" charset="0"/>
                                </a:rPr>
                                <m:t>𝜃</m:t>
                              </m:r>
                            </m:e>
                          </m:d>
                          <m:sSub>
                            <m:sSubPr>
                              <m:ctrlPr>
                                <a:rPr lang="en-US" i="1">
                                  <a:latin typeface="Cambria Math" panose="02040503050406030204" pitchFamily="18" charset="0"/>
                                </a:rPr>
                              </m:ctrlPr>
                            </m:sSubPr>
                            <m:e>
                              <m:r>
                                <a:rPr lang="en-US" i="1">
                                  <a:latin typeface="Cambria Math" charset="0"/>
                                </a:rPr>
                                <m:t>𝑄</m:t>
                              </m:r>
                            </m:e>
                            <m:sub>
                              <m:r>
                                <a:rPr lang="en-US" i="1">
                                  <a:latin typeface="Cambria Math" charset="0"/>
                                </a:rPr>
                                <m:t>𝑖</m:t>
                              </m:r>
                            </m:sub>
                          </m:sSub>
                          <m:d>
                            <m:dPr>
                              <m:ctrlPr>
                                <a:rPr lang="en-US" i="1">
                                  <a:latin typeface="Cambria Math" panose="02040503050406030204" pitchFamily="18" charset="0"/>
                                </a:rPr>
                              </m:ctrlPr>
                            </m:dPr>
                            <m:e>
                              <m:r>
                                <a:rPr lang="en-US" i="1">
                                  <a:latin typeface="Cambria Math" charset="0"/>
                                </a:rPr>
                                <m:t>𝜃</m:t>
                              </m:r>
                            </m:e>
                          </m:d>
                        </m:den>
                      </m:f>
                    </m:oMath>
                  </m:oMathPara>
                </a14:m>
                <a:endParaRPr lang="en-US" dirty="0"/>
              </a:p>
              <a:p>
                <a:r>
                  <a:rPr lang="en-US" dirty="0"/>
                  <a:t>Where </a:t>
                </a:r>
                <a14:m>
                  <m:oMath xmlns:m="http://schemas.openxmlformats.org/officeDocument/2006/math">
                    <m:sSub>
                      <m:sSubPr>
                        <m:ctrlPr>
                          <a:rPr lang="en-US" b="0" i="1" smtClean="0">
                            <a:latin typeface="Cambria Math" panose="02040503050406030204" pitchFamily="18" charset="0"/>
                          </a:rPr>
                        </m:ctrlPr>
                      </m:sSubPr>
                      <m:e>
                        <m:r>
                          <a:rPr lang="en-US" b="0" i="1" smtClean="0">
                            <a:latin typeface="Cambria Math" charset="0"/>
                          </a:rPr>
                          <m:t>𝑃</m:t>
                        </m:r>
                      </m:e>
                      <m:sub>
                        <m:r>
                          <a:rPr lang="en-US" b="0" i="1" smtClean="0">
                            <a:latin typeface="Cambria Math" charset="0"/>
                          </a:rPr>
                          <m:t>𝑖</m:t>
                        </m:r>
                      </m:sub>
                    </m:sSub>
                    <m:d>
                      <m:dPr>
                        <m:ctrlPr>
                          <a:rPr lang="en-US" b="0" i="1" smtClean="0">
                            <a:latin typeface="Cambria Math" panose="02040503050406030204" pitchFamily="18" charset="0"/>
                          </a:rPr>
                        </m:ctrlPr>
                      </m:dPr>
                      <m:e>
                        <m:r>
                          <a:rPr lang="en-US" b="0" i="1" smtClean="0">
                            <a:latin typeface="Cambria Math" charset="0"/>
                          </a:rPr>
                          <m:t>𝜃</m:t>
                        </m:r>
                      </m:e>
                    </m:d>
                    <m:r>
                      <a:rPr lang="en-US" b="0" i="1" smtClean="0">
                        <a:latin typeface="Cambria Math" charset="0"/>
                      </a:rPr>
                      <m:t>=</m:t>
                    </m:r>
                    <m:r>
                      <a:rPr lang="en-US" b="0" i="1" smtClean="0">
                        <a:latin typeface="Cambria Math" charset="0"/>
                      </a:rPr>
                      <m:t>𝑃</m:t>
                    </m:r>
                    <m:d>
                      <m:dPr>
                        <m:ctrlPr>
                          <a:rPr lang="en-US" b="0" i="1" smtClean="0">
                            <a:latin typeface="Cambria Math" panose="02040503050406030204" pitchFamily="18" charset="0"/>
                          </a:rPr>
                        </m:ctrlPr>
                      </m:dPr>
                      <m:e>
                        <m:sSub>
                          <m:sSubPr>
                            <m:ctrlPr>
                              <a:rPr lang="en-US" b="0" i="1" smtClean="0">
                                <a:latin typeface="Cambria Math" panose="02040503050406030204" pitchFamily="18" charset="0"/>
                              </a:rPr>
                            </m:ctrlPr>
                          </m:sSubPr>
                          <m:e>
                            <m:r>
                              <a:rPr lang="en-US" b="0" i="1" smtClean="0">
                                <a:latin typeface="Cambria Math" charset="0"/>
                              </a:rPr>
                              <m:t>𝑋</m:t>
                            </m:r>
                          </m:e>
                          <m:sub>
                            <m:r>
                              <a:rPr lang="en-US" b="0" i="1" smtClean="0">
                                <a:latin typeface="Cambria Math" charset="0"/>
                              </a:rPr>
                              <m:t>𝑖𝑝</m:t>
                            </m:r>
                          </m:sub>
                        </m:sSub>
                        <m:r>
                          <a:rPr lang="en-US" b="0" i="1" smtClean="0">
                            <a:latin typeface="Cambria Math" charset="0"/>
                          </a:rPr>
                          <m:t>=1</m:t>
                        </m:r>
                      </m:e>
                      <m:e>
                        <m:sSub>
                          <m:sSubPr>
                            <m:ctrlPr>
                              <a:rPr lang="en-US" b="0" i="1" smtClean="0">
                                <a:latin typeface="Cambria Math" panose="02040503050406030204" pitchFamily="18" charset="0"/>
                              </a:rPr>
                            </m:ctrlPr>
                          </m:sSubPr>
                          <m:e>
                            <m:r>
                              <a:rPr lang="en-US" b="0" i="1" smtClean="0">
                                <a:latin typeface="Cambria Math" charset="0"/>
                              </a:rPr>
                              <m:t>𝜃</m:t>
                            </m:r>
                          </m:e>
                          <m:sub>
                            <m:r>
                              <a:rPr lang="en-US" b="0" i="1" smtClean="0">
                                <a:latin typeface="Cambria Math" charset="0"/>
                              </a:rPr>
                              <m:t>𝑝</m:t>
                            </m:r>
                          </m:sub>
                        </m:sSub>
                      </m:e>
                    </m:d>
                  </m:oMath>
                </a14:m>
                <a:r>
                  <a:rPr lang="en-US" dirty="0"/>
                  <a:t> and </a:t>
                </a:r>
                <a14:m>
                  <m:oMath xmlns:m="http://schemas.openxmlformats.org/officeDocument/2006/math">
                    <m:sSub>
                      <m:sSubPr>
                        <m:ctrlPr>
                          <a:rPr lang="en-US" b="0" i="1" smtClean="0">
                            <a:latin typeface="Cambria Math" panose="02040503050406030204" pitchFamily="18" charset="0"/>
                          </a:rPr>
                        </m:ctrlPr>
                      </m:sSubPr>
                      <m:e>
                        <m:r>
                          <a:rPr lang="en-US" b="0" i="1" smtClean="0">
                            <a:latin typeface="Cambria Math" charset="0"/>
                          </a:rPr>
                          <m:t>𝑄</m:t>
                        </m:r>
                      </m:e>
                      <m:sub>
                        <m:r>
                          <a:rPr lang="en-US" b="0" i="1" smtClean="0">
                            <a:latin typeface="Cambria Math" charset="0"/>
                          </a:rPr>
                          <m:t>𝑖</m:t>
                        </m:r>
                      </m:sub>
                    </m:sSub>
                    <m:d>
                      <m:dPr>
                        <m:ctrlPr>
                          <a:rPr lang="en-US" b="0" i="1" smtClean="0">
                            <a:latin typeface="Cambria Math" panose="02040503050406030204" pitchFamily="18" charset="0"/>
                          </a:rPr>
                        </m:ctrlPr>
                      </m:dPr>
                      <m:e>
                        <m:r>
                          <a:rPr lang="en-US" b="0" i="1" smtClean="0">
                            <a:latin typeface="Cambria Math" charset="0"/>
                          </a:rPr>
                          <m:t>𝜃</m:t>
                        </m:r>
                      </m:e>
                    </m:d>
                    <m:r>
                      <a:rPr lang="en-US" b="0" i="1" smtClean="0">
                        <a:latin typeface="Cambria Math" charset="0"/>
                      </a:rPr>
                      <m:t>=1−</m:t>
                    </m:r>
                    <m:sSub>
                      <m:sSubPr>
                        <m:ctrlPr>
                          <a:rPr lang="en-US" b="0" i="1" smtClean="0">
                            <a:latin typeface="Cambria Math" panose="02040503050406030204" pitchFamily="18" charset="0"/>
                          </a:rPr>
                        </m:ctrlPr>
                      </m:sSubPr>
                      <m:e>
                        <m:r>
                          <a:rPr lang="en-US" b="0" i="1" smtClean="0">
                            <a:latin typeface="Cambria Math" charset="0"/>
                          </a:rPr>
                          <m:t>𝑃</m:t>
                        </m:r>
                      </m:e>
                      <m:sub>
                        <m:r>
                          <a:rPr lang="en-US" b="0" i="1" smtClean="0">
                            <a:latin typeface="Cambria Math" charset="0"/>
                          </a:rPr>
                          <m:t>𝑖</m:t>
                        </m:r>
                      </m:sub>
                    </m:sSub>
                    <m:d>
                      <m:dPr>
                        <m:ctrlPr>
                          <a:rPr lang="en-US" b="0" i="1" smtClean="0">
                            <a:latin typeface="Cambria Math" panose="02040503050406030204" pitchFamily="18" charset="0"/>
                          </a:rPr>
                        </m:ctrlPr>
                      </m:dPr>
                      <m:e>
                        <m:r>
                          <a:rPr lang="en-US" b="0" i="1" smtClean="0">
                            <a:latin typeface="Cambria Math" charset="0"/>
                          </a:rPr>
                          <m:t>𝜃</m:t>
                        </m:r>
                      </m:e>
                    </m:d>
                  </m:oMath>
                </a14:m>
                <a:r>
                  <a:rPr lang="en-US" dirty="0"/>
                  <a:t>, and </a:t>
                </a:r>
                <a14:m>
                  <m:oMath xmlns:m="http://schemas.openxmlformats.org/officeDocument/2006/math">
                    <m:sSubSup>
                      <m:sSubSupPr>
                        <m:ctrlPr>
                          <a:rPr lang="en-US" b="0" i="1" smtClean="0">
                            <a:latin typeface="Cambria Math" panose="02040503050406030204" pitchFamily="18" charset="0"/>
                          </a:rPr>
                        </m:ctrlPr>
                      </m:sSubSupPr>
                      <m:e>
                        <m:r>
                          <a:rPr lang="en-US" b="0" i="1" smtClean="0">
                            <a:latin typeface="Cambria Math" charset="0"/>
                          </a:rPr>
                          <m:t>𝑃</m:t>
                        </m:r>
                      </m:e>
                      <m:sub>
                        <m:r>
                          <a:rPr lang="en-US" b="0" i="1" smtClean="0">
                            <a:latin typeface="Cambria Math" charset="0"/>
                          </a:rPr>
                          <m:t>𝑖</m:t>
                        </m:r>
                      </m:sub>
                      <m:sup>
                        <m:r>
                          <a:rPr lang="en-US" b="0" i="1" smtClean="0">
                            <a:latin typeface="Cambria Math" charset="0"/>
                          </a:rPr>
                          <m:t>′</m:t>
                        </m:r>
                      </m:sup>
                    </m:sSubSup>
                    <m:d>
                      <m:dPr>
                        <m:ctrlPr>
                          <a:rPr lang="en-US" b="0" i="1" smtClean="0">
                            <a:latin typeface="Cambria Math" panose="02040503050406030204" pitchFamily="18" charset="0"/>
                          </a:rPr>
                        </m:ctrlPr>
                      </m:dPr>
                      <m:e>
                        <m:r>
                          <a:rPr lang="en-US" b="0" i="1" smtClean="0">
                            <a:latin typeface="Cambria Math" charset="0"/>
                          </a:rPr>
                          <m:t>𝜃</m:t>
                        </m:r>
                      </m:e>
                    </m:d>
                  </m:oMath>
                </a14:m>
                <a:r>
                  <a:rPr lang="en-US" dirty="0"/>
                  <a:t> is the first derivative of </a:t>
                </a:r>
                <a14:m>
                  <m:oMath xmlns:m="http://schemas.openxmlformats.org/officeDocument/2006/math">
                    <m:sSub>
                      <m:sSubPr>
                        <m:ctrlPr>
                          <a:rPr lang="en-US" b="0" i="1" smtClean="0">
                            <a:latin typeface="Cambria Math" panose="02040503050406030204" pitchFamily="18" charset="0"/>
                          </a:rPr>
                        </m:ctrlPr>
                      </m:sSubPr>
                      <m:e>
                        <m:r>
                          <a:rPr lang="en-US" b="0" i="1" smtClean="0">
                            <a:latin typeface="Cambria Math" charset="0"/>
                          </a:rPr>
                          <m:t>𝑃</m:t>
                        </m:r>
                      </m:e>
                      <m:sub>
                        <m:r>
                          <a:rPr lang="en-US" b="0" i="1" smtClean="0">
                            <a:latin typeface="Cambria Math" charset="0"/>
                          </a:rPr>
                          <m:t>𝑖</m:t>
                        </m:r>
                      </m:sub>
                    </m:sSub>
                    <m:d>
                      <m:dPr>
                        <m:ctrlPr>
                          <a:rPr lang="en-US" b="0" i="1" smtClean="0">
                            <a:latin typeface="Cambria Math" panose="02040503050406030204" pitchFamily="18" charset="0"/>
                          </a:rPr>
                        </m:ctrlPr>
                      </m:dPr>
                      <m:e>
                        <m:r>
                          <a:rPr lang="en-US" b="0" i="1" smtClean="0">
                            <a:latin typeface="Cambria Math" charset="0"/>
                          </a:rPr>
                          <m:t>𝜃</m:t>
                        </m:r>
                      </m:e>
                    </m:d>
                  </m:oMath>
                </a14:m>
                <a:r>
                  <a:rPr lang="en-US" dirty="0"/>
                  <a:t>.</a:t>
                </a:r>
              </a:p>
              <a:p>
                <a:r>
                  <a:rPr lang="en-US" dirty="0"/>
                  <a:t>Hence, items provide different amounts of information at different points on the theta scale.</a:t>
                </a:r>
              </a:p>
              <a:p>
                <a:endParaRPr lang="en-US" dirty="0"/>
              </a:p>
            </p:txBody>
          </p:sp>
        </mc:Choice>
        <mc:Fallback xmlns="">
          <p:sp>
            <p:nvSpPr>
              <p:cNvPr id="6" name="Content Placeholder 5"/>
              <p:cNvSpPr>
                <a:spLocks noGrp="1" noRot="1" noChangeAspect="1" noMove="1" noResize="1" noEditPoints="1" noAdjustHandles="1" noChangeArrowheads="1" noChangeShapeType="1" noTextEdit="1"/>
              </p:cNvSpPr>
              <p:nvPr>
                <p:ph idx="1"/>
              </p:nvPr>
            </p:nvSpPr>
            <p:spPr>
              <a:blipFill>
                <a:blip r:embed="rId2"/>
                <a:stretch>
                  <a:fillRect l="-1086" t="-2326"/>
                </a:stretch>
              </a:blipFill>
            </p:spPr>
            <p:txBody>
              <a:bodyPr/>
              <a:lstStyle/>
              <a:p>
                <a:r>
                  <a:rPr lang="en-US">
                    <a:noFill/>
                  </a:rPr>
                  <a:t> </a:t>
                </a:r>
              </a:p>
            </p:txBody>
          </p:sp>
        </mc:Fallback>
      </mc:AlternateContent>
      <p:sp>
        <p:nvSpPr>
          <p:cNvPr id="2" name="Slide Number Placeholder 1">
            <a:extLst>
              <a:ext uri="{FF2B5EF4-FFF2-40B4-BE49-F238E27FC236}">
                <a16:creationId xmlns:a16="http://schemas.microsoft.com/office/drawing/2014/main" id="{EA219CB8-038D-8C4E-B136-F9CB16C0F167}"/>
              </a:ext>
            </a:extLst>
          </p:cNvPr>
          <p:cNvSpPr>
            <a:spLocks noGrp="1"/>
          </p:cNvSpPr>
          <p:nvPr>
            <p:ph type="sldNum" sz="quarter" idx="12"/>
          </p:nvPr>
        </p:nvSpPr>
        <p:spPr/>
        <p:txBody>
          <a:bodyPr/>
          <a:lstStyle/>
          <a:p>
            <a:fld id="{0B97A0ED-0713-854E-AE67-C1B678B4A72A}" type="slidenum">
              <a:rPr lang="en-US" smtClean="0"/>
              <a:t>7</a:t>
            </a:fld>
            <a:endParaRPr lang="en-US"/>
          </a:p>
        </p:txBody>
      </p:sp>
    </p:spTree>
    <p:extLst>
      <p:ext uri="{BB962C8B-B14F-4D97-AF65-F5344CB8AC3E}">
        <p14:creationId xmlns:p14="http://schemas.microsoft.com/office/powerpoint/2010/main" val="195855582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Item Information Functions</a:t>
            </a:r>
          </a:p>
        </p:txBody>
      </p:sp>
      <mc:AlternateContent xmlns:mc="http://schemas.openxmlformats.org/markup-compatibility/2006" xmlns:a14="http://schemas.microsoft.com/office/drawing/2010/main">
        <mc:Choice Requires="a14">
          <p:graphicFrame>
            <p:nvGraphicFramePr>
              <p:cNvPr id="5" name="Content Placeholder 4"/>
              <p:cNvGraphicFramePr>
                <a:graphicFrameLocks noGrp="1"/>
              </p:cNvGraphicFramePr>
              <p:nvPr>
                <p:ph idx="1"/>
                <p:extLst>
                  <p:ext uri="{D42A27DB-BD31-4B8C-83A1-F6EECF244321}">
                    <p14:modId xmlns:p14="http://schemas.microsoft.com/office/powerpoint/2010/main" val="758330461"/>
                  </p:ext>
                </p:extLst>
              </p:nvPr>
            </p:nvGraphicFramePr>
            <p:xfrm>
              <a:off x="838200" y="1825623"/>
              <a:ext cx="10515601" cy="3399634"/>
            </p:xfrm>
            <a:graphic>
              <a:graphicData uri="http://schemas.openxmlformats.org/drawingml/2006/table">
                <a:tbl>
                  <a:tblPr firstRow="1" bandRow="1">
                    <a:tableStyleId>{5940675A-B579-460E-94D1-54222C63F5DA}</a:tableStyleId>
                  </a:tblPr>
                  <a:tblGrid>
                    <a:gridCol w="1834637">
                      <a:extLst>
                        <a:ext uri="{9D8B030D-6E8A-4147-A177-3AD203B41FA5}">
                          <a16:colId xmlns:a16="http://schemas.microsoft.com/office/drawing/2014/main" val="20000"/>
                        </a:ext>
                      </a:extLst>
                    </a:gridCol>
                    <a:gridCol w="4340482">
                      <a:extLst>
                        <a:ext uri="{9D8B030D-6E8A-4147-A177-3AD203B41FA5}">
                          <a16:colId xmlns:a16="http://schemas.microsoft.com/office/drawing/2014/main" val="20001"/>
                        </a:ext>
                      </a:extLst>
                    </a:gridCol>
                    <a:gridCol w="4340482">
                      <a:extLst>
                        <a:ext uri="{9D8B030D-6E8A-4147-A177-3AD203B41FA5}">
                          <a16:colId xmlns:a16="http://schemas.microsoft.com/office/drawing/2014/main" val="20002"/>
                        </a:ext>
                      </a:extLst>
                    </a:gridCol>
                  </a:tblGrid>
                  <a:tr h="549277">
                    <a:tc>
                      <a:txBody>
                        <a:bodyPr/>
                        <a:lstStyle/>
                        <a:p>
                          <a:pPr algn="ctr"/>
                          <a:r>
                            <a:rPr lang="en-US" sz="2200" dirty="0"/>
                            <a:t>Model</a:t>
                          </a:r>
                        </a:p>
                      </a:txBody>
                      <a:tcPr anchor="ctr"/>
                    </a:tc>
                    <a:tc>
                      <a:txBody>
                        <a:bodyPr/>
                        <a:lstStyle/>
                        <a:p>
                          <a:pPr algn="ctr"/>
                          <a:r>
                            <a:rPr lang="en-US" sz="2200" dirty="0"/>
                            <a:t>Item Info</a:t>
                          </a:r>
                        </a:p>
                      </a:txBody>
                      <a:tcPr anchor="ctr"/>
                    </a:tc>
                    <a:tc>
                      <a:txBody>
                        <a:bodyPr/>
                        <a:lstStyle/>
                        <a:p>
                          <a:pPr algn="ctr"/>
                          <a:r>
                            <a:rPr lang="en-US" sz="2200" dirty="0"/>
                            <a:t>Notes</a:t>
                          </a:r>
                        </a:p>
                      </a:txBody>
                      <a:tcPr anchor="ctr"/>
                    </a:tc>
                    <a:extLst>
                      <a:ext uri="{0D108BD9-81ED-4DB2-BD59-A6C34878D82A}">
                        <a16:rowId xmlns:a16="http://schemas.microsoft.com/office/drawing/2014/main" val="10000"/>
                      </a:ext>
                    </a:extLst>
                  </a:tr>
                  <a:tr h="950119">
                    <a:tc>
                      <a:txBody>
                        <a:bodyPr/>
                        <a:lstStyle/>
                        <a:p>
                          <a:pPr algn="ctr"/>
                          <a:r>
                            <a:rPr lang="en-US" sz="2200" dirty="0"/>
                            <a:t>1PL</a:t>
                          </a:r>
                        </a:p>
                      </a:txBody>
                      <a:tcPr anchor="ctr"/>
                    </a:tc>
                    <a:tc>
                      <a:txBody>
                        <a:bodyPr/>
                        <a:lstStyle/>
                        <a:p>
                          <a:pPr algn="ctr"/>
                          <a14:m>
                            <m:oMath xmlns:m="http://schemas.openxmlformats.org/officeDocument/2006/math">
                              <m:sSub>
                                <m:sSubPr>
                                  <m:ctrlPr>
                                    <a:rPr lang="en-US" sz="2200" i="1" kern="1200">
                                      <a:solidFill>
                                        <a:schemeClr val="tx1"/>
                                      </a:solidFill>
                                      <a:effectLst/>
                                      <a:latin typeface="Cambria Math" panose="02040503050406030204" pitchFamily="18" charset="0"/>
                                      <a:ea typeface="+mn-ea"/>
                                      <a:cs typeface="+mn-cs"/>
                                    </a:rPr>
                                  </m:ctrlPr>
                                </m:sSubPr>
                                <m:e>
                                  <m:r>
                                    <a:rPr lang="en-US" sz="2200" i="1" kern="1200">
                                      <a:solidFill>
                                        <a:schemeClr val="tx1"/>
                                      </a:solidFill>
                                      <a:effectLst/>
                                      <a:latin typeface="Cambria Math" charset="0"/>
                                      <a:ea typeface="+mn-ea"/>
                                      <a:cs typeface="+mn-cs"/>
                                    </a:rPr>
                                    <m:t>𝑃</m:t>
                                  </m:r>
                                </m:e>
                                <m:sub>
                                  <m:r>
                                    <a:rPr lang="en-US" sz="2200" i="1" kern="1200">
                                      <a:solidFill>
                                        <a:schemeClr val="tx1"/>
                                      </a:solidFill>
                                      <a:effectLst/>
                                      <a:latin typeface="Cambria Math" charset="0"/>
                                      <a:ea typeface="+mn-ea"/>
                                      <a:cs typeface="+mn-cs"/>
                                    </a:rPr>
                                    <m:t>𝑖</m:t>
                                  </m:r>
                                </m:sub>
                              </m:sSub>
                              <m:d>
                                <m:dPr>
                                  <m:ctrlPr>
                                    <a:rPr lang="en-US" sz="2200" i="1" kern="1200">
                                      <a:solidFill>
                                        <a:schemeClr val="tx1"/>
                                      </a:solidFill>
                                      <a:effectLst/>
                                      <a:latin typeface="Cambria Math" panose="02040503050406030204" pitchFamily="18" charset="0"/>
                                      <a:ea typeface="+mn-ea"/>
                                      <a:cs typeface="+mn-cs"/>
                                    </a:rPr>
                                  </m:ctrlPr>
                                </m:dPr>
                                <m:e>
                                  <m:r>
                                    <a:rPr lang="en-US" sz="2200" i="1" kern="1200">
                                      <a:solidFill>
                                        <a:schemeClr val="tx1"/>
                                      </a:solidFill>
                                      <a:effectLst/>
                                      <a:latin typeface="Cambria Math" charset="0"/>
                                      <a:ea typeface="+mn-ea"/>
                                      <a:cs typeface="+mn-cs"/>
                                    </a:rPr>
                                    <m:t>𝜃</m:t>
                                  </m:r>
                                </m:e>
                              </m:d>
                              <m:sSub>
                                <m:sSubPr>
                                  <m:ctrlPr>
                                    <a:rPr lang="en-US" sz="2200" i="1" kern="1200">
                                      <a:solidFill>
                                        <a:schemeClr val="tx1"/>
                                      </a:solidFill>
                                      <a:effectLst/>
                                      <a:latin typeface="Cambria Math" panose="02040503050406030204" pitchFamily="18" charset="0"/>
                                      <a:ea typeface="+mn-ea"/>
                                      <a:cs typeface="+mn-cs"/>
                                    </a:rPr>
                                  </m:ctrlPr>
                                </m:sSubPr>
                                <m:e>
                                  <m:r>
                                    <a:rPr lang="en-US" sz="2200" i="1" kern="1200">
                                      <a:solidFill>
                                        <a:schemeClr val="tx1"/>
                                      </a:solidFill>
                                      <a:effectLst/>
                                      <a:latin typeface="Cambria Math" charset="0"/>
                                      <a:ea typeface="+mn-ea"/>
                                      <a:cs typeface="+mn-cs"/>
                                    </a:rPr>
                                    <m:t>𝑄</m:t>
                                  </m:r>
                                </m:e>
                                <m:sub>
                                  <m:r>
                                    <a:rPr lang="en-US" sz="2200" i="1" kern="1200">
                                      <a:solidFill>
                                        <a:schemeClr val="tx1"/>
                                      </a:solidFill>
                                      <a:effectLst/>
                                      <a:latin typeface="Cambria Math" charset="0"/>
                                      <a:ea typeface="+mn-ea"/>
                                      <a:cs typeface="+mn-cs"/>
                                    </a:rPr>
                                    <m:t>𝑖</m:t>
                                  </m:r>
                                </m:sub>
                              </m:sSub>
                              <m:d>
                                <m:dPr>
                                  <m:ctrlPr>
                                    <a:rPr lang="en-US" sz="2200" i="1" kern="1200">
                                      <a:solidFill>
                                        <a:schemeClr val="tx1"/>
                                      </a:solidFill>
                                      <a:effectLst/>
                                      <a:latin typeface="Cambria Math" panose="02040503050406030204" pitchFamily="18" charset="0"/>
                                      <a:ea typeface="+mn-ea"/>
                                      <a:cs typeface="+mn-cs"/>
                                    </a:rPr>
                                  </m:ctrlPr>
                                </m:dPr>
                                <m:e>
                                  <m:r>
                                    <a:rPr lang="en-US" sz="2200" i="1" kern="1200">
                                      <a:solidFill>
                                        <a:schemeClr val="tx1"/>
                                      </a:solidFill>
                                      <a:effectLst/>
                                      <a:latin typeface="Cambria Math" charset="0"/>
                                      <a:ea typeface="+mn-ea"/>
                                      <a:cs typeface="+mn-cs"/>
                                    </a:rPr>
                                    <m:t>𝜃</m:t>
                                  </m:r>
                                </m:e>
                              </m:d>
                            </m:oMath>
                          </a14:m>
                          <a:r>
                            <a:rPr lang="en-US" sz="2200" dirty="0">
                              <a:effectLst/>
                            </a:rPr>
                            <a:t> </a:t>
                          </a:r>
                          <a:endParaRPr lang="en-US" sz="2200" dirty="0"/>
                        </a:p>
                      </a:txBody>
                      <a:tcPr anchor="ctr"/>
                    </a:tc>
                    <a:tc>
                      <a:txBody>
                        <a:bodyPr/>
                        <a:lstStyle/>
                        <a:p>
                          <a:pPr algn="ctr"/>
                          <a:r>
                            <a:rPr lang="en-US" sz="2200" dirty="0"/>
                            <a:t>Maximized at </a:t>
                          </a:r>
                          <a14:m>
                            <m:oMath xmlns:m="http://schemas.openxmlformats.org/officeDocument/2006/math">
                              <m:sSub>
                                <m:sSubPr>
                                  <m:ctrlPr>
                                    <a:rPr lang="en-US" sz="2200" b="0" i="1" smtClean="0">
                                      <a:latin typeface="Cambria Math" panose="02040503050406030204" pitchFamily="18" charset="0"/>
                                    </a:rPr>
                                  </m:ctrlPr>
                                </m:sSubPr>
                                <m:e>
                                  <m:r>
                                    <a:rPr lang="en-US" sz="2200" b="0" i="1" smtClean="0">
                                      <a:latin typeface="Cambria Math" charset="0"/>
                                    </a:rPr>
                                    <m:t>𝑏</m:t>
                                  </m:r>
                                </m:e>
                                <m:sub>
                                  <m:r>
                                    <a:rPr lang="en-US" sz="2200" b="0" i="1" smtClean="0">
                                      <a:latin typeface="Cambria Math" charset="0"/>
                                    </a:rPr>
                                    <m:t>𝑖</m:t>
                                  </m:r>
                                </m:sub>
                              </m:sSub>
                            </m:oMath>
                          </a14:m>
                          <a:endParaRPr lang="en-US" sz="2200" dirty="0"/>
                        </a:p>
                      </a:txBody>
                      <a:tcPr anchor="ctr"/>
                    </a:tc>
                    <a:extLst>
                      <a:ext uri="{0D108BD9-81ED-4DB2-BD59-A6C34878D82A}">
                        <a16:rowId xmlns:a16="http://schemas.microsoft.com/office/drawing/2014/main" val="10001"/>
                      </a:ext>
                    </a:extLst>
                  </a:tr>
                  <a:tr h="950119">
                    <a:tc>
                      <a:txBody>
                        <a:bodyPr/>
                        <a:lstStyle/>
                        <a:p>
                          <a:pPr algn="ctr"/>
                          <a:r>
                            <a:rPr lang="en-US" sz="2200" dirty="0"/>
                            <a:t>2PL</a:t>
                          </a:r>
                        </a:p>
                      </a:txBody>
                      <a:tcPr anchor="ctr"/>
                    </a:tc>
                    <a:tc>
                      <a:txBody>
                        <a:bodyPr/>
                        <a:lstStyle/>
                        <a:p>
                          <a:pPr algn="ctr"/>
                          <a14:m>
                            <m:oMath xmlns:m="http://schemas.openxmlformats.org/officeDocument/2006/math">
                              <m:sSubSup>
                                <m:sSubSupPr>
                                  <m:ctrlPr>
                                    <a:rPr lang="en-US" sz="2200" i="1" kern="1200" smtClean="0">
                                      <a:solidFill>
                                        <a:schemeClr val="tx1"/>
                                      </a:solidFill>
                                      <a:effectLst/>
                                      <a:latin typeface="Cambria Math" panose="02040503050406030204" pitchFamily="18" charset="0"/>
                                      <a:ea typeface="+mn-ea"/>
                                      <a:cs typeface="+mn-cs"/>
                                    </a:rPr>
                                  </m:ctrlPr>
                                </m:sSubSupPr>
                                <m:e>
                                  <m:r>
                                    <a:rPr lang="en-US" sz="2200" i="1" kern="1200">
                                      <a:solidFill>
                                        <a:schemeClr val="tx1"/>
                                      </a:solidFill>
                                      <a:effectLst/>
                                      <a:latin typeface="Cambria Math" charset="0"/>
                                      <a:ea typeface="+mn-ea"/>
                                      <a:cs typeface="+mn-cs"/>
                                    </a:rPr>
                                    <m:t>𝑎</m:t>
                                  </m:r>
                                </m:e>
                                <m:sub>
                                  <m:r>
                                    <a:rPr lang="en-US" sz="2200" i="1" kern="1200">
                                      <a:solidFill>
                                        <a:schemeClr val="tx1"/>
                                      </a:solidFill>
                                      <a:effectLst/>
                                      <a:latin typeface="Cambria Math" charset="0"/>
                                      <a:ea typeface="+mn-ea"/>
                                      <a:cs typeface="+mn-cs"/>
                                    </a:rPr>
                                    <m:t>𝑖</m:t>
                                  </m:r>
                                </m:sub>
                                <m:sup>
                                  <m:r>
                                    <a:rPr lang="en-US" sz="2200" i="1" kern="1200">
                                      <a:solidFill>
                                        <a:schemeClr val="tx1"/>
                                      </a:solidFill>
                                      <a:effectLst/>
                                      <a:latin typeface="Cambria Math" charset="0"/>
                                      <a:ea typeface="+mn-ea"/>
                                      <a:cs typeface="+mn-cs"/>
                                    </a:rPr>
                                    <m:t>2</m:t>
                                  </m:r>
                                </m:sup>
                              </m:sSubSup>
                              <m:sSub>
                                <m:sSubPr>
                                  <m:ctrlPr>
                                    <a:rPr lang="en-US" sz="2200" i="1" kern="1200">
                                      <a:solidFill>
                                        <a:schemeClr val="tx1"/>
                                      </a:solidFill>
                                      <a:effectLst/>
                                      <a:latin typeface="Cambria Math" panose="02040503050406030204" pitchFamily="18" charset="0"/>
                                      <a:ea typeface="+mn-ea"/>
                                      <a:cs typeface="+mn-cs"/>
                                    </a:rPr>
                                  </m:ctrlPr>
                                </m:sSubPr>
                                <m:e>
                                  <m:r>
                                    <a:rPr lang="en-US" sz="2200" i="1" kern="1200">
                                      <a:solidFill>
                                        <a:schemeClr val="tx1"/>
                                      </a:solidFill>
                                      <a:effectLst/>
                                      <a:latin typeface="Cambria Math" charset="0"/>
                                      <a:ea typeface="+mn-ea"/>
                                      <a:cs typeface="+mn-cs"/>
                                    </a:rPr>
                                    <m:t>𝑃</m:t>
                                  </m:r>
                                </m:e>
                                <m:sub>
                                  <m:r>
                                    <a:rPr lang="en-US" sz="2200" i="1" kern="1200">
                                      <a:solidFill>
                                        <a:schemeClr val="tx1"/>
                                      </a:solidFill>
                                      <a:effectLst/>
                                      <a:latin typeface="Cambria Math" charset="0"/>
                                      <a:ea typeface="+mn-ea"/>
                                      <a:cs typeface="+mn-cs"/>
                                    </a:rPr>
                                    <m:t>𝑖</m:t>
                                  </m:r>
                                </m:sub>
                              </m:sSub>
                              <m:d>
                                <m:dPr>
                                  <m:ctrlPr>
                                    <a:rPr lang="en-US" sz="2200" i="1" kern="1200">
                                      <a:solidFill>
                                        <a:schemeClr val="tx1"/>
                                      </a:solidFill>
                                      <a:effectLst/>
                                      <a:latin typeface="Cambria Math" panose="02040503050406030204" pitchFamily="18" charset="0"/>
                                      <a:ea typeface="+mn-ea"/>
                                      <a:cs typeface="+mn-cs"/>
                                    </a:rPr>
                                  </m:ctrlPr>
                                </m:dPr>
                                <m:e>
                                  <m:r>
                                    <a:rPr lang="en-US" sz="2200" i="1" kern="1200">
                                      <a:solidFill>
                                        <a:schemeClr val="tx1"/>
                                      </a:solidFill>
                                      <a:effectLst/>
                                      <a:latin typeface="Cambria Math" charset="0"/>
                                      <a:ea typeface="+mn-ea"/>
                                      <a:cs typeface="+mn-cs"/>
                                    </a:rPr>
                                    <m:t>𝜃</m:t>
                                  </m:r>
                                </m:e>
                              </m:d>
                              <m:sSub>
                                <m:sSubPr>
                                  <m:ctrlPr>
                                    <a:rPr lang="en-US" sz="2200" i="1" kern="1200">
                                      <a:solidFill>
                                        <a:schemeClr val="tx1"/>
                                      </a:solidFill>
                                      <a:effectLst/>
                                      <a:latin typeface="Cambria Math" panose="02040503050406030204" pitchFamily="18" charset="0"/>
                                      <a:ea typeface="+mn-ea"/>
                                      <a:cs typeface="+mn-cs"/>
                                    </a:rPr>
                                  </m:ctrlPr>
                                </m:sSubPr>
                                <m:e>
                                  <m:r>
                                    <a:rPr lang="en-US" sz="2200" i="1" kern="1200">
                                      <a:solidFill>
                                        <a:schemeClr val="tx1"/>
                                      </a:solidFill>
                                      <a:effectLst/>
                                      <a:latin typeface="Cambria Math" charset="0"/>
                                      <a:ea typeface="+mn-ea"/>
                                      <a:cs typeface="+mn-cs"/>
                                    </a:rPr>
                                    <m:t>𝑄</m:t>
                                  </m:r>
                                </m:e>
                                <m:sub>
                                  <m:r>
                                    <a:rPr lang="en-US" sz="2200" i="1" kern="1200">
                                      <a:solidFill>
                                        <a:schemeClr val="tx1"/>
                                      </a:solidFill>
                                      <a:effectLst/>
                                      <a:latin typeface="Cambria Math" charset="0"/>
                                      <a:ea typeface="+mn-ea"/>
                                      <a:cs typeface="+mn-cs"/>
                                    </a:rPr>
                                    <m:t>𝑖</m:t>
                                  </m:r>
                                </m:sub>
                              </m:sSub>
                              <m:d>
                                <m:dPr>
                                  <m:ctrlPr>
                                    <a:rPr lang="en-US" sz="2200" i="1" kern="1200">
                                      <a:solidFill>
                                        <a:schemeClr val="tx1"/>
                                      </a:solidFill>
                                      <a:effectLst/>
                                      <a:latin typeface="Cambria Math" panose="02040503050406030204" pitchFamily="18" charset="0"/>
                                      <a:ea typeface="+mn-ea"/>
                                      <a:cs typeface="+mn-cs"/>
                                    </a:rPr>
                                  </m:ctrlPr>
                                </m:dPr>
                                <m:e>
                                  <m:r>
                                    <a:rPr lang="en-US" sz="2200" i="1" kern="1200">
                                      <a:solidFill>
                                        <a:schemeClr val="tx1"/>
                                      </a:solidFill>
                                      <a:effectLst/>
                                      <a:latin typeface="Cambria Math" charset="0"/>
                                      <a:ea typeface="+mn-ea"/>
                                      <a:cs typeface="+mn-cs"/>
                                    </a:rPr>
                                    <m:t>𝜃</m:t>
                                  </m:r>
                                </m:e>
                              </m:d>
                            </m:oMath>
                          </a14:m>
                          <a:r>
                            <a:rPr lang="en-US" sz="2200" dirty="0">
                              <a:effectLst/>
                            </a:rPr>
                            <a:t> </a:t>
                          </a:r>
                          <a:endParaRPr lang="en-US" sz="2200" dirty="0"/>
                        </a:p>
                      </a:txBody>
                      <a:tcPr anchor="ctr"/>
                    </a:tc>
                    <a:tc>
                      <a:txBody>
                        <a:bodyPr/>
                        <a:lstStyle/>
                        <a:p>
                          <a:pPr algn="ctr"/>
                          <a:r>
                            <a:rPr lang="en-US" sz="2200" dirty="0"/>
                            <a:t>Maximized at </a:t>
                          </a:r>
                          <a14:m>
                            <m:oMath xmlns:m="http://schemas.openxmlformats.org/officeDocument/2006/math">
                              <m:sSub>
                                <m:sSubPr>
                                  <m:ctrlPr>
                                    <a:rPr lang="en-US" sz="2200" b="0" i="1" smtClean="0">
                                      <a:latin typeface="Cambria Math" panose="02040503050406030204" pitchFamily="18" charset="0"/>
                                    </a:rPr>
                                  </m:ctrlPr>
                                </m:sSubPr>
                                <m:e>
                                  <m:r>
                                    <a:rPr lang="en-US" sz="2200" b="0" i="1" smtClean="0">
                                      <a:latin typeface="Cambria Math" charset="0"/>
                                    </a:rPr>
                                    <m:t>𝑏</m:t>
                                  </m:r>
                                </m:e>
                                <m:sub>
                                  <m:r>
                                    <a:rPr lang="en-US" sz="2200" b="0" i="1" smtClean="0">
                                      <a:latin typeface="Cambria Math" charset="0"/>
                                    </a:rPr>
                                    <m:t>𝑖</m:t>
                                  </m:r>
                                </m:sub>
                              </m:sSub>
                            </m:oMath>
                          </a14:m>
                          <a:endParaRPr lang="en-US" sz="2200" dirty="0"/>
                        </a:p>
                      </a:txBody>
                      <a:tcPr anchor="ctr"/>
                    </a:tc>
                    <a:extLst>
                      <a:ext uri="{0D108BD9-81ED-4DB2-BD59-A6C34878D82A}">
                        <a16:rowId xmlns:a16="http://schemas.microsoft.com/office/drawing/2014/main" val="10002"/>
                      </a:ext>
                    </a:extLst>
                  </a:tr>
                  <a:tr h="950119">
                    <a:tc>
                      <a:txBody>
                        <a:bodyPr/>
                        <a:lstStyle/>
                        <a:p>
                          <a:pPr algn="ctr"/>
                          <a:r>
                            <a:rPr lang="en-US" sz="2200" dirty="0"/>
                            <a:t>3PL</a:t>
                          </a:r>
                        </a:p>
                      </a:txBody>
                      <a:tcPr anchor="ctr"/>
                    </a:tc>
                    <a:tc>
                      <a:txBody>
                        <a:bodyPr/>
                        <a:lstStyle/>
                        <a:p>
                          <a:pPr algn="ctr"/>
                          <a14:m>
                            <m:oMath xmlns:m="http://schemas.openxmlformats.org/officeDocument/2006/math">
                              <m:d>
                                <m:dPr>
                                  <m:begChr m:val="["/>
                                  <m:endChr m:val="]"/>
                                  <m:ctrlPr>
                                    <a:rPr lang="en-US" sz="2200" i="1" kern="1200" smtClean="0">
                                      <a:solidFill>
                                        <a:schemeClr val="tx1"/>
                                      </a:solidFill>
                                      <a:effectLst/>
                                      <a:latin typeface="Cambria Math" panose="02040503050406030204" pitchFamily="18" charset="0"/>
                                      <a:ea typeface="+mn-ea"/>
                                      <a:cs typeface="+mn-cs"/>
                                    </a:rPr>
                                  </m:ctrlPr>
                                </m:dPr>
                                <m:e>
                                  <m:sSubSup>
                                    <m:sSubSupPr>
                                      <m:ctrlPr>
                                        <a:rPr lang="en-US" sz="2200" i="1" kern="1200">
                                          <a:solidFill>
                                            <a:schemeClr val="tx1"/>
                                          </a:solidFill>
                                          <a:effectLst/>
                                          <a:latin typeface="Cambria Math" panose="02040503050406030204" pitchFamily="18" charset="0"/>
                                          <a:ea typeface="+mn-ea"/>
                                          <a:cs typeface="+mn-cs"/>
                                        </a:rPr>
                                      </m:ctrlPr>
                                    </m:sSubSupPr>
                                    <m:e>
                                      <m:r>
                                        <a:rPr lang="en-US" sz="2200" i="1" kern="1200">
                                          <a:solidFill>
                                            <a:schemeClr val="tx1"/>
                                          </a:solidFill>
                                          <a:effectLst/>
                                          <a:latin typeface="Cambria Math" charset="0"/>
                                          <a:ea typeface="+mn-ea"/>
                                          <a:cs typeface="+mn-cs"/>
                                        </a:rPr>
                                        <m:t>𝑎</m:t>
                                      </m:r>
                                    </m:e>
                                    <m:sub>
                                      <m:r>
                                        <a:rPr lang="en-US" sz="2200" i="1" kern="1200">
                                          <a:solidFill>
                                            <a:schemeClr val="tx1"/>
                                          </a:solidFill>
                                          <a:effectLst/>
                                          <a:latin typeface="Cambria Math" charset="0"/>
                                          <a:ea typeface="+mn-ea"/>
                                          <a:cs typeface="+mn-cs"/>
                                        </a:rPr>
                                        <m:t>𝑖</m:t>
                                      </m:r>
                                    </m:sub>
                                    <m:sup>
                                      <m:r>
                                        <a:rPr lang="en-US" sz="2200" i="1" kern="1200">
                                          <a:solidFill>
                                            <a:schemeClr val="tx1"/>
                                          </a:solidFill>
                                          <a:effectLst/>
                                          <a:latin typeface="Cambria Math" charset="0"/>
                                          <a:ea typeface="+mn-ea"/>
                                          <a:cs typeface="+mn-cs"/>
                                        </a:rPr>
                                        <m:t>2</m:t>
                                      </m:r>
                                    </m:sup>
                                  </m:sSubSup>
                                  <m:f>
                                    <m:fPr>
                                      <m:ctrlPr>
                                        <a:rPr lang="en-US" sz="2200" i="1" kern="1200">
                                          <a:solidFill>
                                            <a:schemeClr val="tx1"/>
                                          </a:solidFill>
                                          <a:effectLst/>
                                          <a:latin typeface="Cambria Math" panose="02040503050406030204" pitchFamily="18" charset="0"/>
                                          <a:ea typeface="+mn-ea"/>
                                          <a:cs typeface="+mn-cs"/>
                                        </a:rPr>
                                      </m:ctrlPr>
                                    </m:fPr>
                                    <m:num>
                                      <m:sSub>
                                        <m:sSubPr>
                                          <m:ctrlPr>
                                            <a:rPr lang="en-US" sz="2200" i="1" kern="1200">
                                              <a:solidFill>
                                                <a:schemeClr val="tx1"/>
                                              </a:solidFill>
                                              <a:effectLst/>
                                              <a:latin typeface="Cambria Math" panose="02040503050406030204" pitchFamily="18" charset="0"/>
                                              <a:ea typeface="+mn-ea"/>
                                              <a:cs typeface="+mn-cs"/>
                                            </a:rPr>
                                          </m:ctrlPr>
                                        </m:sSubPr>
                                        <m:e>
                                          <m:r>
                                            <a:rPr lang="en-US" sz="2200" i="1" kern="1200">
                                              <a:solidFill>
                                                <a:schemeClr val="tx1"/>
                                              </a:solidFill>
                                              <a:effectLst/>
                                              <a:latin typeface="Cambria Math" charset="0"/>
                                              <a:ea typeface="+mn-ea"/>
                                              <a:cs typeface="+mn-cs"/>
                                            </a:rPr>
                                            <m:t>𝑄</m:t>
                                          </m:r>
                                        </m:e>
                                        <m:sub>
                                          <m:r>
                                            <a:rPr lang="en-US" sz="2200" i="1" kern="1200">
                                              <a:solidFill>
                                                <a:schemeClr val="tx1"/>
                                              </a:solidFill>
                                              <a:effectLst/>
                                              <a:latin typeface="Cambria Math" charset="0"/>
                                              <a:ea typeface="+mn-ea"/>
                                              <a:cs typeface="+mn-cs"/>
                                            </a:rPr>
                                            <m:t>𝑖</m:t>
                                          </m:r>
                                        </m:sub>
                                      </m:sSub>
                                      <m:d>
                                        <m:dPr>
                                          <m:ctrlPr>
                                            <a:rPr lang="en-US" sz="2200" i="1" kern="1200">
                                              <a:solidFill>
                                                <a:schemeClr val="tx1"/>
                                              </a:solidFill>
                                              <a:effectLst/>
                                              <a:latin typeface="Cambria Math" panose="02040503050406030204" pitchFamily="18" charset="0"/>
                                              <a:ea typeface="+mn-ea"/>
                                              <a:cs typeface="+mn-cs"/>
                                            </a:rPr>
                                          </m:ctrlPr>
                                        </m:dPr>
                                        <m:e>
                                          <m:r>
                                            <a:rPr lang="en-US" sz="2200" i="1" kern="1200">
                                              <a:solidFill>
                                                <a:schemeClr val="tx1"/>
                                              </a:solidFill>
                                              <a:effectLst/>
                                              <a:latin typeface="Cambria Math" charset="0"/>
                                              <a:ea typeface="+mn-ea"/>
                                              <a:cs typeface="+mn-cs"/>
                                            </a:rPr>
                                            <m:t>𝜃</m:t>
                                          </m:r>
                                        </m:e>
                                      </m:d>
                                    </m:num>
                                    <m:den>
                                      <m:sSub>
                                        <m:sSubPr>
                                          <m:ctrlPr>
                                            <a:rPr lang="en-US" sz="2200" i="1" kern="1200">
                                              <a:solidFill>
                                                <a:schemeClr val="tx1"/>
                                              </a:solidFill>
                                              <a:effectLst/>
                                              <a:latin typeface="Cambria Math" panose="02040503050406030204" pitchFamily="18" charset="0"/>
                                              <a:ea typeface="+mn-ea"/>
                                              <a:cs typeface="+mn-cs"/>
                                            </a:rPr>
                                          </m:ctrlPr>
                                        </m:sSubPr>
                                        <m:e>
                                          <m:r>
                                            <a:rPr lang="en-US" sz="2200" i="1" kern="1200">
                                              <a:solidFill>
                                                <a:schemeClr val="tx1"/>
                                              </a:solidFill>
                                              <a:effectLst/>
                                              <a:latin typeface="Cambria Math" charset="0"/>
                                              <a:ea typeface="+mn-ea"/>
                                              <a:cs typeface="+mn-cs"/>
                                            </a:rPr>
                                            <m:t>𝑃</m:t>
                                          </m:r>
                                        </m:e>
                                        <m:sub>
                                          <m:r>
                                            <a:rPr lang="en-US" sz="2200" i="1" kern="1200">
                                              <a:solidFill>
                                                <a:schemeClr val="tx1"/>
                                              </a:solidFill>
                                              <a:effectLst/>
                                              <a:latin typeface="Cambria Math" charset="0"/>
                                              <a:ea typeface="+mn-ea"/>
                                              <a:cs typeface="+mn-cs"/>
                                            </a:rPr>
                                            <m:t>𝑖</m:t>
                                          </m:r>
                                        </m:sub>
                                      </m:sSub>
                                      <m:d>
                                        <m:dPr>
                                          <m:ctrlPr>
                                            <a:rPr lang="en-US" sz="2200" i="1" kern="1200">
                                              <a:solidFill>
                                                <a:schemeClr val="tx1"/>
                                              </a:solidFill>
                                              <a:effectLst/>
                                              <a:latin typeface="Cambria Math" panose="02040503050406030204" pitchFamily="18" charset="0"/>
                                              <a:ea typeface="+mn-ea"/>
                                              <a:cs typeface="+mn-cs"/>
                                            </a:rPr>
                                          </m:ctrlPr>
                                        </m:dPr>
                                        <m:e>
                                          <m:r>
                                            <a:rPr lang="en-US" sz="2200" i="1" kern="1200">
                                              <a:solidFill>
                                                <a:schemeClr val="tx1"/>
                                              </a:solidFill>
                                              <a:effectLst/>
                                              <a:latin typeface="Cambria Math" charset="0"/>
                                              <a:ea typeface="+mn-ea"/>
                                              <a:cs typeface="+mn-cs"/>
                                            </a:rPr>
                                            <m:t>𝜃</m:t>
                                          </m:r>
                                        </m:e>
                                      </m:d>
                                    </m:den>
                                  </m:f>
                                </m:e>
                              </m:d>
                              <m:d>
                                <m:dPr>
                                  <m:begChr m:val="["/>
                                  <m:endChr m:val="]"/>
                                  <m:ctrlPr>
                                    <a:rPr lang="en-US" sz="2200" i="1" kern="1200">
                                      <a:solidFill>
                                        <a:schemeClr val="tx1"/>
                                      </a:solidFill>
                                      <a:effectLst/>
                                      <a:latin typeface="Cambria Math" panose="02040503050406030204" pitchFamily="18" charset="0"/>
                                      <a:ea typeface="+mn-ea"/>
                                      <a:cs typeface="+mn-cs"/>
                                    </a:rPr>
                                  </m:ctrlPr>
                                </m:dPr>
                                <m:e>
                                  <m:f>
                                    <m:fPr>
                                      <m:ctrlPr>
                                        <a:rPr lang="en-US" sz="2200" i="1" kern="1200">
                                          <a:solidFill>
                                            <a:schemeClr val="tx1"/>
                                          </a:solidFill>
                                          <a:effectLst/>
                                          <a:latin typeface="Cambria Math" panose="02040503050406030204" pitchFamily="18" charset="0"/>
                                          <a:ea typeface="+mn-ea"/>
                                          <a:cs typeface="+mn-cs"/>
                                        </a:rPr>
                                      </m:ctrlPr>
                                    </m:fPr>
                                    <m:num>
                                      <m:sSup>
                                        <m:sSupPr>
                                          <m:ctrlPr>
                                            <a:rPr lang="en-US" sz="2200" i="1" kern="1200">
                                              <a:solidFill>
                                                <a:schemeClr val="tx1"/>
                                              </a:solidFill>
                                              <a:effectLst/>
                                              <a:latin typeface="Cambria Math" panose="02040503050406030204" pitchFamily="18" charset="0"/>
                                              <a:ea typeface="+mn-ea"/>
                                              <a:cs typeface="+mn-cs"/>
                                            </a:rPr>
                                          </m:ctrlPr>
                                        </m:sSupPr>
                                        <m:e>
                                          <m:d>
                                            <m:dPr>
                                              <m:ctrlPr>
                                                <a:rPr lang="en-US" sz="2200" i="1" kern="1200">
                                                  <a:solidFill>
                                                    <a:schemeClr val="tx1"/>
                                                  </a:solidFill>
                                                  <a:effectLst/>
                                                  <a:latin typeface="Cambria Math" panose="02040503050406030204" pitchFamily="18" charset="0"/>
                                                  <a:ea typeface="+mn-ea"/>
                                                  <a:cs typeface="+mn-cs"/>
                                                </a:rPr>
                                              </m:ctrlPr>
                                            </m:dPr>
                                            <m:e>
                                              <m:sSub>
                                                <m:sSubPr>
                                                  <m:ctrlPr>
                                                    <a:rPr lang="en-US" sz="2200" i="1" kern="1200">
                                                      <a:solidFill>
                                                        <a:schemeClr val="tx1"/>
                                                      </a:solidFill>
                                                      <a:effectLst/>
                                                      <a:latin typeface="Cambria Math" panose="02040503050406030204" pitchFamily="18" charset="0"/>
                                                      <a:ea typeface="+mn-ea"/>
                                                      <a:cs typeface="+mn-cs"/>
                                                    </a:rPr>
                                                  </m:ctrlPr>
                                                </m:sSubPr>
                                                <m:e>
                                                  <m:r>
                                                    <a:rPr lang="en-US" sz="2200" i="1" kern="1200">
                                                      <a:solidFill>
                                                        <a:schemeClr val="tx1"/>
                                                      </a:solidFill>
                                                      <a:effectLst/>
                                                      <a:latin typeface="Cambria Math" charset="0"/>
                                                      <a:ea typeface="+mn-ea"/>
                                                      <a:cs typeface="+mn-cs"/>
                                                    </a:rPr>
                                                    <m:t>𝑃</m:t>
                                                  </m:r>
                                                </m:e>
                                                <m:sub>
                                                  <m:r>
                                                    <a:rPr lang="en-US" sz="2200" i="1" kern="1200">
                                                      <a:solidFill>
                                                        <a:schemeClr val="tx1"/>
                                                      </a:solidFill>
                                                      <a:effectLst/>
                                                      <a:latin typeface="Cambria Math" charset="0"/>
                                                      <a:ea typeface="+mn-ea"/>
                                                      <a:cs typeface="+mn-cs"/>
                                                    </a:rPr>
                                                    <m:t>𝑖</m:t>
                                                  </m:r>
                                                </m:sub>
                                              </m:sSub>
                                              <m:d>
                                                <m:dPr>
                                                  <m:ctrlPr>
                                                    <a:rPr lang="en-US" sz="2200" i="1" kern="1200">
                                                      <a:solidFill>
                                                        <a:schemeClr val="tx1"/>
                                                      </a:solidFill>
                                                      <a:effectLst/>
                                                      <a:latin typeface="Cambria Math" panose="02040503050406030204" pitchFamily="18" charset="0"/>
                                                      <a:ea typeface="+mn-ea"/>
                                                      <a:cs typeface="+mn-cs"/>
                                                    </a:rPr>
                                                  </m:ctrlPr>
                                                </m:dPr>
                                                <m:e>
                                                  <m:r>
                                                    <a:rPr lang="en-US" sz="2200" i="1" kern="1200">
                                                      <a:solidFill>
                                                        <a:schemeClr val="tx1"/>
                                                      </a:solidFill>
                                                      <a:effectLst/>
                                                      <a:latin typeface="Cambria Math" charset="0"/>
                                                      <a:ea typeface="+mn-ea"/>
                                                      <a:cs typeface="+mn-cs"/>
                                                    </a:rPr>
                                                    <m:t>𝜃</m:t>
                                                  </m:r>
                                                </m:e>
                                              </m:d>
                                              <m:r>
                                                <a:rPr lang="en-US" sz="2200" i="1" kern="1200">
                                                  <a:solidFill>
                                                    <a:schemeClr val="tx1"/>
                                                  </a:solidFill>
                                                  <a:effectLst/>
                                                  <a:latin typeface="Cambria Math" charset="0"/>
                                                  <a:ea typeface="+mn-ea"/>
                                                  <a:cs typeface="+mn-cs"/>
                                                </a:rPr>
                                                <m:t>−</m:t>
                                              </m:r>
                                              <m:sSub>
                                                <m:sSubPr>
                                                  <m:ctrlPr>
                                                    <a:rPr lang="en-US" sz="2200" i="1" kern="1200">
                                                      <a:solidFill>
                                                        <a:schemeClr val="tx1"/>
                                                      </a:solidFill>
                                                      <a:effectLst/>
                                                      <a:latin typeface="Cambria Math" panose="02040503050406030204" pitchFamily="18" charset="0"/>
                                                      <a:ea typeface="+mn-ea"/>
                                                      <a:cs typeface="+mn-cs"/>
                                                    </a:rPr>
                                                  </m:ctrlPr>
                                                </m:sSubPr>
                                                <m:e>
                                                  <m:r>
                                                    <a:rPr lang="en-US" sz="2200" i="1" kern="1200">
                                                      <a:solidFill>
                                                        <a:schemeClr val="tx1"/>
                                                      </a:solidFill>
                                                      <a:effectLst/>
                                                      <a:latin typeface="Cambria Math" charset="0"/>
                                                      <a:ea typeface="+mn-ea"/>
                                                      <a:cs typeface="+mn-cs"/>
                                                    </a:rPr>
                                                    <m:t>𝑐</m:t>
                                                  </m:r>
                                                </m:e>
                                                <m:sub>
                                                  <m:r>
                                                    <a:rPr lang="en-US" sz="2200" i="1" kern="1200">
                                                      <a:solidFill>
                                                        <a:schemeClr val="tx1"/>
                                                      </a:solidFill>
                                                      <a:effectLst/>
                                                      <a:latin typeface="Cambria Math" charset="0"/>
                                                      <a:ea typeface="+mn-ea"/>
                                                      <a:cs typeface="+mn-cs"/>
                                                    </a:rPr>
                                                    <m:t>𝑖</m:t>
                                                  </m:r>
                                                </m:sub>
                                              </m:sSub>
                                            </m:e>
                                          </m:d>
                                        </m:e>
                                        <m:sup>
                                          <m:r>
                                            <a:rPr lang="en-US" sz="2200" i="1" kern="1200">
                                              <a:solidFill>
                                                <a:schemeClr val="tx1"/>
                                              </a:solidFill>
                                              <a:effectLst/>
                                              <a:latin typeface="Cambria Math" charset="0"/>
                                              <a:ea typeface="+mn-ea"/>
                                              <a:cs typeface="+mn-cs"/>
                                            </a:rPr>
                                            <m:t>2</m:t>
                                          </m:r>
                                        </m:sup>
                                      </m:sSup>
                                    </m:num>
                                    <m:den>
                                      <m:sSup>
                                        <m:sSupPr>
                                          <m:ctrlPr>
                                            <a:rPr lang="en-US" sz="2200" i="1" kern="1200">
                                              <a:solidFill>
                                                <a:schemeClr val="tx1"/>
                                              </a:solidFill>
                                              <a:effectLst/>
                                              <a:latin typeface="Cambria Math" panose="02040503050406030204" pitchFamily="18" charset="0"/>
                                              <a:ea typeface="+mn-ea"/>
                                              <a:cs typeface="+mn-cs"/>
                                            </a:rPr>
                                          </m:ctrlPr>
                                        </m:sSupPr>
                                        <m:e>
                                          <m:d>
                                            <m:dPr>
                                              <m:ctrlPr>
                                                <a:rPr lang="en-US" sz="2200" i="1" kern="1200">
                                                  <a:solidFill>
                                                    <a:schemeClr val="tx1"/>
                                                  </a:solidFill>
                                                  <a:effectLst/>
                                                  <a:latin typeface="Cambria Math" panose="02040503050406030204" pitchFamily="18" charset="0"/>
                                                  <a:ea typeface="+mn-ea"/>
                                                  <a:cs typeface="+mn-cs"/>
                                                </a:rPr>
                                              </m:ctrlPr>
                                            </m:dPr>
                                            <m:e>
                                              <m:r>
                                                <a:rPr lang="en-US" sz="2200" i="1" kern="1200">
                                                  <a:solidFill>
                                                    <a:schemeClr val="tx1"/>
                                                  </a:solidFill>
                                                  <a:effectLst/>
                                                  <a:latin typeface="Cambria Math" charset="0"/>
                                                  <a:ea typeface="+mn-ea"/>
                                                  <a:cs typeface="+mn-cs"/>
                                                </a:rPr>
                                                <m:t>1−</m:t>
                                              </m:r>
                                              <m:sSub>
                                                <m:sSubPr>
                                                  <m:ctrlPr>
                                                    <a:rPr lang="en-US" sz="2200" i="1" kern="1200">
                                                      <a:solidFill>
                                                        <a:schemeClr val="tx1"/>
                                                      </a:solidFill>
                                                      <a:effectLst/>
                                                      <a:latin typeface="Cambria Math" panose="02040503050406030204" pitchFamily="18" charset="0"/>
                                                      <a:ea typeface="+mn-ea"/>
                                                      <a:cs typeface="+mn-cs"/>
                                                    </a:rPr>
                                                  </m:ctrlPr>
                                                </m:sSubPr>
                                                <m:e>
                                                  <m:r>
                                                    <a:rPr lang="en-US" sz="2200" i="1" kern="1200">
                                                      <a:solidFill>
                                                        <a:schemeClr val="tx1"/>
                                                      </a:solidFill>
                                                      <a:effectLst/>
                                                      <a:latin typeface="Cambria Math" charset="0"/>
                                                      <a:ea typeface="+mn-ea"/>
                                                      <a:cs typeface="+mn-cs"/>
                                                    </a:rPr>
                                                    <m:t>𝑐</m:t>
                                                  </m:r>
                                                </m:e>
                                                <m:sub>
                                                  <m:r>
                                                    <a:rPr lang="en-US" sz="2200" i="1" kern="1200">
                                                      <a:solidFill>
                                                        <a:schemeClr val="tx1"/>
                                                      </a:solidFill>
                                                      <a:effectLst/>
                                                      <a:latin typeface="Cambria Math" charset="0"/>
                                                      <a:ea typeface="+mn-ea"/>
                                                      <a:cs typeface="+mn-cs"/>
                                                    </a:rPr>
                                                    <m:t>𝑖</m:t>
                                                  </m:r>
                                                </m:sub>
                                              </m:sSub>
                                            </m:e>
                                          </m:d>
                                        </m:e>
                                        <m:sup>
                                          <m:r>
                                            <a:rPr lang="en-US" sz="2200" i="1" kern="1200">
                                              <a:solidFill>
                                                <a:schemeClr val="tx1"/>
                                              </a:solidFill>
                                              <a:effectLst/>
                                              <a:latin typeface="Cambria Math" charset="0"/>
                                              <a:ea typeface="+mn-ea"/>
                                              <a:cs typeface="+mn-cs"/>
                                            </a:rPr>
                                            <m:t>2</m:t>
                                          </m:r>
                                        </m:sup>
                                      </m:sSup>
                                    </m:den>
                                  </m:f>
                                </m:e>
                              </m:d>
                            </m:oMath>
                          </a14:m>
                          <a:r>
                            <a:rPr lang="en-US" sz="2200" dirty="0">
                              <a:effectLst/>
                            </a:rPr>
                            <a:t> </a:t>
                          </a:r>
                          <a:endParaRPr lang="en-US" sz="2200" dirty="0"/>
                        </a:p>
                      </a:txBody>
                      <a:tcPr anchor="ctr"/>
                    </a:tc>
                    <a:tc>
                      <a:txBody>
                        <a:bodyPr/>
                        <a:lstStyle/>
                        <a:p>
                          <a:pPr algn="ctr"/>
                          <a:r>
                            <a:rPr lang="en-US" sz="2200" dirty="0"/>
                            <a:t>Maximized slightly above </a:t>
                          </a:r>
                          <a14:m>
                            <m:oMath xmlns:m="http://schemas.openxmlformats.org/officeDocument/2006/math">
                              <m:sSub>
                                <m:sSubPr>
                                  <m:ctrlPr>
                                    <a:rPr lang="en-US" sz="2200" b="0" i="1" smtClean="0">
                                      <a:latin typeface="Cambria Math" panose="02040503050406030204" pitchFamily="18" charset="0"/>
                                    </a:rPr>
                                  </m:ctrlPr>
                                </m:sSubPr>
                                <m:e>
                                  <m:r>
                                    <a:rPr lang="en-US" sz="2200" b="0" i="1" smtClean="0">
                                      <a:latin typeface="Cambria Math" charset="0"/>
                                    </a:rPr>
                                    <m:t>𝑏</m:t>
                                  </m:r>
                                </m:e>
                                <m:sub>
                                  <m:r>
                                    <a:rPr lang="en-US" sz="2200" b="0" i="1" smtClean="0">
                                      <a:latin typeface="Cambria Math" charset="0"/>
                                    </a:rPr>
                                    <m:t>𝑖</m:t>
                                  </m:r>
                                </m:sub>
                              </m:sSub>
                            </m:oMath>
                          </a14:m>
                          <a:endParaRPr lang="en-US" sz="2200" dirty="0"/>
                        </a:p>
                      </a:txBody>
                      <a:tcPr anchor="ctr"/>
                    </a:tc>
                    <a:extLst>
                      <a:ext uri="{0D108BD9-81ED-4DB2-BD59-A6C34878D82A}">
                        <a16:rowId xmlns:a16="http://schemas.microsoft.com/office/drawing/2014/main" val="10003"/>
                      </a:ext>
                    </a:extLst>
                  </a:tr>
                </a:tbl>
              </a:graphicData>
            </a:graphic>
          </p:graphicFrame>
        </mc:Choice>
        <mc:Fallback xmlns="">
          <p:graphicFrame>
            <p:nvGraphicFramePr>
              <p:cNvPr id="5" name="Content Placeholder 4"/>
              <p:cNvGraphicFramePr>
                <a:graphicFrameLocks noGrp="1"/>
              </p:cNvGraphicFramePr>
              <p:nvPr>
                <p:ph idx="1"/>
                <p:extLst>
                  <p:ext uri="{D42A27DB-BD31-4B8C-83A1-F6EECF244321}">
                    <p14:modId xmlns:p14="http://schemas.microsoft.com/office/powerpoint/2010/main" val="758330461"/>
                  </p:ext>
                </p:extLst>
              </p:nvPr>
            </p:nvGraphicFramePr>
            <p:xfrm>
              <a:off x="838200" y="1825623"/>
              <a:ext cx="10515601" cy="3399634"/>
            </p:xfrm>
            <a:graphic>
              <a:graphicData uri="http://schemas.openxmlformats.org/drawingml/2006/table">
                <a:tbl>
                  <a:tblPr firstRow="1" bandRow="1">
                    <a:tableStyleId>{5940675A-B579-460E-94D1-54222C63F5DA}</a:tableStyleId>
                  </a:tblPr>
                  <a:tblGrid>
                    <a:gridCol w="1834637">
                      <a:extLst>
                        <a:ext uri="{9D8B030D-6E8A-4147-A177-3AD203B41FA5}">
                          <a16:colId xmlns:a16="http://schemas.microsoft.com/office/drawing/2014/main" val="20000"/>
                        </a:ext>
                      </a:extLst>
                    </a:gridCol>
                    <a:gridCol w="4340482">
                      <a:extLst>
                        <a:ext uri="{9D8B030D-6E8A-4147-A177-3AD203B41FA5}">
                          <a16:colId xmlns:a16="http://schemas.microsoft.com/office/drawing/2014/main" val="20001"/>
                        </a:ext>
                      </a:extLst>
                    </a:gridCol>
                    <a:gridCol w="4340482">
                      <a:extLst>
                        <a:ext uri="{9D8B030D-6E8A-4147-A177-3AD203B41FA5}">
                          <a16:colId xmlns:a16="http://schemas.microsoft.com/office/drawing/2014/main" val="20002"/>
                        </a:ext>
                      </a:extLst>
                    </a:gridCol>
                  </a:tblGrid>
                  <a:tr h="549277">
                    <a:tc>
                      <a:txBody>
                        <a:bodyPr/>
                        <a:lstStyle/>
                        <a:p>
                          <a:pPr algn="ctr"/>
                          <a:r>
                            <a:rPr lang="en-US" sz="2200" dirty="0"/>
                            <a:t>Model</a:t>
                          </a:r>
                        </a:p>
                      </a:txBody>
                      <a:tcPr anchor="ctr"/>
                    </a:tc>
                    <a:tc>
                      <a:txBody>
                        <a:bodyPr/>
                        <a:lstStyle/>
                        <a:p>
                          <a:pPr algn="ctr"/>
                          <a:r>
                            <a:rPr lang="en-US" sz="2200" dirty="0"/>
                            <a:t>Item Info</a:t>
                          </a:r>
                        </a:p>
                      </a:txBody>
                      <a:tcPr anchor="ctr"/>
                    </a:tc>
                    <a:tc>
                      <a:txBody>
                        <a:bodyPr/>
                        <a:lstStyle/>
                        <a:p>
                          <a:pPr algn="ctr"/>
                          <a:r>
                            <a:rPr lang="en-US" sz="2200" dirty="0"/>
                            <a:t>Notes</a:t>
                          </a:r>
                        </a:p>
                      </a:txBody>
                      <a:tcPr anchor="ctr"/>
                    </a:tc>
                    <a:extLst>
                      <a:ext uri="{0D108BD9-81ED-4DB2-BD59-A6C34878D82A}">
                        <a16:rowId xmlns:a16="http://schemas.microsoft.com/office/drawing/2014/main" val="10000"/>
                      </a:ext>
                    </a:extLst>
                  </a:tr>
                  <a:tr h="950119">
                    <a:tc>
                      <a:txBody>
                        <a:bodyPr/>
                        <a:lstStyle/>
                        <a:p>
                          <a:pPr algn="ctr"/>
                          <a:r>
                            <a:rPr lang="en-US" sz="2200" dirty="0"/>
                            <a:t>1PL</a:t>
                          </a:r>
                        </a:p>
                      </a:txBody>
                      <a:tcPr anchor="ctr"/>
                    </a:tc>
                    <a:tc>
                      <a:txBody>
                        <a:bodyPr/>
                        <a:lstStyle/>
                        <a:p>
                          <a:endParaRPr lang="en-US"/>
                        </a:p>
                      </a:txBody>
                      <a:tcPr anchor="ctr">
                        <a:blipFill>
                          <a:blip r:embed="rId3"/>
                          <a:stretch>
                            <a:fillRect l="-42690" t="-56579" r="-100000" b="-197368"/>
                          </a:stretch>
                        </a:blipFill>
                      </a:tcPr>
                    </a:tc>
                    <a:tc>
                      <a:txBody>
                        <a:bodyPr/>
                        <a:lstStyle/>
                        <a:p>
                          <a:endParaRPr lang="en-US"/>
                        </a:p>
                      </a:txBody>
                      <a:tcPr anchor="ctr">
                        <a:blipFill>
                          <a:blip r:embed="rId3"/>
                          <a:stretch>
                            <a:fillRect l="-142690" t="-56579" b="-197368"/>
                          </a:stretch>
                        </a:blipFill>
                      </a:tcPr>
                    </a:tc>
                    <a:extLst>
                      <a:ext uri="{0D108BD9-81ED-4DB2-BD59-A6C34878D82A}">
                        <a16:rowId xmlns:a16="http://schemas.microsoft.com/office/drawing/2014/main" val="10001"/>
                      </a:ext>
                    </a:extLst>
                  </a:tr>
                  <a:tr h="950119">
                    <a:tc>
                      <a:txBody>
                        <a:bodyPr/>
                        <a:lstStyle/>
                        <a:p>
                          <a:pPr algn="ctr"/>
                          <a:r>
                            <a:rPr lang="en-US" sz="2200" dirty="0"/>
                            <a:t>2PL</a:t>
                          </a:r>
                        </a:p>
                      </a:txBody>
                      <a:tcPr anchor="ctr"/>
                    </a:tc>
                    <a:tc>
                      <a:txBody>
                        <a:bodyPr/>
                        <a:lstStyle/>
                        <a:p>
                          <a:endParaRPr lang="en-US"/>
                        </a:p>
                      </a:txBody>
                      <a:tcPr anchor="ctr">
                        <a:blipFill>
                          <a:blip r:embed="rId3"/>
                          <a:stretch>
                            <a:fillRect l="-42690" t="-158667" r="-100000" b="-100000"/>
                          </a:stretch>
                        </a:blipFill>
                      </a:tcPr>
                    </a:tc>
                    <a:tc>
                      <a:txBody>
                        <a:bodyPr/>
                        <a:lstStyle/>
                        <a:p>
                          <a:endParaRPr lang="en-US"/>
                        </a:p>
                      </a:txBody>
                      <a:tcPr anchor="ctr">
                        <a:blipFill>
                          <a:blip r:embed="rId3"/>
                          <a:stretch>
                            <a:fillRect l="-142690" t="-158667" b="-100000"/>
                          </a:stretch>
                        </a:blipFill>
                      </a:tcPr>
                    </a:tc>
                    <a:extLst>
                      <a:ext uri="{0D108BD9-81ED-4DB2-BD59-A6C34878D82A}">
                        <a16:rowId xmlns:a16="http://schemas.microsoft.com/office/drawing/2014/main" val="10002"/>
                      </a:ext>
                    </a:extLst>
                  </a:tr>
                  <a:tr h="950119">
                    <a:tc>
                      <a:txBody>
                        <a:bodyPr/>
                        <a:lstStyle/>
                        <a:p>
                          <a:pPr algn="ctr"/>
                          <a:r>
                            <a:rPr lang="en-US" sz="2200" dirty="0"/>
                            <a:t>3PL</a:t>
                          </a:r>
                        </a:p>
                      </a:txBody>
                      <a:tcPr anchor="ctr"/>
                    </a:tc>
                    <a:tc>
                      <a:txBody>
                        <a:bodyPr/>
                        <a:lstStyle/>
                        <a:p>
                          <a:endParaRPr lang="en-US"/>
                        </a:p>
                      </a:txBody>
                      <a:tcPr anchor="ctr">
                        <a:blipFill>
                          <a:blip r:embed="rId3"/>
                          <a:stretch>
                            <a:fillRect l="-42690" t="-258667" r="-100000"/>
                          </a:stretch>
                        </a:blipFill>
                      </a:tcPr>
                    </a:tc>
                    <a:tc>
                      <a:txBody>
                        <a:bodyPr/>
                        <a:lstStyle/>
                        <a:p>
                          <a:endParaRPr lang="en-US"/>
                        </a:p>
                      </a:txBody>
                      <a:tcPr anchor="ctr">
                        <a:blipFill>
                          <a:blip r:embed="rId3"/>
                          <a:stretch>
                            <a:fillRect l="-142690" t="-258667"/>
                          </a:stretch>
                        </a:blipFill>
                      </a:tcPr>
                    </a:tc>
                    <a:extLst>
                      <a:ext uri="{0D108BD9-81ED-4DB2-BD59-A6C34878D82A}">
                        <a16:rowId xmlns:a16="http://schemas.microsoft.com/office/drawing/2014/main" val="10003"/>
                      </a:ext>
                    </a:extLst>
                  </a:tr>
                </a:tbl>
              </a:graphicData>
            </a:graphic>
          </p:graphicFrame>
        </mc:Fallback>
      </mc:AlternateContent>
      <p:sp>
        <p:nvSpPr>
          <p:cNvPr id="3" name="Slide Number Placeholder 2">
            <a:extLst>
              <a:ext uri="{FF2B5EF4-FFF2-40B4-BE49-F238E27FC236}">
                <a16:creationId xmlns:a16="http://schemas.microsoft.com/office/drawing/2014/main" id="{11F2655F-7F1E-E14C-B948-434EBDF398E1}"/>
              </a:ext>
            </a:extLst>
          </p:cNvPr>
          <p:cNvSpPr>
            <a:spLocks noGrp="1"/>
          </p:cNvSpPr>
          <p:nvPr>
            <p:ph type="sldNum" sz="quarter" idx="12"/>
          </p:nvPr>
        </p:nvSpPr>
        <p:spPr/>
        <p:txBody>
          <a:bodyPr/>
          <a:lstStyle/>
          <a:p>
            <a:fld id="{0B97A0ED-0713-854E-AE67-C1B678B4A72A}" type="slidenum">
              <a:rPr lang="en-US" smtClean="0"/>
              <a:t>8</a:t>
            </a:fld>
            <a:endParaRPr lang="en-US"/>
          </a:p>
        </p:txBody>
      </p:sp>
    </p:spTree>
    <p:extLst>
      <p:ext uri="{BB962C8B-B14F-4D97-AF65-F5344CB8AC3E}">
        <p14:creationId xmlns:p14="http://schemas.microsoft.com/office/powerpoint/2010/main" val="37348961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The Test Information Function</a:t>
            </a:r>
          </a:p>
        </p:txBody>
      </p:sp>
      <mc:AlternateContent xmlns:mc="http://schemas.openxmlformats.org/markup-compatibility/2006" xmlns:a14="http://schemas.microsoft.com/office/drawing/2010/main">
        <mc:Choice Requires="a14">
          <p:sp>
            <p:nvSpPr>
              <p:cNvPr id="3" name="Content Placeholder 2"/>
              <p:cNvSpPr>
                <a:spLocks noGrp="1"/>
              </p:cNvSpPr>
              <p:nvPr>
                <p:ph idx="1"/>
              </p:nvPr>
            </p:nvSpPr>
            <p:spPr/>
            <p:txBody>
              <a:bodyPr>
                <a:normAutofit fontScale="92500" lnSpcReduction="10000"/>
              </a:bodyPr>
              <a:lstStyle/>
              <a:p>
                <a:r>
                  <a:rPr lang="en-US" dirty="0"/>
                  <a:t>The test information function can be calculated by summing the item information functions.</a:t>
                </a:r>
              </a:p>
              <a:p>
                <a:pPr marL="0" indent="0">
                  <a:buNone/>
                </a:pPr>
                <a14:m>
                  <m:oMathPara xmlns:m="http://schemas.openxmlformats.org/officeDocument/2006/math">
                    <m:oMathParaPr>
                      <m:jc m:val="centerGroup"/>
                    </m:oMathParaPr>
                    <m:oMath xmlns:m="http://schemas.openxmlformats.org/officeDocument/2006/math">
                      <m:r>
                        <a:rPr lang="en-US" b="0" i="1" smtClean="0">
                          <a:latin typeface="Cambria Math" charset="0"/>
                        </a:rPr>
                        <m:t>𝐼</m:t>
                      </m:r>
                      <m:d>
                        <m:dPr>
                          <m:ctrlPr>
                            <a:rPr lang="en-US" b="0" i="1" smtClean="0">
                              <a:latin typeface="Cambria Math" panose="02040503050406030204" pitchFamily="18" charset="0"/>
                            </a:rPr>
                          </m:ctrlPr>
                        </m:dPr>
                        <m:e>
                          <m:r>
                            <a:rPr lang="en-US" b="0" i="1" smtClean="0">
                              <a:latin typeface="Cambria Math" charset="0"/>
                            </a:rPr>
                            <m:t>𝜃</m:t>
                          </m:r>
                        </m:e>
                      </m:d>
                      <m:r>
                        <a:rPr lang="en-US" b="0" i="1" smtClean="0">
                          <a:latin typeface="Cambria Math" charset="0"/>
                        </a:rPr>
                        <m:t>=</m:t>
                      </m:r>
                      <m:nary>
                        <m:naryPr>
                          <m:chr m:val="∑"/>
                          <m:ctrlPr>
                            <a:rPr lang="is-IS" b="0" i="1" smtClean="0">
                              <a:latin typeface="Cambria Math" panose="02040503050406030204" pitchFamily="18" charset="0"/>
                            </a:rPr>
                          </m:ctrlPr>
                        </m:naryPr>
                        <m:sub>
                          <m:r>
                            <m:rPr>
                              <m:brk m:alnAt="23"/>
                            </m:rPr>
                            <a:rPr lang="en-US" b="0" i="1" smtClean="0">
                              <a:latin typeface="Cambria Math" charset="0"/>
                            </a:rPr>
                            <m:t>𝑖</m:t>
                          </m:r>
                          <m:r>
                            <a:rPr lang="en-US" b="0" i="1" smtClean="0">
                              <a:latin typeface="Cambria Math" charset="0"/>
                            </a:rPr>
                            <m:t>=1</m:t>
                          </m:r>
                        </m:sub>
                        <m:sup>
                          <m:r>
                            <a:rPr lang="en-US" b="0" i="1" smtClean="0">
                              <a:latin typeface="Cambria Math" charset="0"/>
                            </a:rPr>
                            <m:t>𝐼</m:t>
                          </m:r>
                        </m:sup>
                        <m:e>
                          <m:sSub>
                            <m:sSubPr>
                              <m:ctrlPr>
                                <a:rPr lang="en-US" b="0" i="1" smtClean="0">
                                  <a:latin typeface="Cambria Math" panose="02040503050406030204" pitchFamily="18" charset="0"/>
                                </a:rPr>
                              </m:ctrlPr>
                            </m:sSubPr>
                            <m:e>
                              <m:r>
                                <a:rPr lang="en-US" b="0" i="1" smtClean="0">
                                  <a:latin typeface="Cambria Math" charset="0"/>
                                </a:rPr>
                                <m:t>𝐼</m:t>
                              </m:r>
                            </m:e>
                            <m:sub>
                              <m:r>
                                <a:rPr lang="en-US" b="0" i="1" smtClean="0">
                                  <a:latin typeface="Cambria Math" charset="0"/>
                                </a:rPr>
                                <m:t>𝑖</m:t>
                              </m:r>
                            </m:sub>
                          </m:sSub>
                          <m:d>
                            <m:dPr>
                              <m:ctrlPr>
                                <a:rPr lang="en-US" b="0" i="1" smtClean="0">
                                  <a:latin typeface="Cambria Math" panose="02040503050406030204" pitchFamily="18" charset="0"/>
                                </a:rPr>
                              </m:ctrlPr>
                            </m:dPr>
                            <m:e>
                              <m:r>
                                <a:rPr lang="en-US" b="0" i="1" smtClean="0">
                                  <a:latin typeface="Cambria Math" charset="0"/>
                                </a:rPr>
                                <m:t>𝜃</m:t>
                              </m:r>
                            </m:e>
                          </m:d>
                        </m:e>
                      </m:nary>
                    </m:oMath>
                  </m:oMathPara>
                </a14:m>
                <a:endParaRPr lang="en-US" b="0" dirty="0"/>
              </a:p>
              <a:p>
                <a:r>
                  <a:rPr lang="en-US" dirty="0"/>
                  <a:t>It turns out that the standard error of measurement for theta is equal to:</a:t>
                </a:r>
              </a:p>
              <a:p>
                <a:pPr marL="0" indent="0">
                  <a:buNone/>
                </a:pPr>
                <a14:m>
                  <m:oMathPara xmlns:m="http://schemas.openxmlformats.org/officeDocument/2006/math">
                    <m:oMathParaPr>
                      <m:jc m:val="centerGroup"/>
                    </m:oMathParaPr>
                    <m:oMath xmlns:m="http://schemas.openxmlformats.org/officeDocument/2006/math">
                      <m:r>
                        <a:rPr lang="en-US" b="0" i="1" smtClean="0">
                          <a:latin typeface="Cambria Math" charset="0"/>
                        </a:rPr>
                        <m:t>𝑆𝐸𝑀</m:t>
                      </m:r>
                      <m:d>
                        <m:dPr>
                          <m:ctrlPr>
                            <a:rPr lang="en-US" b="0" i="1" smtClean="0">
                              <a:latin typeface="Cambria Math" panose="02040503050406030204" pitchFamily="18" charset="0"/>
                            </a:rPr>
                          </m:ctrlPr>
                        </m:dPr>
                        <m:e>
                          <m:r>
                            <a:rPr lang="en-US" b="0" i="1" smtClean="0">
                              <a:latin typeface="Cambria Math" charset="0"/>
                            </a:rPr>
                            <m:t>𝜃</m:t>
                          </m:r>
                        </m:e>
                      </m:d>
                      <m:r>
                        <a:rPr lang="en-US" b="0" i="1" smtClean="0">
                          <a:latin typeface="Cambria Math" charset="0"/>
                        </a:rPr>
                        <m:t>=</m:t>
                      </m:r>
                      <m:f>
                        <m:fPr>
                          <m:ctrlPr>
                            <a:rPr lang="en-US" b="0" i="1" smtClean="0">
                              <a:latin typeface="Cambria Math" panose="02040503050406030204" pitchFamily="18" charset="0"/>
                            </a:rPr>
                          </m:ctrlPr>
                        </m:fPr>
                        <m:num>
                          <m:r>
                            <a:rPr lang="en-US" b="0" i="1" smtClean="0">
                              <a:latin typeface="Cambria Math" charset="0"/>
                            </a:rPr>
                            <m:t>1</m:t>
                          </m:r>
                        </m:num>
                        <m:den>
                          <m:rad>
                            <m:radPr>
                              <m:degHide m:val="on"/>
                              <m:ctrlPr>
                                <a:rPr lang="en-US" b="0" i="1" smtClean="0">
                                  <a:latin typeface="Cambria Math" panose="02040503050406030204" pitchFamily="18" charset="0"/>
                                </a:rPr>
                              </m:ctrlPr>
                            </m:radPr>
                            <m:deg/>
                            <m:e>
                              <m:r>
                                <a:rPr lang="en-US" b="0" i="1" smtClean="0">
                                  <a:latin typeface="Cambria Math" charset="0"/>
                                </a:rPr>
                                <m:t>𝐼</m:t>
                              </m:r>
                              <m:d>
                                <m:dPr>
                                  <m:ctrlPr>
                                    <a:rPr lang="en-US" b="0" i="1" smtClean="0">
                                      <a:latin typeface="Cambria Math" panose="02040503050406030204" pitchFamily="18" charset="0"/>
                                    </a:rPr>
                                  </m:ctrlPr>
                                </m:dPr>
                                <m:e>
                                  <m:r>
                                    <a:rPr lang="en-US" b="0" i="1" smtClean="0">
                                      <a:latin typeface="Cambria Math" charset="0"/>
                                    </a:rPr>
                                    <m:t>𝜃</m:t>
                                  </m:r>
                                </m:e>
                              </m:d>
                            </m:e>
                          </m:rad>
                        </m:den>
                      </m:f>
                    </m:oMath>
                  </m:oMathPara>
                </a14:m>
                <a:endParaRPr lang="en-US" dirty="0"/>
              </a:p>
              <a:p>
                <a:r>
                  <a:rPr lang="en-US" dirty="0"/>
                  <a:t>We will learn more about this later.</a:t>
                </a:r>
              </a:p>
              <a:p>
                <a:r>
                  <a:rPr lang="en-US" dirty="0"/>
                  <a:t>For now, note that as information </a:t>
                </a:r>
                <a:r>
                  <a:rPr lang="en-US" b="1" u="sng" dirty="0"/>
                  <a:t>increases</a:t>
                </a:r>
                <a:r>
                  <a:rPr lang="en-US" dirty="0"/>
                  <a:t>, the SEM will </a:t>
                </a:r>
                <a:r>
                  <a:rPr lang="en-US" b="1" u="sng" dirty="0"/>
                  <a:t>decrease</a:t>
                </a:r>
                <a:r>
                  <a:rPr lang="en-US" dirty="0"/>
                  <a:t>.</a:t>
                </a:r>
              </a:p>
              <a:p>
                <a:r>
                  <a:rPr lang="en-US" dirty="0"/>
                  <a:t>Also note that the </a:t>
                </a:r>
                <a14:m>
                  <m:oMath xmlns:m="http://schemas.openxmlformats.org/officeDocument/2006/math">
                    <m:r>
                      <a:rPr lang="en-US" b="0" i="1" smtClean="0">
                        <a:latin typeface="Cambria Math" charset="0"/>
                      </a:rPr>
                      <m:t>𝑆𝐸𝑀</m:t>
                    </m:r>
                    <m:d>
                      <m:dPr>
                        <m:ctrlPr>
                          <a:rPr lang="en-US" b="0" i="1" smtClean="0">
                            <a:latin typeface="Cambria Math" panose="02040503050406030204" pitchFamily="18" charset="0"/>
                          </a:rPr>
                        </m:ctrlPr>
                      </m:dPr>
                      <m:e>
                        <m:r>
                          <a:rPr lang="en-US" b="0" i="1" smtClean="0">
                            <a:latin typeface="Cambria Math" charset="0"/>
                          </a:rPr>
                          <m:t>𝜃</m:t>
                        </m:r>
                      </m:e>
                    </m:d>
                  </m:oMath>
                </a14:m>
                <a:r>
                  <a:rPr lang="en-US" dirty="0"/>
                  <a:t> will vary across the theta distribution.</a:t>
                </a:r>
              </a:p>
            </p:txBody>
          </p:sp>
        </mc:Choice>
        <mc:Fallback xmlns="">
          <p:sp>
            <p:nvSpPr>
              <p:cNvPr id="3" name="Content Placeholder 2"/>
              <p:cNvSpPr>
                <a:spLocks noGrp="1" noRot="1" noChangeAspect="1" noMove="1" noResize="1" noEditPoints="1" noAdjustHandles="1" noChangeArrowheads="1" noChangeShapeType="1" noTextEdit="1"/>
              </p:cNvSpPr>
              <p:nvPr>
                <p:ph idx="1"/>
              </p:nvPr>
            </p:nvSpPr>
            <p:spPr>
              <a:blipFill rotWithShape="0">
                <a:blip r:embed="rId2"/>
                <a:stretch>
                  <a:fillRect l="-928" t="-2801" b="-3221"/>
                </a:stretch>
              </a:blipFill>
            </p:spPr>
            <p:txBody>
              <a:bodyPr/>
              <a:lstStyle/>
              <a:p>
                <a:r>
                  <a:rPr lang="en-US">
                    <a:noFill/>
                  </a:rPr>
                  <a:t> </a:t>
                </a:r>
              </a:p>
            </p:txBody>
          </p:sp>
        </mc:Fallback>
      </mc:AlternateContent>
      <p:sp>
        <p:nvSpPr>
          <p:cNvPr id="5" name="Slide Number Placeholder 4">
            <a:extLst>
              <a:ext uri="{FF2B5EF4-FFF2-40B4-BE49-F238E27FC236}">
                <a16:creationId xmlns:a16="http://schemas.microsoft.com/office/drawing/2014/main" id="{1F99D9C8-3783-9240-AE05-326D13DA856B}"/>
              </a:ext>
            </a:extLst>
          </p:cNvPr>
          <p:cNvSpPr>
            <a:spLocks noGrp="1"/>
          </p:cNvSpPr>
          <p:nvPr>
            <p:ph type="sldNum" sz="quarter" idx="12"/>
          </p:nvPr>
        </p:nvSpPr>
        <p:spPr/>
        <p:txBody>
          <a:bodyPr/>
          <a:lstStyle/>
          <a:p>
            <a:fld id="{0B97A0ED-0713-854E-AE67-C1B678B4A72A}" type="slidenum">
              <a:rPr lang="en-US" smtClean="0"/>
              <a:t>9</a:t>
            </a:fld>
            <a:endParaRPr lang="en-US"/>
          </a:p>
        </p:txBody>
      </p:sp>
    </p:spTree>
    <p:extLst>
      <p:ext uri="{BB962C8B-B14F-4D97-AF65-F5344CB8AC3E}">
        <p14:creationId xmlns:p14="http://schemas.microsoft.com/office/powerpoint/2010/main" val="1497111286"/>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Item and Test Info for the three-item-test</a:t>
            </a:r>
          </a:p>
        </p:txBody>
      </p:sp>
      <p:graphicFrame>
        <p:nvGraphicFramePr>
          <p:cNvPr id="5" name="Chart 4"/>
          <p:cNvGraphicFramePr>
            <a:graphicFrameLocks/>
          </p:cNvGraphicFramePr>
          <p:nvPr>
            <p:extLst>
              <p:ext uri="{D42A27DB-BD31-4B8C-83A1-F6EECF244321}">
                <p14:modId xmlns:p14="http://schemas.microsoft.com/office/powerpoint/2010/main" val="1286545554"/>
              </p:ext>
            </p:extLst>
          </p:nvPr>
        </p:nvGraphicFramePr>
        <p:xfrm>
          <a:off x="838200" y="1816352"/>
          <a:ext cx="8305800" cy="4411512"/>
        </p:xfrm>
        <a:graphic>
          <a:graphicData uri="http://schemas.openxmlformats.org/drawingml/2006/chart">
            <c:chart xmlns:c="http://schemas.openxmlformats.org/drawingml/2006/chart" xmlns:r="http://schemas.openxmlformats.org/officeDocument/2006/relationships" r:id="rId2"/>
          </a:graphicData>
        </a:graphic>
      </p:graphicFrame>
      <p:sp>
        <p:nvSpPr>
          <p:cNvPr id="3" name="Slide Number Placeholder 2">
            <a:extLst>
              <a:ext uri="{FF2B5EF4-FFF2-40B4-BE49-F238E27FC236}">
                <a16:creationId xmlns:a16="http://schemas.microsoft.com/office/drawing/2014/main" id="{5E8DFA28-F5F7-BE46-87CF-5638A6D22E86}"/>
              </a:ext>
            </a:extLst>
          </p:cNvPr>
          <p:cNvSpPr>
            <a:spLocks noGrp="1"/>
          </p:cNvSpPr>
          <p:nvPr>
            <p:ph type="sldNum" sz="quarter" idx="12"/>
          </p:nvPr>
        </p:nvSpPr>
        <p:spPr/>
        <p:txBody>
          <a:bodyPr/>
          <a:lstStyle/>
          <a:p>
            <a:fld id="{0B97A0ED-0713-854E-AE67-C1B678B4A72A}" type="slidenum">
              <a:rPr lang="en-US" smtClean="0"/>
              <a:t>10</a:t>
            </a:fld>
            <a:endParaRPr lang="en-US"/>
          </a:p>
        </p:txBody>
      </p:sp>
    </p:spTree>
    <p:extLst>
      <p:ext uri="{BB962C8B-B14F-4D97-AF65-F5344CB8AC3E}">
        <p14:creationId xmlns:p14="http://schemas.microsoft.com/office/powerpoint/2010/main" val="1976075221"/>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B034127-4E40-305E-B55D-566CF94A734A}"/>
              </a:ext>
            </a:extLst>
          </p:cNvPr>
          <p:cNvSpPr>
            <a:spLocks noGrp="1"/>
          </p:cNvSpPr>
          <p:nvPr>
            <p:ph type="title"/>
          </p:nvPr>
        </p:nvSpPr>
        <p:spPr/>
        <p:txBody>
          <a:bodyPr/>
          <a:lstStyle/>
          <a:p>
            <a:r>
              <a:rPr lang="en-US"/>
              <a:t>Comparing Test and SEM Functions</a:t>
            </a:r>
          </a:p>
        </p:txBody>
      </p:sp>
      <p:pic>
        <p:nvPicPr>
          <p:cNvPr id="6" name="Content Placeholder 5" descr="A graph with lines and dots&#10;&#10;AI-generated content may be incorrect.">
            <a:extLst>
              <a:ext uri="{FF2B5EF4-FFF2-40B4-BE49-F238E27FC236}">
                <a16:creationId xmlns:a16="http://schemas.microsoft.com/office/drawing/2014/main" id="{B1647C58-1E53-490B-7E77-0A68EAB56262}"/>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1084937" y="1618845"/>
            <a:ext cx="6402540" cy="5102630"/>
          </a:xfrm>
        </p:spPr>
      </p:pic>
      <p:sp>
        <p:nvSpPr>
          <p:cNvPr id="4" name="Slide Number Placeholder 3">
            <a:extLst>
              <a:ext uri="{FF2B5EF4-FFF2-40B4-BE49-F238E27FC236}">
                <a16:creationId xmlns:a16="http://schemas.microsoft.com/office/drawing/2014/main" id="{1FDF2EC2-DA5B-803C-2F0B-C4772A7F9EA8}"/>
              </a:ext>
            </a:extLst>
          </p:cNvPr>
          <p:cNvSpPr>
            <a:spLocks noGrp="1"/>
          </p:cNvSpPr>
          <p:nvPr>
            <p:ph type="sldNum" sz="quarter" idx="12"/>
          </p:nvPr>
        </p:nvSpPr>
        <p:spPr/>
        <p:txBody>
          <a:bodyPr/>
          <a:lstStyle/>
          <a:p>
            <a:fld id="{0B97A0ED-0713-854E-AE67-C1B678B4A72A}" type="slidenum">
              <a:rPr lang="en-US" smtClean="0"/>
              <a:t>11</a:t>
            </a:fld>
            <a:endParaRPr lang="en-US"/>
          </a:p>
        </p:txBody>
      </p:sp>
      <p:sp>
        <p:nvSpPr>
          <p:cNvPr id="7" name="TextBox 6">
            <a:extLst>
              <a:ext uri="{FF2B5EF4-FFF2-40B4-BE49-F238E27FC236}">
                <a16:creationId xmlns:a16="http://schemas.microsoft.com/office/drawing/2014/main" id="{CA366EFF-EDD5-55FF-4486-C1827BA91FD7}"/>
              </a:ext>
            </a:extLst>
          </p:cNvPr>
          <p:cNvSpPr txBox="1"/>
          <p:nvPr/>
        </p:nvSpPr>
        <p:spPr>
          <a:xfrm>
            <a:off x="8070574" y="2067339"/>
            <a:ext cx="3167269" cy="4216539"/>
          </a:xfrm>
          <a:prstGeom prst="rect">
            <a:avLst/>
          </a:prstGeom>
          <a:noFill/>
        </p:spPr>
        <p:txBody>
          <a:bodyPr wrap="square" rtlCol="0">
            <a:spAutoFit/>
          </a:bodyPr>
          <a:lstStyle/>
          <a:p>
            <a:r>
              <a:rPr lang="en-US"/>
              <a:t>See “Test_info_SEM_Fcns.R”</a:t>
            </a:r>
          </a:p>
          <a:p>
            <a:endParaRPr lang="en-US"/>
          </a:p>
          <a:p>
            <a:r>
              <a:rPr lang="en-US"/>
              <a:t>Script created using following prompt to ChatGPT 5.2</a:t>
            </a:r>
          </a:p>
          <a:p>
            <a:endParaRPr lang="en-US"/>
          </a:p>
          <a:p>
            <a:r>
              <a:rPr lang="en-US" sz="1600" i="1"/>
              <a:t>The tab labelled "threeitems" in the uploaded spreadsheet contains the item parameters for three test items that were fit to the 3PL IRT model. Use R to produce a plot that shows the test information function and SEM function for this three item test. The left axis of the plot should show information units, the righthand side logits for SEM units.</a:t>
            </a:r>
          </a:p>
          <a:p>
            <a:endParaRPr lang="en-US"/>
          </a:p>
        </p:txBody>
      </p:sp>
    </p:spTree>
    <p:extLst>
      <p:ext uri="{BB962C8B-B14F-4D97-AF65-F5344CB8AC3E}">
        <p14:creationId xmlns:p14="http://schemas.microsoft.com/office/powerpoint/2010/main" val="1920103563"/>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BAD9DCA-D052-AC08-DA31-891ADEFFFC60}"/>
              </a:ext>
            </a:extLst>
          </p:cNvPr>
          <p:cNvSpPr>
            <a:spLocks noGrp="1"/>
          </p:cNvSpPr>
          <p:nvPr>
            <p:ph type="title"/>
          </p:nvPr>
        </p:nvSpPr>
        <p:spPr/>
        <p:txBody>
          <a:bodyPr/>
          <a:lstStyle/>
          <a:p>
            <a:r>
              <a:rPr lang="en-US"/>
              <a:t>A Crib Sheet for Test Info values…</a:t>
            </a:r>
          </a:p>
        </p:txBody>
      </p:sp>
      <p:sp>
        <p:nvSpPr>
          <p:cNvPr id="4" name="Slide Number Placeholder 3">
            <a:extLst>
              <a:ext uri="{FF2B5EF4-FFF2-40B4-BE49-F238E27FC236}">
                <a16:creationId xmlns:a16="http://schemas.microsoft.com/office/drawing/2014/main" id="{DA057E3F-5D25-3BA2-35EC-C9B7FA2AAAE9}"/>
              </a:ext>
            </a:extLst>
          </p:cNvPr>
          <p:cNvSpPr>
            <a:spLocks noGrp="1"/>
          </p:cNvSpPr>
          <p:nvPr>
            <p:ph type="sldNum" sz="quarter" idx="12"/>
          </p:nvPr>
        </p:nvSpPr>
        <p:spPr/>
        <p:txBody>
          <a:bodyPr/>
          <a:lstStyle/>
          <a:p>
            <a:fld id="{0B97A0ED-0713-854E-AE67-C1B678B4A72A}" type="slidenum">
              <a:rPr lang="en-US" smtClean="0"/>
              <a:t>12</a:t>
            </a:fld>
            <a:endParaRPr lang="en-US"/>
          </a:p>
        </p:txBody>
      </p:sp>
      <p:pic>
        <p:nvPicPr>
          <p:cNvPr id="5" name="Picture 4">
            <a:extLst>
              <a:ext uri="{FF2B5EF4-FFF2-40B4-BE49-F238E27FC236}">
                <a16:creationId xmlns:a16="http://schemas.microsoft.com/office/drawing/2014/main" id="{47C40F9E-46E1-C78E-71AC-03266D7CA253}"/>
              </a:ext>
            </a:extLst>
          </p:cNvPr>
          <p:cNvPicPr>
            <a:picLocks noChangeAspect="1"/>
          </p:cNvPicPr>
          <p:nvPr/>
        </p:nvPicPr>
        <p:blipFill>
          <a:blip r:embed="rId2"/>
          <a:stretch>
            <a:fillRect/>
          </a:stretch>
        </p:blipFill>
        <p:spPr>
          <a:xfrm>
            <a:off x="1181865" y="1825128"/>
            <a:ext cx="6666141" cy="4146014"/>
          </a:xfrm>
          <a:prstGeom prst="rect">
            <a:avLst/>
          </a:prstGeom>
        </p:spPr>
      </p:pic>
      <p:sp>
        <p:nvSpPr>
          <p:cNvPr id="6" name="TextBox 5">
            <a:extLst>
              <a:ext uri="{FF2B5EF4-FFF2-40B4-BE49-F238E27FC236}">
                <a16:creationId xmlns:a16="http://schemas.microsoft.com/office/drawing/2014/main" id="{63B58CC7-A94B-6E4F-C8D5-3D5809D84788}"/>
              </a:ext>
            </a:extLst>
          </p:cNvPr>
          <p:cNvSpPr txBox="1"/>
          <p:nvPr/>
        </p:nvSpPr>
        <p:spPr>
          <a:xfrm>
            <a:off x="7689774" y="2882472"/>
            <a:ext cx="3503364" cy="2031325"/>
          </a:xfrm>
          <a:prstGeom prst="rect">
            <a:avLst/>
          </a:prstGeom>
          <a:noFill/>
        </p:spPr>
        <p:txBody>
          <a:bodyPr wrap="square" rtlCol="0">
            <a:spAutoFit/>
          </a:bodyPr>
          <a:lstStyle/>
          <a:p>
            <a:r>
              <a:rPr lang="en-US"/>
              <a:t>It’s typically the case that the SD of the theta distribution is constrained to be 1. In most large-scale standardized tests, we expect to have information at most locations of the theta that is at least = 9 or about .3. </a:t>
            </a:r>
          </a:p>
        </p:txBody>
      </p:sp>
    </p:spTree>
    <p:extLst>
      <p:ext uri="{BB962C8B-B14F-4D97-AF65-F5344CB8AC3E}">
        <p14:creationId xmlns:p14="http://schemas.microsoft.com/office/powerpoint/2010/main" val="3261491416"/>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Using Test and Item Information Practically</a:t>
            </a:r>
          </a:p>
        </p:txBody>
      </p:sp>
      <p:sp>
        <p:nvSpPr>
          <p:cNvPr id="3" name="Content Placeholder 2"/>
          <p:cNvSpPr>
            <a:spLocks noGrp="1"/>
          </p:cNvSpPr>
          <p:nvPr>
            <p:ph idx="1"/>
          </p:nvPr>
        </p:nvSpPr>
        <p:spPr/>
        <p:txBody>
          <a:bodyPr/>
          <a:lstStyle/>
          <a:p>
            <a:r>
              <a:rPr lang="en-US" dirty="0"/>
              <a:t>Item information and test information are especially useful for constructing tests.</a:t>
            </a:r>
          </a:p>
          <a:p>
            <a:r>
              <a:rPr lang="en-US" dirty="0"/>
              <a:t>Can use item and test information to predict SEM of theta scores.</a:t>
            </a:r>
          </a:p>
          <a:p>
            <a:r>
              <a:rPr lang="en-US" dirty="0"/>
              <a:t>Can selectively increase information at different points in the theta distribution.</a:t>
            </a:r>
          </a:p>
          <a:p>
            <a:endParaRPr lang="en-US" dirty="0"/>
          </a:p>
        </p:txBody>
      </p:sp>
      <p:sp>
        <p:nvSpPr>
          <p:cNvPr id="5" name="Slide Number Placeholder 4">
            <a:extLst>
              <a:ext uri="{FF2B5EF4-FFF2-40B4-BE49-F238E27FC236}">
                <a16:creationId xmlns:a16="http://schemas.microsoft.com/office/drawing/2014/main" id="{6B668710-9FE2-CF4F-A94F-99D256B20E8C}"/>
              </a:ext>
            </a:extLst>
          </p:cNvPr>
          <p:cNvSpPr>
            <a:spLocks noGrp="1"/>
          </p:cNvSpPr>
          <p:nvPr>
            <p:ph type="sldNum" sz="quarter" idx="12"/>
          </p:nvPr>
        </p:nvSpPr>
        <p:spPr/>
        <p:txBody>
          <a:bodyPr/>
          <a:lstStyle/>
          <a:p>
            <a:fld id="{0B97A0ED-0713-854E-AE67-C1B678B4A72A}" type="slidenum">
              <a:rPr lang="en-US" smtClean="0"/>
              <a:t>13</a:t>
            </a:fld>
            <a:endParaRPr lang="en-US"/>
          </a:p>
        </p:txBody>
      </p:sp>
    </p:spTree>
    <p:extLst>
      <p:ext uri="{BB962C8B-B14F-4D97-AF65-F5344CB8AC3E}">
        <p14:creationId xmlns:p14="http://schemas.microsoft.com/office/powerpoint/2010/main" val="1463070951"/>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p:cNvSpPr>
            <a:spLocks noGrp="1"/>
          </p:cNvSpPr>
          <p:nvPr>
            <p:ph type="title"/>
          </p:nvPr>
        </p:nvSpPr>
        <p:spPr/>
        <p:txBody>
          <a:bodyPr>
            <a:normAutofit/>
          </a:bodyPr>
          <a:lstStyle/>
          <a:p>
            <a:r>
              <a:rPr lang="en-US" b="1" dirty="0"/>
              <a:t>Practice using </a:t>
            </a:r>
            <a:r>
              <a:rPr lang="en-US" b="1" dirty="0">
                <a:latin typeface="Courier New" panose="02070309020205020404" pitchFamily="49" charset="0"/>
                <a:cs typeface="Courier New" panose="02070309020205020404" pitchFamily="49" charset="0"/>
              </a:rPr>
              <a:t>mirt</a:t>
            </a:r>
            <a:r>
              <a:rPr lang="en-US" b="1" dirty="0"/>
              <a:t> with Real Data</a:t>
            </a:r>
          </a:p>
        </p:txBody>
      </p:sp>
      <p:sp>
        <p:nvSpPr>
          <p:cNvPr id="6" name="Content Placeholder 5"/>
          <p:cNvSpPr>
            <a:spLocks noGrp="1"/>
          </p:cNvSpPr>
          <p:nvPr>
            <p:ph idx="1"/>
          </p:nvPr>
        </p:nvSpPr>
        <p:spPr/>
        <p:txBody>
          <a:bodyPr/>
          <a:lstStyle/>
          <a:p>
            <a:endParaRPr lang="en-US" dirty="0"/>
          </a:p>
          <a:p>
            <a:endParaRPr lang="en-US" dirty="0"/>
          </a:p>
          <a:p>
            <a:r>
              <a:rPr lang="en-US" dirty="0"/>
              <a:t>Let’s use mirt to produce a TCC, Item and Test Information Functions and an SEM Function with our Form A Data</a:t>
            </a:r>
          </a:p>
          <a:p>
            <a:r>
              <a:rPr lang="en-US" dirty="0"/>
              <a:t>Go to ”part 4” of the R Markdown file “TCC_Information_SEM.html”</a:t>
            </a:r>
          </a:p>
          <a:p>
            <a:r>
              <a:rPr lang="en-US" dirty="0"/>
              <a:t>Makes use of the </a:t>
            </a:r>
            <a:r>
              <a:rPr lang="en-US" dirty="0" err="1"/>
              <a:t>mirt</a:t>
            </a:r>
            <a:r>
              <a:rPr lang="en-US" dirty="0"/>
              <a:t>() package in R.</a:t>
            </a:r>
          </a:p>
        </p:txBody>
      </p:sp>
      <p:sp>
        <p:nvSpPr>
          <p:cNvPr id="2" name="Slide Number Placeholder 1">
            <a:extLst>
              <a:ext uri="{FF2B5EF4-FFF2-40B4-BE49-F238E27FC236}">
                <a16:creationId xmlns:a16="http://schemas.microsoft.com/office/drawing/2014/main" id="{AF907ADE-88A1-C046-8EB0-4F5C6BD39BD7}"/>
              </a:ext>
            </a:extLst>
          </p:cNvPr>
          <p:cNvSpPr>
            <a:spLocks noGrp="1"/>
          </p:cNvSpPr>
          <p:nvPr>
            <p:ph type="sldNum" sz="quarter" idx="12"/>
          </p:nvPr>
        </p:nvSpPr>
        <p:spPr/>
        <p:txBody>
          <a:bodyPr/>
          <a:lstStyle/>
          <a:p>
            <a:fld id="{0B97A0ED-0713-854E-AE67-C1B678B4A72A}" type="slidenum">
              <a:rPr lang="en-US" smtClean="0"/>
              <a:t>14</a:t>
            </a:fld>
            <a:endParaRPr lang="en-US"/>
          </a:p>
        </p:txBody>
      </p:sp>
    </p:spTree>
    <p:extLst>
      <p:ext uri="{BB962C8B-B14F-4D97-AF65-F5344CB8AC3E}">
        <p14:creationId xmlns:p14="http://schemas.microsoft.com/office/powerpoint/2010/main" val="219262704"/>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Presentation1" id="{1B359046-2168-ED44-952F-7B596DD8F321}" vid="{82B8B6F5-78C7-3441-B43D-E1B51203F826}"/>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23775</TotalTime>
  <Words>649</Words>
  <Application>Microsoft Macintosh PowerPoint</Application>
  <PresentationFormat>Widescreen</PresentationFormat>
  <Paragraphs>84</Paragraphs>
  <Slides>14</Slides>
  <Notes>1</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14</vt:i4>
      </vt:variant>
    </vt:vector>
  </HeadingPairs>
  <TitlesOfParts>
    <vt:vector size="20" baseType="lpstr">
      <vt:lpstr>Arial</vt:lpstr>
      <vt:lpstr>Calibri</vt:lpstr>
      <vt:lpstr>Calibri Light</vt:lpstr>
      <vt:lpstr>Cambria Math</vt:lpstr>
      <vt:lpstr>Courier New</vt:lpstr>
      <vt:lpstr>Office Theme</vt:lpstr>
      <vt:lpstr>Test Characteristic Curves, Information Functions and SEM Functions</vt:lpstr>
      <vt:lpstr>Test Characteristic Curves</vt:lpstr>
      <vt:lpstr>Expected Item Response</vt:lpstr>
      <vt:lpstr>Expected Test Score</vt:lpstr>
      <vt:lpstr>TCC for the three_item_test.xlsx Data</vt:lpstr>
      <vt:lpstr>Test and Item Information</vt:lpstr>
      <vt:lpstr>Item Information</vt:lpstr>
      <vt:lpstr>Item Information Functions</vt:lpstr>
      <vt:lpstr>The Test Information Function</vt:lpstr>
      <vt:lpstr>Item and Test Info for the three-item-test</vt:lpstr>
      <vt:lpstr>Comparing Test and SEM Functions</vt:lpstr>
      <vt:lpstr>A Crib Sheet for Test Info values…</vt:lpstr>
      <vt:lpstr>Using Test and Item Information Practically</vt:lpstr>
      <vt:lpstr>Practice using mirt with Real Data</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Item Response Theory Models for Binary Items</dc:title>
  <dc:creator>Derek Briggs</dc:creator>
  <cp:lastModifiedBy>Derek Briggs</cp:lastModifiedBy>
  <cp:revision>51</cp:revision>
  <dcterms:created xsi:type="dcterms:W3CDTF">2020-02-02T21:38:24Z</dcterms:created>
  <dcterms:modified xsi:type="dcterms:W3CDTF">2026-01-26T01:25:22Z</dcterms:modified>
</cp:coreProperties>
</file>