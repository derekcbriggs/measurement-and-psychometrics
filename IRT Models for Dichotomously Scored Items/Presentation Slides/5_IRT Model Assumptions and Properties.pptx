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81" r:id="rId3"/>
    <p:sldId id="284" r:id="rId4"/>
    <p:sldId id="280" r:id="rId5"/>
    <p:sldId id="286" r:id="rId6"/>
    <p:sldId id="285" r:id="rId7"/>
    <p:sldId id="283" r:id="rId8"/>
    <p:sldId id="290" r:id="rId9"/>
    <p:sldId id="287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5"/>
    <p:restoredTop sz="91986"/>
  </p:normalViewPr>
  <p:slideViewPr>
    <p:cSldViewPr snapToGrid="0" snapToObjects="1">
      <p:cViewPr varScale="1">
        <p:scale>
          <a:sx n="116" d="100"/>
          <a:sy n="116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045BB-2ED9-6748-988A-0FF2A8B288D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5B4A1-9DC8-0E4C-BB98-1DF79D36A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40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0B94D5-4B54-442E-BBA7-671E6D965E7D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5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5B4A1-9DC8-0E4C-BB98-1DF79D36A9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13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5932723" indent="-35499618" eaLnBrk="0" hangingPunct="0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33106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866211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2993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732422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B4E27C8-5CF3-694B-A460-E70C13B2913E}" type="slidenum">
              <a:rPr lang="en-US" sz="1100"/>
              <a:pPr eaLnBrk="1" hangingPunct="1"/>
              <a:t>8</a:t>
            </a:fld>
            <a:endParaRPr lang="en-US" sz="11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57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1C39A-DD1F-A148-B0D3-4A1B95791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534CF-C42F-E947-A288-82F2720F4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F6B06-127F-E842-B63A-7E01ADB8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6E07-7DEB-724D-8C23-1856C3946DDD}" type="datetime1"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1D16-6683-824B-89A2-43070890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ACEB-79E0-204B-9E6A-C6F8A460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9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4CF6-AD01-5543-803F-C5463920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8BBA-28F7-0643-B15F-D56C25F98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55F9-752E-EF46-B1BB-F890ADB2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887B-0420-4F4E-A047-ABDB69DD7D64}" type="datetime1"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AAE76-683F-DF4F-AA92-A1A5B4DB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8E903-ED97-8E40-919F-C4E6759E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5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E822-8388-3144-A79F-46DDE264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9E753-968E-AF43-A069-5EE0A8A3A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00C7A-50EC-CF46-84FE-359537D1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65F4-CF46-FB45-BA6B-9EEC8BC66370}" type="datetime1"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A446-B99F-A94C-AC0C-9D0E13E2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DCD3-1C3F-C34E-93F4-80188651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4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E7-561D-D746-A9C4-73289808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16E3-7DD2-884E-8B6B-83B8CA10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9B3D4-32C2-004C-A8DC-0A9944EDD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59EF-8F55-EC4C-87F9-E2623515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0986-08CA-AB40-84FF-E2743FDA1A49}" type="datetime1"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BEB57-B775-7C46-9CE3-9F920DD1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51C04-543E-5E4D-9B03-9D559B3F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6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6A71-D5DD-8441-B67B-BBB8DCDC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F922E-AA81-2B43-B031-DD239A724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FA3A4-D5F0-FE4B-96F8-51A011DCE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D1CE6-8A9C-2C46-A1E4-8D7163C0F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48417-6421-234A-99CC-49ADC1814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6567E-0258-4A4B-BCB3-337C01C42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FDB9-57E3-9241-B74A-DBA989493D7D}" type="datetime1"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777CD-E8A7-1A4C-85A7-4D501E7B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3ED2D-A467-FB4B-8EB4-206998BE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EA55-90DB-7E4B-8C11-80C6A336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A4ABB-7AFF-6F48-B33F-BDB17D4E8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C1B4-14FF-074D-9DFA-DC35CBEC0C8A}" type="datetime1"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0BD56-28BF-BC47-8662-BAAB14C8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F5C44-4DB2-F547-BAC9-0EA5A173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2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DDE13-37F7-2E41-8FA2-10F6FD188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F75C-BC3A-6945-9BB4-2587966BC3AF}" type="datetime1"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60609-70EC-DF4F-97BE-CEBB01D4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BAC87-03E5-814E-B14F-C2DCF65D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8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54E3-0519-2741-9836-89D503E9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972A-8F43-6B4C-8A4F-09C4193EF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39879-0C02-FB40-B638-F416DD96C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124E2-8013-1446-943F-90E8C5CE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5A24-6042-4041-A641-0DDE0B3B4F05}" type="datetime1"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2C0D4-0CB4-6047-AFFB-AB3D588A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42813-4FB9-494D-9149-25E8DC69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7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E214-B67B-1842-895A-8AFB2FA2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AED4A-0EDF-664F-AF09-5D27599D3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E99B0-E56B-9B4C-BD84-D5649AB28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B027E-9249-DA40-841B-CEA50DB3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94A0-D5AB-FB46-8CB4-D42F469E28CB}" type="datetime1"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DE9A3-71CB-2D42-B8A6-CFADF3DC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FF176-C547-7641-A9C8-48F13B23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CFFF-E244-9846-A016-E3A8E48F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4A35A-59A3-8344-B17D-7B922C89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23E28-085A-2D4C-90F8-98DB75210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44E7C-57F9-2646-BDD5-6F79B223E060}" type="datetime1"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EE92C-EED5-F94A-B2D1-BE4AB849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C517-0968-F349-8741-10CED762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8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7C5D9-E6AD-F543-B705-F9E926039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A712F-695F-DC48-A229-04E3A0C19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0FC80-C037-CD43-8493-116566D1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2BE4-1FD0-F841-B400-D554CE242E6C}" type="datetime1"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969A5-A6FC-5648-8EE3-09616603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2A83D-DC6E-FB40-8A48-74586AF7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7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D8138-CD82-2D46-85A6-460DC8F6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D3D98-B305-014C-817F-8EEF42DAC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1548F-1A0A-474D-9681-A9FE21A107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62AEF-4AD9-964A-B9C6-315976D3F490}" type="datetime1"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CD391-7FBD-EA46-9266-5F19F9ADF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03041-2579-5E4F-8D4A-871D7A43F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7A0ED-0713-854E-AE67-C1B678B4A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9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FB09-5224-EF4B-A112-FD8314C11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4130"/>
            <a:ext cx="9144000" cy="3257908"/>
          </a:xfrm>
        </p:spPr>
        <p:txBody>
          <a:bodyPr>
            <a:normAutofit/>
          </a:bodyPr>
          <a:lstStyle/>
          <a:p>
            <a:r>
              <a:rPr lang="en-US" sz="4400" b="1" dirty="0"/>
              <a:t>Assumptions and Properties </a:t>
            </a:r>
            <a:br>
              <a:rPr lang="en-US" sz="4400" b="1" dirty="0"/>
            </a:br>
            <a:r>
              <a:rPr lang="en-US" sz="4400" b="1" dirty="0"/>
              <a:t>of IRT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16454-4B6A-A24A-BFE0-914D927AA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7250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EDUC 8720</a:t>
            </a:r>
          </a:p>
        </p:txBody>
      </p:sp>
    </p:spTree>
    <p:extLst>
      <p:ext uri="{BB962C8B-B14F-4D97-AF65-F5344CB8AC3E}">
        <p14:creationId xmlns:p14="http://schemas.microsoft.com/office/powerpoint/2010/main" val="424325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cs typeface="Calibri"/>
              </a:rPr>
              <a:t>IRT Model Assumptions and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eaLnBrk="1" hangingPunct="1">
                  <a:buFontTx/>
                  <a:buNone/>
                </a:pPr>
                <a:r>
                  <a:rPr lang="en-US" sz="2000" b="1" dirty="0">
                    <a:cs typeface="Calibri"/>
                  </a:rPr>
                  <a:t>Assumptions</a:t>
                </a:r>
              </a:p>
              <a:p>
                <a:r>
                  <a:rPr lang="en-US" sz="2000" u="sng" dirty="0">
                    <a:cs typeface="Calibri"/>
                  </a:rPr>
                  <a:t>Local Independence</a:t>
                </a:r>
                <a:r>
                  <a:rPr lang="en-US" sz="2000" dirty="0">
                    <a:cs typeface="Calibri"/>
                  </a:rPr>
                  <a:t>: Conditional on latent variable, item responses are statistically independent.</a:t>
                </a:r>
                <a:endParaRPr lang="en-US" sz="2000" u="sng" dirty="0">
                  <a:cs typeface="Calibri"/>
                </a:endParaRPr>
              </a:p>
              <a:p>
                <a:pPr lvl="1"/>
                <a:r>
                  <a:rPr lang="en-US" sz="1800" u="sng" dirty="0">
                    <a:cs typeface="Calibri"/>
                  </a:rPr>
                  <a:t>Appropriate dimensionality</a:t>
                </a:r>
                <a:r>
                  <a:rPr lang="en-US" sz="1800" dirty="0">
                    <a:cs typeface="Calibri"/>
                  </a:rPr>
                  <a:t>: For now, we assume the test only measures one dimension. Important assumption is that our model contains the </a:t>
                </a:r>
                <a:r>
                  <a:rPr lang="en-US" sz="1800" b="1" u="sng" dirty="0">
                    <a:cs typeface="Calibri"/>
                  </a:rPr>
                  <a:t>appropriate</a:t>
                </a:r>
                <a:r>
                  <a:rPr lang="en-US" sz="1800" dirty="0">
                    <a:cs typeface="Calibri"/>
                  </a:rPr>
                  <a:t> number of dimensions.</a:t>
                </a:r>
              </a:p>
              <a:p>
                <a:pPr eaLnBrk="1" hangingPunct="1"/>
                <a:r>
                  <a:rPr lang="en-US" sz="2000" u="sng" dirty="0">
                    <a:cs typeface="Calibri"/>
                  </a:rPr>
                  <a:t>Functional Form</a:t>
                </a:r>
                <a:r>
                  <a:rPr lang="en-US" sz="2000" dirty="0">
                    <a:cs typeface="Calibri"/>
                  </a:rPr>
                  <a:t>: Parameterization (shape) of item response function.</a:t>
                </a:r>
              </a:p>
              <a:p>
                <a:pPr eaLnBrk="1" hangingPunct="1"/>
                <a:r>
                  <a:rPr lang="en-US" sz="2000" u="sng" dirty="0">
                    <a:cs typeface="Calibri"/>
                  </a:rPr>
                  <a:t>Continuous quantity</a:t>
                </a:r>
                <a:r>
                  <a:rPr lang="en-US" sz="2000" dirty="0">
                    <a:cs typeface="Calibri"/>
                  </a:rPr>
                  <a:t>: The latent variable </a:t>
                </a: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  <a:cs typeface="Calibri"/>
                      </a:rPr>
                      <m:t>𝜃</m:t>
                    </m:r>
                  </m:oMath>
                </a14:m>
                <a:r>
                  <a:rPr lang="en-US" sz="2000" dirty="0">
                    <a:cs typeface="Calibri"/>
                  </a:rPr>
                  <a:t> is a measurable continuous quantity. [rarely made explicit]</a:t>
                </a:r>
              </a:p>
              <a:p>
                <a:pPr eaLnBrk="1" hangingPunct="1">
                  <a:buFontTx/>
                  <a:buNone/>
                </a:pPr>
                <a:r>
                  <a:rPr lang="en-US" sz="2000" b="1" dirty="0">
                    <a:cs typeface="Calibri"/>
                  </a:rPr>
                  <a:t>Properties</a:t>
                </a:r>
                <a:endParaRPr lang="en-US" sz="2000" u="sng" dirty="0">
                  <a:cs typeface="Calibri"/>
                </a:endParaRPr>
              </a:p>
              <a:p>
                <a:pPr eaLnBrk="1" hangingPunct="1"/>
                <a:r>
                  <a:rPr lang="en-US" sz="2000" u="sng" dirty="0">
                    <a:cs typeface="Calibri"/>
                  </a:rPr>
                  <a:t>Parameter Invariance</a:t>
                </a:r>
                <a:r>
                  <a:rPr lang="en-US" sz="2000" dirty="0">
                    <a:cs typeface="Calibri"/>
                  </a:rPr>
                  <a:t>: If the model fits, item &amp; person parameters should be the same regardless of the group of persons &amp; items used to estimate them. Note: This is not technically an </a:t>
                </a:r>
                <a:r>
                  <a:rPr lang="en-US" sz="2000" i="1" dirty="0">
                    <a:cs typeface="Calibri"/>
                  </a:rPr>
                  <a:t>assumption</a:t>
                </a:r>
                <a:r>
                  <a:rPr lang="en-US" sz="2000" dirty="0">
                    <a:cs typeface="Calibri"/>
                  </a:rPr>
                  <a:t> of the model. It is a </a:t>
                </a:r>
                <a:r>
                  <a:rPr lang="en-US" sz="2000" i="1" dirty="0">
                    <a:cs typeface="Calibri"/>
                  </a:rPr>
                  <a:t>property</a:t>
                </a:r>
                <a:r>
                  <a:rPr lang="en-US" sz="2000" dirty="0">
                    <a:cs typeface="Calibri"/>
                  </a:rPr>
                  <a:t> if the model fits the data.</a:t>
                </a:r>
              </a:p>
              <a:p>
                <a:pPr eaLnBrk="1" hangingPunct="1"/>
                <a:r>
                  <a:rPr lang="en-US" sz="2000" u="sng" dirty="0">
                    <a:cs typeface="Calibri"/>
                  </a:rPr>
                  <a:t>Scale Indeterminacy</a:t>
                </a:r>
                <a:r>
                  <a:rPr lang="en-US" sz="2000" dirty="0">
                    <a:cs typeface="Calibri"/>
                  </a:rPr>
                  <a:t>: The </a:t>
                </a:r>
                <a:r>
                  <a:rPr lang="en-US" sz="2000" dirty="0" err="1">
                    <a:cs typeface="Calibri"/>
                  </a:rPr>
                  <a:t>logit</a:t>
                </a:r>
                <a:r>
                  <a:rPr lang="en-US" sz="2000" dirty="0">
                    <a:cs typeface="Calibri"/>
                  </a:rPr>
                  <a:t> scale is only identified up to a linear transformation. This means it needs to be “anchored”. </a:t>
                </a:r>
                <a:endParaRPr lang="en-US" sz="2400" dirty="0"/>
              </a:p>
            </p:txBody>
          </p:sp>
        </mc:Choice>
        <mc:Fallback xmlns="">
          <p:sp>
            <p:nvSpPr>
              <p:cNvPr id="2150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1FC767-2D3C-2D47-97BC-B5A00BD5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Assumption of Local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assume that item responses are independent, conditional on the latent variable theta.</a:t>
                </a:r>
              </a:p>
              <a:p>
                <a:r>
                  <a:rPr lang="en-US" dirty="0"/>
                  <a:t>Put differently, the </a:t>
                </a:r>
                <a:r>
                  <a:rPr lang="en-US" b="1" u="sng" dirty="0"/>
                  <a:t>only</a:t>
                </a:r>
                <a:r>
                  <a:rPr lang="en-US" dirty="0"/>
                  <a:t> reason item responses are correlated is due to their dependence on theta.</a:t>
                </a:r>
              </a:p>
              <a:p>
                <a:pPr lvl="1"/>
                <a:r>
                  <a:rPr lang="en-US" dirty="0"/>
                  <a:t>This is the same assumption made in factor analysis.</a:t>
                </a:r>
              </a:p>
              <a:p>
                <a:pPr lvl="1"/>
                <a:r>
                  <a:rPr lang="en-US" dirty="0"/>
                  <a:t>For multidimensional IRT or factor models, we assume item responses are independent conditional on all dimensions of theta included in the model.</a:t>
                </a:r>
              </a:p>
              <a:p>
                <a:r>
                  <a:rPr lang="en-US" dirty="0"/>
                  <a:t>This gets us the very important result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=1 &amp;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=1│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=1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∗</m:t>
                      </m:r>
                      <m:r>
                        <a:rPr lang="en-US" b="0" i="1" smtClean="0">
                          <a:latin typeface="Cambria Math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charset="0"/>
                            </a:rPr>
                            <m:t>=1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might cause violations of local independence?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C8192-3E1A-5741-A66A-CB41A420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3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Aside: Useful Probability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=1−</m:t>
                    </m:r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~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 (probability of A is 1 minus the probability of A not happening)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&amp;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∗</m:t>
                    </m:r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, when A and B are independent.</a:t>
                </a:r>
              </a:p>
              <a:p>
                <a:pPr lvl="1"/>
                <a:r>
                  <a:rPr lang="en-US" dirty="0"/>
                  <a:t>This is referred to as the joint probability of A and B occurring.</a:t>
                </a:r>
              </a:p>
              <a:p>
                <a:pPr lvl="1"/>
                <a:r>
                  <a:rPr lang="en-US" dirty="0"/>
                  <a:t>This is where local independence comes in.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𝐴</m:t>
                        </m:r>
                      </m:e>
                      <m:e>
                        <m:r>
                          <a:rPr lang="en-US" b="0" i="1" smtClean="0">
                            <a:latin typeface="Cambria Math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 is the conditional probability of A given B; i.e., what is the probability of A happening, given that B happened?</a:t>
                </a:r>
              </a:p>
              <a:p>
                <a:pPr lvl="1"/>
                <a:r>
                  <a:rPr lang="en-US" dirty="0"/>
                  <a:t>Useful rule: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𝐴</m:t>
                        </m:r>
                      </m:e>
                      <m:e>
                        <m:r>
                          <a:rPr lang="en-US" i="1">
                            <a:latin typeface="Cambria Math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&amp;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𝐵</m:t>
                            </m:r>
                          </m:e>
                        </m:d>
                      </m:den>
                    </m:f>
                    <m:r>
                      <a:rPr lang="en-US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E7C0C-E2A6-8B4E-B43A-E94A007F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Dimensionality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test is multidimensional and we fit only a single latent variable, could cause local item </a:t>
            </a:r>
            <a:r>
              <a:rPr lang="en-US" b="1" u="sng" dirty="0"/>
              <a:t>dep</a:t>
            </a:r>
            <a:r>
              <a:rPr lang="en-US" dirty="0"/>
              <a:t>endence.</a:t>
            </a:r>
          </a:p>
          <a:p>
            <a:r>
              <a:rPr lang="en-US" dirty="0"/>
              <a:t>Note that the dimensionality refers to the number of latent variables needed to model the response data.</a:t>
            </a:r>
          </a:p>
          <a:p>
            <a:pPr lvl="1"/>
            <a:r>
              <a:rPr lang="en-US" dirty="0"/>
              <a:t>This may or may not correspond to the hypothesized dimensionality of the theoretical construct.</a:t>
            </a:r>
          </a:p>
          <a:p>
            <a:r>
              <a:rPr lang="en-US" dirty="0"/>
              <a:t>Most IRT models used in practice are unidimensional.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B1FEF-FC2D-FB4E-A55B-480C1ACC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Assumption of ICC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that the probability of correct responses follows the logistic form or normal ogive shown earlier.</a:t>
            </a:r>
          </a:p>
          <a:p>
            <a:r>
              <a:rPr lang="en-US" dirty="0"/>
              <a:t>Key characteristics are:</a:t>
            </a:r>
          </a:p>
          <a:p>
            <a:pPr lvl="1"/>
            <a:r>
              <a:rPr lang="en-US" dirty="0"/>
              <a:t>Monotonically increasing probability as function of (one) theta.</a:t>
            </a:r>
          </a:p>
          <a:p>
            <a:pPr lvl="1"/>
            <a:r>
              <a:rPr lang="en-US" dirty="0"/>
              <a:t>S-shape of the logistic (or normal ogive) curve.</a:t>
            </a:r>
          </a:p>
          <a:p>
            <a:pPr lvl="1"/>
            <a:r>
              <a:rPr lang="en-US" dirty="0"/>
              <a:t>Can describe this with the a/b/c parameters.</a:t>
            </a:r>
          </a:p>
          <a:p>
            <a:pPr lvl="1"/>
            <a:r>
              <a:rPr lang="en-US" dirty="0"/>
              <a:t>Note that there are IRT models with more parameters.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45EA3-0F8F-0943-A00A-53A93331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Parameter Invariance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987" y="383715"/>
            <a:ext cx="4945049" cy="278765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221" y="3171365"/>
            <a:ext cx="4848579" cy="3270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1906587"/>
            <a:ext cx="5156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model fits the data, item parameter estimates should be the same regardless of group used to estimate data.</a:t>
            </a:r>
          </a:p>
          <a:p>
            <a:endParaRPr lang="en-US" dirty="0"/>
          </a:p>
          <a:p>
            <a:r>
              <a:rPr lang="en-US" dirty="0"/>
              <a:t>We should get same a/b/c parameters from either the red or blue group.</a:t>
            </a:r>
          </a:p>
          <a:p>
            <a:endParaRPr lang="en-US" dirty="0"/>
          </a:p>
          <a:p>
            <a:r>
              <a:rPr lang="en-US" dirty="0"/>
              <a:t>If using CTT, we would expect very different item p-values from these groups.</a:t>
            </a:r>
          </a:p>
          <a:p>
            <a:endParaRPr lang="en-US" dirty="0"/>
          </a:p>
          <a:p>
            <a:r>
              <a:rPr lang="en-US" dirty="0"/>
              <a:t>A strong assumption, but can be checked empirically.</a:t>
            </a:r>
          </a:p>
          <a:p>
            <a:endParaRPr lang="en-US" dirty="0"/>
          </a:p>
          <a:p>
            <a:r>
              <a:rPr lang="en-US" dirty="0"/>
              <a:t>Same assumption made, e.g., in linear regression </a:t>
            </a:r>
            <a:r>
              <a:rPr lang="mr-IN" dirty="0"/>
              <a:t>–</a:t>
            </a:r>
            <a:r>
              <a:rPr lang="en-US" dirty="0"/>
              <a:t> we assume the slope and intercept are same regardless of group used to estimate the model.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275E24-A240-924C-8B5F-4A24B367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1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68" y="1506617"/>
            <a:ext cx="5541464" cy="5032295"/>
          </a:xfrm>
          <a:prstGeom prst="rect">
            <a:avLst/>
          </a:prstGeom>
        </p:spPr>
      </p:pic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ea typeface="ＭＳ Ｐゴシック" charset="0"/>
                <a:cs typeface="Calibri"/>
              </a:rPr>
              <a:t>Parameter Invariance Analogy: Linear Regression</a:t>
            </a:r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6838119" y="1825705"/>
            <a:ext cx="4515681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Calibri"/>
                <a:cs typeface="Calibri"/>
              </a:rPr>
              <a:t>In this example, the continuous variables X and Y have been standardized.</a:t>
            </a:r>
          </a:p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Calibri"/>
                <a:cs typeface="Calibri"/>
              </a:rPr>
              <a:t>We have values of X and Y for a complete population of interest.</a:t>
            </a:r>
          </a:p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Calibri"/>
                <a:cs typeface="Calibri"/>
              </a:rPr>
              <a:t>Each point on the plot represents the expected value of Y given a specific value of X.</a:t>
            </a:r>
          </a:p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Calibri"/>
                <a:cs typeface="Calibri"/>
              </a:rPr>
              <a:t>The corresponding regression line, which fits perfectly in this case, has a slope parameter that is </a:t>
            </a:r>
            <a:r>
              <a:rPr lang="en-US" sz="1800" b="1" i="1" u="sng" dirty="0">
                <a:latin typeface="Calibri"/>
                <a:cs typeface="Calibri"/>
              </a:rPr>
              <a:t>invariant</a:t>
            </a:r>
            <a:r>
              <a:rPr lang="en-US" sz="1800" dirty="0">
                <a:latin typeface="Calibri"/>
                <a:cs typeface="Calibri"/>
              </a:rPr>
              <a:t> as a function of X.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675392" y="2016312"/>
            <a:ext cx="1317422" cy="1091226"/>
            <a:chOff x="4510292" y="2048598"/>
            <a:chExt cx="1317422" cy="1091226"/>
          </a:xfrm>
        </p:grpSpPr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4510292" y="2911224"/>
              <a:ext cx="312738" cy="2286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5514977" y="2048598"/>
              <a:ext cx="312737" cy="22860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V="1">
              <a:off x="4823030" y="3038726"/>
              <a:ext cx="848315" cy="206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H="1" flipV="1">
              <a:off x="5671345" y="2277198"/>
              <a:ext cx="0" cy="76152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64843" y="4567239"/>
            <a:ext cx="1285298" cy="1106486"/>
            <a:chOff x="1564843" y="4668839"/>
            <a:chExt cx="1285298" cy="1106486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1564843" y="5546725"/>
              <a:ext cx="312738" cy="228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2537403" y="4668839"/>
              <a:ext cx="312738" cy="228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1877581" y="5667028"/>
              <a:ext cx="829405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2695910" y="4897437"/>
              <a:ext cx="11076" cy="76959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838119" y="4979458"/>
            <a:ext cx="45156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alibri"/>
              </a:rPr>
              <a:t>I get the same slope estimate at both the blue points and red points. It doesn’t matter which section of X and Y data I observe.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F013B0B-02F0-B749-B8E2-16EF3E58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3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Scale Indeterminacy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Because we cannot observe a, b, c, or theta directly, and they occur together, there is inherent indeterminacy in the scale of these variables.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Consider the new values: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)/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)/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it will be true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So which set of parameters should we use?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0737F-1CFB-934D-8540-97658306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86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Resolving Scale Indeterminacy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two main approaches.</a:t>
            </a:r>
          </a:p>
          <a:p>
            <a:r>
              <a:rPr lang="en-US" b="1" u="sng" dirty="0"/>
              <a:t>Item-Side Anchoring</a:t>
            </a:r>
          </a:p>
          <a:p>
            <a:pPr lvl="1"/>
            <a:r>
              <a:rPr lang="en-US" dirty="0"/>
              <a:t>Place constraints on the item parameters (e.g., average item difficulty is 0).</a:t>
            </a:r>
          </a:p>
          <a:p>
            <a:pPr lvl="1"/>
            <a:r>
              <a:rPr lang="en-US" dirty="0"/>
              <a:t>Freely estimate the theta distribution.</a:t>
            </a:r>
          </a:p>
          <a:p>
            <a:pPr lvl="1"/>
            <a:r>
              <a:rPr lang="en-US" dirty="0"/>
              <a:t>More common in </a:t>
            </a:r>
            <a:r>
              <a:rPr lang="en-US" dirty="0" err="1"/>
              <a:t>Rasch</a:t>
            </a:r>
            <a:r>
              <a:rPr lang="en-US" dirty="0"/>
              <a:t> modeling and in Europe.</a:t>
            </a:r>
          </a:p>
          <a:p>
            <a:r>
              <a:rPr lang="en-US" b="1" u="sng" dirty="0"/>
              <a:t>Person-Side Anchoring</a:t>
            </a:r>
          </a:p>
          <a:p>
            <a:pPr lvl="1"/>
            <a:r>
              <a:rPr lang="en-US" dirty="0"/>
              <a:t>Fix distribution of theta to have mean of 0 and SD of 1.</a:t>
            </a:r>
          </a:p>
          <a:p>
            <a:pPr lvl="1"/>
            <a:r>
              <a:rPr lang="en-US" dirty="0"/>
              <a:t>Freely estimate the item parameters.</a:t>
            </a:r>
          </a:p>
          <a:p>
            <a:pPr lvl="1"/>
            <a:r>
              <a:rPr lang="en-US" dirty="0"/>
              <a:t>More common in US and in achievement testing.</a:t>
            </a:r>
          </a:p>
          <a:p>
            <a:r>
              <a:rPr lang="en-US" dirty="0"/>
              <a:t>We will return to this when we learn how to estimate the parameters.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6FDF2-9F22-734B-ABEE-948E00A9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7A0ED-0713-854E-AE67-C1B678B4A7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8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B359046-2168-ED44-952F-7B596DD8F321}" vid="{82B8B6F5-78C7-3441-B43D-E1B51203F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23492</TotalTime>
  <Words>883</Words>
  <Application>Microsoft Macintosh PowerPoint</Application>
  <PresentationFormat>Widescreen</PresentationFormat>
  <Paragraphs>92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Cambria Math</vt:lpstr>
      <vt:lpstr>Office Theme</vt:lpstr>
      <vt:lpstr>Assumptions and Properties  of IRT Models</vt:lpstr>
      <vt:lpstr>IRT Model Assumptions and Properties</vt:lpstr>
      <vt:lpstr>Assumption of Local Independence</vt:lpstr>
      <vt:lpstr>Quick Aside: Useful Probability Rules</vt:lpstr>
      <vt:lpstr>Dimensionality</vt:lpstr>
      <vt:lpstr>Assumption of ICC Form</vt:lpstr>
      <vt:lpstr>Parameter Invariance</vt:lpstr>
      <vt:lpstr>Parameter Invariance Analogy: Linear Regression</vt:lpstr>
      <vt:lpstr>Scale Indeterminacy</vt:lpstr>
      <vt:lpstr>Resolving Scale Indeterminacy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Item Response Theory Models for Binary Items</dc:title>
  <dc:creator>Derek Briggs</dc:creator>
  <cp:lastModifiedBy>Derek Briggs</cp:lastModifiedBy>
  <cp:revision>49</cp:revision>
  <dcterms:created xsi:type="dcterms:W3CDTF">2020-02-02T21:38:24Z</dcterms:created>
  <dcterms:modified xsi:type="dcterms:W3CDTF">2026-01-25T19:28:15Z</dcterms:modified>
</cp:coreProperties>
</file>