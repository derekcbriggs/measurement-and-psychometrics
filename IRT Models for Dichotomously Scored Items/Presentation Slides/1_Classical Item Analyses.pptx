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
  </p:notesMasterIdLst>
  <p:sldIdLst>
    <p:sldId id="256" r:id="rId2"/>
    <p:sldId id="326"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25"/>
    <p:restoredTop sz="91986"/>
  </p:normalViewPr>
  <p:slideViewPr>
    <p:cSldViewPr snapToGrid="0" snapToObjects="1">
      <p:cViewPr varScale="1">
        <p:scale>
          <a:sx n="116" d="100"/>
          <a:sy n="116" d="100"/>
        </p:scale>
        <p:origin x="6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A045BB-2ED9-6748-988A-0FF2A8B288DA}" type="datetimeFigureOut">
              <a:rPr lang="en-US" smtClean="0"/>
              <a:t>1/25/26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95B4A1-9DC8-0E4C-BB98-1DF79D36A9DE}" type="slidenum">
              <a:rPr lang="en-US" smtClean="0"/>
              <a:t>‹#›</a:t>
            </a:fld>
            <a:endParaRPr lang="en-US"/>
          </a:p>
        </p:txBody>
      </p:sp>
    </p:spTree>
    <p:extLst>
      <p:ext uri="{BB962C8B-B14F-4D97-AF65-F5344CB8AC3E}">
        <p14:creationId xmlns:p14="http://schemas.microsoft.com/office/powerpoint/2010/main" val="2077405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1C39A-DD1F-A148-B0D3-4A1B95791A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E534CF-C42F-E947-A288-82F2720F45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7F6B06-127F-E842-B63A-7E01ADB8A352}"/>
              </a:ext>
            </a:extLst>
          </p:cNvPr>
          <p:cNvSpPr>
            <a:spLocks noGrp="1"/>
          </p:cNvSpPr>
          <p:nvPr>
            <p:ph type="dt" sz="half" idx="10"/>
          </p:nvPr>
        </p:nvSpPr>
        <p:spPr/>
        <p:txBody>
          <a:bodyPr/>
          <a:lstStyle/>
          <a:p>
            <a:fld id="{33BB6E07-7DEB-724D-8C23-1856C3946DDD}" type="datetime1">
              <a:t>1/25/26</a:t>
            </a:fld>
            <a:endParaRPr lang="en-US"/>
          </a:p>
        </p:txBody>
      </p:sp>
      <p:sp>
        <p:nvSpPr>
          <p:cNvPr id="5" name="Footer Placeholder 4">
            <a:extLst>
              <a:ext uri="{FF2B5EF4-FFF2-40B4-BE49-F238E27FC236}">
                <a16:creationId xmlns:a16="http://schemas.microsoft.com/office/drawing/2014/main" id="{362F1D16-6683-824B-89A2-430708900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D1ACEB-79E0-204B-9E6A-C6F8A4605A79}"/>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1924295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C4CF6-AD01-5543-803F-C54639204B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E48BBA-28F7-0643-B15F-D56C25F98B0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6F55F9-752E-EF46-B1BB-F890ADB20991}"/>
              </a:ext>
            </a:extLst>
          </p:cNvPr>
          <p:cNvSpPr>
            <a:spLocks noGrp="1"/>
          </p:cNvSpPr>
          <p:nvPr>
            <p:ph type="dt" sz="half" idx="10"/>
          </p:nvPr>
        </p:nvSpPr>
        <p:spPr/>
        <p:txBody>
          <a:bodyPr/>
          <a:lstStyle/>
          <a:p>
            <a:fld id="{A337887B-0420-4F4E-A047-ABDB69DD7D64}" type="datetime1">
              <a:t>1/25/26</a:t>
            </a:fld>
            <a:endParaRPr lang="en-US"/>
          </a:p>
        </p:txBody>
      </p:sp>
      <p:sp>
        <p:nvSpPr>
          <p:cNvPr id="5" name="Footer Placeholder 4">
            <a:extLst>
              <a:ext uri="{FF2B5EF4-FFF2-40B4-BE49-F238E27FC236}">
                <a16:creationId xmlns:a16="http://schemas.microsoft.com/office/drawing/2014/main" id="{AB9AAE76-683F-DF4F-AA92-A1A5B4DBA0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08E903-ED97-8E40-919F-C4E6759E7E0D}"/>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1027154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BE822-8388-3144-A79F-46DDE2647D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F9E753-968E-AF43-A069-5EE0A8A3A7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CF00C7A-50EC-CF46-84FE-359537D14AEC}"/>
              </a:ext>
            </a:extLst>
          </p:cNvPr>
          <p:cNvSpPr>
            <a:spLocks noGrp="1"/>
          </p:cNvSpPr>
          <p:nvPr>
            <p:ph type="dt" sz="half" idx="10"/>
          </p:nvPr>
        </p:nvSpPr>
        <p:spPr/>
        <p:txBody>
          <a:bodyPr/>
          <a:lstStyle/>
          <a:p>
            <a:fld id="{13CD65F4-CF46-FB45-BA6B-9EEC8BC66370}" type="datetime1">
              <a:t>1/25/26</a:t>
            </a:fld>
            <a:endParaRPr lang="en-US"/>
          </a:p>
        </p:txBody>
      </p:sp>
      <p:sp>
        <p:nvSpPr>
          <p:cNvPr id="5" name="Footer Placeholder 4">
            <a:extLst>
              <a:ext uri="{FF2B5EF4-FFF2-40B4-BE49-F238E27FC236}">
                <a16:creationId xmlns:a16="http://schemas.microsoft.com/office/drawing/2014/main" id="{8F06A446-B99F-A94C-AC0C-9D0E13E2D9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E0DCD3-1C3F-C34E-93F4-801886513A79}"/>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3258842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1FAE7-561D-D746-A9C4-7328980862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7316E3-7DD2-884E-8B6B-83B8CA10308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59B3D4-32C2-004C-A8DC-0A9944EDD2E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5C59EF-8F55-EC4C-87F9-E26235153B8B}"/>
              </a:ext>
            </a:extLst>
          </p:cNvPr>
          <p:cNvSpPr>
            <a:spLocks noGrp="1"/>
          </p:cNvSpPr>
          <p:nvPr>
            <p:ph type="dt" sz="half" idx="10"/>
          </p:nvPr>
        </p:nvSpPr>
        <p:spPr/>
        <p:txBody>
          <a:bodyPr/>
          <a:lstStyle/>
          <a:p>
            <a:fld id="{19B80986-08CA-AB40-84FF-E2743FDA1A49}" type="datetime1">
              <a:t>1/25/26</a:t>
            </a:fld>
            <a:endParaRPr lang="en-US"/>
          </a:p>
        </p:txBody>
      </p:sp>
      <p:sp>
        <p:nvSpPr>
          <p:cNvPr id="6" name="Footer Placeholder 5">
            <a:extLst>
              <a:ext uri="{FF2B5EF4-FFF2-40B4-BE49-F238E27FC236}">
                <a16:creationId xmlns:a16="http://schemas.microsoft.com/office/drawing/2014/main" id="{EABBEB57-B775-7C46-9CE3-9F920DD19C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451C04-543E-5E4D-9B03-9D559B3F66DA}"/>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2795363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F6A71-D5DD-8441-B67B-BBB8DCDC5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BF922E-AA81-2B43-B031-DD239A7241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A1FA3A4-D5F0-FE4B-96F8-51A011DCE6D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FD1CE6-8A9C-2C46-A1E4-8D7163C0FF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EC48417-6421-234A-99CC-49ADC1814B5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56567E-0258-4A4B-BCB3-337C01C422E3}"/>
              </a:ext>
            </a:extLst>
          </p:cNvPr>
          <p:cNvSpPr>
            <a:spLocks noGrp="1"/>
          </p:cNvSpPr>
          <p:nvPr>
            <p:ph type="dt" sz="half" idx="10"/>
          </p:nvPr>
        </p:nvSpPr>
        <p:spPr/>
        <p:txBody>
          <a:bodyPr/>
          <a:lstStyle/>
          <a:p>
            <a:fld id="{E781FDB9-57E3-9241-B74A-DBA989493D7D}" type="datetime1">
              <a:t>1/25/26</a:t>
            </a:fld>
            <a:endParaRPr lang="en-US"/>
          </a:p>
        </p:txBody>
      </p:sp>
      <p:sp>
        <p:nvSpPr>
          <p:cNvPr id="8" name="Footer Placeholder 7">
            <a:extLst>
              <a:ext uri="{FF2B5EF4-FFF2-40B4-BE49-F238E27FC236}">
                <a16:creationId xmlns:a16="http://schemas.microsoft.com/office/drawing/2014/main" id="{B7E777CD-E8A7-1A4C-85A7-4D501E7B21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93ED2D-A467-FB4B-8EB4-206998BEFE0A}"/>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72977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8EA55-90DB-7E4B-8C11-80C6A33679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9A4ABB-7AFF-6F48-B33F-BDB17D4E8086}"/>
              </a:ext>
            </a:extLst>
          </p:cNvPr>
          <p:cNvSpPr>
            <a:spLocks noGrp="1"/>
          </p:cNvSpPr>
          <p:nvPr>
            <p:ph type="dt" sz="half" idx="10"/>
          </p:nvPr>
        </p:nvSpPr>
        <p:spPr/>
        <p:txBody>
          <a:bodyPr/>
          <a:lstStyle/>
          <a:p>
            <a:fld id="{CDF9C1B4-14FF-074D-9DFA-DC35CBEC0C8A}" type="datetime1">
              <a:t>1/25/26</a:t>
            </a:fld>
            <a:endParaRPr lang="en-US"/>
          </a:p>
        </p:txBody>
      </p:sp>
      <p:sp>
        <p:nvSpPr>
          <p:cNvPr id="4" name="Footer Placeholder 3">
            <a:extLst>
              <a:ext uri="{FF2B5EF4-FFF2-40B4-BE49-F238E27FC236}">
                <a16:creationId xmlns:a16="http://schemas.microsoft.com/office/drawing/2014/main" id="{F9D0BD56-28BF-BC47-8662-BAAB14C8D4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EF5C44-4DB2-F547-BAC9-0EA5A1731F93}"/>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4120023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ADDE13-37F7-2E41-8FA2-10F6FD188F32}"/>
              </a:ext>
            </a:extLst>
          </p:cNvPr>
          <p:cNvSpPr>
            <a:spLocks noGrp="1"/>
          </p:cNvSpPr>
          <p:nvPr>
            <p:ph type="dt" sz="half" idx="10"/>
          </p:nvPr>
        </p:nvSpPr>
        <p:spPr/>
        <p:txBody>
          <a:bodyPr/>
          <a:lstStyle/>
          <a:p>
            <a:fld id="{2228F75C-BC3A-6945-9BB4-2587966BC3AF}" type="datetime1">
              <a:t>1/25/26</a:t>
            </a:fld>
            <a:endParaRPr lang="en-US"/>
          </a:p>
        </p:txBody>
      </p:sp>
      <p:sp>
        <p:nvSpPr>
          <p:cNvPr id="3" name="Footer Placeholder 2">
            <a:extLst>
              <a:ext uri="{FF2B5EF4-FFF2-40B4-BE49-F238E27FC236}">
                <a16:creationId xmlns:a16="http://schemas.microsoft.com/office/drawing/2014/main" id="{B6A60609-70EC-DF4F-97BE-CEBB01D442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6BAC87-03E5-814E-B14F-C2DCF65D544E}"/>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2133688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F54E3-0519-2741-9836-89D503E949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2B972A-8F43-6B4C-8A4F-09C4193EF4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139879-0C02-FB40-B638-F416DD96C6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E1124E2-8013-1446-943F-90E8C5CE33B7}"/>
              </a:ext>
            </a:extLst>
          </p:cNvPr>
          <p:cNvSpPr>
            <a:spLocks noGrp="1"/>
          </p:cNvSpPr>
          <p:nvPr>
            <p:ph type="dt" sz="half" idx="10"/>
          </p:nvPr>
        </p:nvSpPr>
        <p:spPr/>
        <p:txBody>
          <a:bodyPr/>
          <a:lstStyle/>
          <a:p>
            <a:fld id="{9E815A24-6042-4041-A641-0DDE0B3B4F05}" type="datetime1">
              <a:t>1/25/26</a:t>
            </a:fld>
            <a:endParaRPr lang="en-US"/>
          </a:p>
        </p:txBody>
      </p:sp>
      <p:sp>
        <p:nvSpPr>
          <p:cNvPr id="6" name="Footer Placeholder 5">
            <a:extLst>
              <a:ext uri="{FF2B5EF4-FFF2-40B4-BE49-F238E27FC236}">
                <a16:creationId xmlns:a16="http://schemas.microsoft.com/office/drawing/2014/main" id="{B552C0D4-0CB4-6047-AFFB-AB3D588A02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D42813-4FB9-494D-9149-25E8DC69646D}"/>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1330072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6E214-B67B-1842-895A-8AFB2FA211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4AED4A-0EDF-664F-AF09-5D27599D33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FAE99B0-E56B-9B4C-BD84-D5649AB282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8CB027E-9249-DA40-841B-CEA50DB35243}"/>
              </a:ext>
            </a:extLst>
          </p:cNvPr>
          <p:cNvSpPr>
            <a:spLocks noGrp="1"/>
          </p:cNvSpPr>
          <p:nvPr>
            <p:ph type="dt" sz="half" idx="10"/>
          </p:nvPr>
        </p:nvSpPr>
        <p:spPr/>
        <p:txBody>
          <a:bodyPr/>
          <a:lstStyle/>
          <a:p>
            <a:fld id="{322694A0-D5AB-FB46-8CB4-D42F469E28CB}" type="datetime1">
              <a:t>1/25/26</a:t>
            </a:fld>
            <a:endParaRPr lang="en-US"/>
          </a:p>
        </p:txBody>
      </p:sp>
      <p:sp>
        <p:nvSpPr>
          <p:cNvPr id="6" name="Footer Placeholder 5">
            <a:extLst>
              <a:ext uri="{FF2B5EF4-FFF2-40B4-BE49-F238E27FC236}">
                <a16:creationId xmlns:a16="http://schemas.microsoft.com/office/drawing/2014/main" id="{8D2DE9A3-71CB-2D42-B8A6-CFADF3DCF4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7FF176-C547-7641-A9C8-48F13B239011}"/>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2814386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BCFFF-E244-9846-A016-E3A8E48F9A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34A35A-59A3-8344-B17D-7B922C89281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023E28-085A-2D4C-90F8-98DB75210DF4}"/>
              </a:ext>
            </a:extLst>
          </p:cNvPr>
          <p:cNvSpPr>
            <a:spLocks noGrp="1"/>
          </p:cNvSpPr>
          <p:nvPr>
            <p:ph type="dt" sz="half" idx="10"/>
          </p:nvPr>
        </p:nvSpPr>
        <p:spPr/>
        <p:txBody>
          <a:bodyPr/>
          <a:lstStyle/>
          <a:p>
            <a:fld id="{EE444E7C-57F9-2646-BDD5-6F79B223E060}" type="datetime1">
              <a:t>1/25/26</a:t>
            </a:fld>
            <a:endParaRPr lang="en-US"/>
          </a:p>
        </p:txBody>
      </p:sp>
      <p:sp>
        <p:nvSpPr>
          <p:cNvPr id="5" name="Footer Placeholder 4">
            <a:extLst>
              <a:ext uri="{FF2B5EF4-FFF2-40B4-BE49-F238E27FC236}">
                <a16:creationId xmlns:a16="http://schemas.microsoft.com/office/drawing/2014/main" id="{239EE92C-EED5-F94A-B2D1-BE4AB84919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7CC517-0968-F349-8741-10CED7628BBD}"/>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1364684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D7C5D9-E6AD-F543-B705-F9E926039A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FA712F-695F-DC48-A229-04E3A0C196E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A0FC80-C037-CD43-8493-116566D1393E}"/>
              </a:ext>
            </a:extLst>
          </p:cNvPr>
          <p:cNvSpPr>
            <a:spLocks noGrp="1"/>
          </p:cNvSpPr>
          <p:nvPr>
            <p:ph type="dt" sz="half" idx="10"/>
          </p:nvPr>
        </p:nvSpPr>
        <p:spPr/>
        <p:txBody>
          <a:bodyPr/>
          <a:lstStyle/>
          <a:p>
            <a:fld id="{6BBB2BE4-1FD0-F841-B400-D554CE242E6C}" type="datetime1">
              <a:t>1/25/26</a:t>
            </a:fld>
            <a:endParaRPr lang="en-US"/>
          </a:p>
        </p:txBody>
      </p:sp>
      <p:sp>
        <p:nvSpPr>
          <p:cNvPr id="5" name="Footer Placeholder 4">
            <a:extLst>
              <a:ext uri="{FF2B5EF4-FFF2-40B4-BE49-F238E27FC236}">
                <a16:creationId xmlns:a16="http://schemas.microsoft.com/office/drawing/2014/main" id="{DC7969A5-A6FC-5648-8EE3-096166036E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D2A83D-DC6E-FB40-8A48-74586AF71FB4}"/>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3515678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CD8138-CD82-2D46-85A6-460DC8F625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3D3D98-B305-014C-817F-8EEF42DAC9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1548F-1A0A-474D-9681-A9FE21A107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462AEF-4AD9-964A-B9C6-315976D3F490}" type="datetime1">
              <a:t>1/25/26</a:t>
            </a:fld>
            <a:endParaRPr lang="en-US"/>
          </a:p>
        </p:txBody>
      </p:sp>
      <p:sp>
        <p:nvSpPr>
          <p:cNvPr id="5" name="Footer Placeholder 4">
            <a:extLst>
              <a:ext uri="{FF2B5EF4-FFF2-40B4-BE49-F238E27FC236}">
                <a16:creationId xmlns:a16="http://schemas.microsoft.com/office/drawing/2014/main" id="{E7DCD391-7FBD-EA46-9266-5F19F9ADFD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B03041-2579-5E4F-8D4A-871D7A43FB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97A0ED-0713-854E-AE67-C1B678B4A72A}" type="slidenum">
              <a:rPr lang="en-US" smtClean="0"/>
              <a:t>‹#›</a:t>
            </a:fld>
            <a:endParaRPr lang="en-US"/>
          </a:p>
        </p:txBody>
      </p:sp>
    </p:spTree>
    <p:extLst>
      <p:ext uri="{BB962C8B-B14F-4D97-AF65-F5344CB8AC3E}">
        <p14:creationId xmlns:p14="http://schemas.microsoft.com/office/powerpoint/2010/main" val="1019793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8FB09-5224-EF4B-A112-FD8314C115F5}"/>
              </a:ext>
            </a:extLst>
          </p:cNvPr>
          <p:cNvSpPr>
            <a:spLocks noGrp="1"/>
          </p:cNvSpPr>
          <p:nvPr>
            <p:ph type="ctrTitle"/>
          </p:nvPr>
        </p:nvSpPr>
        <p:spPr>
          <a:xfrm>
            <a:off x="1524000" y="344130"/>
            <a:ext cx="9144000" cy="3257908"/>
          </a:xfrm>
        </p:spPr>
        <p:txBody>
          <a:bodyPr>
            <a:normAutofit/>
          </a:bodyPr>
          <a:lstStyle/>
          <a:p>
            <a:r>
              <a:rPr lang="en-US" sz="4400" b="1" dirty="0"/>
              <a:t>Doing Classical Item Analyses Prior to Specification of and IRT Model</a:t>
            </a:r>
          </a:p>
        </p:txBody>
      </p:sp>
      <p:sp>
        <p:nvSpPr>
          <p:cNvPr id="3" name="Subtitle 2">
            <a:extLst>
              <a:ext uri="{FF2B5EF4-FFF2-40B4-BE49-F238E27FC236}">
                <a16:creationId xmlns:a16="http://schemas.microsoft.com/office/drawing/2014/main" id="{39F16454-4B6A-A24A-BFE0-914D927AA55D}"/>
              </a:ext>
            </a:extLst>
          </p:cNvPr>
          <p:cNvSpPr>
            <a:spLocks noGrp="1"/>
          </p:cNvSpPr>
          <p:nvPr>
            <p:ph type="subTitle" idx="1"/>
          </p:nvPr>
        </p:nvSpPr>
        <p:spPr>
          <a:xfrm>
            <a:off x="1524000" y="3602038"/>
            <a:ext cx="9144000" cy="2872504"/>
          </a:xfrm>
        </p:spPr>
        <p:txBody>
          <a:bodyPr>
            <a:normAutofit/>
          </a:bodyPr>
          <a:lstStyle/>
          <a:p>
            <a:endParaRPr lang="en-US" dirty="0"/>
          </a:p>
          <a:p>
            <a:endParaRPr lang="en-US" dirty="0"/>
          </a:p>
          <a:p>
            <a:endParaRPr lang="en-US" dirty="0"/>
          </a:p>
          <a:p>
            <a:r>
              <a:rPr lang="en-US" dirty="0"/>
              <a:t>Derek Briggs</a:t>
            </a:r>
          </a:p>
          <a:p>
            <a:r>
              <a:rPr lang="en-US" dirty="0"/>
              <a:t>EDUC 8720</a:t>
            </a:r>
          </a:p>
        </p:txBody>
      </p:sp>
    </p:spTree>
    <p:extLst>
      <p:ext uri="{BB962C8B-B14F-4D97-AF65-F5344CB8AC3E}">
        <p14:creationId xmlns:p14="http://schemas.microsoft.com/office/powerpoint/2010/main" val="4243255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F58A8-C211-3342-BC24-194D5507AE68}"/>
              </a:ext>
            </a:extLst>
          </p:cNvPr>
          <p:cNvSpPr>
            <a:spLocks noGrp="1"/>
          </p:cNvSpPr>
          <p:nvPr>
            <p:ph type="title"/>
          </p:nvPr>
        </p:nvSpPr>
        <p:spPr/>
        <p:txBody>
          <a:bodyPr/>
          <a:lstStyle/>
          <a:p>
            <a:r>
              <a:rPr lang="en-US" b="1"/>
              <a:t>Some Motivating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5AE015-5295-424B-84B8-313182433B99}"/>
                  </a:ext>
                </a:extLst>
              </p:cNvPr>
              <p:cNvSpPr>
                <a:spLocks noGrp="1"/>
              </p:cNvSpPr>
              <p:nvPr>
                <p:ph idx="1"/>
              </p:nvPr>
            </p:nvSpPr>
            <p:spPr/>
            <p:txBody>
              <a:bodyPr>
                <a:normAutofit fontScale="85000" lnSpcReduction="10000"/>
              </a:bodyPr>
              <a:lstStyle/>
              <a:p>
                <a:pPr marL="0" indent="0">
                  <a:buNone/>
                </a:pPr>
                <a:r>
                  <a:rPr lang="en-US"/>
                  <a:t>A test developer is attempting to make an “algebra readiness test” that teachers can administer near the beginning of the year to make inferences about students’ preparation for learning algebra. Each form consists of a series of short algebra problems that are open-ended. Students need to simplify expressions, re-arrange terms, or solve equations. Each response on each form is scored correct (1) or incorrect (0). Here are two sample items from one of the forms:</a:t>
                </a:r>
              </a:p>
              <a:p>
                <a:pPr marL="0" indent="0">
                  <a:buNone/>
                </a:pPr>
                <a:r>
                  <a:rPr lang="en-US"/>
                  <a:t> </a:t>
                </a:r>
              </a:p>
              <a:p>
                <a:pPr marL="0" indent="0">
                  <a:buNone/>
                </a:pPr>
                <a:r>
                  <a:rPr lang="en-US"/>
                  <a:t>Solve:		</a:t>
                </a:r>
                <a14:m>
                  <m:oMath xmlns:m="http://schemas.openxmlformats.org/officeDocument/2006/math">
                    <m:r>
                      <a:rPr lang="en-US" i="1">
                        <a:latin typeface="Cambria Math" panose="02040503050406030204" pitchFamily="18" charset="0"/>
                      </a:rPr>
                      <m:t>7+3∗4−5∗2</m:t>
                    </m:r>
                  </m:oMath>
                </a14:m>
                <a:endParaRPr lang="en-US"/>
              </a:p>
              <a:p>
                <a:pPr marL="0" indent="0">
                  <a:buNone/>
                </a:pPr>
                <a:r>
                  <a:rPr lang="en-US"/>
                  <a:t>Simplify:	</a:t>
                </a:r>
                <a14:m>
                  <m:oMath xmlns:m="http://schemas.openxmlformats.org/officeDocument/2006/math">
                    <m:r>
                      <a:rPr lang="en-US" i="1">
                        <a:latin typeface="Cambria Math" panose="02040503050406030204" pitchFamily="18" charset="0"/>
                      </a:rPr>
                      <m:t>5</m:t>
                    </m:r>
                    <m:r>
                      <a:rPr lang="en-US" i="1">
                        <a:latin typeface="Cambria Math" panose="02040503050406030204" pitchFamily="18" charset="0"/>
                      </a:rPr>
                      <m:t>𝑎</m:t>
                    </m:r>
                    <m:d>
                      <m:dPr>
                        <m:ctrlPr>
                          <a:rPr lang="en-US" i="1">
                            <a:latin typeface="Cambria Math" panose="02040503050406030204" pitchFamily="18" charset="0"/>
                          </a:rPr>
                        </m:ctrlPr>
                      </m:dPr>
                      <m:e>
                        <m:r>
                          <a:rPr lang="en-US" i="1">
                            <a:latin typeface="Cambria Math" panose="02040503050406030204" pitchFamily="18" charset="0"/>
                          </a:rPr>
                          <m:t>3+</m:t>
                        </m:r>
                        <m:r>
                          <a:rPr lang="en-US" i="1">
                            <a:latin typeface="Cambria Math" panose="02040503050406030204" pitchFamily="18" charset="0"/>
                          </a:rPr>
                          <m:t>𝑏</m:t>
                        </m:r>
                      </m:e>
                    </m:d>
                  </m:oMath>
                </a14:m>
                <a:endParaRPr lang="en-US"/>
              </a:p>
              <a:p>
                <a:pPr marL="0" indent="0">
                  <a:buNone/>
                </a:pPr>
                <a:r>
                  <a:rPr lang="en-US" b="1"/>
                  <a:t> </a:t>
                </a:r>
                <a:endParaRPr lang="en-US"/>
              </a:p>
              <a:p>
                <a:r>
                  <a:rPr lang="en-US"/>
                  <a:t>Two test forms (”A” and “B”) were administered in a pilot test. Each form actually had 40 items, but we will only focus here on the first 15 from form A. N = 1,958.</a:t>
                </a:r>
              </a:p>
              <a:p>
                <a:endParaRPr lang="en-US"/>
              </a:p>
            </p:txBody>
          </p:sp>
        </mc:Choice>
        <mc:Fallback xmlns="">
          <p:sp>
            <p:nvSpPr>
              <p:cNvPr id="3" name="Content Placeholder 2">
                <a:extLst>
                  <a:ext uri="{FF2B5EF4-FFF2-40B4-BE49-F238E27FC236}">
                    <a16:creationId xmlns:a16="http://schemas.microsoft.com/office/drawing/2014/main" id="{045AE015-5295-424B-84B8-313182433B99}"/>
                  </a:ext>
                </a:extLst>
              </p:cNvPr>
              <p:cNvSpPr>
                <a:spLocks noGrp="1" noRot="1" noChangeAspect="1" noMove="1" noResize="1" noEditPoints="1" noAdjustHandles="1" noChangeArrowheads="1" noChangeShapeType="1" noTextEdit="1"/>
              </p:cNvSpPr>
              <p:nvPr>
                <p:ph idx="1"/>
              </p:nvPr>
            </p:nvSpPr>
            <p:spPr>
              <a:blipFill>
                <a:blip r:embed="rId2"/>
                <a:stretch>
                  <a:fillRect l="-844" t="-2924" r="-241" b="-877"/>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DBF9802B-F894-FA41-8882-E8711AFBA5D4}"/>
              </a:ext>
            </a:extLst>
          </p:cNvPr>
          <p:cNvSpPr>
            <a:spLocks noGrp="1"/>
          </p:cNvSpPr>
          <p:nvPr>
            <p:ph type="sldNum" sz="quarter" idx="12"/>
          </p:nvPr>
        </p:nvSpPr>
        <p:spPr/>
        <p:txBody>
          <a:bodyPr/>
          <a:lstStyle/>
          <a:p>
            <a:fld id="{0B97A0ED-0713-854E-AE67-C1B678B4A72A}" type="slidenum">
              <a:rPr lang="en-US" smtClean="0"/>
              <a:t>2</a:t>
            </a:fld>
            <a:endParaRPr lang="en-US"/>
          </a:p>
        </p:txBody>
      </p:sp>
    </p:spTree>
    <p:extLst>
      <p:ext uri="{BB962C8B-B14F-4D97-AF65-F5344CB8AC3E}">
        <p14:creationId xmlns:p14="http://schemas.microsoft.com/office/powerpoint/2010/main" val="3529790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AC59D-0A57-974E-8238-7F50DC943DFC}"/>
              </a:ext>
            </a:extLst>
          </p:cNvPr>
          <p:cNvSpPr>
            <a:spLocks noGrp="1"/>
          </p:cNvSpPr>
          <p:nvPr>
            <p:ph type="title"/>
          </p:nvPr>
        </p:nvSpPr>
        <p:spPr/>
        <p:txBody>
          <a:bodyPr/>
          <a:lstStyle/>
          <a:p>
            <a:r>
              <a:rPr lang="en-US" b="1" dirty="0"/>
              <a:t>Warm-Up Activity</a:t>
            </a:r>
          </a:p>
        </p:txBody>
      </p:sp>
      <p:sp>
        <p:nvSpPr>
          <p:cNvPr id="3" name="Content Placeholder 2">
            <a:extLst>
              <a:ext uri="{FF2B5EF4-FFF2-40B4-BE49-F238E27FC236}">
                <a16:creationId xmlns:a16="http://schemas.microsoft.com/office/drawing/2014/main" id="{18CCB8F6-8E7C-9940-BC7B-984604541704}"/>
              </a:ext>
            </a:extLst>
          </p:cNvPr>
          <p:cNvSpPr>
            <a:spLocks noGrp="1"/>
          </p:cNvSpPr>
          <p:nvPr>
            <p:ph idx="1"/>
          </p:nvPr>
        </p:nvSpPr>
        <p:spPr/>
        <p:txBody>
          <a:bodyPr/>
          <a:lstStyle/>
          <a:p>
            <a:r>
              <a:rPr lang="en-US" dirty="0"/>
              <a:t>Download the file “pset1_formA.csv”</a:t>
            </a:r>
          </a:p>
          <a:p>
            <a:r>
              <a:rPr lang="en-US" dirty="0"/>
              <a:t>Open the R script file “lb_irt_012626.r”</a:t>
            </a:r>
          </a:p>
          <a:p>
            <a:r>
              <a:rPr lang="en-US" dirty="0"/>
              <a:t>Follow along by running the commands in “PART 1”</a:t>
            </a:r>
          </a:p>
          <a:p>
            <a:r>
              <a:rPr lang="en-US" dirty="0"/>
              <a:t>Use the function alpha from the package psych to examine the classical item statistics.</a:t>
            </a:r>
          </a:p>
          <a:p>
            <a:r>
              <a:rPr lang="en-US" dirty="0"/>
              <a:t>Next, create item characteristic curve plots for the Form A data.</a:t>
            </a:r>
          </a:p>
          <a:p>
            <a:r>
              <a:rPr lang="en-US" dirty="0"/>
              <a:t>Use the total score as the x-axis variable.</a:t>
            </a:r>
          </a:p>
          <a:p>
            <a:r>
              <a:rPr lang="en-US" dirty="0"/>
              <a:t>Do you think an IRT model will fit these data? If so, which one and why? If not, why not?</a:t>
            </a:r>
          </a:p>
        </p:txBody>
      </p:sp>
      <p:sp>
        <p:nvSpPr>
          <p:cNvPr id="5" name="Slide Number Placeholder 4">
            <a:extLst>
              <a:ext uri="{FF2B5EF4-FFF2-40B4-BE49-F238E27FC236}">
                <a16:creationId xmlns:a16="http://schemas.microsoft.com/office/drawing/2014/main" id="{74FEEF46-8DC0-9640-8D21-E1D66F0CFB0D}"/>
              </a:ext>
            </a:extLst>
          </p:cNvPr>
          <p:cNvSpPr>
            <a:spLocks noGrp="1"/>
          </p:cNvSpPr>
          <p:nvPr>
            <p:ph type="sldNum" sz="quarter" idx="12"/>
          </p:nvPr>
        </p:nvSpPr>
        <p:spPr/>
        <p:txBody>
          <a:bodyPr/>
          <a:lstStyle/>
          <a:p>
            <a:fld id="{0B97A0ED-0713-854E-AE67-C1B678B4A72A}" type="slidenum">
              <a:rPr lang="en-US" smtClean="0"/>
              <a:t>3</a:t>
            </a:fld>
            <a:endParaRPr lang="en-US"/>
          </a:p>
        </p:txBody>
      </p:sp>
    </p:spTree>
    <p:extLst>
      <p:ext uri="{BB962C8B-B14F-4D97-AF65-F5344CB8AC3E}">
        <p14:creationId xmlns:p14="http://schemas.microsoft.com/office/powerpoint/2010/main" val="29223091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B359046-2168-ED44-952F-7B596DD8F321}" vid="{82B8B6F5-78C7-3441-B43D-E1B51203F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23492</TotalTime>
  <Words>268</Words>
  <Application>Microsoft Macintosh PowerPoint</Application>
  <PresentationFormat>Widescreen</PresentationFormat>
  <Paragraphs>23</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Cambria Math</vt:lpstr>
      <vt:lpstr>Office Theme</vt:lpstr>
      <vt:lpstr>Doing Classical Item Analyses Prior to Specification of and IRT Model</vt:lpstr>
      <vt:lpstr>Some Motivating Data</vt:lpstr>
      <vt:lpstr>Warm-Up Activity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Item Response Theory Models for Binary Items</dc:title>
  <dc:creator>Derek Briggs</dc:creator>
  <cp:lastModifiedBy>Derek Briggs</cp:lastModifiedBy>
  <cp:revision>50</cp:revision>
  <dcterms:created xsi:type="dcterms:W3CDTF">2020-02-02T21:38:24Z</dcterms:created>
  <dcterms:modified xsi:type="dcterms:W3CDTF">2026-01-25T19:42:45Z</dcterms:modified>
</cp:coreProperties>
</file>